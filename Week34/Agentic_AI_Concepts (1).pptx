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914400"/>
            <a:ext cx="4023360" cy="4023360"/>
          </a:xfrm>
          <a:prstGeom prst="ellipse">
            <a:avLst/>
          </a:prstGeom>
          <a:solidFill>
            <a:srgbClr val="2E4172">
              <a:alpha val="50000"/>
            </a:srgbClr>
          </a:solidFill>
          <a:ln w="12700">
            <a:solidFill>
              <a:srgbClr val="2E41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-91440"/>
            <a:ext cx="2377440" cy="2377440"/>
          </a:xfrm>
          <a:prstGeom prst="ellipse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5029200"/>
            <a:ext cx="3200400" cy="32004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ARCHITECT'S DEEP DIVE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Concepts &amp; The Sense–Plan–Act Cycle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modules • One cognitive loop • Real industry deployments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44348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4434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371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Jitendra  •  Senior AI Architect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 |  RAG  |  Agentic Architectures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Agentic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09728" cy="4572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chatbots: AI that acts.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refers to systems that autonomously perceive their environment, reason over goals, plan multi-step actions, execute those actions through tools or APIs, learn from outcomes, and collaborate with humans or other agents — all with minimal hand-holding.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content.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produces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closes the loop between thinking and doing.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6060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828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4" y="197510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7512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actions without continuous prompts.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0" y="1554480"/>
            <a:ext cx="26060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418320" y="1828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4" y="197510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1832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Goal-Directed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418320" y="2880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objectives into executable plans.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0" y="3886200"/>
            <a:ext cx="26060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120" y="4160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430682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75120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675120" y="5212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strategy based on feedback &amp; outcomes.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144000" y="3886200"/>
            <a:ext cx="26060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418320" y="4160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430682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0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418320" y="5212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humans, tools, and peer agents.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AI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interconnected modules form the cognitive backbone of an agent. Each plays a distinct role; together, they enable autonomy.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2880360"/>
            <a:ext cx="1920240" cy="1920240"/>
          </a:xfrm>
          <a:prstGeom prst="ellipse">
            <a:avLst/>
          </a:prstGeom>
          <a:solidFill>
            <a:srgbClr val="0B1E3F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0" y="3200400"/>
            <a:ext cx="1280160" cy="1280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429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65960"/>
            <a:ext cx="91440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494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1440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the world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92040" y="196596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1965960"/>
            <a:ext cx="91440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294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166360" y="21488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2249424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636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6636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&amp; plan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144000" y="196596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0" y="196596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88136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418320" y="2148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2249424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41832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via tools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498348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40080" y="4983480"/>
            <a:ext cx="9144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377440" y="5120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14400" y="51663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266944"/>
            <a:ext cx="301752" cy="30175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14400" y="5715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1440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 time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892040" y="498348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892040" y="4983480"/>
            <a:ext cx="91440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629400" y="5120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5166360" y="516636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5266944"/>
            <a:ext cx="301752" cy="30175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166360" y="5715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516636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w/ peers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9144000" y="4983480"/>
            <a:ext cx="2377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9144000" y="4983480"/>
            <a:ext cx="91440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10881360" y="5120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9418320" y="51663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904" y="5266944"/>
            <a:ext cx="301752" cy="30175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418320" y="5715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0" name="Text 41"/>
          <p:cNvSpPr/>
          <p:nvPr/>
        </p:nvSpPr>
        <p:spPr>
          <a:xfrm>
            <a:off x="9418320" y="6016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protect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Modules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senses of the agent — how it ingests the world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0" cy="4206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28600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signals — text, image, audio, sensor, API data — into structured representations the cognitive layer can reason over.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828800"/>
            <a:ext cx="69494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82880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920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Input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0600" y="2240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vision (CV/OCR), speech (ASR), structured data, time-series sensor streams.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2880360"/>
            <a:ext cx="69494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88036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971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 &amp; Embedding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32918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encoders (BERT, CLIP, Whisper) project signals into a shared vector space.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0" y="3931920"/>
            <a:ext cx="69494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393192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4023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Assembly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0600" y="4343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retrievers, memory recall, and tool catalog are merged into the working context window.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0" y="4983480"/>
            <a:ext cx="69494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49834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5074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&amp; Grounding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5394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reduction, entity resolution, and source attribution to prevent hallucination.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5943600"/>
            <a:ext cx="6949440" cy="4572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 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 fuses 8 cameras + radar + ultrasonics into a unified BEV tensor.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brain — where goals become plans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Engine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deliberation (GPT-4, Claude, Gemini)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&amp; Tree-of-Thought decomposition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pattern: interleaved Reason ↔ Act loops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&amp; critique for error correction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1828800"/>
            <a:ext cx="36576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11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Systems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0916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working context window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vector DBs (Chroma, Pinecone, Weaviate)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past trajectories &amp; outcomes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knowledge graphs (Neo4j) for facts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18288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828800"/>
            <a:ext cx="36576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11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03920" y="27889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decomposition into subtasks (HTN, LLM-driven)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&amp; sequencing strategies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 &amp; dependency graphs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when assumptions break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EXAMPLE  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JPMorgan's COiN uses LLM-driven cognitive reasoning to interpret 12,000 commercial credit agreements yearly — work that previously consumed 360,000 lawyer hours.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 of the agent — where decisions become real-world effects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20640" cy="38404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CATEGORIES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603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/ API Calls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0876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GraphQL, MCP servers, function-calling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8680" y="3090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072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Operations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0876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vector inserts, graph traversal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68680" y="371246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0390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6941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Service Invocation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calendar, Slack, payment rails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68680" y="433425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2569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315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Execution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4626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Python, shell commands, browsers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68680" y="49560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4748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937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Actuation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508760" y="5248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arms, vehicles, IoT devices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0350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LIFECYCLE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35040" y="2286000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035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667512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67512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permission gate, dry-run preview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86500" y="2788920"/>
            <a:ext cx="0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6035040" y="2962656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03504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67512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675120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call with retries &amp; circuit breaker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86500" y="3465576"/>
            <a:ext cx="0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>
            <a:off x="6035040" y="3639312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03504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6675120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667512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response, side-effects, latency, cost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286500" y="4142232"/>
            <a:ext cx="0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4" name="Shape 37"/>
          <p:cNvSpPr/>
          <p:nvPr/>
        </p:nvSpPr>
        <p:spPr>
          <a:xfrm>
            <a:off x="6035040" y="4315968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03504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66751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6675120" y="46085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outcome to expected effect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6286500" y="4818888"/>
            <a:ext cx="0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6035040" y="4992624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035040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4"/>
          <p:cNvSpPr/>
          <p:nvPr/>
        </p:nvSpPr>
        <p:spPr>
          <a:xfrm>
            <a:off x="6675120" y="4974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Rollback / Log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6675120" y="5285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action on failure; full audit trail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EXAMPLE  ›  </a:t>
            </a:r>
            <a:pPr indent="0" marL="0">
              <a:buNone/>
            </a:pPr>
            <a:r>
              <a:rPr lang="en-US" sz="10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Kiva warehouse robots execute ~2.5M pick-and-move actions per day — each gated by collision-check validators before motor activation.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feedback loop — agents that get better with every interaction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974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RLHF / RLAIF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or AI feedback to align outputs.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6432" y="1828800"/>
            <a:ext cx="26974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6432" y="18288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30752" y="210312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22199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0752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In-Context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30752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learning from prompt examples — no weight updates.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72784" y="1828800"/>
            <a:ext cx="26974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72784" y="18288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47104" y="210312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22199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47104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47104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PEFT, LoRA, QLoRA on domain corpora for specialised behaviour.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89136" y="1828800"/>
            <a:ext cx="26974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89136" y="182880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63456" y="210312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22199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3456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Continual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363456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from production traces; replay buffers prevent forgetting.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3886200"/>
            <a:ext cx="5120640" cy="2194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6868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68680" y="4572000"/>
            <a:ext cx="1078992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68680" y="4572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901952" y="457200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2066544" y="4572000"/>
            <a:ext cx="1078992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066544" y="4572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3099816" y="457200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3264408" y="4572000"/>
            <a:ext cx="1078992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264408" y="4572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4297680" y="457200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41" name="Shape 35"/>
          <p:cNvSpPr/>
          <p:nvPr/>
        </p:nvSpPr>
        <p:spPr>
          <a:xfrm>
            <a:off x="4462272" y="4572000"/>
            <a:ext cx="1078992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462272" y="457200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868680" y="5440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becomes training signal: trajectories logged, rewards computed, policies refined — without re-engineering the agent.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0350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6035040" y="4251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PPO for preference optimization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consolidation: episodic → semantic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&amp; synthetic data augmentation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 (LangSmith, Langfuse) on every run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6035040" y="5486400"/>
            <a:ext cx="54864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172200" y="54864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 ›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Copilot's telemetry on accept/reject rates feeds RLHF cycles that lift suggestion quality quarter-over-quarter.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solo agent to multi-agent teams — orchestration is the new operating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PATTERNS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035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 / Hub-Spoke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router delegates to specialist agents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324612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108960"/>
            <a:ext cx="-822960" cy="16459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324612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3108960"/>
            <a:ext cx="-274320" cy="16459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324612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108960"/>
            <a:ext cx="274320" cy="16459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6128" y="324612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108960"/>
            <a:ext cx="822960" cy="16459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11880"/>
            <a:ext cx="53035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Peer-to-Peer Mesh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negotiate and share state directly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9432" y="4096512"/>
            <a:ext cx="914400" cy="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4645152"/>
            <a:ext cx="914400" cy="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4096512"/>
            <a:ext cx="0" cy="54864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13832" y="4096512"/>
            <a:ext cx="0" cy="54864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096512"/>
            <a:ext cx="914400" cy="54864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3832" y="4096512"/>
            <a:ext cx="-914400" cy="54864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93192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93192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448056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448056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983480"/>
            <a:ext cx="53035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Pipeline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agent feeds the next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23360" y="5696712"/>
            <a:ext cx="329184" cy="32918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52544" y="5861304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569671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5861304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56967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1828800"/>
            <a:ext cx="5394960" cy="42519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 &amp; FRAMEWORKS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2377440"/>
            <a:ext cx="128016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Model Context Protocol — standardised tool &amp; data discovery.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090672"/>
            <a:ext cx="128016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0906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0" y="30906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Agent-to-Agent — peer agent communication standard.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3803904"/>
            <a:ext cx="128016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80390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772400" y="38039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graph-based multi-agent orchestration on LangChain.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4517136"/>
            <a:ext cx="128016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51713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CrewAI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772400" y="45171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agent crews with hierarchical task delegation.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55080" y="5230368"/>
            <a:ext cx="1280160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52303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AutoGen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0" y="5230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conversational multi-agent framework.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Module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safety, and governance — the non-negotiable layer for production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THREAT VECTORS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hidden in inputs/tools.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240280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24028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Abuse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invoking destructive APIs without consent.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02152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exfiltrated via context windows or logs.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502152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4992" y="3502152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Hijacking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47872" y="39593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reframing of the agent's objective.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764024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764024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55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Hallucinated Acts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2212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execution of unverified plans.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4764024"/>
            <a:ext cx="26060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4764024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4855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Spoofing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47872" y="52212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across agent boundaries.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2240280"/>
            <a:ext cx="5303520" cy="713232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36829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459736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995160" y="23134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RBAC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99516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OAuth, scoped tokens, mTLS between services.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63640" y="3017520"/>
            <a:ext cx="5303520" cy="713232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00800" y="314553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236976"/>
            <a:ext cx="274320" cy="2743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995160" y="30906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Guardrails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99516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Guardrails, LlamaGuard — input/output rule engines.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263640" y="3794760"/>
            <a:ext cx="5303520" cy="713232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400800" y="392277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14216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995160" y="3867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Sandboxing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99516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tool execution, network egress allowlists.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263640" y="4572000"/>
            <a:ext cx="5303520" cy="713232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400800" y="470001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91456"/>
            <a:ext cx="274320" cy="27432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995160" y="4645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Observability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99516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logs, prompt/tool traces, anomaly alerts.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6263640" y="5349240"/>
            <a:ext cx="5303520" cy="713232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400800" y="547725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5568696"/>
            <a:ext cx="274320" cy="27432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6995160" y="5422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6995160" y="5715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for high-impact or irreversible actions.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9" name="Text 52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2286000"/>
            <a:ext cx="5486400" cy="54864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LOOP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 → Plan → Act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autonomy heartbeat — borrowed from robotics, perfected for AI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06040"/>
            <a:ext cx="3657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926080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inputs from environment: user query, tool outputs, sensor data, retrieved documents.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5486400"/>
            <a:ext cx="3108960" cy="0"/>
          </a:xfrm>
          <a:prstGeom prst="line">
            <a:avLst/>
          </a:prstGeom>
          <a:noFill/>
          <a:ln w="635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5532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›  Perception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34840" y="260604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34840" y="2606040"/>
            <a:ext cx="3657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0"/>
            <a:ext cx="822960" cy="8229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0916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47091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70916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goal, evaluate options, build a step-by-step plan, select tools.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09160" y="5486400"/>
            <a:ext cx="3108960" cy="0"/>
          </a:xfrm>
          <a:prstGeom prst="line">
            <a:avLst/>
          </a:prstGeom>
          <a:noFill/>
          <a:ln w="6350">
            <a:solidFill>
              <a:srgbClr val="22D3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09160" y="5532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›  Cognition + Memory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229600" y="260604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29600" y="2606040"/>
            <a:ext cx="36576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0392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26080"/>
            <a:ext cx="822960" cy="8229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50392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850392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50392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tools, call APIs, generate outputs, observe effects — and feed results back.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503920" y="5486400"/>
            <a:ext cx="3108960" cy="0"/>
          </a:xfrm>
          <a:prstGeom prst="line">
            <a:avLst/>
          </a:prstGeom>
          <a:noFill/>
          <a:ln w="6350">
            <a:solidFill>
              <a:srgbClr val="22D3E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03920" y="5532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›  Action + Learning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loops continuously until goal achieved or escalation triggered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1E276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Sense–Plan–Act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LOOP — EXPANDED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Sense–Plan–Act in Production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agents extend the classic loop with feedback, reflection, and memory write-back.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1060" y="2560320"/>
            <a:ext cx="1371600" cy="1371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822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106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106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signals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32660" y="3246120"/>
            <a:ext cx="441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648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74620" y="2560320"/>
            <a:ext cx="1371600" cy="1371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178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46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462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3746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ground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46220" y="3246120"/>
            <a:ext cx="441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004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488180" y="2560320"/>
            <a:ext cx="1371600" cy="13716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534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81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818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5102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&amp; route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9780" y="3246120"/>
            <a:ext cx="441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01740" y="2560320"/>
            <a:ext cx="1371600" cy="1371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890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17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17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6458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tools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73340" y="3246120"/>
            <a:ext cx="441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716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115300" y="2560320"/>
            <a:ext cx="1371600" cy="1371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5246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530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153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814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outcomes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86900" y="3246120"/>
            <a:ext cx="441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7072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928860" y="2560320"/>
            <a:ext cx="1371600" cy="13716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66020" y="2697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886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92886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917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memorise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25880" y="5074920"/>
            <a:ext cx="950976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325880" y="3977640"/>
            <a:ext cx="0" cy="1097280"/>
          </a:xfrm>
          <a:prstGeom prst="line">
            <a:avLst/>
          </a:prstGeom>
          <a:noFill/>
          <a:ln w="38100">
            <a:solidFill>
              <a:srgbClr val="22D3EE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0835640" y="3977640"/>
            <a:ext cx="0" cy="1097280"/>
          </a:xfrm>
          <a:prstGeom prst="line">
            <a:avLst/>
          </a:prstGeom>
          <a:noFill/>
          <a:ln w="38100">
            <a:solidFill>
              <a:srgbClr val="22D3EE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371600" y="51663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•  reflection updates memory &amp; policy for the next cycle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5687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↔ PHASE MAPPING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Sense  •  </a:t>
            </a:r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Plan  •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Act  •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Reflect  •  </a:t>
            </a:r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Security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cross-cutting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Cycle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DEEP-DIVE  •  AUTOMOTIVE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Driving — Tesla / Waymo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L4 robotaxi navigates a busy intersection where a pedestrian steps off the curb unexpectedly while traffic light flickers.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40280"/>
            <a:ext cx="36576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cameras + radar + ultrasonic + HD-map fusion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(bird's-eye-view) tensor reconstructed at 36 FPS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detected at 14m, velocity 1.2 m/s lateral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state classified as yellow→red transition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240280"/>
            <a:ext cx="36576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04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(model-predictive control) over 8s horizon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 collision risk × passenger comfort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candidate: brake to 0 km/h in 2.3s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legal: yields to pedestrian per RoW rules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38160" y="2240280"/>
            <a:ext cx="36576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0487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41248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brake torque command to drive-by-wire ECU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hazard lights &amp; signal to following vehicles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HMI to inform passenger of stop reason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full SPA trace for fleet learning replay buffer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stopped 3.2m before pedestrian. Trajectory logged to fleet — used to retrain prediction model overnight.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Autonomous Driving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DEEP-DIVE  •  BANKING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Compliance Co-Pilot — RCSA / KYC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RCSA agent at a global CIB reviews a new corporate counterparty for trade-finance limits, screening for sanctions, AML risk &amp; operational exposure.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40280"/>
            <a:ext cx="36576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counterparty docs (PDFs, Excel disclosures)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screening data: OFAC, UN, HMT, EU sanctions lists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 excerpts via RAG (Basel III, MAS 626)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prior incident history from ChromaDB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240280"/>
            <a:ext cx="36576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04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GRAM scoring: likelihood × impact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 decomposition of risk drivers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routes to: KYC agent → AML agent → credit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evidence-backed risk narrative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38160" y="2240280"/>
            <a:ext cx="36576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0487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41248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risk score &amp; rationale to RCSA dashboard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case in compliance workflow if score &gt;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relationship manager via Slack with summary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sign-off required for tier-1 limits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cycle compressed from 14 days to 36 hours; full audit trail satisfies MAS / FCA examiner reviews.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Banking / RCSA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DEEP-DIVE  •  HEALTHCARE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Diagnosis Assistant — Radiology Triage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radiology agent triages a chest CT scan in an ER setting — flagging suspected pulmonary embolism for urgent radiologist review.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40280"/>
            <a:ext cx="36576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ingest: 512×512×320 voxel CT volume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 (ViT) embeds slices into latent space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patient EHR: vitals, D-dimer, prior imaging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similar cases from cohort vector store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240280"/>
            <a:ext cx="36576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04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CNN segments pulmonary arteries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Embolism classifier outputs probability + bounding box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Wells score from EHR signals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route to STAT queue if confidence &gt; 0.85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38160" y="2240280"/>
            <a:ext cx="36576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0487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41248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study to top of radiologist worklist (Aidoc-style)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suspect regions on PACS viewer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on-call radiologist via secure messaging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human-in-loop: AI never finalises diagnosis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Time-to-radiologist for critical PE cases reduced from 78 min to 11 min — directly affecting patient survival rates.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Healthcare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DEEP-DIVE  •  RETAIL &amp; LOGISTICS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Demand-Forecasting &amp; Replenishment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17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Walmart-scale retailer's replenishment agent rebalances 47,000 SKUs across 4,700 stores ahead of a regional weather event.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40280"/>
            <a:ext cx="36576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streams + e-com clickstream + weather feed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snapshot from each DC and store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calendar &amp; competitor pricing scrape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demand signals via NLP classifier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240280"/>
            <a:ext cx="36576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04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1772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demand forecast (Prophet + DeepAR)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Optimisation: linear program over fleet capacity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shelf-life, storage costs, truck routes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per-store replenishment plan ranked by ROI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240280"/>
            <a:ext cx="36576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38160" y="2240280"/>
            <a:ext cx="36576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0487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404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8412480" y="31546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purchase orders to vendors via EDI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in-transit trucks via TMS API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dynamic pricing on slow-moving inventory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re-plan every 15 min as new data arrives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incidents during the event dropped 38%; perishable waste cut 22%; gross margin lifted 110 bps.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Retail &amp; Logistics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Agentic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toolchain mapped onto the six modules.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2860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8288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Vision  •  Whisper  •  CLIP  •  LangChain Loaders  •  Unstructured.io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28600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56032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5603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•  GPT-4  •  Gemini  •  LangGraph  •  Mem0  •  Neo4j  •  ChromaDB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2286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329184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2918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•  OpenAI Function-Calling  •  LangChain Tools  •  Zapier  •  E2B sandboxes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2860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80360" y="402336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0233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 •  TRL  •  PEFT/LoRA  •  LangSmith  •  Langfuse  •  Weights &amp; Biases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2286000" cy="685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54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80360" y="475488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7548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•  CrewAI  •  AutoGen  •  A2A Protocol  •  MCP  •  Temporal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22860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80360" y="5486400"/>
            <a:ext cx="873252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5486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  •  LlamaGuard  •  Lakera  •  Auth0  •  Vault  •  OPA / Rego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REALITIES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Design Principles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019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&amp; Determinism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148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stochastic; production needs reproducible behaviour and bounded variance.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83464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92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Latency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8016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Sense-Plan-Act loop spends tokens &amp; time; budget per task matters.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93192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965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Gap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4343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why an agent did X across N tool calls is harder than debugging code.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02920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502920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9379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&amp; Drift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80160" y="5440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can be subtly hijacked; agents must verify they're solving the right problem.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63640" y="173736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63640" y="17373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0195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Smallest Capable Agent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995160" y="2148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simple; add tools, memory, sub-agents only when measurably needed.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263640" y="283464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63640" y="283464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999232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Everything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99516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prompt, tool call, response, and decision boundary by default.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263640" y="393192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63640" y="393192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096512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9951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Reversible by Default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995160" y="4343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dry-runs, drafts, staging; require approval for irreversible actions.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6263640" y="5029200"/>
            <a:ext cx="53949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6263640" y="502920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193792"/>
            <a:ext cx="365760" cy="3657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951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 Before Production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6995160" y="5440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evals, regression suites, and red-teaming gate every release.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Principles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743200"/>
            <a:ext cx="7315200" cy="731520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406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331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is modular by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— Perception, Cognition, Action, Learning, Collaboration, Security — are the architectural primitives.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4406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635240" y="2331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Sense–Plan–Act is the heartbeat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35240" y="2743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modern agent loops through this cycle. Production-grade systems extend it with reflection &amp; feedback.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4406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11680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agents need all six pillars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0" y="4709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security or learning yields demos, not deployments. Cross-cutting concerns matter most.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4069080"/>
            <a:ext cx="54406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251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35240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value is already proven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35240" y="47091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Automotive, banking, healthcare, retail — agentic AI is delivering measurable ROI today, not in 5 years.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371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943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51960" y="6510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Senior AI Architect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AI: Architectural Concepts</dc:title>
  <dc:subject>PptxGenJS Presentation</dc:subject>
  <dc:creator>Jitendra</dc:creator>
  <cp:lastModifiedBy>Jitendra</cp:lastModifiedBy>
  <cp:revision>1</cp:revision>
  <dcterms:created xsi:type="dcterms:W3CDTF">2026-04-25T01:37:09Z</dcterms:created>
  <dcterms:modified xsi:type="dcterms:W3CDTF">2026-04-25T01:37:09Z</dcterms:modified>
</cp:coreProperties>
</file>