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93B"/>
          </a:solidFill>
          <a:ln/>
        </p:spPr>
      </p:sp>
      <p:sp>
        <p:nvSpPr>
          <p:cNvPr id="3" name="Shape 1"/>
          <p:cNvSpPr/>
          <p:nvPr/>
        </p:nvSpPr>
        <p:spPr>
          <a:xfrm>
            <a:off x="0" y="4389120"/>
            <a:ext cx="9144000" cy="754380"/>
          </a:xfrm>
          <a:prstGeom prst="rect">
            <a:avLst/>
          </a:prstGeom>
          <a:solidFill>
            <a:srgbClr val="0D9488"/>
          </a:solidFill>
          <a:ln/>
        </p:spPr>
      </p:sp>
      <p:pic>
        <p:nvPicPr>
          <p:cNvPr id="4" name="Image 0" descr="preencoded.png">    </p:cNvPr>
          <p:cNvPicPr>
            <a:picLocks noChangeAspect="1"/>
          </p:cNvPicPr>
          <p:nvPr/>
        </p:nvPicPr>
        <p:blipFill>
          <a:blip r:embed="rId1"/>
          <a:stretch>
            <a:fillRect/>
          </a:stretch>
        </p:blipFill>
        <p:spPr>
          <a:xfrm>
            <a:off x="3886200" y="640080"/>
            <a:ext cx="1371600" cy="1371600"/>
          </a:xfrm>
          <a:prstGeom prst="rect">
            <a:avLst/>
          </a:prstGeom>
        </p:spPr>
      </p:pic>
      <p:sp>
        <p:nvSpPr>
          <p:cNvPr id="5" name="Text 2"/>
          <p:cNvSpPr/>
          <p:nvPr/>
        </p:nvSpPr>
        <p:spPr>
          <a:xfrm>
            <a:off x="457200" y="2103120"/>
            <a:ext cx="8229600" cy="822960"/>
          </a:xfrm>
          <a:prstGeom prst="rect">
            <a:avLst/>
          </a:prstGeom>
          <a:noFill/>
          <a:ln/>
        </p:spPr>
        <p:txBody>
          <a:bodyPr wrap="square" lIns="0" tIns="0" rIns="0" bIns="0" rtlCol="0" anchor="ctr"/>
          <a:lstStyle/>
          <a:p>
            <a:pPr algn="ctr" indent="0" marL="0">
              <a:buNone/>
            </a:pPr>
            <a:r>
              <a:rPr lang="en-US" sz="4200" b="1" dirty="0">
                <a:solidFill>
                  <a:srgbClr val="FFFFFF"/>
                </a:solidFill>
                <a:latin typeface="Trebuchet MS" pitchFamily="34" charset="0"/>
                <a:ea typeface="Trebuchet MS" pitchFamily="34" charset="-122"/>
                <a:cs typeface="Trebuchet MS" pitchFamily="34" charset="-120"/>
              </a:rPr>
              <a:t>From RNNs to Transformers</a:t>
            </a:r>
            <a:endParaRPr lang="en-US" sz="4200" dirty="0"/>
          </a:p>
        </p:txBody>
      </p:sp>
      <p:sp>
        <p:nvSpPr>
          <p:cNvPr id="6" name="Text 3"/>
          <p:cNvSpPr/>
          <p:nvPr/>
        </p:nvSpPr>
        <p:spPr>
          <a:xfrm>
            <a:off x="457200" y="2926080"/>
            <a:ext cx="8229600" cy="457200"/>
          </a:xfrm>
          <a:prstGeom prst="rect">
            <a:avLst/>
          </a:prstGeom>
          <a:noFill/>
          <a:ln/>
        </p:spPr>
        <p:txBody>
          <a:bodyPr wrap="square" lIns="0" tIns="0" rIns="0" bIns="0" rtlCol="0" anchor="ctr"/>
          <a:lstStyle/>
          <a:p>
            <a:pPr algn="ctr" indent="0" marL="0">
              <a:buNone/>
            </a:pPr>
            <a:r>
              <a:rPr lang="en-US" sz="2000" dirty="0">
                <a:solidFill>
                  <a:srgbClr val="94A3B8"/>
                </a:solidFill>
                <a:latin typeface="Calibri" pitchFamily="34" charset="0"/>
                <a:ea typeface="Calibri" pitchFamily="34" charset="-122"/>
                <a:cs typeface="Calibri" pitchFamily="34" charset="-120"/>
              </a:rPr>
              <a:t>An Advanced Deep Learning Architecture Tutorial</a:t>
            </a:r>
            <a:endParaRPr lang="en-US" sz="2000" dirty="0"/>
          </a:p>
        </p:txBody>
      </p:sp>
      <p:sp>
        <p:nvSpPr>
          <p:cNvPr id="7" name="Text 4"/>
          <p:cNvSpPr/>
          <p:nvPr/>
        </p:nvSpPr>
        <p:spPr>
          <a:xfrm>
            <a:off x="457200" y="3429000"/>
            <a:ext cx="8229600" cy="365760"/>
          </a:xfrm>
          <a:prstGeom prst="rect">
            <a:avLst/>
          </a:prstGeom>
          <a:noFill/>
          <a:ln/>
        </p:spPr>
        <p:txBody>
          <a:bodyPr wrap="square" lIns="0" tIns="0" rIns="0" bIns="0" rtlCol="0" anchor="ctr"/>
          <a:lstStyle/>
          <a:p>
            <a:pPr algn="ctr" indent="0" marL="0">
              <a:buNone/>
            </a:pPr>
            <a:r>
              <a:rPr lang="en-US" sz="1400" dirty="0">
                <a:solidFill>
                  <a:srgbClr val="2DD4BF"/>
                </a:solidFill>
                <a:latin typeface="Calibri" pitchFamily="34" charset="0"/>
                <a:ea typeface="Calibri" pitchFamily="34" charset="-122"/>
                <a:cs typeface="Calibri" pitchFamily="34" charset="-120"/>
              </a:rPr>
              <a:t>Covering RNN → LSTM → GRU → Seq2Seq → Attention → Transformer</a:t>
            </a:r>
            <a:endParaRPr lang="en-US" sz="1400" dirty="0"/>
          </a:p>
        </p:txBody>
      </p:sp>
      <p:sp>
        <p:nvSpPr>
          <p:cNvPr id="8" name="Text 5"/>
          <p:cNvSpPr/>
          <p:nvPr/>
        </p:nvSpPr>
        <p:spPr>
          <a:xfrm>
            <a:off x="457200" y="4526280"/>
            <a:ext cx="82296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Advanced Tutorial  |  30 Slides  |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Agenda &amp; Learning Path</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2</a:t>
            </a:r>
            <a:endParaRPr lang="en-US" sz="1100" dirty="0"/>
          </a:p>
        </p:txBody>
      </p:sp>
      <p:sp>
        <p:nvSpPr>
          <p:cNvPr id="4" name="Shape 2"/>
          <p:cNvSpPr/>
          <p:nvPr/>
        </p:nvSpPr>
        <p:spPr>
          <a:xfrm>
            <a:off x="548640" y="1005840"/>
            <a:ext cx="8046720" cy="658368"/>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5" name="Shape 3"/>
          <p:cNvSpPr/>
          <p:nvPr/>
        </p:nvSpPr>
        <p:spPr>
          <a:xfrm>
            <a:off x="548640" y="1005840"/>
            <a:ext cx="54864" cy="658368"/>
          </a:xfrm>
          <a:prstGeom prst="rect">
            <a:avLst/>
          </a:prstGeom>
          <a:solidFill>
            <a:srgbClr val="0D9488"/>
          </a:solidFill>
          <a:ln/>
        </p:spPr>
      </p:sp>
      <p:sp>
        <p:nvSpPr>
          <p:cNvPr id="6" name="Text 4"/>
          <p:cNvSpPr/>
          <p:nvPr/>
        </p:nvSpPr>
        <p:spPr>
          <a:xfrm>
            <a:off x="777240" y="1097280"/>
            <a:ext cx="411480" cy="411480"/>
          </a:xfrm>
          <a:prstGeom prst="rect">
            <a:avLst/>
          </a:prstGeom>
          <a:noFill/>
          <a:ln/>
        </p:spPr>
        <p:txBody>
          <a:bodyPr wrap="square" lIns="0" tIns="0" rIns="0" bIns="0" rtlCol="0" anchor="ctr"/>
          <a:lstStyle/>
          <a:p>
            <a:pPr algn="ctr" indent="0" marL="0">
              <a:buNone/>
            </a:pPr>
            <a:r>
              <a:rPr lang="en-US" sz="2200" b="1" dirty="0">
                <a:solidFill>
                  <a:srgbClr val="2DD4BF"/>
                </a:solidFill>
                <a:latin typeface="Trebuchet MS" pitchFamily="34" charset="0"/>
                <a:ea typeface="Trebuchet MS" pitchFamily="34" charset="-122"/>
                <a:cs typeface="Trebuchet MS" pitchFamily="34" charset="-120"/>
              </a:rPr>
              <a:t>1</a:t>
            </a:r>
            <a:endParaRPr lang="en-US" sz="2200" dirty="0"/>
          </a:p>
        </p:txBody>
      </p:sp>
      <p:sp>
        <p:nvSpPr>
          <p:cNvPr id="7" name="Text 5"/>
          <p:cNvSpPr/>
          <p:nvPr/>
        </p:nvSpPr>
        <p:spPr>
          <a:xfrm>
            <a:off x="1371600" y="1078992"/>
            <a:ext cx="6858000" cy="292608"/>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Part I: Sequence Modeling Foundations</a:t>
            </a:r>
            <a:endParaRPr lang="en-US" sz="1500" dirty="0"/>
          </a:p>
        </p:txBody>
      </p:sp>
      <p:sp>
        <p:nvSpPr>
          <p:cNvPr id="8" name="Text 6"/>
          <p:cNvSpPr/>
          <p:nvPr/>
        </p:nvSpPr>
        <p:spPr>
          <a:xfrm>
            <a:off x="1371600" y="1371600"/>
            <a:ext cx="6858000" cy="237744"/>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Slides 3–8: RNNs, BPTT, Vanishing Gradients</a:t>
            </a:r>
            <a:endParaRPr lang="en-US" sz="1200" dirty="0"/>
          </a:p>
        </p:txBody>
      </p:sp>
      <p:sp>
        <p:nvSpPr>
          <p:cNvPr id="9" name="Shape 7"/>
          <p:cNvSpPr/>
          <p:nvPr/>
        </p:nvSpPr>
        <p:spPr>
          <a:xfrm>
            <a:off x="548640" y="1783080"/>
            <a:ext cx="8046720" cy="658368"/>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0" name="Shape 8"/>
          <p:cNvSpPr/>
          <p:nvPr/>
        </p:nvSpPr>
        <p:spPr>
          <a:xfrm>
            <a:off x="548640" y="1783080"/>
            <a:ext cx="54864" cy="658368"/>
          </a:xfrm>
          <a:prstGeom prst="rect">
            <a:avLst/>
          </a:prstGeom>
          <a:solidFill>
            <a:srgbClr val="0D9488"/>
          </a:solidFill>
          <a:ln/>
        </p:spPr>
      </p:sp>
      <p:sp>
        <p:nvSpPr>
          <p:cNvPr id="11" name="Text 9"/>
          <p:cNvSpPr/>
          <p:nvPr/>
        </p:nvSpPr>
        <p:spPr>
          <a:xfrm>
            <a:off x="777240" y="1874520"/>
            <a:ext cx="411480" cy="411480"/>
          </a:xfrm>
          <a:prstGeom prst="rect">
            <a:avLst/>
          </a:prstGeom>
          <a:noFill/>
          <a:ln/>
        </p:spPr>
        <p:txBody>
          <a:bodyPr wrap="square" lIns="0" tIns="0" rIns="0" bIns="0" rtlCol="0" anchor="ctr"/>
          <a:lstStyle/>
          <a:p>
            <a:pPr algn="ctr" indent="0" marL="0">
              <a:buNone/>
            </a:pPr>
            <a:r>
              <a:rPr lang="en-US" sz="2200" b="1" dirty="0">
                <a:solidFill>
                  <a:srgbClr val="2DD4BF"/>
                </a:solidFill>
                <a:latin typeface="Trebuchet MS" pitchFamily="34" charset="0"/>
                <a:ea typeface="Trebuchet MS" pitchFamily="34" charset="-122"/>
                <a:cs typeface="Trebuchet MS" pitchFamily="34" charset="-120"/>
              </a:rPr>
              <a:t>2</a:t>
            </a:r>
            <a:endParaRPr lang="en-US" sz="2200" dirty="0"/>
          </a:p>
        </p:txBody>
      </p:sp>
      <p:sp>
        <p:nvSpPr>
          <p:cNvPr id="12" name="Text 10"/>
          <p:cNvSpPr/>
          <p:nvPr/>
        </p:nvSpPr>
        <p:spPr>
          <a:xfrm>
            <a:off x="1371600" y="1856232"/>
            <a:ext cx="6858000" cy="292608"/>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Part II: Gated Architectures</a:t>
            </a:r>
            <a:endParaRPr lang="en-US" sz="1500" dirty="0"/>
          </a:p>
        </p:txBody>
      </p:sp>
      <p:sp>
        <p:nvSpPr>
          <p:cNvPr id="13" name="Text 11"/>
          <p:cNvSpPr/>
          <p:nvPr/>
        </p:nvSpPr>
        <p:spPr>
          <a:xfrm>
            <a:off x="1371600" y="2148840"/>
            <a:ext cx="6858000" cy="237744"/>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Slides 9–14: LSTM, GRU, Deep &amp; Bidirectional RNNs</a:t>
            </a:r>
            <a:endParaRPr lang="en-US" sz="1200" dirty="0"/>
          </a:p>
        </p:txBody>
      </p:sp>
      <p:sp>
        <p:nvSpPr>
          <p:cNvPr id="14" name="Shape 12"/>
          <p:cNvSpPr/>
          <p:nvPr/>
        </p:nvSpPr>
        <p:spPr>
          <a:xfrm>
            <a:off x="548640" y="2560320"/>
            <a:ext cx="8046720" cy="658368"/>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5" name="Shape 13"/>
          <p:cNvSpPr/>
          <p:nvPr/>
        </p:nvSpPr>
        <p:spPr>
          <a:xfrm>
            <a:off x="548640" y="2560320"/>
            <a:ext cx="54864" cy="658368"/>
          </a:xfrm>
          <a:prstGeom prst="rect">
            <a:avLst/>
          </a:prstGeom>
          <a:solidFill>
            <a:srgbClr val="0D9488"/>
          </a:solidFill>
          <a:ln/>
        </p:spPr>
      </p:sp>
      <p:sp>
        <p:nvSpPr>
          <p:cNvPr id="16" name="Text 14"/>
          <p:cNvSpPr/>
          <p:nvPr/>
        </p:nvSpPr>
        <p:spPr>
          <a:xfrm>
            <a:off x="777240" y="2651760"/>
            <a:ext cx="411480" cy="411480"/>
          </a:xfrm>
          <a:prstGeom prst="rect">
            <a:avLst/>
          </a:prstGeom>
          <a:noFill/>
          <a:ln/>
        </p:spPr>
        <p:txBody>
          <a:bodyPr wrap="square" lIns="0" tIns="0" rIns="0" bIns="0" rtlCol="0" anchor="ctr"/>
          <a:lstStyle/>
          <a:p>
            <a:pPr algn="ctr" indent="0" marL="0">
              <a:buNone/>
            </a:pPr>
            <a:r>
              <a:rPr lang="en-US" sz="2200" b="1" dirty="0">
                <a:solidFill>
                  <a:srgbClr val="2DD4BF"/>
                </a:solidFill>
                <a:latin typeface="Trebuchet MS" pitchFamily="34" charset="0"/>
                <a:ea typeface="Trebuchet MS" pitchFamily="34" charset="-122"/>
                <a:cs typeface="Trebuchet MS" pitchFamily="34" charset="-120"/>
              </a:rPr>
              <a:t>3</a:t>
            </a:r>
            <a:endParaRPr lang="en-US" sz="2200" dirty="0"/>
          </a:p>
        </p:txBody>
      </p:sp>
      <p:sp>
        <p:nvSpPr>
          <p:cNvPr id="17" name="Text 15"/>
          <p:cNvSpPr/>
          <p:nvPr/>
        </p:nvSpPr>
        <p:spPr>
          <a:xfrm>
            <a:off x="1371600" y="2633472"/>
            <a:ext cx="6858000" cy="292608"/>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Part III: Encoder-Decoder &amp; Attention</a:t>
            </a:r>
            <a:endParaRPr lang="en-US" sz="1500" dirty="0"/>
          </a:p>
        </p:txBody>
      </p:sp>
      <p:sp>
        <p:nvSpPr>
          <p:cNvPr id="18" name="Text 16"/>
          <p:cNvSpPr/>
          <p:nvPr/>
        </p:nvSpPr>
        <p:spPr>
          <a:xfrm>
            <a:off x="1371600" y="2926080"/>
            <a:ext cx="6858000" cy="237744"/>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Slides 15–20: Seq2Seq, Attention Mechanisms</a:t>
            </a:r>
            <a:endParaRPr lang="en-US" sz="1200" dirty="0"/>
          </a:p>
        </p:txBody>
      </p:sp>
      <p:sp>
        <p:nvSpPr>
          <p:cNvPr id="19" name="Shape 17"/>
          <p:cNvSpPr/>
          <p:nvPr/>
        </p:nvSpPr>
        <p:spPr>
          <a:xfrm>
            <a:off x="548640" y="3337560"/>
            <a:ext cx="8046720" cy="658368"/>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20" name="Shape 18"/>
          <p:cNvSpPr/>
          <p:nvPr/>
        </p:nvSpPr>
        <p:spPr>
          <a:xfrm>
            <a:off x="548640" y="3337560"/>
            <a:ext cx="54864" cy="658368"/>
          </a:xfrm>
          <a:prstGeom prst="rect">
            <a:avLst/>
          </a:prstGeom>
          <a:solidFill>
            <a:srgbClr val="0D9488"/>
          </a:solidFill>
          <a:ln/>
        </p:spPr>
      </p:sp>
      <p:sp>
        <p:nvSpPr>
          <p:cNvPr id="21" name="Text 19"/>
          <p:cNvSpPr/>
          <p:nvPr/>
        </p:nvSpPr>
        <p:spPr>
          <a:xfrm>
            <a:off x="777240" y="3429000"/>
            <a:ext cx="411480" cy="411480"/>
          </a:xfrm>
          <a:prstGeom prst="rect">
            <a:avLst/>
          </a:prstGeom>
          <a:noFill/>
          <a:ln/>
        </p:spPr>
        <p:txBody>
          <a:bodyPr wrap="square" lIns="0" tIns="0" rIns="0" bIns="0" rtlCol="0" anchor="ctr"/>
          <a:lstStyle/>
          <a:p>
            <a:pPr algn="ctr" indent="0" marL="0">
              <a:buNone/>
            </a:pPr>
            <a:r>
              <a:rPr lang="en-US" sz="2200" b="1" dirty="0">
                <a:solidFill>
                  <a:srgbClr val="2DD4BF"/>
                </a:solidFill>
                <a:latin typeface="Trebuchet MS" pitchFamily="34" charset="0"/>
                <a:ea typeface="Trebuchet MS" pitchFamily="34" charset="-122"/>
                <a:cs typeface="Trebuchet MS" pitchFamily="34" charset="-120"/>
              </a:rPr>
              <a:t>4</a:t>
            </a:r>
            <a:endParaRPr lang="en-US" sz="2200" dirty="0"/>
          </a:p>
        </p:txBody>
      </p:sp>
      <p:sp>
        <p:nvSpPr>
          <p:cNvPr id="22" name="Text 20"/>
          <p:cNvSpPr/>
          <p:nvPr/>
        </p:nvSpPr>
        <p:spPr>
          <a:xfrm>
            <a:off x="1371600" y="3410712"/>
            <a:ext cx="6858000" cy="292608"/>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Part IV: The Transformer</a:t>
            </a:r>
            <a:endParaRPr lang="en-US" sz="1500" dirty="0"/>
          </a:p>
        </p:txBody>
      </p:sp>
      <p:sp>
        <p:nvSpPr>
          <p:cNvPr id="23" name="Text 21"/>
          <p:cNvSpPr/>
          <p:nvPr/>
        </p:nvSpPr>
        <p:spPr>
          <a:xfrm>
            <a:off x="1371600" y="3703320"/>
            <a:ext cx="6858000" cy="237744"/>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Slides 21–28: Self-Attention, Multi-Head, Positional Encoding</a:t>
            </a:r>
            <a:endParaRPr lang="en-US" sz="1200" dirty="0"/>
          </a:p>
        </p:txBody>
      </p:sp>
      <p:sp>
        <p:nvSpPr>
          <p:cNvPr id="24" name="Shape 22"/>
          <p:cNvSpPr/>
          <p:nvPr/>
        </p:nvSpPr>
        <p:spPr>
          <a:xfrm>
            <a:off x="548640" y="4114800"/>
            <a:ext cx="8046720" cy="658368"/>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25" name="Shape 23"/>
          <p:cNvSpPr/>
          <p:nvPr/>
        </p:nvSpPr>
        <p:spPr>
          <a:xfrm>
            <a:off x="548640" y="4114800"/>
            <a:ext cx="54864" cy="658368"/>
          </a:xfrm>
          <a:prstGeom prst="rect">
            <a:avLst/>
          </a:prstGeom>
          <a:solidFill>
            <a:srgbClr val="0D9488"/>
          </a:solidFill>
          <a:ln/>
        </p:spPr>
      </p:sp>
      <p:sp>
        <p:nvSpPr>
          <p:cNvPr id="26" name="Text 24"/>
          <p:cNvSpPr/>
          <p:nvPr/>
        </p:nvSpPr>
        <p:spPr>
          <a:xfrm>
            <a:off x="777240" y="4206240"/>
            <a:ext cx="411480" cy="411480"/>
          </a:xfrm>
          <a:prstGeom prst="rect">
            <a:avLst/>
          </a:prstGeom>
          <a:noFill/>
          <a:ln/>
        </p:spPr>
        <p:txBody>
          <a:bodyPr wrap="square" lIns="0" tIns="0" rIns="0" bIns="0" rtlCol="0" anchor="ctr"/>
          <a:lstStyle/>
          <a:p>
            <a:pPr algn="ctr" indent="0" marL="0">
              <a:buNone/>
            </a:pPr>
            <a:r>
              <a:rPr lang="en-US" sz="2200" b="1" dirty="0">
                <a:solidFill>
                  <a:srgbClr val="2DD4BF"/>
                </a:solidFill>
                <a:latin typeface="Trebuchet MS" pitchFamily="34" charset="0"/>
                <a:ea typeface="Trebuchet MS" pitchFamily="34" charset="-122"/>
                <a:cs typeface="Trebuchet MS" pitchFamily="34" charset="-120"/>
              </a:rPr>
              <a:t>5</a:t>
            </a:r>
            <a:endParaRPr lang="en-US" sz="2200" dirty="0"/>
          </a:p>
        </p:txBody>
      </p:sp>
      <p:sp>
        <p:nvSpPr>
          <p:cNvPr id="27" name="Text 25"/>
          <p:cNvSpPr/>
          <p:nvPr/>
        </p:nvSpPr>
        <p:spPr>
          <a:xfrm>
            <a:off x="1371600" y="4187952"/>
            <a:ext cx="6858000" cy="292608"/>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Part V: Wrap-Up</a:t>
            </a:r>
            <a:endParaRPr lang="en-US" sz="1500" dirty="0"/>
          </a:p>
        </p:txBody>
      </p:sp>
      <p:sp>
        <p:nvSpPr>
          <p:cNvPr id="28" name="Text 26"/>
          <p:cNvSpPr/>
          <p:nvPr/>
        </p:nvSpPr>
        <p:spPr>
          <a:xfrm>
            <a:off x="1371600" y="4480560"/>
            <a:ext cx="6858000" cy="237744"/>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Slides 29–30: Modern Variants &amp; Key Takeaways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93B"/>
          </a:solidFill>
          <a:ln/>
        </p:spPr>
      </p:sp>
      <p:sp>
        <p:nvSpPr>
          <p:cNvPr id="3" name="Shape 1"/>
          <p:cNvSpPr/>
          <p:nvPr/>
        </p:nvSpPr>
        <p:spPr>
          <a:xfrm>
            <a:off x="0" y="0"/>
            <a:ext cx="109728" cy="5143500"/>
          </a:xfrm>
          <a:prstGeom prst="rect">
            <a:avLst/>
          </a:prstGeom>
          <a:solidFill>
            <a:srgbClr val="0D9488"/>
          </a:solidFill>
          <a:ln/>
        </p:spPr>
      </p:sp>
      <p:pic>
        <p:nvPicPr>
          <p:cNvPr id="4" name="Image 0" descr="preencoded.png">    </p:cNvPr>
          <p:cNvPicPr>
            <a:picLocks noChangeAspect="1"/>
          </p:cNvPicPr>
          <p:nvPr/>
        </p:nvPicPr>
        <p:blipFill>
          <a:blip r:embed="rId1"/>
          <a:stretch>
            <a:fillRect/>
          </a:stretch>
        </p:blipFill>
        <p:spPr>
          <a:xfrm>
            <a:off x="731520" y="1371600"/>
            <a:ext cx="822960" cy="822960"/>
          </a:xfrm>
          <a:prstGeom prst="rect">
            <a:avLst/>
          </a:prstGeom>
        </p:spPr>
      </p:pic>
      <p:sp>
        <p:nvSpPr>
          <p:cNvPr id="5" name="Text 2"/>
          <p:cNvSpPr/>
          <p:nvPr/>
        </p:nvSpPr>
        <p:spPr>
          <a:xfrm>
            <a:off x="731520" y="2377440"/>
            <a:ext cx="7772400" cy="91440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Part I: Recurrent Neural Networks</a:t>
            </a:r>
            <a:endParaRPr lang="en-US" sz="4000" dirty="0"/>
          </a:p>
        </p:txBody>
      </p:sp>
      <p:sp>
        <p:nvSpPr>
          <p:cNvPr id="6" name="Text 3"/>
          <p:cNvSpPr/>
          <p:nvPr/>
        </p:nvSpPr>
        <p:spPr>
          <a:xfrm>
            <a:off x="731520" y="3291840"/>
            <a:ext cx="7772400" cy="54864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The foundation of sequence modeling</a:t>
            </a:r>
            <a:endParaRPr lang="en-US" sz="1800" dirty="0"/>
          </a:p>
        </p:txBody>
      </p:sp>
      <p:sp>
        <p:nvSpPr>
          <p:cNvPr id="7" name="Text 4"/>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Why Sequence Modeling Matters</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4</a:t>
            </a:r>
            <a:endParaRPr lang="en-US" sz="1100" dirty="0"/>
          </a:p>
        </p:txBody>
      </p:sp>
      <p:sp>
        <p:nvSpPr>
          <p:cNvPr id="4" name="Shape 2"/>
          <p:cNvSpPr/>
          <p:nvPr/>
        </p:nvSpPr>
        <p:spPr>
          <a:xfrm>
            <a:off x="457200" y="1005840"/>
            <a:ext cx="3840480" cy="16459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5" name="Shape 3"/>
          <p:cNvSpPr/>
          <p:nvPr/>
        </p:nvSpPr>
        <p:spPr>
          <a:xfrm>
            <a:off x="457200" y="1005840"/>
            <a:ext cx="54864" cy="1645920"/>
          </a:xfrm>
          <a:prstGeom prst="rect">
            <a:avLst/>
          </a:prstGeom>
          <a:solidFill>
            <a:srgbClr val="0D9488"/>
          </a:solidFill>
          <a:ln/>
        </p:spPr>
      </p:sp>
      <p:pic>
        <p:nvPicPr>
          <p:cNvPr id="6" name="Image 0" descr="preencoded.png">    </p:cNvPr>
          <p:cNvPicPr>
            <a:picLocks noChangeAspect="1"/>
          </p:cNvPicPr>
          <p:nvPr/>
        </p:nvPicPr>
        <p:blipFill>
          <a:blip r:embed="rId1"/>
          <a:stretch>
            <a:fillRect/>
          </a:stretch>
        </p:blipFill>
        <p:spPr>
          <a:xfrm>
            <a:off x="640080" y="1188720"/>
            <a:ext cx="365760" cy="365760"/>
          </a:xfrm>
          <a:prstGeom prst="rect">
            <a:avLst/>
          </a:prstGeom>
        </p:spPr>
      </p:pic>
      <p:sp>
        <p:nvSpPr>
          <p:cNvPr id="7" name="Text 4"/>
          <p:cNvSpPr/>
          <p:nvPr/>
        </p:nvSpPr>
        <p:spPr>
          <a:xfrm>
            <a:off x="1143000" y="1143000"/>
            <a:ext cx="297180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The Problem</a:t>
            </a:r>
            <a:endParaRPr lang="en-US" sz="1600" dirty="0"/>
          </a:p>
        </p:txBody>
      </p:sp>
      <p:sp>
        <p:nvSpPr>
          <p:cNvPr id="8" name="Text 5"/>
          <p:cNvSpPr/>
          <p:nvPr/>
        </p:nvSpPr>
        <p:spPr>
          <a:xfrm>
            <a:off x="685800" y="1554480"/>
            <a:ext cx="3383280" cy="96012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Traditional feedforward networks treat each input independently. They cannot capture temporal dependencies or variable-length inputs—critical for language, speech, and time series.</a:t>
            </a:r>
            <a:endParaRPr lang="en-US" sz="1300" dirty="0"/>
          </a:p>
        </p:txBody>
      </p:sp>
      <p:sp>
        <p:nvSpPr>
          <p:cNvPr id="9" name="Shape 6"/>
          <p:cNvSpPr/>
          <p:nvPr/>
        </p:nvSpPr>
        <p:spPr>
          <a:xfrm>
            <a:off x="4846320" y="1005840"/>
            <a:ext cx="3840480" cy="16459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0" name="Shape 7"/>
          <p:cNvSpPr/>
          <p:nvPr/>
        </p:nvSpPr>
        <p:spPr>
          <a:xfrm>
            <a:off x="4846320" y="1005840"/>
            <a:ext cx="54864" cy="1645920"/>
          </a:xfrm>
          <a:prstGeom prst="rect">
            <a:avLst/>
          </a:prstGeom>
          <a:solidFill>
            <a:srgbClr val="0D9488"/>
          </a:solidFill>
          <a:ln/>
        </p:spPr>
      </p:sp>
      <p:pic>
        <p:nvPicPr>
          <p:cNvPr id="11" name="Image 1" descr="preencoded.png">    </p:cNvPr>
          <p:cNvPicPr>
            <a:picLocks noChangeAspect="1"/>
          </p:cNvPicPr>
          <p:nvPr/>
        </p:nvPicPr>
        <p:blipFill>
          <a:blip r:embed="rId2"/>
          <a:stretch>
            <a:fillRect/>
          </a:stretch>
        </p:blipFill>
        <p:spPr>
          <a:xfrm>
            <a:off x="5029200" y="1188720"/>
            <a:ext cx="365760" cy="365760"/>
          </a:xfrm>
          <a:prstGeom prst="rect">
            <a:avLst/>
          </a:prstGeom>
        </p:spPr>
      </p:pic>
      <p:sp>
        <p:nvSpPr>
          <p:cNvPr id="12" name="Text 8"/>
          <p:cNvSpPr/>
          <p:nvPr/>
        </p:nvSpPr>
        <p:spPr>
          <a:xfrm>
            <a:off x="5532120" y="1143000"/>
            <a:ext cx="297180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Key Applications</a:t>
            </a:r>
            <a:endParaRPr lang="en-US" sz="1600" dirty="0"/>
          </a:p>
        </p:txBody>
      </p:sp>
      <p:sp>
        <p:nvSpPr>
          <p:cNvPr id="13" name="Text 9"/>
          <p:cNvSpPr/>
          <p:nvPr/>
        </p:nvSpPr>
        <p:spPr>
          <a:xfrm>
            <a:off x="5074920" y="1554480"/>
            <a:ext cx="3383280" cy="96012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Machine Translation, Speech Recognition, Sentiment Analysis, Time-Series Forecasting, Music Generation, Video Captioning, and more.</a:t>
            </a:r>
            <a:endParaRPr lang="en-US" sz="1300" dirty="0"/>
          </a:p>
        </p:txBody>
      </p:sp>
      <p:sp>
        <p:nvSpPr>
          <p:cNvPr id="14" name="Shape 10"/>
          <p:cNvSpPr/>
          <p:nvPr/>
        </p:nvSpPr>
        <p:spPr>
          <a:xfrm>
            <a:off x="457200" y="2926080"/>
            <a:ext cx="8229600" cy="16459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5" name="Shape 11"/>
          <p:cNvSpPr/>
          <p:nvPr/>
        </p:nvSpPr>
        <p:spPr>
          <a:xfrm>
            <a:off x="457200" y="2926080"/>
            <a:ext cx="54864" cy="1645920"/>
          </a:xfrm>
          <a:prstGeom prst="rect">
            <a:avLst/>
          </a:prstGeom>
          <a:solidFill>
            <a:srgbClr val="0D9488"/>
          </a:solidFill>
          <a:ln/>
        </p:spPr>
      </p:sp>
      <p:pic>
        <p:nvPicPr>
          <p:cNvPr id="16" name="Image 2" descr="preencoded.png">    </p:cNvPr>
          <p:cNvPicPr>
            <a:picLocks noChangeAspect="1"/>
          </p:cNvPicPr>
          <p:nvPr/>
        </p:nvPicPr>
        <p:blipFill>
          <a:blip r:embed="rId3"/>
          <a:stretch>
            <a:fillRect/>
          </a:stretch>
        </p:blipFill>
        <p:spPr>
          <a:xfrm>
            <a:off x="640080" y="3108960"/>
            <a:ext cx="365760" cy="365760"/>
          </a:xfrm>
          <a:prstGeom prst="rect">
            <a:avLst/>
          </a:prstGeom>
        </p:spPr>
      </p:pic>
      <p:sp>
        <p:nvSpPr>
          <p:cNvPr id="17" name="Text 12"/>
          <p:cNvSpPr/>
          <p:nvPr/>
        </p:nvSpPr>
        <p:spPr>
          <a:xfrm>
            <a:off x="1143000" y="3063240"/>
            <a:ext cx="736092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Core Insight</a:t>
            </a:r>
            <a:endParaRPr lang="en-US" sz="1600" dirty="0"/>
          </a:p>
        </p:txBody>
      </p:sp>
      <p:sp>
        <p:nvSpPr>
          <p:cNvPr id="18" name="Text 13"/>
          <p:cNvSpPr/>
          <p:nvPr/>
        </p:nvSpPr>
        <p:spPr>
          <a:xfrm>
            <a:off x="685800" y="3474720"/>
            <a:ext cx="7772400" cy="96012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Sequences have order and context. The meaning of a word depends on preceding words. RNNs introduce the concept of a hidden state that carries information across time steps, enabling the network to 'remember' past inputs.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Vanilla RNN Architecture</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5</a:t>
            </a:r>
            <a:endParaRPr lang="en-US" sz="1100" dirty="0"/>
          </a:p>
        </p:txBody>
      </p:sp>
      <p:pic>
        <p:nvPicPr>
          <p:cNvPr id="4" name="Image 0" descr="preencoded.png">    </p:cNvPr>
          <p:cNvPicPr>
            <a:picLocks noChangeAspect="1"/>
          </p:cNvPicPr>
          <p:nvPr/>
        </p:nvPicPr>
        <p:blipFill>
          <a:blip r:embed="rId1"/>
          <a:stretch>
            <a:fillRect/>
          </a:stretch>
        </p:blipFill>
        <p:spPr>
          <a:xfrm>
            <a:off x="548640" y="1005840"/>
            <a:ext cx="457200" cy="457200"/>
          </a:xfrm>
          <a:prstGeom prst="rect">
            <a:avLst/>
          </a:prstGeom>
        </p:spPr>
      </p:pic>
      <p:sp>
        <p:nvSpPr>
          <p:cNvPr id="5" name="Text 2"/>
          <p:cNvSpPr/>
          <p:nvPr/>
        </p:nvSpPr>
        <p:spPr>
          <a:xfrm>
            <a:off x="1097280" y="1051560"/>
            <a:ext cx="3657600" cy="365760"/>
          </a:xfrm>
          <a:prstGeom prst="rect">
            <a:avLst/>
          </a:prstGeom>
          <a:noFill/>
          <a:ln/>
        </p:spPr>
        <p:txBody>
          <a:bodyPr wrap="square" lIns="0" tIns="0" rIns="0" bIns="0" rtlCol="0" anchor="ctr"/>
          <a:lstStyle/>
          <a:p>
            <a:pPr indent="0" marL="0">
              <a:buNone/>
            </a:pPr>
            <a:r>
              <a:rPr lang="en-US" sz="1800" b="1" dirty="0">
                <a:solidFill>
                  <a:srgbClr val="2DD4BF"/>
                </a:solidFill>
                <a:latin typeface="Trebuchet MS" pitchFamily="34" charset="0"/>
                <a:ea typeface="Trebuchet MS" pitchFamily="34" charset="-122"/>
                <a:cs typeface="Trebuchet MS" pitchFamily="34" charset="-120"/>
              </a:rPr>
              <a:t>Recurrence Formula</a:t>
            </a:r>
            <a:endParaRPr lang="en-US" sz="1800" dirty="0"/>
          </a:p>
        </p:txBody>
      </p:sp>
      <p:sp>
        <p:nvSpPr>
          <p:cNvPr id="6" name="Shape 3"/>
          <p:cNvSpPr/>
          <p:nvPr/>
        </p:nvSpPr>
        <p:spPr>
          <a:xfrm>
            <a:off x="548640" y="1554480"/>
            <a:ext cx="8046720" cy="914400"/>
          </a:xfrm>
          <a:prstGeom prst="rect">
            <a:avLst/>
          </a:prstGeom>
          <a:solidFill>
            <a:srgbClr val="334155"/>
          </a:solidFill>
          <a:ln/>
          <a:effectLst>
            <a:outerShdw sx="100000" sy="100000" kx="0" ky="0" algn="bl" rotWithShape="0" blurRad="101600" dist="38100" dir="8100000">
              <a:srgbClr val="000000">
                <a:alpha val="25000"/>
              </a:srgbClr>
            </a:outerShdw>
          </a:effectLst>
        </p:spPr>
      </p:sp>
      <p:sp>
        <p:nvSpPr>
          <p:cNvPr id="7" name="Text 4"/>
          <p:cNvSpPr/>
          <p:nvPr/>
        </p:nvSpPr>
        <p:spPr>
          <a:xfrm>
            <a:off x="731520" y="1600200"/>
            <a:ext cx="7680960" cy="822960"/>
          </a:xfrm>
          <a:prstGeom prst="rect">
            <a:avLst/>
          </a:prstGeom>
          <a:noFill/>
          <a:ln/>
        </p:spPr>
        <p:txBody>
          <a:bodyPr wrap="square" lIns="0" tIns="0" rIns="0" bIns="0" rtlCol="0" anchor="ctr"/>
          <a:lstStyle/>
          <a:p>
            <a:pPr algn="ctr" indent="0" marL="0">
              <a:buNone/>
            </a:pPr>
            <a:r>
              <a:rPr lang="en-US" sz="2000" dirty="0">
                <a:solidFill>
                  <a:srgbClr val="2DD4BF"/>
                </a:solidFill>
                <a:latin typeface="Consolas" pitchFamily="34" charset="0"/>
                <a:ea typeface="Consolas" pitchFamily="34" charset="-122"/>
                <a:cs typeface="Consolas" pitchFamily="34" charset="-120"/>
              </a:rPr>
              <a:t>hₜ = tanh( Wₕₕ · hₜ₋₁  +  Wₓₕ · xₜ  +  bₕ )        yₜ = Wₕᵧ · hₜ  +  bᵧ</a:t>
            </a:r>
            <a:endParaRPr lang="en-US" sz="2000" dirty="0"/>
          </a:p>
        </p:txBody>
      </p:sp>
      <p:sp>
        <p:nvSpPr>
          <p:cNvPr id="8" name="Shape 5"/>
          <p:cNvSpPr/>
          <p:nvPr/>
        </p:nvSpPr>
        <p:spPr>
          <a:xfrm>
            <a:off x="457200" y="2743200"/>
            <a:ext cx="2560320" cy="18288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9" name="Shape 6"/>
          <p:cNvSpPr/>
          <p:nvPr/>
        </p:nvSpPr>
        <p:spPr>
          <a:xfrm>
            <a:off x="457200" y="2743200"/>
            <a:ext cx="54864" cy="1828800"/>
          </a:xfrm>
          <a:prstGeom prst="rect">
            <a:avLst/>
          </a:prstGeom>
          <a:solidFill>
            <a:srgbClr val="0D9488"/>
          </a:solidFill>
          <a:ln/>
        </p:spPr>
      </p:sp>
      <p:pic>
        <p:nvPicPr>
          <p:cNvPr id="10" name="Image 1" descr="preencoded.png">    </p:cNvPr>
          <p:cNvPicPr>
            <a:picLocks noChangeAspect="1"/>
          </p:cNvPicPr>
          <p:nvPr/>
        </p:nvPicPr>
        <p:blipFill>
          <a:blip r:embed="rId2"/>
          <a:stretch>
            <a:fillRect/>
          </a:stretch>
        </p:blipFill>
        <p:spPr>
          <a:xfrm>
            <a:off x="640080" y="2926080"/>
            <a:ext cx="365760" cy="365760"/>
          </a:xfrm>
          <a:prstGeom prst="rect">
            <a:avLst/>
          </a:prstGeom>
        </p:spPr>
      </p:pic>
      <p:sp>
        <p:nvSpPr>
          <p:cNvPr id="11" name="Text 7"/>
          <p:cNvSpPr/>
          <p:nvPr/>
        </p:nvSpPr>
        <p:spPr>
          <a:xfrm>
            <a:off x="1143000" y="2880360"/>
            <a:ext cx="16916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Input xₜ</a:t>
            </a:r>
            <a:endParaRPr lang="en-US" sz="1600" dirty="0"/>
          </a:p>
        </p:txBody>
      </p:sp>
      <p:sp>
        <p:nvSpPr>
          <p:cNvPr id="12" name="Text 8"/>
          <p:cNvSpPr/>
          <p:nvPr/>
        </p:nvSpPr>
        <p:spPr>
          <a:xfrm>
            <a:off x="685800" y="3291840"/>
            <a:ext cx="2103120" cy="11430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The input vector at time step t, e.g. a word embedding of dimension d.</a:t>
            </a:r>
            <a:endParaRPr lang="en-US" sz="1300" dirty="0"/>
          </a:p>
        </p:txBody>
      </p:sp>
      <p:sp>
        <p:nvSpPr>
          <p:cNvPr id="13" name="Shape 9"/>
          <p:cNvSpPr/>
          <p:nvPr/>
        </p:nvSpPr>
        <p:spPr>
          <a:xfrm>
            <a:off x="3291840" y="2743200"/>
            <a:ext cx="2560320" cy="18288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4" name="Shape 10"/>
          <p:cNvSpPr/>
          <p:nvPr/>
        </p:nvSpPr>
        <p:spPr>
          <a:xfrm>
            <a:off x="3291840" y="2743200"/>
            <a:ext cx="54864" cy="1828800"/>
          </a:xfrm>
          <a:prstGeom prst="rect">
            <a:avLst/>
          </a:prstGeom>
          <a:solidFill>
            <a:srgbClr val="0D9488"/>
          </a:solidFill>
          <a:ln/>
        </p:spPr>
      </p:sp>
      <p:pic>
        <p:nvPicPr>
          <p:cNvPr id="15" name="Image 2" descr="preencoded.png">    </p:cNvPr>
          <p:cNvPicPr>
            <a:picLocks noChangeAspect="1"/>
          </p:cNvPicPr>
          <p:nvPr/>
        </p:nvPicPr>
        <p:blipFill>
          <a:blip r:embed="rId3"/>
          <a:stretch>
            <a:fillRect/>
          </a:stretch>
        </p:blipFill>
        <p:spPr>
          <a:xfrm>
            <a:off x="3474720" y="2926080"/>
            <a:ext cx="365760" cy="365760"/>
          </a:xfrm>
          <a:prstGeom prst="rect">
            <a:avLst/>
          </a:prstGeom>
        </p:spPr>
      </p:pic>
      <p:sp>
        <p:nvSpPr>
          <p:cNvPr id="16" name="Text 11"/>
          <p:cNvSpPr/>
          <p:nvPr/>
        </p:nvSpPr>
        <p:spPr>
          <a:xfrm>
            <a:off x="3977640" y="2880360"/>
            <a:ext cx="16916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Hidden State hₜ</a:t>
            </a:r>
            <a:endParaRPr lang="en-US" sz="1600" dirty="0"/>
          </a:p>
        </p:txBody>
      </p:sp>
      <p:sp>
        <p:nvSpPr>
          <p:cNvPr id="17" name="Text 12"/>
          <p:cNvSpPr/>
          <p:nvPr/>
        </p:nvSpPr>
        <p:spPr>
          <a:xfrm>
            <a:off x="3520440" y="3291840"/>
            <a:ext cx="2103120" cy="11430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Internal memory vector passed recurrently. Captures history of all previous inputs.</a:t>
            </a:r>
            <a:endParaRPr lang="en-US" sz="1300" dirty="0"/>
          </a:p>
        </p:txBody>
      </p:sp>
      <p:sp>
        <p:nvSpPr>
          <p:cNvPr id="18" name="Shape 13"/>
          <p:cNvSpPr/>
          <p:nvPr/>
        </p:nvSpPr>
        <p:spPr>
          <a:xfrm>
            <a:off x="6126480" y="2743200"/>
            <a:ext cx="2560320" cy="18288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9" name="Shape 14"/>
          <p:cNvSpPr/>
          <p:nvPr/>
        </p:nvSpPr>
        <p:spPr>
          <a:xfrm>
            <a:off x="6126480" y="2743200"/>
            <a:ext cx="54864" cy="1828800"/>
          </a:xfrm>
          <a:prstGeom prst="rect">
            <a:avLst/>
          </a:prstGeom>
          <a:solidFill>
            <a:srgbClr val="0D9488"/>
          </a:solidFill>
          <a:ln/>
        </p:spPr>
      </p:sp>
      <p:pic>
        <p:nvPicPr>
          <p:cNvPr id="20" name="Image 3" descr="preencoded.png">    </p:cNvPr>
          <p:cNvPicPr>
            <a:picLocks noChangeAspect="1"/>
          </p:cNvPicPr>
          <p:nvPr/>
        </p:nvPicPr>
        <p:blipFill>
          <a:blip r:embed="rId4"/>
          <a:stretch>
            <a:fillRect/>
          </a:stretch>
        </p:blipFill>
        <p:spPr>
          <a:xfrm>
            <a:off x="6309360" y="2926080"/>
            <a:ext cx="365760" cy="365760"/>
          </a:xfrm>
          <a:prstGeom prst="rect">
            <a:avLst/>
          </a:prstGeom>
        </p:spPr>
      </p:pic>
      <p:sp>
        <p:nvSpPr>
          <p:cNvPr id="21" name="Text 15"/>
          <p:cNvSpPr/>
          <p:nvPr/>
        </p:nvSpPr>
        <p:spPr>
          <a:xfrm>
            <a:off x="6812280" y="2880360"/>
            <a:ext cx="16916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Output yₜ</a:t>
            </a:r>
            <a:endParaRPr lang="en-US" sz="1600" dirty="0"/>
          </a:p>
        </p:txBody>
      </p:sp>
      <p:sp>
        <p:nvSpPr>
          <p:cNvPr id="22" name="Text 16"/>
          <p:cNvSpPr/>
          <p:nvPr/>
        </p:nvSpPr>
        <p:spPr>
          <a:xfrm>
            <a:off x="6355080" y="3291840"/>
            <a:ext cx="2103120" cy="11430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Prediction at each step. Can be used for classification, generation, or further processing.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Unrolling Through Time &amp; BPTT</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6</a:t>
            </a:r>
            <a:endParaRPr lang="en-US" sz="1100" dirty="0"/>
          </a:p>
        </p:txBody>
      </p:sp>
      <p:sp>
        <p:nvSpPr>
          <p:cNvPr id="4" name="Shape 2"/>
          <p:cNvSpPr/>
          <p:nvPr/>
        </p:nvSpPr>
        <p:spPr>
          <a:xfrm>
            <a:off x="548640" y="1097280"/>
            <a:ext cx="1371600" cy="7315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5" name="Text 3"/>
          <p:cNvSpPr/>
          <p:nvPr/>
        </p:nvSpPr>
        <p:spPr>
          <a:xfrm>
            <a:off x="548640" y="1097280"/>
            <a:ext cx="1371600" cy="731520"/>
          </a:xfrm>
          <a:prstGeom prst="rect">
            <a:avLst/>
          </a:prstGeom>
          <a:noFill/>
          <a:ln/>
        </p:spPr>
        <p:txBody>
          <a:bodyPr wrap="square" lIns="0" tIns="0" rIns="0" bIns="0" rtlCol="0" anchor="ctr"/>
          <a:lstStyle/>
          <a:p>
            <a:pPr algn="ctr" indent="0" marL="0">
              <a:buNone/>
            </a:pPr>
            <a:r>
              <a:rPr lang="en-US" sz="1600" dirty="0">
                <a:solidFill>
                  <a:srgbClr val="2DD4BF"/>
                </a:solidFill>
                <a:latin typeface="Consolas" pitchFamily="34" charset="0"/>
                <a:ea typeface="Consolas" pitchFamily="34" charset="-122"/>
                <a:cs typeface="Consolas" pitchFamily="34" charset="-120"/>
              </a:rPr>
              <a:t>x₁→h₁</a:t>
            </a:r>
            <a:endParaRPr lang="en-US" sz="1600" dirty="0"/>
          </a:p>
        </p:txBody>
      </p:sp>
      <p:sp>
        <p:nvSpPr>
          <p:cNvPr id="6" name="Shape 4"/>
          <p:cNvSpPr/>
          <p:nvPr/>
        </p:nvSpPr>
        <p:spPr>
          <a:xfrm>
            <a:off x="1920240" y="1371600"/>
            <a:ext cx="365760" cy="54864"/>
          </a:xfrm>
          <a:prstGeom prst="rect">
            <a:avLst/>
          </a:prstGeom>
          <a:solidFill>
            <a:srgbClr val="0D9488"/>
          </a:solidFill>
          <a:ln/>
        </p:spPr>
      </p:sp>
      <p:sp>
        <p:nvSpPr>
          <p:cNvPr id="7" name="Shape 5"/>
          <p:cNvSpPr/>
          <p:nvPr/>
        </p:nvSpPr>
        <p:spPr>
          <a:xfrm>
            <a:off x="2286000" y="1097280"/>
            <a:ext cx="1371600" cy="7315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8" name="Text 6"/>
          <p:cNvSpPr/>
          <p:nvPr/>
        </p:nvSpPr>
        <p:spPr>
          <a:xfrm>
            <a:off x="2286000" y="1097280"/>
            <a:ext cx="1371600" cy="731520"/>
          </a:xfrm>
          <a:prstGeom prst="rect">
            <a:avLst/>
          </a:prstGeom>
          <a:noFill/>
          <a:ln/>
        </p:spPr>
        <p:txBody>
          <a:bodyPr wrap="square" lIns="0" tIns="0" rIns="0" bIns="0" rtlCol="0" anchor="ctr"/>
          <a:lstStyle/>
          <a:p>
            <a:pPr algn="ctr" indent="0" marL="0">
              <a:buNone/>
            </a:pPr>
            <a:r>
              <a:rPr lang="en-US" sz="1600" dirty="0">
                <a:solidFill>
                  <a:srgbClr val="2DD4BF"/>
                </a:solidFill>
                <a:latin typeface="Consolas" pitchFamily="34" charset="0"/>
                <a:ea typeface="Consolas" pitchFamily="34" charset="-122"/>
                <a:cs typeface="Consolas" pitchFamily="34" charset="-120"/>
              </a:rPr>
              <a:t>x₂→h₂</a:t>
            </a:r>
            <a:endParaRPr lang="en-US" sz="1600" dirty="0"/>
          </a:p>
        </p:txBody>
      </p:sp>
      <p:sp>
        <p:nvSpPr>
          <p:cNvPr id="9" name="Shape 7"/>
          <p:cNvSpPr/>
          <p:nvPr/>
        </p:nvSpPr>
        <p:spPr>
          <a:xfrm>
            <a:off x="3657600" y="1371600"/>
            <a:ext cx="365760" cy="54864"/>
          </a:xfrm>
          <a:prstGeom prst="rect">
            <a:avLst/>
          </a:prstGeom>
          <a:solidFill>
            <a:srgbClr val="0D9488"/>
          </a:solidFill>
          <a:ln/>
        </p:spPr>
      </p:sp>
      <p:sp>
        <p:nvSpPr>
          <p:cNvPr id="10" name="Shape 8"/>
          <p:cNvSpPr/>
          <p:nvPr/>
        </p:nvSpPr>
        <p:spPr>
          <a:xfrm>
            <a:off x="4023360" y="1097280"/>
            <a:ext cx="1371600" cy="7315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1" name="Text 9"/>
          <p:cNvSpPr/>
          <p:nvPr/>
        </p:nvSpPr>
        <p:spPr>
          <a:xfrm>
            <a:off x="4023360" y="1097280"/>
            <a:ext cx="1371600" cy="731520"/>
          </a:xfrm>
          <a:prstGeom prst="rect">
            <a:avLst/>
          </a:prstGeom>
          <a:noFill/>
          <a:ln/>
        </p:spPr>
        <p:txBody>
          <a:bodyPr wrap="square" lIns="0" tIns="0" rIns="0" bIns="0" rtlCol="0" anchor="ctr"/>
          <a:lstStyle/>
          <a:p>
            <a:pPr algn="ctr" indent="0" marL="0">
              <a:buNone/>
            </a:pPr>
            <a:r>
              <a:rPr lang="en-US" sz="1600" dirty="0">
                <a:solidFill>
                  <a:srgbClr val="2DD4BF"/>
                </a:solidFill>
                <a:latin typeface="Consolas" pitchFamily="34" charset="0"/>
                <a:ea typeface="Consolas" pitchFamily="34" charset="-122"/>
                <a:cs typeface="Consolas" pitchFamily="34" charset="-120"/>
              </a:rPr>
              <a:t>x₃→h₃</a:t>
            </a:r>
            <a:endParaRPr lang="en-US" sz="1600" dirty="0"/>
          </a:p>
        </p:txBody>
      </p:sp>
      <p:sp>
        <p:nvSpPr>
          <p:cNvPr id="12" name="Shape 10"/>
          <p:cNvSpPr/>
          <p:nvPr/>
        </p:nvSpPr>
        <p:spPr>
          <a:xfrm>
            <a:off x="5394960" y="1371600"/>
            <a:ext cx="365760" cy="54864"/>
          </a:xfrm>
          <a:prstGeom prst="rect">
            <a:avLst/>
          </a:prstGeom>
          <a:solidFill>
            <a:srgbClr val="0D9488"/>
          </a:solidFill>
          <a:ln/>
        </p:spPr>
      </p:sp>
      <p:sp>
        <p:nvSpPr>
          <p:cNvPr id="13" name="Shape 11"/>
          <p:cNvSpPr/>
          <p:nvPr/>
        </p:nvSpPr>
        <p:spPr>
          <a:xfrm>
            <a:off x="5760720" y="1097280"/>
            <a:ext cx="1371600" cy="7315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4" name="Text 12"/>
          <p:cNvSpPr/>
          <p:nvPr/>
        </p:nvSpPr>
        <p:spPr>
          <a:xfrm>
            <a:off x="5760720" y="1097280"/>
            <a:ext cx="1371600" cy="731520"/>
          </a:xfrm>
          <a:prstGeom prst="rect">
            <a:avLst/>
          </a:prstGeom>
          <a:noFill/>
          <a:ln/>
        </p:spPr>
        <p:txBody>
          <a:bodyPr wrap="square" lIns="0" tIns="0" rIns="0" bIns="0" rtlCol="0" anchor="ctr"/>
          <a:lstStyle/>
          <a:p>
            <a:pPr algn="ctr" indent="0" marL="0">
              <a:buNone/>
            </a:pPr>
            <a:r>
              <a:rPr lang="en-US" sz="1600" dirty="0">
                <a:solidFill>
                  <a:srgbClr val="2DD4BF"/>
                </a:solidFill>
                <a:latin typeface="Consolas" pitchFamily="34" charset="0"/>
                <a:ea typeface="Consolas" pitchFamily="34" charset="-122"/>
                <a:cs typeface="Consolas" pitchFamily="34" charset="-120"/>
              </a:rPr>
              <a:t>...</a:t>
            </a:r>
            <a:endParaRPr lang="en-US" sz="1600" dirty="0"/>
          </a:p>
        </p:txBody>
      </p:sp>
      <p:sp>
        <p:nvSpPr>
          <p:cNvPr id="15" name="Shape 13"/>
          <p:cNvSpPr/>
          <p:nvPr/>
        </p:nvSpPr>
        <p:spPr>
          <a:xfrm>
            <a:off x="7498080" y="1097280"/>
            <a:ext cx="1371600" cy="7315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6" name="Text 14"/>
          <p:cNvSpPr/>
          <p:nvPr/>
        </p:nvSpPr>
        <p:spPr>
          <a:xfrm>
            <a:off x="7498080" y="1097280"/>
            <a:ext cx="1371600" cy="731520"/>
          </a:xfrm>
          <a:prstGeom prst="rect">
            <a:avLst/>
          </a:prstGeom>
          <a:noFill/>
          <a:ln/>
        </p:spPr>
        <p:txBody>
          <a:bodyPr wrap="square" lIns="0" tIns="0" rIns="0" bIns="0" rtlCol="0" anchor="ctr"/>
          <a:lstStyle/>
          <a:p>
            <a:pPr algn="ctr" indent="0" marL="0">
              <a:buNone/>
            </a:pPr>
            <a:r>
              <a:rPr lang="en-US" sz="1600" dirty="0">
                <a:solidFill>
                  <a:srgbClr val="2DD4BF"/>
                </a:solidFill>
                <a:latin typeface="Consolas" pitchFamily="34" charset="0"/>
                <a:ea typeface="Consolas" pitchFamily="34" charset="-122"/>
                <a:cs typeface="Consolas" pitchFamily="34" charset="-120"/>
              </a:rPr>
              <a:t>xₜ→hₜ</a:t>
            </a:r>
            <a:endParaRPr lang="en-US" sz="1600" dirty="0"/>
          </a:p>
        </p:txBody>
      </p:sp>
      <p:sp>
        <p:nvSpPr>
          <p:cNvPr id="17" name="Text 15"/>
          <p:cNvSpPr/>
          <p:nvPr/>
        </p:nvSpPr>
        <p:spPr>
          <a:xfrm>
            <a:off x="548640" y="2103120"/>
            <a:ext cx="8229600" cy="457200"/>
          </a:xfrm>
          <a:prstGeom prst="rect">
            <a:avLst/>
          </a:prstGeom>
          <a:noFill/>
          <a:ln/>
        </p:spPr>
        <p:txBody>
          <a:bodyPr wrap="square" lIns="0" tIns="0" rIns="0" bIns="0" rtlCol="0" anchor="ctr"/>
          <a:lstStyle/>
          <a:p>
            <a:pPr indent="0" marL="0">
              <a:buNone/>
            </a:pPr>
            <a:r>
              <a:rPr lang="en-US" sz="2000" b="1" dirty="0">
                <a:solidFill>
                  <a:srgbClr val="FFFFFF"/>
                </a:solidFill>
                <a:latin typeface="Trebuchet MS" pitchFamily="34" charset="0"/>
                <a:ea typeface="Trebuchet MS" pitchFamily="34" charset="-122"/>
                <a:cs typeface="Trebuchet MS" pitchFamily="34" charset="-120"/>
              </a:rPr>
              <a:t>Backpropagation Through Time (BPTT)</a:t>
            </a:r>
            <a:endParaRPr lang="en-US" sz="2000" dirty="0"/>
          </a:p>
        </p:txBody>
      </p:sp>
      <p:sp>
        <p:nvSpPr>
          <p:cNvPr id="18" name="Shape 16"/>
          <p:cNvSpPr/>
          <p:nvPr/>
        </p:nvSpPr>
        <p:spPr>
          <a:xfrm>
            <a:off x="457200" y="2651760"/>
            <a:ext cx="3931920" cy="192024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9" name="Shape 17"/>
          <p:cNvSpPr/>
          <p:nvPr/>
        </p:nvSpPr>
        <p:spPr>
          <a:xfrm>
            <a:off x="457200" y="2651760"/>
            <a:ext cx="54864" cy="1920240"/>
          </a:xfrm>
          <a:prstGeom prst="rect">
            <a:avLst/>
          </a:prstGeom>
          <a:solidFill>
            <a:srgbClr val="0D9488"/>
          </a:solidFill>
          <a:ln/>
        </p:spPr>
      </p:sp>
      <p:pic>
        <p:nvPicPr>
          <p:cNvPr id="20" name="Image 0" descr="preencoded.png">    </p:cNvPr>
          <p:cNvPicPr>
            <a:picLocks noChangeAspect="1"/>
          </p:cNvPicPr>
          <p:nvPr/>
        </p:nvPicPr>
        <p:blipFill>
          <a:blip r:embed="rId1"/>
          <a:stretch>
            <a:fillRect/>
          </a:stretch>
        </p:blipFill>
        <p:spPr>
          <a:xfrm>
            <a:off x="640080" y="2834640"/>
            <a:ext cx="365760" cy="365760"/>
          </a:xfrm>
          <a:prstGeom prst="rect">
            <a:avLst/>
          </a:prstGeom>
        </p:spPr>
      </p:pic>
      <p:sp>
        <p:nvSpPr>
          <p:cNvPr id="21" name="Text 18"/>
          <p:cNvSpPr/>
          <p:nvPr/>
        </p:nvSpPr>
        <p:spPr>
          <a:xfrm>
            <a:off x="1143000" y="278892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Forward Pass</a:t>
            </a:r>
            <a:endParaRPr lang="en-US" sz="1600" dirty="0"/>
          </a:p>
        </p:txBody>
      </p:sp>
      <p:sp>
        <p:nvSpPr>
          <p:cNvPr id="22" name="Text 19"/>
          <p:cNvSpPr/>
          <p:nvPr/>
        </p:nvSpPr>
        <p:spPr>
          <a:xfrm>
            <a:off x="685800" y="3200400"/>
            <a:ext cx="3474720" cy="123444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Unroll the network for T time steps. Compute hidden states h₁...hₜ sequentially. Each step uses the same weight matrices Wₕₕ, Wₓₕ (parameter sharing).</a:t>
            </a:r>
            <a:endParaRPr lang="en-US" sz="1300" dirty="0"/>
          </a:p>
        </p:txBody>
      </p:sp>
      <p:sp>
        <p:nvSpPr>
          <p:cNvPr id="23" name="Shape 20"/>
          <p:cNvSpPr/>
          <p:nvPr/>
        </p:nvSpPr>
        <p:spPr>
          <a:xfrm>
            <a:off x="4754880" y="2651760"/>
            <a:ext cx="3931920" cy="192024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24" name="Shape 21"/>
          <p:cNvSpPr/>
          <p:nvPr/>
        </p:nvSpPr>
        <p:spPr>
          <a:xfrm>
            <a:off x="4754880" y="2651760"/>
            <a:ext cx="54864" cy="1920240"/>
          </a:xfrm>
          <a:prstGeom prst="rect">
            <a:avLst/>
          </a:prstGeom>
          <a:solidFill>
            <a:srgbClr val="0D9488"/>
          </a:solidFill>
          <a:ln/>
        </p:spPr>
      </p:sp>
      <p:pic>
        <p:nvPicPr>
          <p:cNvPr id="25" name="Image 1" descr="preencoded.png">    </p:cNvPr>
          <p:cNvPicPr>
            <a:picLocks noChangeAspect="1"/>
          </p:cNvPicPr>
          <p:nvPr/>
        </p:nvPicPr>
        <p:blipFill>
          <a:blip r:embed="rId2"/>
          <a:stretch>
            <a:fillRect/>
          </a:stretch>
        </p:blipFill>
        <p:spPr>
          <a:xfrm>
            <a:off x="4937760" y="2834640"/>
            <a:ext cx="365760" cy="365760"/>
          </a:xfrm>
          <a:prstGeom prst="rect">
            <a:avLst/>
          </a:prstGeom>
        </p:spPr>
      </p:pic>
      <p:sp>
        <p:nvSpPr>
          <p:cNvPr id="26" name="Text 22"/>
          <p:cNvSpPr/>
          <p:nvPr/>
        </p:nvSpPr>
        <p:spPr>
          <a:xfrm>
            <a:off x="5440680" y="278892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Backward Pass</a:t>
            </a:r>
            <a:endParaRPr lang="en-US" sz="1600" dirty="0"/>
          </a:p>
        </p:txBody>
      </p:sp>
      <p:sp>
        <p:nvSpPr>
          <p:cNvPr id="27" name="Text 23"/>
          <p:cNvSpPr/>
          <p:nvPr/>
        </p:nvSpPr>
        <p:spPr>
          <a:xfrm>
            <a:off x="4983480" y="3200400"/>
            <a:ext cx="3474720" cy="123444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Compute loss at each time step. Gradients flow backward through the unrolled graph. Chain rule applied across all T steps — gradient is a product of T Jacobians.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The Vanishing &amp; Exploding Gradient Problem</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7</a:t>
            </a:r>
            <a:endParaRPr lang="en-US" sz="1100" dirty="0"/>
          </a:p>
        </p:txBody>
      </p:sp>
      <p:sp>
        <p:nvSpPr>
          <p:cNvPr id="4" name="Shape 2"/>
          <p:cNvSpPr/>
          <p:nvPr/>
        </p:nvSpPr>
        <p:spPr>
          <a:xfrm>
            <a:off x="457200" y="1005840"/>
            <a:ext cx="8229600" cy="914400"/>
          </a:xfrm>
          <a:prstGeom prst="rect">
            <a:avLst/>
          </a:prstGeom>
          <a:solidFill>
            <a:srgbClr val="334155"/>
          </a:solidFill>
          <a:ln/>
          <a:effectLst>
            <a:outerShdw sx="100000" sy="100000" kx="0" ky="0" algn="bl" rotWithShape="0" blurRad="101600" dist="38100" dir="8100000">
              <a:srgbClr val="000000">
                <a:alpha val="25000"/>
              </a:srgbClr>
            </a:outerShdw>
          </a:effectLst>
        </p:spPr>
      </p:sp>
      <p:sp>
        <p:nvSpPr>
          <p:cNvPr id="5" name="Text 3"/>
          <p:cNvSpPr/>
          <p:nvPr/>
        </p:nvSpPr>
        <p:spPr>
          <a:xfrm>
            <a:off x="640080" y="1051560"/>
            <a:ext cx="7863840" cy="822960"/>
          </a:xfrm>
          <a:prstGeom prst="rect">
            <a:avLst/>
          </a:prstGeom>
          <a:noFill/>
          <a:ln/>
        </p:spPr>
        <p:txBody>
          <a:bodyPr wrap="square" lIns="0" tIns="0" rIns="0" bIns="0" rtlCol="0" anchor="ctr"/>
          <a:lstStyle/>
          <a:p>
            <a:pPr algn="ctr" indent="0" marL="0">
              <a:buNone/>
            </a:pPr>
            <a:r>
              <a:rPr lang="en-US" sz="1700" dirty="0">
                <a:solidFill>
                  <a:srgbClr val="2DD4BF"/>
                </a:solidFill>
                <a:latin typeface="Consolas" pitchFamily="34" charset="0"/>
                <a:ea typeface="Consolas" pitchFamily="34" charset="-122"/>
                <a:cs typeface="Consolas" pitchFamily="34" charset="-120"/>
              </a:rPr>
              <a:t>∂L/∂h₁  =  ∂L/∂hₜ  ×  ∏ₖ₌₂ᵗ  ∂hₖ/∂hₖ₋₁    →    Product of T–1 Jacobians</a:t>
            </a:r>
            <a:endParaRPr lang="en-US" sz="1700" dirty="0"/>
          </a:p>
        </p:txBody>
      </p:sp>
      <p:sp>
        <p:nvSpPr>
          <p:cNvPr id="6" name="Shape 4"/>
          <p:cNvSpPr/>
          <p:nvPr/>
        </p:nvSpPr>
        <p:spPr>
          <a:xfrm>
            <a:off x="457200" y="2194560"/>
            <a:ext cx="3931920" cy="237744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7" name="Shape 5"/>
          <p:cNvSpPr/>
          <p:nvPr/>
        </p:nvSpPr>
        <p:spPr>
          <a:xfrm>
            <a:off x="457200" y="2194560"/>
            <a:ext cx="54864" cy="2377440"/>
          </a:xfrm>
          <a:prstGeom prst="rect">
            <a:avLst/>
          </a:prstGeom>
          <a:solidFill>
            <a:srgbClr val="0D9488"/>
          </a:solidFill>
          <a:ln/>
        </p:spPr>
      </p:sp>
      <p:pic>
        <p:nvPicPr>
          <p:cNvPr id="8" name="Image 0" descr="preencoded.png">    </p:cNvPr>
          <p:cNvPicPr>
            <a:picLocks noChangeAspect="1"/>
          </p:cNvPicPr>
          <p:nvPr/>
        </p:nvPicPr>
        <p:blipFill>
          <a:blip r:embed="rId1"/>
          <a:stretch>
            <a:fillRect/>
          </a:stretch>
        </p:blipFill>
        <p:spPr>
          <a:xfrm>
            <a:off x="640080" y="2377440"/>
            <a:ext cx="365760" cy="365760"/>
          </a:xfrm>
          <a:prstGeom prst="rect">
            <a:avLst/>
          </a:prstGeom>
        </p:spPr>
      </p:pic>
      <p:sp>
        <p:nvSpPr>
          <p:cNvPr id="9" name="Text 6"/>
          <p:cNvSpPr/>
          <p:nvPr/>
        </p:nvSpPr>
        <p:spPr>
          <a:xfrm>
            <a:off x="1143000" y="233172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Vanishing Gradients</a:t>
            </a:r>
            <a:endParaRPr lang="en-US" sz="1600" dirty="0"/>
          </a:p>
        </p:txBody>
      </p:sp>
      <p:sp>
        <p:nvSpPr>
          <p:cNvPr id="10" name="Text 7"/>
          <p:cNvSpPr/>
          <p:nvPr/>
        </p:nvSpPr>
        <p:spPr>
          <a:xfrm>
            <a:off x="685800" y="2743200"/>
            <a:ext cx="3474720" cy="169164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When |eigenvalues| &lt; 1, gradient products shrink exponentially. The network forgets long-range dependencies. Tanh and sigmoid squash values to (0,1), amplifying the issue. After ~10–20 steps, gradients approach zero.</a:t>
            </a:r>
            <a:endParaRPr lang="en-US" sz="1300" dirty="0"/>
          </a:p>
        </p:txBody>
      </p:sp>
      <p:sp>
        <p:nvSpPr>
          <p:cNvPr id="11" name="Shape 8"/>
          <p:cNvSpPr/>
          <p:nvPr/>
        </p:nvSpPr>
        <p:spPr>
          <a:xfrm>
            <a:off x="4754880" y="2194560"/>
            <a:ext cx="3931920" cy="237744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2" name="Shape 9"/>
          <p:cNvSpPr/>
          <p:nvPr/>
        </p:nvSpPr>
        <p:spPr>
          <a:xfrm>
            <a:off x="4754880" y="2194560"/>
            <a:ext cx="54864" cy="2377440"/>
          </a:xfrm>
          <a:prstGeom prst="rect">
            <a:avLst/>
          </a:prstGeom>
          <a:solidFill>
            <a:srgbClr val="0D9488"/>
          </a:solidFill>
          <a:ln/>
        </p:spPr>
      </p:sp>
      <p:pic>
        <p:nvPicPr>
          <p:cNvPr id="13" name="Image 1" descr="preencoded.png">    </p:cNvPr>
          <p:cNvPicPr>
            <a:picLocks noChangeAspect="1"/>
          </p:cNvPicPr>
          <p:nvPr/>
        </p:nvPicPr>
        <p:blipFill>
          <a:blip r:embed="rId2"/>
          <a:stretch>
            <a:fillRect/>
          </a:stretch>
        </p:blipFill>
        <p:spPr>
          <a:xfrm>
            <a:off x="4937760" y="2377440"/>
            <a:ext cx="365760" cy="365760"/>
          </a:xfrm>
          <a:prstGeom prst="rect">
            <a:avLst/>
          </a:prstGeom>
        </p:spPr>
      </p:pic>
      <p:sp>
        <p:nvSpPr>
          <p:cNvPr id="14" name="Text 10"/>
          <p:cNvSpPr/>
          <p:nvPr/>
        </p:nvSpPr>
        <p:spPr>
          <a:xfrm>
            <a:off x="5440680" y="233172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Exploding Gradients</a:t>
            </a:r>
            <a:endParaRPr lang="en-US" sz="1600" dirty="0"/>
          </a:p>
        </p:txBody>
      </p:sp>
      <p:sp>
        <p:nvSpPr>
          <p:cNvPr id="15" name="Text 11"/>
          <p:cNvSpPr/>
          <p:nvPr/>
        </p:nvSpPr>
        <p:spPr>
          <a:xfrm>
            <a:off x="4983480" y="2743200"/>
            <a:ext cx="3474720" cy="169164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When |eigenvalues| &gt; 1, gradient products grow exponentially. Loss diverges, weights become NaN. Mitigated via gradient clipping: if ‖g‖ &gt; θ, scale g ← θ · g/‖g‖. But clipping doesn't solve vanishing.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Vanilla RNN: Strengths &amp; Limitations</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8</a:t>
            </a:r>
            <a:endParaRPr lang="en-US" sz="1100" dirty="0"/>
          </a:p>
        </p:txBody>
      </p:sp>
      <p:sp>
        <p:nvSpPr>
          <p:cNvPr id="4" name="Shape 2"/>
          <p:cNvSpPr/>
          <p:nvPr/>
        </p:nvSpPr>
        <p:spPr>
          <a:xfrm>
            <a:off x="457200" y="1005840"/>
            <a:ext cx="3931920" cy="16459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5" name="Shape 3"/>
          <p:cNvSpPr/>
          <p:nvPr/>
        </p:nvSpPr>
        <p:spPr>
          <a:xfrm>
            <a:off x="457200" y="1005840"/>
            <a:ext cx="54864" cy="1645920"/>
          </a:xfrm>
          <a:prstGeom prst="rect">
            <a:avLst/>
          </a:prstGeom>
          <a:solidFill>
            <a:srgbClr val="0D9488"/>
          </a:solidFill>
          <a:ln/>
        </p:spPr>
      </p:sp>
      <p:pic>
        <p:nvPicPr>
          <p:cNvPr id="6" name="Image 0" descr="preencoded.png">    </p:cNvPr>
          <p:cNvPicPr>
            <a:picLocks noChangeAspect="1"/>
          </p:cNvPicPr>
          <p:nvPr/>
        </p:nvPicPr>
        <p:blipFill>
          <a:blip r:embed="rId1"/>
          <a:stretch>
            <a:fillRect/>
          </a:stretch>
        </p:blipFill>
        <p:spPr>
          <a:xfrm>
            <a:off x="640080" y="1188720"/>
            <a:ext cx="365760" cy="365760"/>
          </a:xfrm>
          <a:prstGeom prst="rect">
            <a:avLst/>
          </a:prstGeom>
        </p:spPr>
      </p:pic>
      <p:sp>
        <p:nvSpPr>
          <p:cNvPr id="7" name="Text 4"/>
          <p:cNvSpPr/>
          <p:nvPr/>
        </p:nvSpPr>
        <p:spPr>
          <a:xfrm>
            <a:off x="1143000" y="114300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Strengths</a:t>
            </a:r>
            <a:endParaRPr lang="en-US" sz="1600" dirty="0"/>
          </a:p>
        </p:txBody>
      </p:sp>
      <p:sp>
        <p:nvSpPr>
          <p:cNvPr id="8" name="Text 5"/>
          <p:cNvSpPr/>
          <p:nvPr/>
        </p:nvSpPr>
        <p:spPr>
          <a:xfrm>
            <a:off x="685800" y="1554480"/>
            <a:ext cx="3474720" cy="96012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Parameter sharing across time</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Variable-length sequence handling</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Simple architecture &amp; fast training on short sequences</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Foundation for all advanced variants</a:t>
            </a:r>
            <a:endParaRPr lang="en-US" sz="1300" dirty="0"/>
          </a:p>
        </p:txBody>
      </p:sp>
      <p:sp>
        <p:nvSpPr>
          <p:cNvPr id="9" name="Shape 6"/>
          <p:cNvSpPr/>
          <p:nvPr/>
        </p:nvSpPr>
        <p:spPr>
          <a:xfrm>
            <a:off x="4754880" y="1005840"/>
            <a:ext cx="3931920" cy="16459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0" name="Shape 7"/>
          <p:cNvSpPr/>
          <p:nvPr/>
        </p:nvSpPr>
        <p:spPr>
          <a:xfrm>
            <a:off x="4754880" y="1005840"/>
            <a:ext cx="54864" cy="1645920"/>
          </a:xfrm>
          <a:prstGeom prst="rect">
            <a:avLst/>
          </a:prstGeom>
          <a:solidFill>
            <a:srgbClr val="0D9488"/>
          </a:solidFill>
          <a:ln/>
        </p:spPr>
      </p:sp>
      <p:pic>
        <p:nvPicPr>
          <p:cNvPr id="11" name="Image 1" descr="preencoded.png">    </p:cNvPr>
          <p:cNvPicPr>
            <a:picLocks noChangeAspect="1"/>
          </p:cNvPicPr>
          <p:nvPr/>
        </p:nvPicPr>
        <p:blipFill>
          <a:blip r:embed="rId2"/>
          <a:stretch>
            <a:fillRect/>
          </a:stretch>
        </p:blipFill>
        <p:spPr>
          <a:xfrm>
            <a:off x="4937760" y="1188720"/>
            <a:ext cx="365760" cy="365760"/>
          </a:xfrm>
          <a:prstGeom prst="rect">
            <a:avLst/>
          </a:prstGeom>
        </p:spPr>
      </p:pic>
      <p:sp>
        <p:nvSpPr>
          <p:cNvPr id="12" name="Text 8"/>
          <p:cNvSpPr/>
          <p:nvPr/>
        </p:nvSpPr>
        <p:spPr>
          <a:xfrm>
            <a:off x="5440680" y="114300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Limitations</a:t>
            </a:r>
            <a:endParaRPr lang="en-US" sz="1600" dirty="0"/>
          </a:p>
        </p:txBody>
      </p:sp>
      <p:sp>
        <p:nvSpPr>
          <p:cNvPr id="13" name="Text 9"/>
          <p:cNvSpPr/>
          <p:nvPr/>
        </p:nvSpPr>
        <p:spPr>
          <a:xfrm>
            <a:off x="4983480" y="1554480"/>
            <a:ext cx="3474720" cy="96012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Cannot learn long-range dependencies (&gt;20 steps)</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Sequential computation — no parallelism</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Vanishing gradients limit depth</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Fixed-size hidden state bottleneck</a:t>
            </a:r>
            <a:endParaRPr lang="en-US" sz="1300" dirty="0"/>
          </a:p>
        </p:txBody>
      </p:sp>
      <p:sp>
        <p:nvSpPr>
          <p:cNvPr id="14" name="Shape 10"/>
          <p:cNvSpPr/>
          <p:nvPr/>
        </p:nvSpPr>
        <p:spPr>
          <a:xfrm>
            <a:off x="457200" y="2926080"/>
            <a:ext cx="8229600" cy="16459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5" name="Shape 11"/>
          <p:cNvSpPr/>
          <p:nvPr/>
        </p:nvSpPr>
        <p:spPr>
          <a:xfrm>
            <a:off x="457200" y="2926080"/>
            <a:ext cx="54864" cy="1645920"/>
          </a:xfrm>
          <a:prstGeom prst="rect">
            <a:avLst/>
          </a:prstGeom>
          <a:solidFill>
            <a:srgbClr val="F59E0B"/>
          </a:solidFill>
          <a:ln/>
        </p:spPr>
      </p:sp>
      <p:sp>
        <p:nvSpPr>
          <p:cNvPr id="16" name="Text 12"/>
          <p:cNvSpPr/>
          <p:nvPr/>
        </p:nvSpPr>
        <p:spPr>
          <a:xfrm>
            <a:off x="731520" y="3017520"/>
            <a:ext cx="7680960" cy="365760"/>
          </a:xfrm>
          <a:prstGeom prst="rect">
            <a:avLst/>
          </a:prstGeom>
          <a:noFill/>
          <a:ln/>
        </p:spPr>
        <p:txBody>
          <a:bodyPr wrap="square" lIns="0" tIns="0" rIns="0" bIns="0" rtlCol="0" anchor="ctr"/>
          <a:lstStyle/>
          <a:p>
            <a:pPr indent="0" marL="0">
              <a:buNone/>
            </a:pPr>
            <a:r>
              <a:rPr lang="en-US" sz="1800" b="1" dirty="0">
                <a:solidFill>
                  <a:srgbClr val="F59E0B"/>
                </a:solidFill>
                <a:latin typeface="Trebuchet MS" pitchFamily="34" charset="0"/>
                <a:ea typeface="Trebuchet MS" pitchFamily="34" charset="-122"/>
                <a:cs typeface="Trebuchet MS" pitchFamily="34" charset="-120"/>
              </a:rPr>
              <a:t>The Need for Gating</a:t>
            </a:r>
            <a:endParaRPr lang="en-US" sz="1800" dirty="0"/>
          </a:p>
        </p:txBody>
      </p:sp>
      <p:sp>
        <p:nvSpPr>
          <p:cNvPr id="17" name="Text 13"/>
          <p:cNvSpPr/>
          <p:nvPr/>
        </p:nvSpPr>
        <p:spPr>
          <a:xfrm>
            <a:off x="731520" y="3474720"/>
            <a:ext cx="7680960" cy="914400"/>
          </a:xfrm>
          <a:prstGeom prst="rect">
            <a:avLst/>
          </a:prstGeom>
          <a:noFill/>
          <a:ln/>
        </p:spPr>
        <p:txBody>
          <a:bodyPr wrap="square" lIns="0" tIns="0" rIns="0" bIns="0" rtlCol="0" anchor="ctr"/>
          <a:lstStyle/>
          <a:p>
            <a:pPr indent="0" marL="0">
              <a:lnSpc>
                <a:spcPct val="130000"/>
              </a:lnSpc>
              <a:buNone/>
            </a:pPr>
            <a:r>
              <a:rPr lang="en-US" sz="1400" dirty="0">
                <a:solidFill>
                  <a:srgbClr val="E2E8F0"/>
                </a:solidFill>
                <a:latin typeface="Calibri" pitchFamily="34" charset="0"/>
                <a:ea typeface="Calibri" pitchFamily="34" charset="-122"/>
                <a:cs typeface="Calibri" pitchFamily="34" charset="-120"/>
              </a:rPr>
              <a:t>The key insight: instead of blindly passing ALL information through tanh, introduce gates — learnable sigmoid units that decide WHAT to remember, WHAT to forget, and WHAT to output. This is the core idea behind LSTM and GRU.</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93B"/>
          </a:solidFill>
          <a:ln/>
        </p:spPr>
      </p:sp>
      <p:sp>
        <p:nvSpPr>
          <p:cNvPr id="3" name="Shape 1"/>
          <p:cNvSpPr/>
          <p:nvPr/>
        </p:nvSpPr>
        <p:spPr>
          <a:xfrm>
            <a:off x="0" y="0"/>
            <a:ext cx="109728" cy="5143500"/>
          </a:xfrm>
          <a:prstGeom prst="rect">
            <a:avLst/>
          </a:prstGeom>
          <a:solidFill>
            <a:srgbClr val="0D9488"/>
          </a:solidFill>
          <a:ln/>
        </p:spPr>
      </p:sp>
      <p:pic>
        <p:nvPicPr>
          <p:cNvPr id="4" name="Image 0" descr="preencoded.png">    </p:cNvPr>
          <p:cNvPicPr>
            <a:picLocks noChangeAspect="1"/>
          </p:cNvPicPr>
          <p:nvPr/>
        </p:nvPicPr>
        <p:blipFill>
          <a:blip r:embed="rId1"/>
          <a:stretch>
            <a:fillRect/>
          </a:stretch>
        </p:blipFill>
        <p:spPr>
          <a:xfrm>
            <a:off x="731520" y="1371600"/>
            <a:ext cx="822960" cy="822960"/>
          </a:xfrm>
          <a:prstGeom prst="rect">
            <a:avLst/>
          </a:prstGeom>
        </p:spPr>
      </p:pic>
      <p:sp>
        <p:nvSpPr>
          <p:cNvPr id="5" name="Text 2"/>
          <p:cNvSpPr/>
          <p:nvPr/>
        </p:nvSpPr>
        <p:spPr>
          <a:xfrm>
            <a:off x="731520" y="2377440"/>
            <a:ext cx="7772400" cy="91440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Part II: Gated Architectures</a:t>
            </a:r>
            <a:endParaRPr lang="en-US" sz="4000" dirty="0"/>
          </a:p>
        </p:txBody>
      </p:sp>
      <p:sp>
        <p:nvSpPr>
          <p:cNvPr id="6" name="Text 3"/>
          <p:cNvSpPr/>
          <p:nvPr/>
        </p:nvSpPr>
        <p:spPr>
          <a:xfrm>
            <a:off x="731520" y="3291840"/>
            <a:ext cx="7772400" cy="54864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LSTM, GRU, and advanced recurrent designs</a:t>
            </a:r>
            <a:endParaRPr lang="en-US" sz="1800" dirty="0"/>
          </a:p>
        </p:txBody>
      </p:sp>
      <p:sp>
        <p:nvSpPr>
          <p:cNvPr id="7" name="Text 4"/>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Long Short-Term Memory (LSTM)</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10</a:t>
            </a:r>
            <a:endParaRPr lang="en-US" sz="1100" dirty="0"/>
          </a:p>
        </p:txBody>
      </p:sp>
      <p:sp>
        <p:nvSpPr>
          <p:cNvPr id="4" name="Text 2"/>
          <p:cNvSpPr/>
          <p:nvPr/>
        </p:nvSpPr>
        <p:spPr>
          <a:xfrm>
            <a:off x="548640" y="640080"/>
            <a:ext cx="4572000" cy="27432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Hochreiter &amp; Schmidhuber, 1997</a:t>
            </a:r>
            <a:endParaRPr lang="en-US" sz="1200" dirty="0"/>
          </a:p>
        </p:txBody>
      </p:sp>
      <p:sp>
        <p:nvSpPr>
          <p:cNvPr id="5" name="Shape 3"/>
          <p:cNvSpPr/>
          <p:nvPr/>
        </p:nvSpPr>
        <p:spPr>
          <a:xfrm>
            <a:off x="457200" y="1005840"/>
            <a:ext cx="8229600" cy="1097280"/>
          </a:xfrm>
          <a:prstGeom prst="rect">
            <a:avLst/>
          </a:prstGeom>
          <a:solidFill>
            <a:srgbClr val="334155"/>
          </a:solidFill>
          <a:ln/>
          <a:effectLst>
            <a:outerShdw sx="100000" sy="100000" kx="0" ky="0" algn="bl" rotWithShape="0" blurRad="101600" dist="38100" dir="8100000">
              <a:srgbClr val="000000">
                <a:alpha val="25000"/>
              </a:srgbClr>
            </a:outerShdw>
          </a:effectLst>
        </p:spPr>
      </p:sp>
      <p:sp>
        <p:nvSpPr>
          <p:cNvPr id="6" name="Text 4"/>
          <p:cNvSpPr/>
          <p:nvPr/>
        </p:nvSpPr>
        <p:spPr>
          <a:xfrm>
            <a:off x="731520" y="1051560"/>
            <a:ext cx="7680960" cy="1005840"/>
          </a:xfrm>
          <a:prstGeom prst="rect">
            <a:avLst/>
          </a:prstGeom>
          <a:noFill/>
          <a:ln/>
        </p:spPr>
        <p:txBody>
          <a:bodyPr wrap="square" lIns="0" tIns="0" rIns="0" bIns="0" rtlCol="0" anchor="ctr"/>
          <a:lstStyle/>
          <a:p>
            <a:pPr algn="ctr" indent="0" marL="0">
              <a:buNone/>
            </a:pPr>
            <a:r>
              <a:rPr lang="en-US" sz="1400" dirty="0">
                <a:solidFill>
                  <a:srgbClr val="2DD4BF"/>
                </a:solidFill>
                <a:latin typeface="Consolas" pitchFamily="34" charset="0"/>
                <a:ea typeface="Consolas" pitchFamily="34" charset="-122"/>
                <a:cs typeface="Consolas" pitchFamily="34" charset="-120"/>
              </a:rPr>
              <a:t>fₜ = σ(Wf·[hₜ₋₁, xₜ] + bf)   </a:t>
            </a:r>
            <a:pPr algn="ctr" indent="0" marL="0">
              <a:buNone/>
            </a:pPr>
            <a:r>
              <a:rPr lang="en-US" sz="1400" dirty="0">
                <a:solidFill>
                  <a:srgbClr val="F59E0B"/>
                </a:solidFill>
                <a:latin typeface="Consolas" pitchFamily="34" charset="0"/>
                <a:ea typeface="Consolas" pitchFamily="34" charset="-122"/>
                <a:cs typeface="Consolas" pitchFamily="34" charset="-120"/>
              </a:rPr>
              <a:t>iₜ = σ(Wi·[hₜ₋₁, xₜ] + bi)   </a:t>
            </a:r>
            <a:pPr algn="ctr" indent="0" marL="0">
              <a:buNone/>
            </a:pPr>
            <a:r>
              <a:rPr lang="en-US" sz="1400" dirty="0">
                <a:solidFill>
                  <a:srgbClr val="8B5CF6"/>
                </a:solidFill>
                <a:latin typeface="Consolas" pitchFamily="34" charset="0"/>
                <a:ea typeface="Consolas" pitchFamily="34" charset="-122"/>
                <a:cs typeface="Consolas" pitchFamily="34" charset="-120"/>
              </a:rPr>
              <a:t>oₜ = σ(Wo·[hₜ₋₁, xₜ] + bo)</a:t>
            </a:r>
            <a:endParaRPr lang="en-US" sz="1400" dirty="0"/>
          </a:p>
          <a:p>
            <a:pPr algn="ctr" indent="0" marL="0">
              <a:buNone/>
            </a:pPr>
            <a:r>
              <a:rPr lang="en-US" sz="1400" dirty="0">
                <a:solidFill>
                  <a:srgbClr val="E2E8F0"/>
                </a:solidFill>
                <a:latin typeface="Consolas" pitchFamily="34" charset="0"/>
                <a:ea typeface="Consolas" pitchFamily="34" charset="-122"/>
                <a:cs typeface="Consolas" pitchFamily="34" charset="-120"/>
              </a:rPr>
              <a:t>c̃ₜ = tanh(Wc·[hₜ₋₁, xₜ] + bc)   </a:t>
            </a:r>
            <a:pPr algn="ctr" indent="0" marL="0">
              <a:buNone/>
            </a:pPr>
            <a:r>
              <a:rPr lang="en-US" sz="1400" dirty="0">
                <a:solidFill>
                  <a:srgbClr val="FFFFFF"/>
                </a:solidFill>
                <a:latin typeface="Consolas" pitchFamily="34" charset="0"/>
                <a:ea typeface="Consolas" pitchFamily="34" charset="-122"/>
                <a:cs typeface="Consolas" pitchFamily="34" charset="-120"/>
              </a:rPr>
              <a:t>cₜ = fₜ⊙cₜ₋₁ + iₜ⊙c̃ₜ   </a:t>
            </a:r>
            <a:pPr algn="ctr" indent="0" marL="0">
              <a:buNone/>
            </a:pPr>
            <a:r>
              <a:rPr lang="en-US" sz="1400" dirty="0">
                <a:solidFill>
                  <a:srgbClr val="FFFFFF"/>
                </a:solidFill>
                <a:latin typeface="Consolas" pitchFamily="34" charset="0"/>
                <a:ea typeface="Consolas" pitchFamily="34" charset="-122"/>
                <a:cs typeface="Consolas" pitchFamily="34" charset="-120"/>
              </a:rPr>
              <a:t>hₜ = oₜ⊙tanh(cₜ)</a:t>
            </a:r>
            <a:endParaRPr lang="en-US" sz="1400" dirty="0"/>
          </a:p>
        </p:txBody>
      </p:sp>
      <p:sp>
        <p:nvSpPr>
          <p:cNvPr id="7" name="Shape 5"/>
          <p:cNvSpPr/>
          <p:nvPr/>
        </p:nvSpPr>
        <p:spPr>
          <a:xfrm>
            <a:off x="457200" y="2377440"/>
            <a:ext cx="2606040" cy="22860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8" name="Shape 6"/>
          <p:cNvSpPr/>
          <p:nvPr/>
        </p:nvSpPr>
        <p:spPr>
          <a:xfrm>
            <a:off x="457200" y="2377440"/>
            <a:ext cx="2606040" cy="54864"/>
          </a:xfrm>
          <a:prstGeom prst="rect">
            <a:avLst/>
          </a:prstGeom>
          <a:solidFill>
            <a:srgbClr val="2DD4BF"/>
          </a:solidFill>
          <a:ln/>
        </p:spPr>
      </p:sp>
      <p:sp>
        <p:nvSpPr>
          <p:cNvPr id="9" name="Text 7"/>
          <p:cNvSpPr/>
          <p:nvPr/>
        </p:nvSpPr>
        <p:spPr>
          <a:xfrm>
            <a:off x="594360" y="2514600"/>
            <a:ext cx="2331720" cy="365760"/>
          </a:xfrm>
          <a:prstGeom prst="rect">
            <a:avLst/>
          </a:prstGeom>
          <a:noFill/>
          <a:ln/>
        </p:spPr>
        <p:txBody>
          <a:bodyPr wrap="square" lIns="0" tIns="0" rIns="0" bIns="0" rtlCol="0" anchor="ctr"/>
          <a:lstStyle/>
          <a:p>
            <a:pPr indent="0" marL="0">
              <a:buNone/>
            </a:pPr>
            <a:r>
              <a:rPr lang="en-US" sz="1500" b="1" dirty="0">
                <a:solidFill>
                  <a:srgbClr val="2DD4BF"/>
                </a:solidFill>
                <a:latin typeface="Trebuchet MS" pitchFamily="34" charset="0"/>
                <a:ea typeface="Trebuchet MS" pitchFamily="34" charset="-122"/>
                <a:cs typeface="Trebuchet MS" pitchFamily="34" charset="-120"/>
              </a:rPr>
              <a:t>Forget Gate (fₜ)</a:t>
            </a:r>
            <a:endParaRPr lang="en-US" sz="1500" dirty="0"/>
          </a:p>
        </p:txBody>
      </p:sp>
      <p:sp>
        <p:nvSpPr>
          <p:cNvPr id="10" name="Text 8"/>
          <p:cNvSpPr/>
          <p:nvPr/>
        </p:nvSpPr>
        <p:spPr>
          <a:xfrm>
            <a:off x="594360" y="2926080"/>
            <a:ext cx="2331720" cy="1554480"/>
          </a:xfrm>
          <a:prstGeom prst="rect">
            <a:avLst/>
          </a:prstGeom>
          <a:noFill/>
          <a:ln/>
        </p:spPr>
        <p:txBody>
          <a:bodyPr wrap="square" lIns="0" tIns="0" rIns="0" bIns="0" rtlCol="0" anchor="ctr"/>
          <a:lstStyle/>
          <a:p>
            <a:pPr indent="0" marL="0">
              <a:lnSpc>
                <a:spcPct val="125000"/>
              </a:lnSpc>
              <a:buNone/>
            </a:pPr>
            <a:r>
              <a:rPr lang="en-US" sz="1250" dirty="0">
                <a:solidFill>
                  <a:srgbClr val="E2E8F0"/>
                </a:solidFill>
                <a:latin typeface="Calibri" pitchFamily="34" charset="0"/>
                <a:ea typeface="Calibri" pitchFamily="34" charset="-122"/>
                <a:cs typeface="Calibri" pitchFamily="34" charset="-120"/>
              </a:rPr>
              <a:t>Sigmoid output ∈ [0,1]. Decides what portion of the cell state cₜ₋₁ to discard. A value of 0 = forget entirely, 1 = keep fully.</a:t>
            </a:r>
            <a:endParaRPr lang="en-US" sz="1250" dirty="0"/>
          </a:p>
        </p:txBody>
      </p:sp>
      <p:sp>
        <p:nvSpPr>
          <p:cNvPr id="11" name="Shape 9"/>
          <p:cNvSpPr/>
          <p:nvPr/>
        </p:nvSpPr>
        <p:spPr>
          <a:xfrm>
            <a:off x="3291840" y="2377440"/>
            <a:ext cx="2606040" cy="22860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2" name="Shape 10"/>
          <p:cNvSpPr/>
          <p:nvPr/>
        </p:nvSpPr>
        <p:spPr>
          <a:xfrm>
            <a:off x="3291840" y="2377440"/>
            <a:ext cx="2606040" cy="54864"/>
          </a:xfrm>
          <a:prstGeom prst="rect">
            <a:avLst/>
          </a:prstGeom>
          <a:solidFill>
            <a:srgbClr val="F59E0B"/>
          </a:solidFill>
          <a:ln/>
        </p:spPr>
      </p:sp>
      <p:sp>
        <p:nvSpPr>
          <p:cNvPr id="13" name="Text 11"/>
          <p:cNvSpPr/>
          <p:nvPr/>
        </p:nvSpPr>
        <p:spPr>
          <a:xfrm>
            <a:off x="3429000" y="2514600"/>
            <a:ext cx="2331720" cy="365760"/>
          </a:xfrm>
          <a:prstGeom prst="rect">
            <a:avLst/>
          </a:prstGeom>
          <a:noFill/>
          <a:ln/>
        </p:spPr>
        <p:txBody>
          <a:bodyPr wrap="square" lIns="0" tIns="0" rIns="0" bIns="0" rtlCol="0" anchor="ctr"/>
          <a:lstStyle/>
          <a:p>
            <a:pPr indent="0" marL="0">
              <a:buNone/>
            </a:pPr>
            <a:r>
              <a:rPr lang="en-US" sz="1500" b="1" dirty="0">
                <a:solidFill>
                  <a:srgbClr val="F59E0B"/>
                </a:solidFill>
                <a:latin typeface="Trebuchet MS" pitchFamily="34" charset="0"/>
                <a:ea typeface="Trebuchet MS" pitchFamily="34" charset="-122"/>
                <a:cs typeface="Trebuchet MS" pitchFamily="34" charset="-120"/>
              </a:rPr>
              <a:t>Input Gate (iₜ)</a:t>
            </a:r>
            <a:endParaRPr lang="en-US" sz="1500" dirty="0"/>
          </a:p>
        </p:txBody>
      </p:sp>
      <p:sp>
        <p:nvSpPr>
          <p:cNvPr id="14" name="Text 12"/>
          <p:cNvSpPr/>
          <p:nvPr/>
        </p:nvSpPr>
        <p:spPr>
          <a:xfrm>
            <a:off x="3429000" y="2926080"/>
            <a:ext cx="2331720" cy="1554480"/>
          </a:xfrm>
          <a:prstGeom prst="rect">
            <a:avLst/>
          </a:prstGeom>
          <a:noFill/>
          <a:ln/>
        </p:spPr>
        <p:txBody>
          <a:bodyPr wrap="square" lIns="0" tIns="0" rIns="0" bIns="0" rtlCol="0" anchor="ctr"/>
          <a:lstStyle/>
          <a:p>
            <a:pPr indent="0" marL="0">
              <a:lnSpc>
                <a:spcPct val="125000"/>
              </a:lnSpc>
              <a:buNone/>
            </a:pPr>
            <a:r>
              <a:rPr lang="en-US" sz="1250" dirty="0">
                <a:solidFill>
                  <a:srgbClr val="E2E8F0"/>
                </a:solidFill>
                <a:latin typeface="Calibri" pitchFamily="34" charset="0"/>
                <a:ea typeface="Calibri" pitchFamily="34" charset="-122"/>
                <a:cs typeface="Calibri" pitchFamily="34" charset="-120"/>
              </a:rPr>
              <a:t>Controls what new information to write into cell state. Works with candidate c̃ₜ to selectively update the memory.</a:t>
            </a:r>
            <a:endParaRPr lang="en-US" sz="1250" dirty="0"/>
          </a:p>
        </p:txBody>
      </p:sp>
      <p:sp>
        <p:nvSpPr>
          <p:cNvPr id="15" name="Shape 13"/>
          <p:cNvSpPr/>
          <p:nvPr/>
        </p:nvSpPr>
        <p:spPr>
          <a:xfrm>
            <a:off x="6126480" y="2377440"/>
            <a:ext cx="2606040" cy="22860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6" name="Shape 14"/>
          <p:cNvSpPr/>
          <p:nvPr/>
        </p:nvSpPr>
        <p:spPr>
          <a:xfrm>
            <a:off x="6126480" y="2377440"/>
            <a:ext cx="2606040" cy="54864"/>
          </a:xfrm>
          <a:prstGeom prst="rect">
            <a:avLst/>
          </a:prstGeom>
          <a:solidFill>
            <a:srgbClr val="8B5CF6"/>
          </a:solidFill>
          <a:ln/>
        </p:spPr>
      </p:sp>
      <p:sp>
        <p:nvSpPr>
          <p:cNvPr id="17" name="Text 15"/>
          <p:cNvSpPr/>
          <p:nvPr/>
        </p:nvSpPr>
        <p:spPr>
          <a:xfrm>
            <a:off x="6263640" y="2514600"/>
            <a:ext cx="2331720" cy="365760"/>
          </a:xfrm>
          <a:prstGeom prst="rect">
            <a:avLst/>
          </a:prstGeom>
          <a:noFill/>
          <a:ln/>
        </p:spPr>
        <p:txBody>
          <a:bodyPr wrap="square" lIns="0" tIns="0" rIns="0" bIns="0" rtlCol="0" anchor="ctr"/>
          <a:lstStyle/>
          <a:p>
            <a:pPr indent="0" marL="0">
              <a:buNone/>
            </a:pPr>
            <a:r>
              <a:rPr lang="en-US" sz="1500" b="1" dirty="0">
                <a:solidFill>
                  <a:srgbClr val="8B5CF6"/>
                </a:solidFill>
                <a:latin typeface="Trebuchet MS" pitchFamily="34" charset="0"/>
                <a:ea typeface="Trebuchet MS" pitchFamily="34" charset="-122"/>
                <a:cs typeface="Trebuchet MS" pitchFamily="34" charset="-120"/>
              </a:rPr>
              <a:t>Output Gate (oₜ)</a:t>
            </a:r>
            <a:endParaRPr lang="en-US" sz="1500" dirty="0"/>
          </a:p>
        </p:txBody>
      </p:sp>
      <p:sp>
        <p:nvSpPr>
          <p:cNvPr id="18" name="Text 16"/>
          <p:cNvSpPr/>
          <p:nvPr/>
        </p:nvSpPr>
        <p:spPr>
          <a:xfrm>
            <a:off x="6263640" y="2926080"/>
            <a:ext cx="2331720" cy="1554480"/>
          </a:xfrm>
          <a:prstGeom prst="rect">
            <a:avLst/>
          </a:prstGeom>
          <a:noFill/>
          <a:ln/>
        </p:spPr>
        <p:txBody>
          <a:bodyPr wrap="square" lIns="0" tIns="0" rIns="0" bIns="0" rtlCol="0" anchor="ctr"/>
          <a:lstStyle/>
          <a:p>
            <a:pPr indent="0" marL="0">
              <a:lnSpc>
                <a:spcPct val="125000"/>
              </a:lnSpc>
              <a:buNone/>
            </a:pPr>
            <a:r>
              <a:rPr lang="en-US" sz="1250" dirty="0">
                <a:solidFill>
                  <a:srgbClr val="E2E8F0"/>
                </a:solidFill>
                <a:latin typeface="Calibri" pitchFamily="34" charset="0"/>
                <a:ea typeface="Calibri" pitchFamily="34" charset="-122"/>
                <a:cs typeface="Calibri" pitchFamily="34" charset="-120"/>
              </a:rPr>
              <a:t>Determines what part of the cell state to expose as the hidden state hₜ. Filters the memory for downstream use.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The Cell State: LSTM's Conveyor Belt</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11</a:t>
            </a:r>
            <a:endParaRPr lang="en-US" sz="1100" dirty="0"/>
          </a:p>
        </p:txBody>
      </p:sp>
      <p:sp>
        <p:nvSpPr>
          <p:cNvPr id="4" name="Shape 2"/>
          <p:cNvSpPr/>
          <p:nvPr/>
        </p:nvSpPr>
        <p:spPr>
          <a:xfrm>
            <a:off x="457200" y="1005840"/>
            <a:ext cx="8229600" cy="13716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5" name="Shape 3"/>
          <p:cNvSpPr/>
          <p:nvPr/>
        </p:nvSpPr>
        <p:spPr>
          <a:xfrm>
            <a:off x="457200" y="1005840"/>
            <a:ext cx="54864" cy="1371600"/>
          </a:xfrm>
          <a:prstGeom prst="rect">
            <a:avLst/>
          </a:prstGeom>
          <a:solidFill>
            <a:srgbClr val="0D9488"/>
          </a:solidFill>
          <a:ln/>
        </p:spPr>
      </p:sp>
      <p:pic>
        <p:nvPicPr>
          <p:cNvPr id="6" name="Image 0" descr="preencoded.png">    </p:cNvPr>
          <p:cNvPicPr>
            <a:picLocks noChangeAspect="1"/>
          </p:cNvPicPr>
          <p:nvPr/>
        </p:nvPicPr>
        <p:blipFill>
          <a:blip r:embed="rId1"/>
          <a:stretch>
            <a:fillRect/>
          </a:stretch>
        </p:blipFill>
        <p:spPr>
          <a:xfrm>
            <a:off x="640080" y="1188720"/>
            <a:ext cx="365760" cy="365760"/>
          </a:xfrm>
          <a:prstGeom prst="rect">
            <a:avLst/>
          </a:prstGeom>
        </p:spPr>
      </p:pic>
      <p:sp>
        <p:nvSpPr>
          <p:cNvPr id="7" name="Text 4"/>
          <p:cNvSpPr/>
          <p:nvPr/>
        </p:nvSpPr>
        <p:spPr>
          <a:xfrm>
            <a:off x="1143000" y="1143000"/>
            <a:ext cx="736092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Key Innovation: Additive Updates</a:t>
            </a:r>
            <a:endParaRPr lang="en-US" sz="1600" dirty="0"/>
          </a:p>
        </p:txBody>
      </p:sp>
      <p:sp>
        <p:nvSpPr>
          <p:cNvPr id="8" name="Text 5"/>
          <p:cNvSpPr/>
          <p:nvPr/>
        </p:nvSpPr>
        <p:spPr>
          <a:xfrm>
            <a:off x="685800" y="1554480"/>
            <a:ext cx="7772400" cy="6858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Unlike vanilla RNNs which replace the hidden state via multiplication (hₜ = tanh(W·hₜ₋₁)), LSTMs UPDATE the cell state via addition: cₜ = fₜ⊙cₜ₋₁ + iₜ⊙c̃ₜ. Addition creates a gradient highway — gradients can flow across many time steps without vanishing.</a:t>
            </a:r>
            <a:endParaRPr lang="en-US" sz="1300" dirty="0"/>
          </a:p>
        </p:txBody>
      </p:sp>
      <p:sp>
        <p:nvSpPr>
          <p:cNvPr id="9" name="Shape 6"/>
          <p:cNvSpPr/>
          <p:nvPr/>
        </p:nvSpPr>
        <p:spPr>
          <a:xfrm>
            <a:off x="457200" y="2651760"/>
            <a:ext cx="3931920" cy="201168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0" name="Shape 7"/>
          <p:cNvSpPr/>
          <p:nvPr/>
        </p:nvSpPr>
        <p:spPr>
          <a:xfrm>
            <a:off x="457200" y="2651760"/>
            <a:ext cx="54864" cy="2011680"/>
          </a:xfrm>
          <a:prstGeom prst="rect">
            <a:avLst/>
          </a:prstGeom>
          <a:solidFill>
            <a:srgbClr val="0D9488"/>
          </a:solidFill>
          <a:ln/>
        </p:spPr>
      </p:sp>
      <p:pic>
        <p:nvPicPr>
          <p:cNvPr id="11" name="Image 1" descr="preencoded.png">    </p:cNvPr>
          <p:cNvPicPr>
            <a:picLocks noChangeAspect="1"/>
          </p:cNvPicPr>
          <p:nvPr/>
        </p:nvPicPr>
        <p:blipFill>
          <a:blip r:embed="rId2"/>
          <a:stretch>
            <a:fillRect/>
          </a:stretch>
        </p:blipFill>
        <p:spPr>
          <a:xfrm>
            <a:off x="640080" y="2834640"/>
            <a:ext cx="365760" cy="365760"/>
          </a:xfrm>
          <a:prstGeom prst="rect">
            <a:avLst/>
          </a:prstGeom>
        </p:spPr>
      </p:pic>
      <p:sp>
        <p:nvSpPr>
          <p:cNvPr id="12" name="Text 8"/>
          <p:cNvSpPr/>
          <p:nvPr/>
        </p:nvSpPr>
        <p:spPr>
          <a:xfrm>
            <a:off x="1143000" y="278892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Gradient Flow</a:t>
            </a:r>
            <a:endParaRPr lang="en-US" sz="1600" dirty="0"/>
          </a:p>
        </p:txBody>
      </p:sp>
      <p:sp>
        <p:nvSpPr>
          <p:cNvPr id="13" name="Text 9"/>
          <p:cNvSpPr/>
          <p:nvPr/>
        </p:nvSpPr>
        <p:spPr>
          <a:xfrm>
            <a:off x="685800" y="3200400"/>
            <a:ext cx="3474720" cy="132588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∂cₜ/∂cₖ = ∏ⱼ₌ₖ₊₁ᵗ fⱼ</a:t>
            </a:r>
            <a:endParaRPr lang="en-US" sz="1300" dirty="0"/>
          </a:p>
          <a:p>
            <a:pPr indent="0" marL="0">
              <a:lnSpc>
                <a:spcPct val="125000"/>
              </a:lnSpc>
              <a:buNone/>
            </a:pP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Since fⱼ ∈ (0,1) and is learned per step, the network controls gradient magnitude. When fⱼ ≈ 1, gradients pass through unchanged — solving vanishing gradients for 100+ step sequences.</a:t>
            </a:r>
            <a:endParaRPr lang="en-US" sz="1300" dirty="0"/>
          </a:p>
        </p:txBody>
      </p:sp>
      <p:sp>
        <p:nvSpPr>
          <p:cNvPr id="14" name="Shape 10"/>
          <p:cNvSpPr/>
          <p:nvPr/>
        </p:nvSpPr>
        <p:spPr>
          <a:xfrm>
            <a:off x="4754880" y="2651760"/>
            <a:ext cx="3931920" cy="201168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5" name="Shape 11"/>
          <p:cNvSpPr/>
          <p:nvPr/>
        </p:nvSpPr>
        <p:spPr>
          <a:xfrm>
            <a:off x="4754880" y="2651760"/>
            <a:ext cx="54864" cy="2011680"/>
          </a:xfrm>
          <a:prstGeom prst="rect">
            <a:avLst/>
          </a:prstGeom>
          <a:solidFill>
            <a:srgbClr val="0D9488"/>
          </a:solidFill>
          <a:ln/>
        </p:spPr>
      </p:sp>
      <p:pic>
        <p:nvPicPr>
          <p:cNvPr id="16" name="Image 2" descr="preencoded.png">    </p:cNvPr>
          <p:cNvPicPr>
            <a:picLocks noChangeAspect="1"/>
          </p:cNvPicPr>
          <p:nvPr/>
        </p:nvPicPr>
        <p:blipFill>
          <a:blip r:embed="rId3"/>
          <a:stretch>
            <a:fillRect/>
          </a:stretch>
        </p:blipFill>
        <p:spPr>
          <a:xfrm>
            <a:off x="4937760" y="2834640"/>
            <a:ext cx="365760" cy="365760"/>
          </a:xfrm>
          <a:prstGeom prst="rect">
            <a:avLst/>
          </a:prstGeom>
        </p:spPr>
      </p:pic>
      <p:sp>
        <p:nvSpPr>
          <p:cNvPr id="17" name="Text 12"/>
          <p:cNvSpPr/>
          <p:nvPr/>
        </p:nvSpPr>
        <p:spPr>
          <a:xfrm>
            <a:off x="5440680" y="278892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Practical Impact</a:t>
            </a:r>
            <a:endParaRPr lang="en-US" sz="1600" dirty="0"/>
          </a:p>
        </p:txBody>
      </p:sp>
      <p:sp>
        <p:nvSpPr>
          <p:cNvPr id="18" name="Text 13"/>
          <p:cNvSpPr/>
          <p:nvPr/>
        </p:nvSpPr>
        <p:spPr>
          <a:xfrm>
            <a:off x="4983480" y="3200400"/>
            <a:ext cx="3474720" cy="132588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LSTMs can learn dependencies spanning 200–500+ time steps. This enabled breakthroughs in:</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Machine translation (Google NMT, 2016)</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Speech recognition (Baidu DeepSpeech)</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Handwriting generation</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Language modeling (pre-Transformer era)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Gated Recurrent Unit (GRU)</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12</a:t>
            </a:r>
            <a:endParaRPr lang="en-US" sz="1100" dirty="0"/>
          </a:p>
        </p:txBody>
      </p:sp>
      <p:sp>
        <p:nvSpPr>
          <p:cNvPr id="4" name="Text 2"/>
          <p:cNvSpPr/>
          <p:nvPr/>
        </p:nvSpPr>
        <p:spPr>
          <a:xfrm>
            <a:off x="548640" y="640080"/>
            <a:ext cx="7315200" cy="27432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Cho et al., 2014 — A Streamlined Alternative to LSTM</a:t>
            </a:r>
            <a:endParaRPr lang="en-US" sz="1300" dirty="0"/>
          </a:p>
        </p:txBody>
      </p:sp>
      <p:sp>
        <p:nvSpPr>
          <p:cNvPr id="5" name="Shape 3"/>
          <p:cNvSpPr/>
          <p:nvPr/>
        </p:nvSpPr>
        <p:spPr>
          <a:xfrm>
            <a:off x="457200" y="1005840"/>
            <a:ext cx="8229600" cy="822960"/>
          </a:xfrm>
          <a:prstGeom prst="rect">
            <a:avLst/>
          </a:prstGeom>
          <a:solidFill>
            <a:srgbClr val="334155"/>
          </a:solidFill>
          <a:ln/>
          <a:effectLst>
            <a:outerShdw sx="100000" sy="100000" kx="0" ky="0" algn="bl" rotWithShape="0" blurRad="101600" dist="38100" dir="8100000">
              <a:srgbClr val="000000">
                <a:alpha val="25000"/>
              </a:srgbClr>
            </a:outerShdw>
          </a:effectLst>
        </p:spPr>
      </p:sp>
      <p:sp>
        <p:nvSpPr>
          <p:cNvPr id="6" name="Text 4"/>
          <p:cNvSpPr/>
          <p:nvPr/>
        </p:nvSpPr>
        <p:spPr>
          <a:xfrm>
            <a:off x="640080" y="1051560"/>
            <a:ext cx="7863840" cy="731520"/>
          </a:xfrm>
          <a:prstGeom prst="rect">
            <a:avLst/>
          </a:prstGeom>
          <a:noFill/>
          <a:ln/>
        </p:spPr>
        <p:txBody>
          <a:bodyPr wrap="square" lIns="0" tIns="0" rIns="0" bIns="0" rtlCol="0" anchor="ctr"/>
          <a:lstStyle/>
          <a:p>
            <a:pPr algn="ctr" indent="0" marL="0">
              <a:buNone/>
            </a:pPr>
            <a:r>
              <a:rPr lang="en-US" sz="1400" dirty="0">
                <a:solidFill>
                  <a:srgbClr val="2DD4BF"/>
                </a:solidFill>
                <a:latin typeface="Consolas" pitchFamily="34" charset="0"/>
                <a:ea typeface="Consolas" pitchFamily="34" charset="-122"/>
                <a:cs typeface="Consolas" pitchFamily="34" charset="-120"/>
              </a:rPr>
              <a:t>zₜ = σ(Wz·[hₜ₋₁, xₜ])    rₜ = σ(Wr·[hₜ₋₁, xₜ])    h̃ₜ = tanh(W·[rₜ⊙hₜ₋₁, xₜ])    hₜ = (1−zₜ)⊙hₜ₋₁ + zₜ⊙h̃ₜ</a:t>
            </a:r>
            <a:endParaRPr lang="en-US" sz="1400" dirty="0"/>
          </a:p>
        </p:txBody>
      </p:sp>
      <p:sp>
        <p:nvSpPr>
          <p:cNvPr id="7" name="Shape 5"/>
          <p:cNvSpPr/>
          <p:nvPr/>
        </p:nvSpPr>
        <p:spPr>
          <a:xfrm>
            <a:off x="457200" y="2103120"/>
            <a:ext cx="3931920" cy="13716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8" name="Shape 6"/>
          <p:cNvSpPr/>
          <p:nvPr/>
        </p:nvSpPr>
        <p:spPr>
          <a:xfrm>
            <a:off x="457200" y="2103120"/>
            <a:ext cx="54864" cy="1371600"/>
          </a:xfrm>
          <a:prstGeom prst="rect">
            <a:avLst/>
          </a:prstGeom>
          <a:solidFill>
            <a:srgbClr val="0D9488"/>
          </a:solidFill>
          <a:ln/>
        </p:spPr>
      </p:sp>
      <p:pic>
        <p:nvPicPr>
          <p:cNvPr id="9" name="Image 0" descr="preencoded.png">    </p:cNvPr>
          <p:cNvPicPr>
            <a:picLocks noChangeAspect="1"/>
          </p:cNvPicPr>
          <p:nvPr/>
        </p:nvPicPr>
        <p:blipFill>
          <a:blip r:embed="rId1"/>
          <a:stretch>
            <a:fillRect/>
          </a:stretch>
        </p:blipFill>
        <p:spPr>
          <a:xfrm>
            <a:off x="640080" y="2286000"/>
            <a:ext cx="365760" cy="365760"/>
          </a:xfrm>
          <a:prstGeom prst="rect">
            <a:avLst/>
          </a:prstGeom>
        </p:spPr>
      </p:pic>
      <p:sp>
        <p:nvSpPr>
          <p:cNvPr id="10" name="Text 7"/>
          <p:cNvSpPr/>
          <p:nvPr/>
        </p:nvSpPr>
        <p:spPr>
          <a:xfrm>
            <a:off x="1143000" y="224028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Update Gate (zₜ)</a:t>
            </a:r>
            <a:endParaRPr lang="en-US" sz="1600" dirty="0"/>
          </a:p>
        </p:txBody>
      </p:sp>
      <p:sp>
        <p:nvSpPr>
          <p:cNvPr id="11" name="Text 8"/>
          <p:cNvSpPr/>
          <p:nvPr/>
        </p:nvSpPr>
        <p:spPr>
          <a:xfrm>
            <a:off x="685800" y="2651760"/>
            <a:ext cx="3474720" cy="6858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Merges forget + input gates into one. Controls how much of the new candidate to blend with the previous hidden state. Fewer parameters than LSTM.</a:t>
            </a:r>
            <a:endParaRPr lang="en-US" sz="1300" dirty="0"/>
          </a:p>
        </p:txBody>
      </p:sp>
      <p:sp>
        <p:nvSpPr>
          <p:cNvPr id="12" name="Shape 9"/>
          <p:cNvSpPr/>
          <p:nvPr/>
        </p:nvSpPr>
        <p:spPr>
          <a:xfrm>
            <a:off x="4754880" y="2103120"/>
            <a:ext cx="3931920" cy="13716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3" name="Shape 10"/>
          <p:cNvSpPr/>
          <p:nvPr/>
        </p:nvSpPr>
        <p:spPr>
          <a:xfrm>
            <a:off x="4754880" y="2103120"/>
            <a:ext cx="54864" cy="1371600"/>
          </a:xfrm>
          <a:prstGeom prst="rect">
            <a:avLst/>
          </a:prstGeom>
          <a:solidFill>
            <a:srgbClr val="0D9488"/>
          </a:solidFill>
          <a:ln/>
        </p:spPr>
      </p:sp>
      <p:pic>
        <p:nvPicPr>
          <p:cNvPr id="14" name="Image 1" descr="preencoded.png">    </p:cNvPr>
          <p:cNvPicPr>
            <a:picLocks noChangeAspect="1"/>
          </p:cNvPicPr>
          <p:nvPr/>
        </p:nvPicPr>
        <p:blipFill>
          <a:blip r:embed="rId2"/>
          <a:stretch>
            <a:fillRect/>
          </a:stretch>
        </p:blipFill>
        <p:spPr>
          <a:xfrm>
            <a:off x="4937760" y="2286000"/>
            <a:ext cx="365760" cy="365760"/>
          </a:xfrm>
          <a:prstGeom prst="rect">
            <a:avLst/>
          </a:prstGeom>
        </p:spPr>
      </p:pic>
      <p:sp>
        <p:nvSpPr>
          <p:cNvPr id="15" name="Text 11"/>
          <p:cNvSpPr/>
          <p:nvPr/>
        </p:nvSpPr>
        <p:spPr>
          <a:xfrm>
            <a:off x="5440680" y="224028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Reset Gate (rₜ)</a:t>
            </a:r>
            <a:endParaRPr lang="en-US" sz="1600" dirty="0"/>
          </a:p>
        </p:txBody>
      </p:sp>
      <p:sp>
        <p:nvSpPr>
          <p:cNvPr id="16" name="Text 12"/>
          <p:cNvSpPr/>
          <p:nvPr/>
        </p:nvSpPr>
        <p:spPr>
          <a:xfrm>
            <a:off x="4983480" y="2651760"/>
            <a:ext cx="3474720" cy="6858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Controls how much past hidden state to expose to the candidate computation. When rₜ ≈ 0, the GRU acts like reading fresh input.</a:t>
            </a:r>
            <a:endParaRPr lang="en-US" sz="1300" dirty="0"/>
          </a:p>
        </p:txBody>
      </p:sp>
      <p:sp>
        <p:nvSpPr>
          <p:cNvPr id="17" name="Shape 13"/>
          <p:cNvSpPr/>
          <p:nvPr/>
        </p:nvSpPr>
        <p:spPr>
          <a:xfrm>
            <a:off x="457200" y="3657600"/>
            <a:ext cx="8229600" cy="109728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8" name="Shape 14"/>
          <p:cNvSpPr/>
          <p:nvPr/>
        </p:nvSpPr>
        <p:spPr>
          <a:xfrm>
            <a:off x="457200" y="3657600"/>
            <a:ext cx="54864" cy="1097280"/>
          </a:xfrm>
          <a:prstGeom prst="rect">
            <a:avLst/>
          </a:prstGeom>
          <a:solidFill>
            <a:srgbClr val="0D9488"/>
          </a:solidFill>
          <a:ln/>
        </p:spPr>
      </p:sp>
      <p:pic>
        <p:nvPicPr>
          <p:cNvPr id="19" name="Image 2" descr="preencoded.png">    </p:cNvPr>
          <p:cNvPicPr>
            <a:picLocks noChangeAspect="1"/>
          </p:cNvPicPr>
          <p:nvPr/>
        </p:nvPicPr>
        <p:blipFill>
          <a:blip r:embed="rId3"/>
          <a:stretch>
            <a:fillRect/>
          </a:stretch>
        </p:blipFill>
        <p:spPr>
          <a:xfrm>
            <a:off x="640080" y="3840480"/>
            <a:ext cx="365760" cy="365760"/>
          </a:xfrm>
          <a:prstGeom prst="rect">
            <a:avLst/>
          </a:prstGeom>
        </p:spPr>
      </p:pic>
      <p:sp>
        <p:nvSpPr>
          <p:cNvPr id="20" name="Text 15"/>
          <p:cNvSpPr/>
          <p:nvPr/>
        </p:nvSpPr>
        <p:spPr>
          <a:xfrm>
            <a:off x="1143000" y="3794760"/>
            <a:ext cx="736092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GRU vs LSTM: When to Choose?</a:t>
            </a:r>
            <a:endParaRPr lang="en-US" sz="1600" dirty="0"/>
          </a:p>
        </p:txBody>
      </p:sp>
      <p:sp>
        <p:nvSpPr>
          <p:cNvPr id="21" name="Text 16"/>
          <p:cNvSpPr/>
          <p:nvPr/>
        </p:nvSpPr>
        <p:spPr>
          <a:xfrm>
            <a:off x="685800" y="4206240"/>
            <a:ext cx="7772400" cy="41148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GRU: 2 gates, no cell state → fewer params, faster training. Performs comparably on most tasks with shorter sequences. LSTM: 3 gates + cell state → more expressive, better on very long sequences. In practice: try both; GRU often wins on medium-length tasks.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Deep &amp; Bidirectional RNNs</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13</a:t>
            </a:r>
            <a:endParaRPr lang="en-US" sz="1100" dirty="0"/>
          </a:p>
        </p:txBody>
      </p:sp>
      <p:sp>
        <p:nvSpPr>
          <p:cNvPr id="4" name="Shape 2"/>
          <p:cNvSpPr/>
          <p:nvPr/>
        </p:nvSpPr>
        <p:spPr>
          <a:xfrm>
            <a:off x="457200" y="1005840"/>
            <a:ext cx="3931920" cy="18288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5" name="Shape 3"/>
          <p:cNvSpPr/>
          <p:nvPr/>
        </p:nvSpPr>
        <p:spPr>
          <a:xfrm>
            <a:off x="457200" y="1005840"/>
            <a:ext cx="54864" cy="1828800"/>
          </a:xfrm>
          <a:prstGeom prst="rect">
            <a:avLst/>
          </a:prstGeom>
          <a:solidFill>
            <a:srgbClr val="0D9488"/>
          </a:solidFill>
          <a:ln/>
        </p:spPr>
      </p:sp>
      <p:pic>
        <p:nvPicPr>
          <p:cNvPr id="6" name="Image 0" descr="preencoded.png">    </p:cNvPr>
          <p:cNvPicPr>
            <a:picLocks noChangeAspect="1"/>
          </p:cNvPicPr>
          <p:nvPr/>
        </p:nvPicPr>
        <p:blipFill>
          <a:blip r:embed="rId1"/>
          <a:stretch>
            <a:fillRect/>
          </a:stretch>
        </p:blipFill>
        <p:spPr>
          <a:xfrm>
            <a:off x="640080" y="1188720"/>
            <a:ext cx="365760" cy="365760"/>
          </a:xfrm>
          <a:prstGeom prst="rect">
            <a:avLst/>
          </a:prstGeom>
        </p:spPr>
      </p:pic>
      <p:sp>
        <p:nvSpPr>
          <p:cNvPr id="7" name="Text 4"/>
          <p:cNvSpPr/>
          <p:nvPr/>
        </p:nvSpPr>
        <p:spPr>
          <a:xfrm>
            <a:off x="1143000" y="114300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Stacked/Deep RNNs</a:t>
            </a:r>
            <a:endParaRPr lang="en-US" sz="1600" dirty="0"/>
          </a:p>
        </p:txBody>
      </p:sp>
      <p:sp>
        <p:nvSpPr>
          <p:cNvPr id="8" name="Text 5"/>
          <p:cNvSpPr/>
          <p:nvPr/>
        </p:nvSpPr>
        <p:spPr>
          <a:xfrm>
            <a:off x="685800" y="1554480"/>
            <a:ext cx="3474720" cy="11430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Stack L layers of RNN/LSTM/GRU. Layer l receives hₜˡ⁻¹ as input. Deeper networks learn hierarchical temporal features. Typically 2–4 layers. Dropout applied between layers.</a:t>
            </a:r>
            <a:endParaRPr lang="en-US" sz="1300" dirty="0"/>
          </a:p>
        </p:txBody>
      </p:sp>
      <p:sp>
        <p:nvSpPr>
          <p:cNvPr id="9" name="Shape 6"/>
          <p:cNvSpPr/>
          <p:nvPr/>
        </p:nvSpPr>
        <p:spPr>
          <a:xfrm>
            <a:off x="4754880" y="1005840"/>
            <a:ext cx="3931920" cy="18288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0" name="Shape 7"/>
          <p:cNvSpPr/>
          <p:nvPr/>
        </p:nvSpPr>
        <p:spPr>
          <a:xfrm>
            <a:off x="4754880" y="1005840"/>
            <a:ext cx="54864" cy="1828800"/>
          </a:xfrm>
          <a:prstGeom prst="rect">
            <a:avLst/>
          </a:prstGeom>
          <a:solidFill>
            <a:srgbClr val="0D9488"/>
          </a:solidFill>
          <a:ln/>
        </p:spPr>
      </p:sp>
      <p:pic>
        <p:nvPicPr>
          <p:cNvPr id="11" name="Image 1" descr="preencoded.png">    </p:cNvPr>
          <p:cNvPicPr>
            <a:picLocks noChangeAspect="1"/>
          </p:cNvPicPr>
          <p:nvPr/>
        </p:nvPicPr>
        <p:blipFill>
          <a:blip r:embed="rId2"/>
          <a:stretch>
            <a:fillRect/>
          </a:stretch>
        </p:blipFill>
        <p:spPr>
          <a:xfrm>
            <a:off x="4937760" y="1188720"/>
            <a:ext cx="365760" cy="365760"/>
          </a:xfrm>
          <a:prstGeom prst="rect">
            <a:avLst/>
          </a:prstGeom>
        </p:spPr>
      </p:pic>
      <p:sp>
        <p:nvSpPr>
          <p:cNvPr id="12" name="Text 8"/>
          <p:cNvSpPr/>
          <p:nvPr/>
        </p:nvSpPr>
        <p:spPr>
          <a:xfrm>
            <a:off x="5440680" y="114300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Bidirectional RNNs</a:t>
            </a:r>
            <a:endParaRPr lang="en-US" sz="1600" dirty="0"/>
          </a:p>
        </p:txBody>
      </p:sp>
      <p:sp>
        <p:nvSpPr>
          <p:cNvPr id="13" name="Text 9"/>
          <p:cNvSpPr/>
          <p:nvPr/>
        </p:nvSpPr>
        <p:spPr>
          <a:xfrm>
            <a:off x="4983480" y="1554480"/>
            <a:ext cx="3474720" cy="11430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Two separate RNNs: forward (left→right) and backward (right→left). Final hidden state: hₜ = [h⃗ₜ ; h⃖ₜ]. Captures both past and future context. Essential for tasks like NER, POS tagging.</a:t>
            </a:r>
            <a:endParaRPr lang="en-US" sz="1300" dirty="0"/>
          </a:p>
        </p:txBody>
      </p:sp>
      <p:sp>
        <p:nvSpPr>
          <p:cNvPr id="14" name="Shape 10"/>
          <p:cNvSpPr/>
          <p:nvPr/>
        </p:nvSpPr>
        <p:spPr>
          <a:xfrm>
            <a:off x="457200" y="3108960"/>
            <a:ext cx="8229600" cy="155448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5" name="Shape 11"/>
          <p:cNvSpPr/>
          <p:nvPr/>
        </p:nvSpPr>
        <p:spPr>
          <a:xfrm>
            <a:off x="457200" y="3108960"/>
            <a:ext cx="54864" cy="1554480"/>
          </a:xfrm>
          <a:prstGeom prst="rect">
            <a:avLst/>
          </a:prstGeom>
          <a:solidFill>
            <a:srgbClr val="0D9488"/>
          </a:solidFill>
          <a:ln/>
        </p:spPr>
      </p:sp>
      <p:pic>
        <p:nvPicPr>
          <p:cNvPr id="16" name="Image 2" descr="preencoded.png">    </p:cNvPr>
          <p:cNvPicPr>
            <a:picLocks noChangeAspect="1"/>
          </p:cNvPicPr>
          <p:nvPr/>
        </p:nvPicPr>
        <p:blipFill>
          <a:blip r:embed="rId3"/>
          <a:stretch>
            <a:fillRect/>
          </a:stretch>
        </p:blipFill>
        <p:spPr>
          <a:xfrm>
            <a:off x="640080" y="3291840"/>
            <a:ext cx="365760" cy="365760"/>
          </a:xfrm>
          <a:prstGeom prst="rect">
            <a:avLst/>
          </a:prstGeom>
        </p:spPr>
      </p:pic>
      <p:sp>
        <p:nvSpPr>
          <p:cNvPr id="17" name="Text 12"/>
          <p:cNvSpPr/>
          <p:nvPr/>
        </p:nvSpPr>
        <p:spPr>
          <a:xfrm>
            <a:off x="1143000" y="3246120"/>
            <a:ext cx="736092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Practical Considerations</a:t>
            </a:r>
            <a:endParaRPr lang="en-US" sz="1600" dirty="0"/>
          </a:p>
        </p:txBody>
      </p:sp>
      <p:sp>
        <p:nvSpPr>
          <p:cNvPr id="18" name="Text 13"/>
          <p:cNvSpPr/>
          <p:nvPr/>
        </p:nvSpPr>
        <p:spPr>
          <a:xfrm>
            <a:off x="685800" y="3657600"/>
            <a:ext cx="7772400" cy="86868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Residual connections between layers help gradient flow in deep RNNs</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Layer normalization preferred over batch norm for recurrent architectures</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Bidirectional RNNs double the parameter count and cannot be used for autoregressive generation</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Google's NMT (2016) used 8-layer bidirectional LSTM encoder + 8-layer LSTM decoder</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Recurrent Architectures: Comparison</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14</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474720"/>
        </p:xfrm>
        <a:graphic>
          <a:graphicData uri="http://schemas.openxmlformats.org/drawingml/2006/table">
            <a:tbl>
              <a:tblPr/>
              <a:tblGrid>
                <a:gridCol w="1645920"/>
                <a:gridCol w="2194560"/>
                <a:gridCol w="2194560"/>
                <a:gridCol w="2194560"/>
              </a:tblGrid>
              <a:tr h="434340">
                <a:tc>
                  <a:txBody>
                    <a:bodyP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Feature</a:t>
                      </a:r>
                      <a:endParaRPr lang="en-US" sz="1300" dirty="0">
                        <a:latin typeface="Trebuchet MS" charset="0"/>
                        <a:ea typeface="Trebuchet MS" charset="0"/>
                        <a:cs typeface="Trebuchet M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D9488"/>
                    </a:solidFill>
                  </a:tcPr>
                </a:tc>
                <a:tc>
                  <a:txBody>
                    <a:bodyP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Vanilla RNN</a:t>
                      </a:r>
                      <a:endParaRPr lang="en-US" sz="1300" dirty="0">
                        <a:latin typeface="Trebuchet MS" charset="0"/>
                        <a:ea typeface="Trebuchet MS" charset="0"/>
                        <a:cs typeface="Trebuchet M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D9488"/>
                    </a:solidFill>
                  </a:tcPr>
                </a:tc>
                <a:tc>
                  <a:txBody>
                    <a:bodyP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LSTM</a:t>
                      </a:r>
                      <a:endParaRPr lang="en-US" sz="1300" dirty="0">
                        <a:latin typeface="Trebuchet MS" charset="0"/>
                        <a:ea typeface="Trebuchet MS" charset="0"/>
                        <a:cs typeface="Trebuchet M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D9488"/>
                    </a:solidFill>
                  </a:tcPr>
                </a:tc>
                <a:tc>
                  <a:txBody>
                    <a:bodyP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GRU</a:t>
                      </a:r>
                      <a:endParaRPr lang="en-US" sz="1300" dirty="0">
                        <a:latin typeface="Trebuchet MS" charset="0"/>
                        <a:ea typeface="Trebuchet MS" charset="0"/>
                        <a:cs typeface="Trebuchet M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D9488"/>
                    </a:solidFill>
                  </a:tcPr>
                </a:tc>
              </a:tr>
              <a:tr h="434340">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Gates</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3 (f, i, o)</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2 (z, r)</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r>
              <a:tr h="434340">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Cell State</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Yes (cₜ)</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r h="434340">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Parameters (d=512)</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~1.6M</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~6.3M</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~4.7M</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r>
              <a:tr h="434340">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Long-Range Deps</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Poor (10–20)</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Good (200+)</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Good (100+)</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r h="434340">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Training Speed</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Fast</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Slow</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r>
              <a:tr h="434340">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Gradient Flow</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Multiplicative</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Additive (highway)</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Mixed</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r h="434340">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Best For</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Simple sequences</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Long dependencies</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00" dirty="0">
                          <a:solidFill>
                            <a:srgbClr val="E2E8F0"/>
                          </a:solidFill>
                          <a:latin typeface="Calibri" pitchFamily="34" charset="0"/>
                          <a:ea typeface="Calibri" pitchFamily="34" charset="-122"/>
                          <a:cs typeface="Calibri" pitchFamily="34" charset="-120"/>
                        </a:rPr>
                        <a:t>Medium sequences</a:t>
                      </a:r>
                      <a:endParaRPr lang="en-US" sz="1200" dirty="0">
                        <a:latin typeface="Calibri" charset="0"/>
                        <a:ea typeface="Calibri" charset="0"/>
                        <a:cs typeface="Calibri"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93B"/>
          </a:solidFill>
          <a:ln/>
        </p:spPr>
      </p:sp>
      <p:sp>
        <p:nvSpPr>
          <p:cNvPr id="3" name="Shape 1"/>
          <p:cNvSpPr/>
          <p:nvPr/>
        </p:nvSpPr>
        <p:spPr>
          <a:xfrm>
            <a:off x="0" y="0"/>
            <a:ext cx="109728" cy="5143500"/>
          </a:xfrm>
          <a:prstGeom prst="rect">
            <a:avLst/>
          </a:prstGeom>
          <a:solidFill>
            <a:srgbClr val="0D9488"/>
          </a:solidFill>
          <a:ln/>
        </p:spPr>
      </p:sp>
      <p:pic>
        <p:nvPicPr>
          <p:cNvPr id="4" name="Image 0" descr="preencoded.png">    </p:cNvPr>
          <p:cNvPicPr>
            <a:picLocks noChangeAspect="1"/>
          </p:cNvPicPr>
          <p:nvPr/>
        </p:nvPicPr>
        <p:blipFill>
          <a:blip r:embed="rId1"/>
          <a:stretch>
            <a:fillRect/>
          </a:stretch>
        </p:blipFill>
        <p:spPr>
          <a:xfrm>
            <a:off x="731520" y="1371600"/>
            <a:ext cx="822960" cy="822960"/>
          </a:xfrm>
          <a:prstGeom prst="rect">
            <a:avLst/>
          </a:prstGeom>
        </p:spPr>
      </p:pic>
      <p:sp>
        <p:nvSpPr>
          <p:cNvPr id="5" name="Text 2"/>
          <p:cNvSpPr/>
          <p:nvPr/>
        </p:nvSpPr>
        <p:spPr>
          <a:xfrm>
            <a:off x="731520" y="2377440"/>
            <a:ext cx="7772400" cy="91440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Part III: Encoder-Decoder &amp; Attention</a:t>
            </a:r>
            <a:endParaRPr lang="en-US" sz="4000" dirty="0"/>
          </a:p>
        </p:txBody>
      </p:sp>
      <p:sp>
        <p:nvSpPr>
          <p:cNvPr id="6" name="Text 3"/>
          <p:cNvSpPr/>
          <p:nvPr/>
        </p:nvSpPr>
        <p:spPr>
          <a:xfrm>
            <a:off x="731520" y="3291840"/>
            <a:ext cx="7772400" cy="54864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Bridging sequences of different lengths</a:t>
            </a:r>
            <a:endParaRPr lang="en-US" sz="1800" dirty="0"/>
          </a:p>
        </p:txBody>
      </p:sp>
      <p:sp>
        <p:nvSpPr>
          <p:cNvPr id="7" name="Text 4"/>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Sequence-to-Sequence (Seq2Seq) Architecture</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16</a:t>
            </a:r>
            <a:endParaRPr lang="en-US" sz="1100" dirty="0"/>
          </a:p>
        </p:txBody>
      </p:sp>
      <p:sp>
        <p:nvSpPr>
          <p:cNvPr id="4" name="Text 2"/>
          <p:cNvSpPr/>
          <p:nvPr/>
        </p:nvSpPr>
        <p:spPr>
          <a:xfrm>
            <a:off x="548640" y="640080"/>
            <a:ext cx="5486400" cy="27432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Sutskever et al., 2014  |  Cho et al., 2014</a:t>
            </a:r>
            <a:endParaRPr lang="en-US" sz="1200" dirty="0"/>
          </a:p>
        </p:txBody>
      </p:sp>
      <p:sp>
        <p:nvSpPr>
          <p:cNvPr id="5" name="Shape 3"/>
          <p:cNvSpPr/>
          <p:nvPr/>
        </p:nvSpPr>
        <p:spPr>
          <a:xfrm>
            <a:off x="457200" y="1097280"/>
            <a:ext cx="3657600" cy="22860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6" name="Shape 4"/>
          <p:cNvSpPr/>
          <p:nvPr/>
        </p:nvSpPr>
        <p:spPr>
          <a:xfrm>
            <a:off x="457200" y="1097280"/>
            <a:ext cx="3657600" cy="54864"/>
          </a:xfrm>
          <a:prstGeom prst="rect">
            <a:avLst/>
          </a:prstGeom>
          <a:solidFill>
            <a:srgbClr val="0D9488"/>
          </a:solidFill>
          <a:ln/>
        </p:spPr>
      </p:sp>
      <p:sp>
        <p:nvSpPr>
          <p:cNvPr id="7" name="Text 5"/>
          <p:cNvSpPr/>
          <p:nvPr/>
        </p:nvSpPr>
        <p:spPr>
          <a:xfrm>
            <a:off x="640080" y="1234440"/>
            <a:ext cx="3291840" cy="365760"/>
          </a:xfrm>
          <a:prstGeom prst="rect">
            <a:avLst/>
          </a:prstGeom>
          <a:noFill/>
          <a:ln/>
        </p:spPr>
        <p:txBody>
          <a:bodyPr wrap="square" lIns="0" tIns="0" rIns="0" bIns="0" rtlCol="0" anchor="ctr"/>
          <a:lstStyle/>
          <a:p>
            <a:pPr indent="0" marL="0">
              <a:buNone/>
            </a:pPr>
            <a:r>
              <a:rPr lang="en-US" sz="1800" b="1" dirty="0">
                <a:solidFill>
                  <a:srgbClr val="2DD4BF"/>
                </a:solidFill>
                <a:latin typeface="Trebuchet MS" pitchFamily="34" charset="0"/>
                <a:ea typeface="Trebuchet MS" pitchFamily="34" charset="-122"/>
                <a:cs typeface="Trebuchet MS" pitchFamily="34" charset="-120"/>
              </a:rPr>
              <a:t>ENCODER</a:t>
            </a:r>
            <a:endParaRPr lang="en-US" sz="1800" dirty="0"/>
          </a:p>
        </p:txBody>
      </p:sp>
      <p:sp>
        <p:nvSpPr>
          <p:cNvPr id="8" name="Text 6"/>
          <p:cNvSpPr/>
          <p:nvPr/>
        </p:nvSpPr>
        <p:spPr>
          <a:xfrm>
            <a:off x="640080" y="1691640"/>
            <a:ext cx="3291840" cy="146304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Reads the entire input sequence x₁...xₙ and compresses it into a fixed-length context vector c = hₙ (the final hidden state). This vector must encode ALL information about the source.</a:t>
            </a:r>
            <a:endParaRPr lang="en-US" sz="1300" dirty="0"/>
          </a:p>
        </p:txBody>
      </p:sp>
      <p:sp>
        <p:nvSpPr>
          <p:cNvPr id="9" name="Shape 7"/>
          <p:cNvSpPr/>
          <p:nvPr/>
        </p:nvSpPr>
        <p:spPr>
          <a:xfrm>
            <a:off x="4114800" y="2103120"/>
            <a:ext cx="914400" cy="73152"/>
          </a:xfrm>
          <a:prstGeom prst="rect">
            <a:avLst/>
          </a:prstGeom>
          <a:solidFill>
            <a:srgbClr val="F59E0B"/>
          </a:solidFill>
          <a:ln/>
        </p:spPr>
      </p:sp>
      <p:sp>
        <p:nvSpPr>
          <p:cNvPr id="10" name="Text 8"/>
          <p:cNvSpPr/>
          <p:nvPr/>
        </p:nvSpPr>
        <p:spPr>
          <a:xfrm>
            <a:off x="4023360" y="1783080"/>
            <a:ext cx="1097280" cy="274320"/>
          </a:xfrm>
          <a:prstGeom prst="rect">
            <a:avLst/>
          </a:prstGeom>
          <a:noFill/>
          <a:ln/>
        </p:spPr>
        <p:txBody>
          <a:bodyPr wrap="square" lIns="0" tIns="0" rIns="0" bIns="0" rtlCol="0" anchor="ctr"/>
          <a:lstStyle/>
          <a:p>
            <a:pPr algn="ctr" indent="0" marL="0">
              <a:buNone/>
            </a:pPr>
            <a:r>
              <a:rPr lang="en-US" sz="1100" dirty="0">
                <a:solidFill>
                  <a:srgbClr val="F59E0B"/>
                </a:solidFill>
                <a:latin typeface="Consolas" pitchFamily="34" charset="0"/>
                <a:ea typeface="Consolas" pitchFamily="34" charset="-122"/>
                <a:cs typeface="Consolas" pitchFamily="34" charset="-120"/>
              </a:rPr>
              <a:t>context c</a:t>
            </a:r>
            <a:endParaRPr lang="en-US" sz="1100" dirty="0"/>
          </a:p>
        </p:txBody>
      </p:sp>
      <p:sp>
        <p:nvSpPr>
          <p:cNvPr id="11" name="Shape 9"/>
          <p:cNvSpPr/>
          <p:nvPr/>
        </p:nvSpPr>
        <p:spPr>
          <a:xfrm>
            <a:off x="5029200" y="1097280"/>
            <a:ext cx="3657600" cy="22860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2" name="Shape 10"/>
          <p:cNvSpPr/>
          <p:nvPr/>
        </p:nvSpPr>
        <p:spPr>
          <a:xfrm>
            <a:off x="5029200" y="1097280"/>
            <a:ext cx="3657600" cy="54864"/>
          </a:xfrm>
          <a:prstGeom prst="rect">
            <a:avLst/>
          </a:prstGeom>
          <a:solidFill>
            <a:srgbClr val="F59E0B"/>
          </a:solidFill>
          <a:ln/>
        </p:spPr>
      </p:sp>
      <p:sp>
        <p:nvSpPr>
          <p:cNvPr id="13" name="Text 11"/>
          <p:cNvSpPr/>
          <p:nvPr/>
        </p:nvSpPr>
        <p:spPr>
          <a:xfrm>
            <a:off x="5212080" y="1234440"/>
            <a:ext cx="3291840" cy="365760"/>
          </a:xfrm>
          <a:prstGeom prst="rect">
            <a:avLst/>
          </a:prstGeom>
          <a:noFill/>
          <a:ln/>
        </p:spPr>
        <p:txBody>
          <a:bodyPr wrap="square" lIns="0" tIns="0" rIns="0" bIns="0" rtlCol="0" anchor="ctr"/>
          <a:lstStyle/>
          <a:p>
            <a:pPr indent="0" marL="0">
              <a:buNone/>
            </a:pPr>
            <a:r>
              <a:rPr lang="en-US" sz="1800" b="1" dirty="0">
                <a:solidFill>
                  <a:srgbClr val="F59E0B"/>
                </a:solidFill>
                <a:latin typeface="Trebuchet MS" pitchFamily="34" charset="0"/>
                <a:ea typeface="Trebuchet MS" pitchFamily="34" charset="-122"/>
                <a:cs typeface="Trebuchet MS" pitchFamily="34" charset="-120"/>
              </a:rPr>
              <a:t>DECODER</a:t>
            </a:r>
            <a:endParaRPr lang="en-US" sz="1800" dirty="0"/>
          </a:p>
        </p:txBody>
      </p:sp>
      <p:sp>
        <p:nvSpPr>
          <p:cNvPr id="14" name="Text 12"/>
          <p:cNvSpPr/>
          <p:nvPr/>
        </p:nvSpPr>
        <p:spPr>
          <a:xfrm>
            <a:off x="5212080" y="1691640"/>
            <a:ext cx="3291840" cy="146304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Generates the output sequence y₁...yₘ one token at a time. At each step, receives the context vector c and previously generated token yₜ₋₁. Uses autoregressive generation.</a:t>
            </a:r>
            <a:endParaRPr lang="en-US" sz="1300" dirty="0"/>
          </a:p>
        </p:txBody>
      </p:sp>
      <p:sp>
        <p:nvSpPr>
          <p:cNvPr id="15" name="Shape 13"/>
          <p:cNvSpPr/>
          <p:nvPr/>
        </p:nvSpPr>
        <p:spPr>
          <a:xfrm>
            <a:off x="457200" y="3657600"/>
            <a:ext cx="8229600" cy="109728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6" name="Shape 14"/>
          <p:cNvSpPr/>
          <p:nvPr/>
        </p:nvSpPr>
        <p:spPr>
          <a:xfrm>
            <a:off x="457200" y="3657600"/>
            <a:ext cx="54864" cy="1097280"/>
          </a:xfrm>
          <a:prstGeom prst="rect">
            <a:avLst/>
          </a:prstGeom>
          <a:solidFill>
            <a:srgbClr val="0D9488"/>
          </a:solidFill>
          <a:ln/>
        </p:spPr>
      </p:sp>
      <p:pic>
        <p:nvPicPr>
          <p:cNvPr id="17" name="Image 0" descr="preencoded.png">    </p:cNvPr>
          <p:cNvPicPr>
            <a:picLocks noChangeAspect="1"/>
          </p:cNvPicPr>
          <p:nvPr/>
        </p:nvPicPr>
        <p:blipFill>
          <a:blip r:embed="rId1"/>
          <a:stretch>
            <a:fillRect/>
          </a:stretch>
        </p:blipFill>
        <p:spPr>
          <a:xfrm>
            <a:off x="640080" y="3840480"/>
            <a:ext cx="365760" cy="365760"/>
          </a:xfrm>
          <a:prstGeom prst="rect">
            <a:avLst/>
          </a:prstGeom>
        </p:spPr>
      </p:pic>
      <p:sp>
        <p:nvSpPr>
          <p:cNvPr id="18" name="Text 15"/>
          <p:cNvSpPr/>
          <p:nvPr/>
        </p:nvSpPr>
        <p:spPr>
          <a:xfrm>
            <a:off x="1143000" y="3794760"/>
            <a:ext cx="736092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Information Bottleneck Problem</a:t>
            </a:r>
            <a:endParaRPr lang="en-US" sz="1600" dirty="0"/>
          </a:p>
        </p:txBody>
      </p:sp>
      <p:sp>
        <p:nvSpPr>
          <p:cNvPr id="19" name="Text 16"/>
          <p:cNvSpPr/>
          <p:nvPr/>
        </p:nvSpPr>
        <p:spPr>
          <a:xfrm>
            <a:off x="685800" y="4206240"/>
            <a:ext cx="7772400" cy="41148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The entire source sequence is compressed into a single vector c of fixed dimension (e.g. 512). For long sentences, this creates an information bottleneck. Performance degrades on sequences &gt; 20–30 tokens. This motivates the attention mechanism.</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The Attention Mechanism: Motivation</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17</a:t>
            </a:r>
            <a:endParaRPr lang="en-US" sz="1100" dirty="0"/>
          </a:p>
        </p:txBody>
      </p:sp>
      <p:sp>
        <p:nvSpPr>
          <p:cNvPr id="4" name="Shape 2"/>
          <p:cNvSpPr/>
          <p:nvPr/>
        </p:nvSpPr>
        <p:spPr>
          <a:xfrm>
            <a:off x="457200" y="1005840"/>
            <a:ext cx="8229600" cy="13716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5" name="Shape 3"/>
          <p:cNvSpPr/>
          <p:nvPr/>
        </p:nvSpPr>
        <p:spPr>
          <a:xfrm>
            <a:off x="457200" y="1005840"/>
            <a:ext cx="54864" cy="1371600"/>
          </a:xfrm>
          <a:prstGeom prst="rect">
            <a:avLst/>
          </a:prstGeom>
          <a:solidFill>
            <a:srgbClr val="0D9488"/>
          </a:solidFill>
          <a:ln/>
        </p:spPr>
      </p:sp>
      <p:pic>
        <p:nvPicPr>
          <p:cNvPr id="6" name="Image 0" descr="preencoded.png">    </p:cNvPr>
          <p:cNvPicPr>
            <a:picLocks noChangeAspect="1"/>
          </p:cNvPicPr>
          <p:nvPr/>
        </p:nvPicPr>
        <p:blipFill>
          <a:blip r:embed="rId1"/>
          <a:stretch>
            <a:fillRect/>
          </a:stretch>
        </p:blipFill>
        <p:spPr>
          <a:xfrm>
            <a:off x="640080" y="1188720"/>
            <a:ext cx="365760" cy="365760"/>
          </a:xfrm>
          <a:prstGeom prst="rect">
            <a:avLst/>
          </a:prstGeom>
        </p:spPr>
      </p:pic>
      <p:sp>
        <p:nvSpPr>
          <p:cNvPr id="7" name="Text 4"/>
          <p:cNvSpPr/>
          <p:nvPr/>
        </p:nvSpPr>
        <p:spPr>
          <a:xfrm>
            <a:off x="1143000" y="1143000"/>
            <a:ext cx="736092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Core Question</a:t>
            </a:r>
            <a:endParaRPr lang="en-US" sz="1600" dirty="0"/>
          </a:p>
        </p:txBody>
      </p:sp>
      <p:sp>
        <p:nvSpPr>
          <p:cNvPr id="8" name="Text 5"/>
          <p:cNvSpPr/>
          <p:nvPr/>
        </p:nvSpPr>
        <p:spPr>
          <a:xfrm>
            <a:off x="685800" y="1554480"/>
            <a:ext cx="7772400" cy="6858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Instead of compressing the entire source into one vector, why not let the decoder LOOK BACK at ALL encoder hidden states and dynamically select which parts are relevant at each decoding step?</a:t>
            </a:r>
            <a:endParaRPr lang="en-US" sz="1300" dirty="0"/>
          </a:p>
        </p:txBody>
      </p:sp>
      <p:sp>
        <p:nvSpPr>
          <p:cNvPr id="9" name="Shape 6"/>
          <p:cNvSpPr/>
          <p:nvPr/>
        </p:nvSpPr>
        <p:spPr>
          <a:xfrm>
            <a:off x="457200" y="2651760"/>
            <a:ext cx="3931920" cy="201168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0" name="Shape 7"/>
          <p:cNvSpPr/>
          <p:nvPr/>
        </p:nvSpPr>
        <p:spPr>
          <a:xfrm>
            <a:off x="457200" y="2651760"/>
            <a:ext cx="54864" cy="2011680"/>
          </a:xfrm>
          <a:prstGeom prst="rect">
            <a:avLst/>
          </a:prstGeom>
          <a:solidFill>
            <a:srgbClr val="0D9488"/>
          </a:solidFill>
          <a:ln/>
        </p:spPr>
      </p:sp>
      <p:pic>
        <p:nvPicPr>
          <p:cNvPr id="11" name="Image 1" descr="preencoded.png">    </p:cNvPr>
          <p:cNvPicPr>
            <a:picLocks noChangeAspect="1"/>
          </p:cNvPicPr>
          <p:nvPr/>
        </p:nvPicPr>
        <p:blipFill>
          <a:blip r:embed="rId2"/>
          <a:stretch>
            <a:fillRect/>
          </a:stretch>
        </p:blipFill>
        <p:spPr>
          <a:xfrm>
            <a:off x="640080" y="2834640"/>
            <a:ext cx="365760" cy="365760"/>
          </a:xfrm>
          <a:prstGeom prst="rect">
            <a:avLst/>
          </a:prstGeom>
        </p:spPr>
      </p:pic>
      <p:sp>
        <p:nvSpPr>
          <p:cNvPr id="12" name="Text 8"/>
          <p:cNvSpPr/>
          <p:nvPr/>
        </p:nvSpPr>
        <p:spPr>
          <a:xfrm>
            <a:off x="1143000" y="278892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Bahdanau Attention (2015)</a:t>
            </a:r>
            <a:endParaRPr lang="en-US" sz="1600" dirty="0"/>
          </a:p>
        </p:txBody>
      </p:sp>
      <p:sp>
        <p:nvSpPr>
          <p:cNvPr id="13" name="Text 9"/>
          <p:cNvSpPr/>
          <p:nvPr/>
        </p:nvSpPr>
        <p:spPr>
          <a:xfrm>
            <a:off x="685800" y="3200400"/>
            <a:ext cx="3474720" cy="132588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Additive attention: eₜᵢ = vᵀ tanh(Ws·sₜ₋₁ + Wh·hᵢ)</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αₜᵢ = softmax(eₜ)ᵢ</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cₜ = Σᵢ αₜᵢ · hᵢ</a:t>
            </a:r>
            <a:endParaRPr lang="en-US" sz="1300" dirty="0"/>
          </a:p>
          <a:p>
            <a:pPr indent="0" marL="0">
              <a:lnSpc>
                <a:spcPct val="125000"/>
              </a:lnSpc>
              <a:buNone/>
            </a:pP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Learnable alignment function with an MLP. O(n·d²) per step.</a:t>
            </a:r>
            <a:endParaRPr lang="en-US" sz="1300" dirty="0"/>
          </a:p>
        </p:txBody>
      </p:sp>
      <p:sp>
        <p:nvSpPr>
          <p:cNvPr id="14" name="Shape 10"/>
          <p:cNvSpPr/>
          <p:nvPr/>
        </p:nvSpPr>
        <p:spPr>
          <a:xfrm>
            <a:off x="4754880" y="2651760"/>
            <a:ext cx="3931920" cy="201168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5" name="Shape 11"/>
          <p:cNvSpPr/>
          <p:nvPr/>
        </p:nvSpPr>
        <p:spPr>
          <a:xfrm>
            <a:off x="4754880" y="2651760"/>
            <a:ext cx="54864" cy="2011680"/>
          </a:xfrm>
          <a:prstGeom prst="rect">
            <a:avLst/>
          </a:prstGeom>
          <a:solidFill>
            <a:srgbClr val="0D9488"/>
          </a:solidFill>
          <a:ln/>
        </p:spPr>
      </p:sp>
      <p:pic>
        <p:nvPicPr>
          <p:cNvPr id="16" name="Image 2" descr="preencoded.png">    </p:cNvPr>
          <p:cNvPicPr>
            <a:picLocks noChangeAspect="1"/>
          </p:cNvPicPr>
          <p:nvPr/>
        </p:nvPicPr>
        <p:blipFill>
          <a:blip r:embed="rId3"/>
          <a:stretch>
            <a:fillRect/>
          </a:stretch>
        </p:blipFill>
        <p:spPr>
          <a:xfrm>
            <a:off x="4937760" y="2834640"/>
            <a:ext cx="365760" cy="365760"/>
          </a:xfrm>
          <a:prstGeom prst="rect">
            <a:avLst/>
          </a:prstGeom>
        </p:spPr>
      </p:pic>
      <p:sp>
        <p:nvSpPr>
          <p:cNvPr id="17" name="Text 12"/>
          <p:cNvSpPr/>
          <p:nvPr/>
        </p:nvSpPr>
        <p:spPr>
          <a:xfrm>
            <a:off x="5440680" y="278892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Luong Attention (2015)</a:t>
            </a:r>
            <a:endParaRPr lang="en-US" sz="1600" dirty="0"/>
          </a:p>
        </p:txBody>
      </p:sp>
      <p:sp>
        <p:nvSpPr>
          <p:cNvPr id="18" name="Text 13"/>
          <p:cNvSpPr/>
          <p:nvPr/>
        </p:nvSpPr>
        <p:spPr>
          <a:xfrm>
            <a:off x="4983480" y="3200400"/>
            <a:ext cx="3474720" cy="132588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Multiplicative attention:</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eₜᵢ = sₜᵀ · Wa · hᵢ  (general)</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eₜᵢ = sₜᵀ · hᵢ  (dot-product)</a:t>
            </a:r>
            <a:endParaRPr lang="en-US" sz="1300" dirty="0"/>
          </a:p>
          <a:p>
            <a:pPr indent="0" marL="0">
              <a:lnSpc>
                <a:spcPct val="125000"/>
              </a:lnSpc>
              <a:buNone/>
            </a:pP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Faster computation with matrix multiply. The dot-product variant directly leads to Transformer attention.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Attention: Step-by-Step Computation</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18</a:t>
            </a:r>
            <a:endParaRPr lang="en-US" sz="1100" dirty="0"/>
          </a:p>
        </p:txBody>
      </p:sp>
      <p:sp>
        <p:nvSpPr>
          <p:cNvPr id="4" name="Shape 2"/>
          <p:cNvSpPr/>
          <p:nvPr/>
        </p:nvSpPr>
        <p:spPr>
          <a:xfrm>
            <a:off x="457200" y="1005840"/>
            <a:ext cx="8229600" cy="82296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5" name="Shape 3"/>
          <p:cNvSpPr/>
          <p:nvPr/>
        </p:nvSpPr>
        <p:spPr>
          <a:xfrm>
            <a:off x="457200" y="1005840"/>
            <a:ext cx="54864" cy="822960"/>
          </a:xfrm>
          <a:prstGeom prst="rect">
            <a:avLst/>
          </a:prstGeom>
          <a:solidFill>
            <a:srgbClr val="0D9488"/>
          </a:solidFill>
          <a:ln/>
        </p:spPr>
      </p:sp>
      <p:sp>
        <p:nvSpPr>
          <p:cNvPr id="6" name="Text 4"/>
          <p:cNvSpPr/>
          <p:nvPr/>
        </p:nvSpPr>
        <p:spPr>
          <a:xfrm>
            <a:off x="731520" y="1097280"/>
            <a:ext cx="1280160" cy="32004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1. Score</a:t>
            </a:r>
            <a:endParaRPr lang="en-US" sz="1600" dirty="0"/>
          </a:p>
        </p:txBody>
      </p:sp>
      <p:sp>
        <p:nvSpPr>
          <p:cNvPr id="7" name="Text 5"/>
          <p:cNvSpPr/>
          <p:nvPr/>
        </p:nvSpPr>
        <p:spPr>
          <a:xfrm>
            <a:off x="2103120" y="1143000"/>
            <a:ext cx="6309360" cy="548640"/>
          </a:xfrm>
          <a:prstGeom prst="rect">
            <a:avLst/>
          </a:prstGeom>
          <a:noFill/>
          <a:ln/>
        </p:spPr>
        <p:txBody>
          <a:bodyPr wrap="square" lIns="0" tIns="0" rIns="0" bIns="0" rtlCol="0" anchor="ctr"/>
          <a:lstStyle/>
          <a:p>
            <a:pPr indent="0" marL="0">
              <a:lnSpc>
                <a:spcPct val="120000"/>
              </a:lnSpc>
              <a:buNone/>
            </a:pPr>
            <a:r>
              <a:rPr lang="en-US" sz="1300" dirty="0">
                <a:solidFill>
                  <a:srgbClr val="E2E8F0"/>
                </a:solidFill>
                <a:latin typeface="Calibri" pitchFamily="34" charset="0"/>
                <a:ea typeface="Calibri" pitchFamily="34" charset="-122"/>
                <a:cs typeface="Calibri" pitchFamily="34" charset="-120"/>
              </a:rPr>
              <a:t>Compute alignment scores eₜᵢ between decoder state sₜ and each encoder hidden state hᵢ</a:t>
            </a:r>
            <a:endParaRPr lang="en-US" sz="1300" dirty="0"/>
          </a:p>
        </p:txBody>
      </p:sp>
      <p:sp>
        <p:nvSpPr>
          <p:cNvPr id="8" name="Shape 6"/>
          <p:cNvSpPr/>
          <p:nvPr/>
        </p:nvSpPr>
        <p:spPr>
          <a:xfrm>
            <a:off x="457200" y="1965960"/>
            <a:ext cx="8229600" cy="82296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9" name="Shape 7"/>
          <p:cNvSpPr/>
          <p:nvPr/>
        </p:nvSpPr>
        <p:spPr>
          <a:xfrm>
            <a:off x="457200" y="1965960"/>
            <a:ext cx="54864" cy="822960"/>
          </a:xfrm>
          <a:prstGeom prst="rect">
            <a:avLst/>
          </a:prstGeom>
          <a:solidFill>
            <a:srgbClr val="0D9488"/>
          </a:solidFill>
          <a:ln/>
        </p:spPr>
      </p:sp>
      <p:sp>
        <p:nvSpPr>
          <p:cNvPr id="10" name="Text 8"/>
          <p:cNvSpPr/>
          <p:nvPr/>
        </p:nvSpPr>
        <p:spPr>
          <a:xfrm>
            <a:off x="731520" y="2057400"/>
            <a:ext cx="1280160" cy="32004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2. Normalize</a:t>
            </a:r>
            <a:endParaRPr lang="en-US" sz="1600" dirty="0"/>
          </a:p>
        </p:txBody>
      </p:sp>
      <p:sp>
        <p:nvSpPr>
          <p:cNvPr id="11" name="Text 9"/>
          <p:cNvSpPr/>
          <p:nvPr/>
        </p:nvSpPr>
        <p:spPr>
          <a:xfrm>
            <a:off x="2103120" y="2103120"/>
            <a:ext cx="6309360" cy="548640"/>
          </a:xfrm>
          <a:prstGeom prst="rect">
            <a:avLst/>
          </a:prstGeom>
          <a:noFill/>
          <a:ln/>
        </p:spPr>
        <p:txBody>
          <a:bodyPr wrap="square" lIns="0" tIns="0" rIns="0" bIns="0" rtlCol="0" anchor="ctr"/>
          <a:lstStyle/>
          <a:p>
            <a:pPr indent="0" marL="0">
              <a:lnSpc>
                <a:spcPct val="120000"/>
              </a:lnSpc>
              <a:buNone/>
            </a:pPr>
            <a:r>
              <a:rPr lang="en-US" sz="1300" dirty="0">
                <a:solidFill>
                  <a:srgbClr val="E2E8F0"/>
                </a:solidFill>
                <a:latin typeface="Calibri" pitchFamily="34" charset="0"/>
                <a:ea typeface="Calibri" pitchFamily="34" charset="-122"/>
                <a:cs typeface="Calibri" pitchFamily="34" charset="-120"/>
              </a:rPr>
              <a:t>Apply softmax over all encoder positions: αₜᵢ = exp(eₜᵢ) / Σⱼ exp(eₜⱼ)</a:t>
            </a:r>
            <a:endParaRPr lang="en-US" sz="1300" dirty="0"/>
          </a:p>
        </p:txBody>
      </p:sp>
      <p:sp>
        <p:nvSpPr>
          <p:cNvPr id="12" name="Shape 10"/>
          <p:cNvSpPr/>
          <p:nvPr/>
        </p:nvSpPr>
        <p:spPr>
          <a:xfrm>
            <a:off x="457200" y="2926080"/>
            <a:ext cx="8229600" cy="82296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3" name="Shape 11"/>
          <p:cNvSpPr/>
          <p:nvPr/>
        </p:nvSpPr>
        <p:spPr>
          <a:xfrm>
            <a:off x="457200" y="2926080"/>
            <a:ext cx="54864" cy="822960"/>
          </a:xfrm>
          <a:prstGeom prst="rect">
            <a:avLst/>
          </a:prstGeom>
          <a:solidFill>
            <a:srgbClr val="0D9488"/>
          </a:solidFill>
          <a:ln/>
        </p:spPr>
      </p:sp>
      <p:sp>
        <p:nvSpPr>
          <p:cNvPr id="14" name="Text 12"/>
          <p:cNvSpPr/>
          <p:nvPr/>
        </p:nvSpPr>
        <p:spPr>
          <a:xfrm>
            <a:off x="731520" y="3017520"/>
            <a:ext cx="1280160" cy="32004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3. Weight</a:t>
            </a:r>
            <a:endParaRPr lang="en-US" sz="1600" dirty="0"/>
          </a:p>
        </p:txBody>
      </p:sp>
      <p:sp>
        <p:nvSpPr>
          <p:cNvPr id="15" name="Text 13"/>
          <p:cNvSpPr/>
          <p:nvPr/>
        </p:nvSpPr>
        <p:spPr>
          <a:xfrm>
            <a:off x="2103120" y="3063240"/>
            <a:ext cx="6309360" cy="548640"/>
          </a:xfrm>
          <a:prstGeom prst="rect">
            <a:avLst/>
          </a:prstGeom>
          <a:noFill/>
          <a:ln/>
        </p:spPr>
        <p:txBody>
          <a:bodyPr wrap="square" lIns="0" tIns="0" rIns="0" bIns="0" rtlCol="0" anchor="ctr"/>
          <a:lstStyle/>
          <a:p>
            <a:pPr indent="0" marL="0">
              <a:lnSpc>
                <a:spcPct val="120000"/>
              </a:lnSpc>
              <a:buNone/>
            </a:pPr>
            <a:r>
              <a:rPr lang="en-US" sz="1300" dirty="0">
                <a:solidFill>
                  <a:srgbClr val="E2E8F0"/>
                </a:solidFill>
                <a:latin typeface="Calibri" pitchFamily="34" charset="0"/>
                <a:ea typeface="Calibri" pitchFamily="34" charset="-122"/>
                <a:cs typeface="Calibri" pitchFamily="34" charset="-120"/>
              </a:rPr>
              <a:t>Compute context: cₜ = Σᵢ αₜᵢ · hᵢ — a weighted sum of encoder states</a:t>
            </a:r>
            <a:endParaRPr lang="en-US" sz="1300" dirty="0"/>
          </a:p>
        </p:txBody>
      </p:sp>
      <p:sp>
        <p:nvSpPr>
          <p:cNvPr id="16" name="Shape 14"/>
          <p:cNvSpPr/>
          <p:nvPr/>
        </p:nvSpPr>
        <p:spPr>
          <a:xfrm>
            <a:off x="457200" y="3886200"/>
            <a:ext cx="8229600" cy="82296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7" name="Shape 15"/>
          <p:cNvSpPr/>
          <p:nvPr/>
        </p:nvSpPr>
        <p:spPr>
          <a:xfrm>
            <a:off x="457200" y="3886200"/>
            <a:ext cx="54864" cy="822960"/>
          </a:xfrm>
          <a:prstGeom prst="rect">
            <a:avLst/>
          </a:prstGeom>
          <a:solidFill>
            <a:srgbClr val="0D9488"/>
          </a:solidFill>
          <a:ln/>
        </p:spPr>
      </p:sp>
      <p:sp>
        <p:nvSpPr>
          <p:cNvPr id="18" name="Text 16"/>
          <p:cNvSpPr/>
          <p:nvPr/>
        </p:nvSpPr>
        <p:spPr>
          <a:xfrm>
            <a:off x="731520" y="3977640"/>
            <a:ext cx="1280160" cy="32004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4. Combine</a:t>
            </a:r>
            <a:endParaRPr lang="en-US" sz="1600" dirty="0"/>
          </a:p>
        </p:txBody>
      </p:sp>
      <p:sp>
        <p:nvSpPr>
          <p:cNvPr id="19" name="Text 17"/>
          <p:cNvSpPr/>
          <p:nvPr/>
        </p:nvSpPr>
        <p:spPr>
          <a:xfrm>
            <a:off x="2103120" y="4023360"/>
            <a:ext cx="6309360" cy="548640"/>
          </a:xfrm>
          <a:prstGeom prst="rect">
            <a:avLst/>
          </a:prstGeom>
          <a:noFill/>
          <a:ln/>
        </p:spPr>
        <p:txBody>
          <a:bodyPr wrap="square" lIns="0" tIns="0" rIns="0" bIns="0" rtlCol="0" anchor="ctr"/>
          <a:lstStyle/>
          <a:p>
            <a:pPr indent="0" marL="0">
              <a:lnSpc>
                <a:spcPct val="120000"/>
              </a:lnSpc>
              <a:buNone/>
            </a:pPr>
            <a:r>
              <a:rPr lang="en-US" sz="1300" dirty="0">
                <a:solidFill>
                  <a:srgbClr val="E2E8F0"/>
                </a:solidFill>
                <a:latin typeface="Calibri" pitchFamily="34" charset="0"/>
                <a:ea typeface="Calibri" pitchFamily="34" charset="-122"/>
                <a:cs typeface="Calibri" pitchFamily="34" charset="-120"/>
              </a:rPr>
              <a:t>Concatenate [cₜ ; sₜ] and pass through a feedforward layer to produce the output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Why Attention Transforms Seq2Seq</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19</a:t>
            </a:r>
            <a:endParaRPr lang="en-US" sz="1100" dirty="0"/>
          </a:p>
        </p:txBody>
      </p:sp>
      <p:sp>
        <p:nvSpPr>
          <p:cNvPr id="4" name="Shape 2"/>
          <p:cNvSpPr/>
          <p:nvPr/>
        </p:nvSpPr>
        <p:spPr>
          <a:xfrm>
            <a:off x="457200" y="1005840"/>
            <a:ext cx="3931920" cy="18288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5" name="Shape 3"/>
          <p:cNvSpPr/>
          <p:nvPr/>
        </p:nvSpPr>
        <p:spPr>
          <a:xfrm>
            <a:off x="457200" y="1005840"/>
            <a:ext cx="54864" cy="1828800"/>
          </a:xfrm>
          <a:prstGeom prst="rect">
            <a:avLst/>
          </a:prstGeom>
          <a:solidFill>
            <a:srgbClr val="0D9488"/>
          </a:solidFill>
          <a:ln/>
        </p:spPr>
      </p:sp>
      <p:pic>
        <p:nvPicPr>
          <p:cNvPr id="6" name="Image 0" descr="preencoded.png">    </p:cNvPr>
          <p:cNvPicPr>
            <a:picLocks noChangeAspect="1"/>
          </p:cNvPicPr>
          <p:nvPr/>
        </p:nvPicPr>
        <p:blipFill>
          <a:blip r:embed="rId1"/>
          <a:stretch>
            <a:fillRect/>
          </a:stretch>
        </p:blipFill>
        <p:spPr>
          <a:xfrm>
            <a:off x="640080" y="1188720"/>
            <a:ext cx="365760" cy="365760"/>
          </a:xfrm>
          <a:prstGeom prst="rect">
            <a:avLst/>
          </a:prstGeom>
        </p:spPr>
      </p:pic>
      <p:sp>
        <p:nvSpPr>
          <p:cNvPr id="7" name="Text 4"/>
          <p:cNvSpPr/>
          <p:nvPr/>
        </p:nvSpPr>
        <p:spPr>
          <a:xfrm>
            <a:off x="1143000" y="114300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Solves the Bottleneck</a:t>
            </a:r>
            <a:endParaRPr lang="en-US" sz="1600" dirty="0"/>
          </a:p>
        </p:txBody>
      </p:sp>
      <p:sp>
        <p:nvSpPr>
          <p:cNvPr id="8" name="Text 5"/>
          <p:cNvSpPr/>
          <p:nvPr/>
        </p:nvSpPr>
        <p:spPr>
          <a:xfrm>
            <a:off x="685800" y="1554480"/>
            <a:ext cx="3474720" cy="11430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No more single fixed-length vector. The decoder has access to ALL encoder states. Information capacity scales with source length, not hidden dimension.</a:t>
            </a:r>
            <a:endParaRPr lang="en-US" sz="1300" dirty="0"/>
          </a:p>
        </p:txBody>
      </p:sp>
      <p:sp>
        <p:nvSpPr>
          <p:cNvPr id="9" name="Shape 6"/>
          <p:cNvSpPr/>
          <p:nvPr/>
        </p:nvSpPr>
        <p:spPr>
          <a:xfrm>
            <a:off x="4754880" y="1005840"/>
            <a:ext cx="3931920" cy="18288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0" name="Shape 7"/>
          <p:cNvSpPr/>
          <p:nvPr/>
        </p:nvSpPr>
        <p:spPr>
          <a:xfrm>
            <a:off x="4754880" y="1005840"/>
            <a:ext cx="54864" cy="1828800"/>
          </a:xfrm>
          <a:prstGeom prst="rect">
            <a:avLst/>
          </a:prstGeom>
          <a:solidFill>
            <a:srgbClr val="0D9488"/>
          </a:solidFill>
          <a:ln/>
        </p:spPr>
      </p:sp>
      <p:pic>
        <p:nvPicPr>
          <p:cNvPr id="11" name="Image 1" descr="preencoded.png">    </p:cNvPr>
          <p:cNvPicPr>
            <a:picLocks noChangeAspect="1"/>
          </p:cNvPicPr>
          <p:nvPr/>
        </p:nvPicPr>
        <p:blipFill>
          <a:blip r:embed="rId2"/>
          <a:stretch>
            <a:fillRect/>
          </a:stretch>
        </p:blipFill>
        <p:spPr>
          <a:xfrm>
            <a:off x="4937760" y="1188720"/>
            <a:ext cx="365760" cy="365760"/>
          </a:xfrm>
          <a:prstGeom prst="rect">
            <a:avLst/>
          </a:prstGeom>
        </p:spPr>
      </p:pic>
      <p:sp>
        <p:nvSpPr>
          <p:cNvPr id="12" name="Text 8"/>
          <p:cNvSpPr/>
          <p:nvPr/>
        </p:nvSpPr>
        <p:spPr>
          <a:xfrm>
            <a:off x="5440680" y="114300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Interpretability</a:t>
            </a:r>
            <a:endParaRPr lang="en-US" sz="1600" dirty="0"/>
          </a:p>
        </p:txBody>
      </p:sp>
      <p:sp>
        <p:nvSpPr>
          <p:cNvPr id="13" name="Text 9"/>
          <p:cNvSpPr/>
          <p:nvPr/>
        </p:nvSpPr>
        <p:spPr>
          <a:xfrm>
            <a:off x="4983480" y="1554480"/>
            <a:ext cx="3474720" cy="11430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Attention weights αₜᵢ form an alignment matrix. Visualized as a heatmap showing which source words the decoder focuses on at each step. Reveals learned alignments.</a:t>
            </a:r>
            <a:endParaRPr lang="en-US" sz="1300" dirty="0"/>
          </a:p>
        </p:txBody>
      </p:sp>
      <p:sp>
        <p:nvSpPr>
          <p:cNvPr id="14" name="Shape 10"/>
          <p:cNvSpPr/>
          <p:nvPr/>
        </p:nvSpPr>
        <p:spPr>
          <a:xfrm>
            <a:off x="457200" y="3108960"/>
            <a:ext cx="3931920" cy="155448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5" name="Shape 11"/>
          <p:cNvSpPr/>
          <p:nvPr/>
        </p:nvSpPr>
        <p:spPr>
          <a:xfrm>
            <a:off x="457200" y="3108960"/>
            <a:ext cx="54864" cy="1554480"/>
          </a:xfrm>
          <a:prstGeom prst="rect">
            <a:avLst/>
          </a:prstGeom>
          <a:solidFill>
            <a:srgbClr val="0D9488"/>
          </a:solidFill>
          <a:ln/>
        </p:spPr>
      </p:sp>
      <p:pic>
        <p:nvPicPr>
          <p:cNvPr id="16" name="Image 2" descr="preencoded.png">    </p:cNvPr>
          <p:cNvPicPr>
            <a:picLocks noChangeAspect="1"/>
          </p:cNvPicPr>
          <p:nvPr/>
        </p:nvPicPr>
        <p:blipFill>
          <a:blip r:embed="rId3"/>
          <a:stretch>
            <a:fillRect/>
          </a:stretch>
        </p:blipFill>
        <p:spPr>
          <a:xfrm>
            <a:off x="640080" y="3291840"/>
            <a:ext cx="365760" cy="365760"/>
          </a:xfrm>
          <a:prstGeom prst="rect">
            <a:avLst/>
          </a:prstGeom>
        </p:spPr>
      </p:pic>
      <p:sp>
        <p:nvSpPr>
          <p:cNvPr id="17" name="Text 12"/>
          <p:cNvSpPr/>
          <p:nvPr/>
        </p:nvSpPr>
        <p:spPr>
          <a:xfrm>
            <a:off x="1143000" y="324612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Gradient Highway</a:t>
            </a:r>
            <a:endParaRPr lang="en-US" sz="1600" dirty="0"/>
          </a:p>
        </p:txBody>
      </p:sp>
      <p:sp>
        <p:nvSpPr>
          <p:cNvPr id="18" name="Text 13"/>
          <p:cNvSpPr/>
          <p:nvPr/>
        </p:nvSpPr>
        <p:spPr>
          <a:xfrm>
            <a:off x="685800" y="3657600"/>
            <a:ext cx="3474720" cy="86868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Creates direct connections between decoder and each encoder step. Gradients flow through attention weights, bypassing the sequential chain. Dramatically improves training on long sequences.</a:t>
            </a:r>
            <a:endParaRPr lang="en-US" sz="1300" dirty="0"/>
          </a:p>
        </p:txBody>
      </p:sp>
      <p:sp>
        <p:nvSpPr>
          <p:cNvPr id="19" name="Shape 14"/>
          <p:cNvSpPr/>
          <p:nvPr/>
        </p:nvSpPr>
        <p:spPr>
          <a:xfrm>
            <a:off x="4754880" y="3108960"/>
            <a:ext cx="3931920" cy="155448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20" name="Shape 15"/>
          <p:cNvSpPr/>
          <p:nvPr/>
        </p:nvSpPr>
        <p:spPr>
          <a:xfrm>
            <a:off x="4754880" y="3108960"/>
            <a:ext cx="54864" cy="1554480"/>
          </a:xfrm>
          <a:prstGeom prst="rect">
            <a:avLst/>
          </a:prstGeom>
          <a:solidFill>
            <a:srgbClr val="0D9488"/>
          </a:solidFill>
          <a:ln/>
        </p:spPr>
      </p:sp>
      <p:pic>
        <p:nvPicPr>
          <p:cNvPr id="21" name="Image 3" descr="preencoded.png">    </p:cNvPr>
          <p:cNvPicPr>
            <a:picLocks noChangeAspect="1"/>
          </p:cNvPicPr>
          <p:nvPr/>
        </p:nvPicPr>
        <p:blipFill>
          <a:blip r:embed="rId4"/>
          <a:stretch>
            <a:fillRect/>
          </a:stretch>
        </p:blipFill>
        <p:spPr>
          <a:xfrm>
            <a:off x="4937760" y="3291840"/>
            <a:ext cx="365760" cy="365760"/>
          </a:xfrm>
          <a:prstGeom prst="rect">
            <a:avLst/>
          </a:prstGeom>
        </p:spPr>
      </p:pic>
      <p:sp>
        <p:nvSpPr>
          <p:cNvPr id="22" name="Text 16"/>
          <p:cNvSpPr/>
          <p:nvPr/>
        </p:nvSpPr>
        <p:spPr>
          <a:xfrm>
            <a:off x="5440680" y="324612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Performance Impact</a:t>
            </a:r>
            <a:endParaRPr lang="en-US" sz="1600" dirty="0"/>
          </a:p>
        </p:txBody>
      </p:sp>
      <p:sp>
        <p:nvSpPr>
          <p:cNvPr id="23" name="Text 17"/>
          <p:cNvSpPr/>
          <p:nvPr/>
        </p:nvSpPr>
        <p:spPr>
          <a:xfrm>
            <a:off x="4983480" y="3657600"/>
            <a:ext cx="3474720" cy="86868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BLEU scores on WMT English→French:</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Seq2Seq (no attention): 26.17</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 Bahdanau attention: 36.15</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 + Ensemble: 37.19</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Up to 38% relative improvement.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Limitations: What RNN+Attention Still Can't Do</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20</a:t>
            </a:r>
            <a:endParaRPr lang="en-US" sz="1100" dirty="0"/>
          </a:p>
        </p:txBody>
      </p:sp>
      <p:sp>
        <p:nvSpPr>
          <p:cNvPr id="4" name="Shape 2"/>
          <p:cNvSpPr/>
          <p:nvPr/>
        </p:nvSpPr>
        <p:spPr>
          <a:xfrm>
            <a:off x="457200" y="1005840"/>
            <a:ext cx="8229600" cy="11887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5" name="Shape 3"/>
          <p:cNvSpPr/>
          <p:nvPr/>
        </p:nvSpPr>
        <p:spPr>
          <a:xfrm>
            <a:off x="457200" y="1005840"/>
            <a:ext cx="54864" cy="1188720"/>
          </a:xfrm>
          <a:prstGeom prst="rect">
            <a:avLst/>
          </a:prstGeom>
          <a:solidFill>
            <a:srgbClr val="0D9488"/>
          </a:solidFill>
          <a:ln/>
        </p:spPr>
      </p:sp>
      <p:pic>
        <p:nvPicPr>
          <p:cNvPr id="6" name="Image 0" descr="preencoded.png">    </p:cNvPr>
          <p:cNvPicPr>
            <a:picLocks noChangeAspect="1"/>
          </p:cNvPicPr>
          <p:nvPr/>
        </p:nvPicPr>
        <p:blipFill>
          <a:blip r:embed="rId1"/>
          <a:stretch>
            <a:fillRect/>
          </a:stretch>
        </p:blipFill>
        <p:spPr>
          <a:xfrm>
            <a:off x="640080" y="1188720"/>
            <a:ext cx="365760" cy="365760"/>
          </a:xfrm>
          <a:prstGeom prst="rect">
            <a:avLst/>
          </a:prstGeom>
        </p:spPr>
      </p:pic>
      <p:sp>
        <p:nvSpPr>
          <p:cNvPr id="7" name="Text 4"/>
          <p:cNvSpPr/>
          <p:nvPr/>
        </p:nvSpPr>
        <p:spPr>
          <a:xfrm>
            <a:off x="1143000" y="1143000"/>
            <a:ext cx="736092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Sequential Bottleneck Remains</a:t>
            </a:r>
            <a:endParaRPr lang="en-US" sz="1600" dirty="0"/>
          </a:p>
        </p:txBody>
      </p:sp>
      <p:sp>
        <p:nvSpPr>
          <p:cNvPr id="8" name="Text 5"/>
          <p:cNvSpPr/>
          <p:nvPr/>
        </p:nvSpPr>
        <p:spPr>
          <a:xfrm>
            <a:off x="685800" y="1554480"/>
            <a:ext cx="7772400" cy="50292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Even with attention, the encoder/decoder must process tokens sequentially. Cannot parallelize across time steps during training. GPU utilization remains low. Training time scales linearly with sequence length.</a:t>
            </a:r>
            <a:endParaRPr lang="en-US" sz="1300" dirty="0"/>
          </a:p>
        </p:txBody>
      </p:sp>
      <p:sp>
        <p:nvSpPr>
          <p:cNvPr id="9" name="Shape 6"/>
          <p:cNvSpPr/>
          <p:nvPr/>
        </p:nvSpPr>
        <p:spPr>
          <a:xfrm>
            <a:off x="457200" y="2468880"/>
            <a:ext cx="3931920" cy="219456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0" name="Shape 7"/>
          <p:cNvSpPr/>
          <p:nvPr/>
        </p:nvSpPr>
        <p:spPr>
          <a:xfrm>
            <a:off x="457200" y="2468880"/>
            <a:ext cx="54864" cy="2194560"/>
          </a:xfrm>
          <a:prstGeom prst="rect">
            <a:avLst/>
          </a:prstGeom>
          <a:solidFill>
            <a:srgbClr val="0D9488"/>
          </a:solidFill>
          <a:ln/>
        </p:spPr>
      </p:sp>
      <p:pic>
        <p:nvPicPr>
          <p:cNvPr id="11" name="Image 1" descr="preencoded.png">    </p:cNvPr>
          <p:cNvPicPr>
            <a:picLocks noChangeAspect="1"/>
          </p:cNvPicPr>
          <p:nvPr/>
        </p:nvPicPr>
        <p:blipFill>
          <a:blip r:embed="rId2"/>
          <a:stretch>
            <a:fillRect/>
          </a:stretch>
        </p:blipFill>
        <p:spPr>
          <a:xfrm>
            <a:off x="640080" y="2651760"/>
            <a:ext cx="365760" cy="365760"/>
          </a:xfrm>
          <a:prstGeom prst="rect">
            <a:avLst/>
          </a:prstGeom>
        </p:spPr>
      </p:pic>
      <p:sp>
        <p:nvSpPr>
          <p:cNvPr id="12" name="Text 8"/>
          <p:cNvSpPr/>
          <p:nvPr/>
        </p:nvSpPr>
        <p:spPr>
          <a:xfrm>
            <a:off x="1143000" y="260604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Computational Cost</a:t>
            </a:r>
            <a:endParaRPr lang="en-US" sz="1600" dirty="0"/>
          </a:p>
        </p:txBody>
      </p:sp>
      <p:sp>
        <p:nvSpPr>
          <p:cNvPr id="13" name="Text 9"/>
          <p:cNvSpPr/>
          <p:nvPr/>
        </p:nvSpPr>
        <p:spPr>
          <a:xfrm>
            <a:off x="685800" y="3017520"/>
            <a:ext cx="3474720" cy="150876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For each of T decoder steps, attention computes scores over N encoder states: O(T·N) attention computations. With RNN overhead: O(T·N + T·d²). Long sequences remain slow.</a:t>
            </a:r>
            <a:endParaRPr lang="en-US" sz="1300" dirty="0"/>
          </a:p>
        </p:txBody>
      </p:sp>
      <p:sp>
        <p:nvSpPr>
          <p:cNvPr id="14" name="Shape 10"/>
          <p:cNvSpPr/>
          <p:nvPr/>
        </p:nvSpPr>
        <p:spPr>
          <a:xfrm>
            <a:off x="4754880" y="2468880"/>
            <a:ext cx="3931920" cy="219456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5" name="Shape 11"/>
          <p:cNvSpPr/>
          <p:nvPr/>
        </p:nvSpPr>
        <p:spPr>
          <a:xfrm>
            <a:off x="4754880" y="2468880"/>
            <a:ext cx="54864" cy="2194560"/>
          </a:xfrm>
          <a:prstGeom prst="rect">
            <a:avLst/>
          </a:prstGeom>
          <a:solidFill>
            <a:srgbClr val="0D9488"/>
          </a:solidFill>
          <a:ln/>
        </p:spPr>
      </p:sp>
      <p:pic>
        <p:nvPicPr>
          <p:cNvPr id="16" name="Image 2" descr="preencoded.png">    </p:cNvPr>
          <p:cNvPicPr>
            <a:picLocks noChangeAspect="1"/>
          </p:cNvPicPr>
          <p:nvPr/>
        </p:nvPicPr>
        <p:blipFill>
          <a:blip r:embed="rId3"/>
          <a:stretch>
            <a:fillRect/>
          </a:stretch>
        </p:blipFill>
        <p:spPr>
          <a:xfrm>
            <a:off x="4937760" y="2651760"/>
            <a:ext cx="365760" cy="365760"/>
          </a:xfrm>
          <a:prstGeom prst="rect">
            <a:avLst/>
          </a:prstGeom>
        </p:spPr>
      </p:pic>
      <p:sp>
        <p:nvSpPr>
          <p:cNvPr id="17" name="Text 12"/>
          <p:cNvSpPr/>
          <p:nvPr/>
        </p:nvSpPr>
        <p:spPr>
          <a:xfrm>
            <a:off x="5440680" y="260604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The Transformer Insight</a:t>
            </a:r>
            <a:endParaRPr lang="en-US" sz="1600" dirty="0"/>
          </a:p>
        </p:txBody>
      </p:sp>
      <p:sp>
        <p:nvSpPr>
          <p:cNvPr id="18" name="Text 13"/>
          <p:cNvSpPr/>
          <p:nvPr/>
        </p:nvSpPr>
        <p:spPr>
          <a:xfrm>
            <a:off x="4983480" y="3017520"/>
            <a:ext cx="3474720" cy="150876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"Attention is All You Need" — Vaswani et al., 2017. Key idea: remove the recurrence entirely. Use ONLY attention (self-attention) to capture dependencies. This enables full parallelization and leads to the modern Transformer.</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93B"/>
          </a:solidFill>
          <a:ln/>
        </p:spPr>
      </p:sp>
      <p:sp>
        <p:nvSpPr>
          <p:cNvPr id="3" name="Shape 1"/>
          <p:cNvSpPr/>
          <p:nvPr/>
        </p:nvSpPr>
        <p:spPr>
          <a:xfrm>
            <a:off x="0" y="0"/>
            <a:ext cx="109728" cy="5143500"/>
          </a:xfrm>
          <a:prstGeom prst="rect">
            <a:avLst/>
          </a:prstGeom>
          <a:solidFill>
            <a:srgbClr val="0D9488"/>
          </a:solidFill>
          <a:ln/>
        </p:spPr>
      </p:sp>
      <p:pic>
        <p:nvPicPr>
          <p:cNvPr id="4" name="Image 0" descr="preencoded.png">    </p:cNvPr>
          <p:cNvPicPr>
            <a:picLocks noChangeAspect="1"/>
          </p:cNvPicPr>
          <p:nvPr/>
        </p:nvPicPr>
        <p:blipFill>
          <a:blip r:embed="rId1"/>
          <a:stretch>
            <a:fillRect/>
          </a:stretch>
        </p:blipFill>
        <p:spPr>
          <a:xfrm>
            <a:off x="731520" y="1371600"/>
            <a:ext cx="822960" cy="822960"/>
          </a:xfrm>
          <a:prstGeom prst="rect">
            <a:avLst/>
          </a:prstGeom>
        </p:spPr>
      </p:pic>
      <p:sp>
        <p:nvSpPr>
          <p:cNvPr id="5" name="Text 2"/>
          <p:cNvSpPr/>
          <p:nvPr/>
        </p:nvSpPr>
        <p:spPr>
          <a:xfrm>
            <a:off x="731520" y="2377440"/>
            <a:ext cx="7772400" cy="91440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Part IV: The Transformer</a:t>
            </a:r>
            <a:endParaRPr lang="en-US" sz="4000" dirty="0"/>
          </a:p>
        </p:txBody>
      </p:sp>
      <p:sp>
        <p:nvSpPr>
          <p:cNvPr id="6" name="Text 3"/>
          <p:cNvSpPr/>
          <p:nvPr/>
        </p:nvSpPr>
        <p:spPr>
          <a:xfrm>
            <a:off x="731520" y="3291840"/>
            <a:ext cx="7772400" cy="54864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Attention Is All You Need</a:t>
            </a:r>
            <a:endParaRPr lang="en-US" sz="1800" dirty="0"/>
          </a:p>
        </p:txBody>
      </p:sp>
      <p:sp>
        <p:nvSpPr>
          <p:cNvPr id="7" name="Text 4"/>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Transformer: High-Level Architecture</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22</a:t>
            </a:r>
            <a:endParaRPr lang="en-US" sz="1100" dirty="0"/>
          </a:p>
        </p:txBody>
      </p:sp>
      <p:sp>
        <p:nvSpPr>
          <p:cNvPr id="4" name="Text 2"/>
          <p:cNvSpPr/>
          <p:nvPr/>
        </p:nvSpPr>
        <p:spPr>
          <a:xfrm>
            <a:off x="548640" y="640080"/>
            <a:ext cx="5486400" cy="27432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Vaswani et al., 2017  |  Google Brain/Research</a:t>
            </a:r>
            <a:endParaRPr lang="en-US" sz="1200" dirty="0"/>
          </a:p>
        </p:txBody>
      </p:sp>
      <p:sp>
        <p:nvSpPr>
          <p:cNvPr id="5" name="Shape 3"/>
          <p:cNvSpPr/>
          <p:nvPr/>
        </p:nvSpPr>
        <p:spPr>
          <a:xfrm>
            <a:off x="457200" y="1097280"/>
            <a:ext cx="3840480" cy="34747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6" name="Shape 4"/>
          <p:cNvSpPr/>
          <p:nvPr/>
        </p:nvSpPr>
        <p:spPr>
          <a:xfrm>
            <a:off x="457200" y="1097280"/>
            <a:ext cx="3840480" cy="54864"/>
          </a:xfrm>
          <a:prstGeom prst="rect">
            <a:avLst/>
          </a:prstGeom>
          <a:solidFill>
            <a:srgbClr val="0D9488"/>
          </a:solidFill>
          <a:ln/>
        </p:spPr>
      </p:sp>
      <p:sp>
        <p:nvSpPr>
          <p:cNvPr id="7" name="Text 5"/>
          <p:cNvSpPr/>
          <p:nvPr/>
        </p:nvSpPr>
        <p:spPr>
          <a:xfrm>
            <a:off x="640080" y="1234440"/>
            <a:ext cx="3474720" cy="365760"/>
          </a:xfrm>
          <a:prstGeom prst="rect">
            <a:avLst/>
          </a:prstGeom>
          <a:noFill/>
          <a:ln/>
        </p:spPr>
        <p:txBody>
          <a:bodyPr wrap="square" lIns="0" tIns="0" rIns="0" bIns="0" rtlCol="0" anchor="ctr"/>
          <a:lstStyle/>
          <a:p>
            <a:pPr indent="0" marL="0">
              <a:buNone/>
            </a:pPr>
            <a:r>
              <a:rPr lang="en-US" sz="1700" b="1" dirty="0">
                <a:solidFill>
                  <a:srgbClr val="2DD4BF"/>
                </a:solidFill>
                <a:latin typeface="Trebuchet MS" pitchFamily="34" charset="0"/>
                <a:ea typeface="Trebuchet MS" pitchFamily="34" charset="-122"/>
                <a:cs typeface="Trebuchet MS" pitchFamily="34" charset="-120"/>
              </a:rPr>
              <a:t>ENCODER STACK (×N)</a:t>
            </a:r>
            <a:endParaRPr lang="en-US" sz="1700" dirty="0"/>
          </a:p>
        </p:txBody>
      </p:sp>
      <p:sp>
        <p:nvSpPr>
          <p:cNvPr id="8" name="Shape 6"/>
          <p:cNvSpPr/>
          <p:nvPr/>
        </p:nvSpPr>
        <p:spPr>
          <a:xfrm>
            <a:off x="731520" y="1691640"/>
            <a:ext cx="3291840" cy="457200"/>
          </a:xfrm>
          <a:prstGeom prst="rect">
            <a:avLst/>
          </a:prstGeom>
          <a:solidFill>
            <a:srgbClr val="334155"/>
          </a:solidFill>
          <a:ln/>
        </p:spPr>
      </p:sp>
      <p:sp>
        <p:nvSpPr>
          <p:cNvPr id="9" name="Text 7"/>
          <p:cNvSpPr/>
          <p:nvPr/>
        </p:nvSpPr>
        <p:spPr>
          <a:xfrm>
            <a:off x="822960" y="1691640"/>
            <a:ext cx="3108960" cy="45720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Input Embedding + Positional Encoding</a:t>
            </a:r>
            <a:endParaRPr lang="en-US" sz="1200" dirty="0"/>
          </a:p>
        </p:txBody>
      </p:sp>
      <p:sp>
        <p:nvSpPr>
          <p:cNvPr id="10" name="Shape 8"/>
          <p:cNvSpPr/>
          <p:nvPr/>
        </p:nvSpPr>
        <p:spPr>
          <a:xfrm>
            <a:off x="731520" y="2240280"/>
            <a:ext cx="3291840" cy="457200"/>
          </a:xfrm>
          <a:prstGeom prst="rect">
            <a:avLst/>
          </a:prstGeom>
          <a:solidFill>
            <a:srgbClr val="334155"/>
          </a:solidFill>
          <a:ln/>
        </p:spPr>
      </p:sp>
      <p:sp>
        <p:nvSpPr>
          <p:cNvPr id="11" name="Text 9"/>
          <p:cNvSpPr/>
          <p:nvPr/>
        </p:nvSpPr>
        <p:spPr>
          <a:xfrm>
            <a:off x="822960" y="2240280"/>
            <a:ext cx="3108960" cy="45720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Multi-Head Self-Attention</a:t>
            </a:r>
            <a:endParaRPr lang="en-US" sz="1200" dirty="0"/>
          </a:p>
        </p:txBody>
      </p:sp>
      <p:sp>
        <p:nvSpPr>
          <p:cNvPr id="12" name="Shape 10"/>
          <p:cNvSpPr/>
          <p:nvPr/>
        </p:nvSpPr>
        <p:spPr>
          <a:xfrm>
            <a:off x="731520" y="2788920"/>
            <a:ext cx="3291840" cy="457200"/>
          </a:xfrm>
          <a:prstGeom prst="rect">
            <a:avLst/>
          </a:prstGeom>
          <a:solidFill>
            <a:srgbClr val="334155"/>
          </a:solidFill>
          <a:ln/>
        </p:spPr>
      </p:sp>
      <p:sp>
        <p:nvSpPr>
          <p:cNvPr id="13" name="Text 11"/>
          <p:cNvSpPr/>
          <p:nvPr/>
        </p:nvSpPr>
        <p:spPr>
          <a:xfrm>
            <a:off x="822960" y="2788920"/>
            <a:ext cx="3108960" cy="45720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Add &amp; Layer Norm</a:t>
            </a:r>
            <a:endParaRPr lang="en-US" sz="1200" dirty="0"/>
          </a:p>
        </p:txBody>
      </p:sp>
      <p:sp>
        <p:nvSpPr>
          <p:cNvPr id="14" name="Shape 12"/>
          <p:cNvSpPr/>
          <p:nvPr/>
        </p:nvSpPr>
        <p:spPr>
          <a:xfrm>
            <a:off x="731520" y="3337560"/>
            <a:ext cx="3291840" cy="457200"/>
          </a:xfrm>
          <a:prstGeom prst="rect">
            <a:avLst/>
          </a:prstGeom>
          <a:solidFill>
            <a:srgbClr val="334155"/>
          </a:solidFill>
          <a:ln/>
        </p:spPr>
      </p:sp>
      <p:sp>
        <p:nvSpPr>
          <p:cNvPr id="15" name="Text 13"/>
          <p:cNvSpPr/>
          <p:nvPr/>
        </p:nvSpPr>
        <p:spPr>
          <a:xfrm>
            <a:off x="822960" y="3337560"/>
            <a:ext cx="3108960" cy="45720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Position-wise FFN</a:t>
            </a:r>
            <a:endParaRPr lang="en-US" sz="1200" dirty="0"/>
          </a:p>
        </p:txBody>
      </p:sp>
      <p:sp>
        <p:nvSpPr>
          <p:cNvPr id="16" name="Shape 14"/>
          <p:cNvSpPr/>
          <p:nvPr/>
        </p:nvSpPr>
        <p:spPr>
          <a:xfrm>
            <a:off x="731520" y="3886200"/>
            <a:ext cx="3291840" cy="457200"/>
          </a:xfrm>
          <a:prstGeom prst="rect">
            <a:avLst/>
          </a:prstGeom>
          <a:solidFill>
            <a:srgbClr val="334155"/>
          </a:solidFill>
          <a:ln/>
        </p:spPr>
      </p:sp>
      <p:sp>
        <p:nvSpPr>
          <p:cNvPr id="17" name="Text 15"/>
          <p:cNvSpPr/>
          <p:nvPr/>
        </p:nvSpPr>
        <p:spPr>
          <a:xfrm>
            <a:off x="822960" y="3886200"/>
            <a:ext cx="3108960" cy="45720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Add &amp; Layer Norm</a:t>
            </a:r>
            <a:endParaRPr lang="en-US" sz="1200" dirty="0"/>
          </a:p>
        </p:txBody>
      </p:sp>
      <p:sp>
        <p:nvSpPr>
          <p:cNvPr id="18" name="Shape 16"/>
          <p:cNvSpPr/>
          <p:nvPr/>
        </p:nvSpPr>
        <p:spPr>
          <a:xfrm>
            <a:off x="4846320" y="1097280"/>
            <a:ext cx="3840480" cy="34747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9" name="Shape 17"/>
          <p:cNvSpPr/>
          <p:nvPr/>
        </p:nvSpPr>
        <p:spPr>
          <a:xfrm>
            <a:off x="4846320" y="1097280"/>
            <a:ext cx="3840480" cy="54864"/>
          </a:xfrm>
          <a:prstGeom prst="rect">
            <a:avLst/>
          </a:prstGeom>
          <a:solidFill>
            <a:srgbClr val="F59E0B"/>
          </a:solidFill>
          <a:ln/>
        </p:spPr>
      </p:sp>
      <p:sp>
        <p:nvSpPr>
          <p:cNvPr id="20" name="Text 18"/>
          <p:cNvSpPr/>
          <p:nvPr/>
        </p:nvSpPr>
        <p:spPr>
          <a:xfrm>
            <a:off x="5029200" y="1234440"/>
            <a:ext cx="3474720" cy="365760"/>
          </a:xfrm>
          <a:prstGeom prst="rect">
            <a:avLst/>
          </a:prstGeom>
          <a:noFill/>
          <a:ln/>
        </p:spPr>
        <p:txBody>
          <a:bodyPr wrap="square" lIns="0" tIns="0" rIns="0" bIns="0" rtlCol="0" anchor="ctr"/>
          <a:lstStyle/>
          <a:p>
            <a:pPr indent="0" marL="0">
              <a:buNone/>
            </a:pPr>
            <a:r>
              <a:rPr lang="en-US" sz="1700" b="1" dirty="0">
                <a:solidFill>
                  <a:srgbClr val="F59E0B"/>
                </a:solidFill>
                <a:latin typeface="Trebuchet MS" pitchFamily="34" charset="0"/>
                <a:ea typeface="Trebuchet MS" pitchFamily="34" charset="-122"/>
                <a:cs typeface="Trebuchet MS" pitchFamily="34" charset="-120"/>
              </a:rPr>
              <a:t>DECODER STACK (×N)</a:t>
            </a:r>
            <a:endParaRPr lang="en-US" sz="1700" dirty="0"/>
          </a:p>
        </p:txBody>
      </p:sp>
      <p:sp>
        <p:nvSpPr>
          <p:cNvPr id="21" name="Shape 19"/>
          <p:cNvSpPr/>
          <p:nvPr/>
        </p:nvSpPr>
        <p:spPr>
          <a:xfrm>
            <a:off x="5120640" y="1691640"/>
            <a:ext cx="3291840" cy="457200"/>
          </a:xfrm>
          <a:prstGeom prst="rect">
            <a:avLst/>
          </a:prstGeom>
          <a:solidFill>
            <a:srgbClr val="334155"/>
          </a:solidFill>
          <a:ln/>
        </p:spPr>
      </p:sp>
      <p:sp>
        <p:nvSpPr>
          <p:cNvPr id="22" name="Text 20"/>
          <p:cNvSpPr/>
          <p:nvPr/>
        </p:nvSpPr>
        <p:spPr>
          <a:xfrm>
            <a:off x="5212080" y="1691640"/>
            <a:ext cx="3108960" cy="45720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Output Embedding + Positional Encoding</a:t>
            </a:r>
            <a:endParaRPr lang="en-US" sz="1200" dirty="0"/>
          </a:p>
        </p:txBody>
      </p:sp>
      <p:sp>
        <p:nvSpPr>
          <p:cNvPr id="23" name="Shape 21"/>
          <p:cNvSpPr/>
          <p:nvPr/>
        </p:nvSpPr>
        <p:spPr>
          <a:xfrm>
            <a:off x="5120640" y="2240280"/>
            <a:ext cx="3291840" cy="457200"/>
          </a:xfrm>
          <a:prstGeom prst="rect">
            <a:avLst/>
          </a:prstGeom>
          <a:solidFill>
            <a:srgbClr val="334155"/>
          </a:solidFill>
          <a:ln/>
        </p:spPr>
      </p:sp>
      <p:sp>
        <p:nvSpPr>
          <p:cNvPr id="24" name="Text 22"/>
          <p:cNvSpPr/>
          <p:nvPr/>
        </p:nvSpPr>
        <p:spPr>
          <a:xfrm>
            <a:off x="5212080" y="2240280"/>
            <a:ext cx="3108960" cy="45720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Masked Multi-Head Self-Attention</a:t>
            </a:r>
            <a:endParaRPr lang="en-US" sz="1200" dirty="0"/>
          </a:p>
        </p:txBody>
      </p:sp>
      <p:sp>
        <p:nvSpPr>
          <p:cNvPr id="25" name="Shape 23"/>
          <p:cNvSpPr/>
          <p:nvPr/>
        </p:nvSpPr>
        <p:spPr>
          <a:xfrm>
            <a:off x="5120640" y="2788920"/>
            <a:ext cx="3291840" cy="457200"/>
          </a:xfrm>
          <a:prstGeom prst="rect">
            <a:avLst/>
          </a:prstGeom>
          <a:solidFill>
            <a:srgbClr val="334155"/>
          </a:solidFill>
          <a:ln/>
        </p:spPr>
      </p:sp>
      <p:sp>
        <p:nvSpPr>
          <p:cNvPr id="26" name="Text 24"/>
          <p:cNvSpPr/>
          <p:nvPr/>
        </p:nvSpPr>
        <p:spPr>
          <a:xfrm>
            <a:off x="5212080" y="2788920"/>
            <a:ext cx="3108960" cy="45720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Add &amp; Norm → Cross-Attention</a:t>
            </a:r>
            <a:endParaRPr lang="en-US" sz="1200" dirty="0"/>
          </a:p>
        </p:txBody>
      </p:sp>
      <p:sp>
        <p:nvSpPr>
          <p:cNvPr id="27" name="Shape 25"/>
          <p:cNvSpPr/>
          <p:nvPr/>
        </p:nvSpPr>
        <p:spPr>
          <a:xfrm>
            <a:off x="5120640" y="3337560"/>
            <a:ext cx="3291840" cy="457200"/>
          </a:xfrm>
          <a:prstGeom prst="rect">
            <a:avLst/>
          </a:prstGeom>
          <a:solidFill>
            <a:srgbClr val="334155"/>
          </a:solidFill>
          <a:ln/>
        </p:spPr>
      </p:sp>
      <p:sp>
        <p:nvSpPr>
          <p:cNvPr id="28" name="Text 26"/>
          <p:cNvSpPr/>
          <p:nvPr/>
        </p:nvSpPr>
        <p:spPr>
          <a:xfrm>
            <a:off x="5212080" y="3337560"/>
            <a:ext cx="3108960" cy="45720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Add &amp; Norm → FFN</a:t>
            </a:r>
            <a:endParaRPr lang="en-US" sz="1200" dirty="0"/>
          </a:p>
        </p:txBody>
      </p:sp>
      <p:sp>
        <p:nvSpPr>
          <p:cNvPr id="29" name="Shape 27"/>
          <p:cNvSpPr/>
          <p:nvPr/>
        </p:nvSpPr>
        <p:spPr>
          <a:xfrm>
            <a:off x="5120640" y="3886200"/>
            <a:ext cx="3291840" cy="457200"/>
          </a:xfrm>
          <a:prstGeom prst="rect">
            <a:avLst/>
          </a:prstGeom>
          <a:solidFill>
            <a:srgbClr val="334155"/>
          </a:solidFill>
          <a:ln/>
        </p:spPr>
      </p:sp>
      <p:sp>
        <p:nvSpPr>
          <p:cNvPr id="30" name="Text 28"/>
          <p:cNvSpPr/>
          <p:nvPr/>
        </p:nvSpPr>
        <p:spPr>
          <a:xfrm>
            <a:off x="5212080" y="3886200"/>
            <a:ext cx="3108960" cy="45720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Add &amp; Norm → Linear → Softmax</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Scaled Dot-Product Attention</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23</a:t>
            </a:r>
            <a:endParaRPr lang="en-US" sz="1100" dirty="0"/>
          </a:p>
        </p:txBody>
      </p:sp>
      <p:sp>
        <p:nvSpPr>
          <p:cNvPr id="4" name="Shape 2"/>
          <p:cNvSpPr/>
          <p:nvPr/>
        </p:nvSpPr>
        <p:spPr>
          <a:xfrm>
            <a:off x="457200" y="1005840"/>
            <a:ext cx="8229600" cy="1005840"/>
          </a:xfrm>
          <a:prstGeom prst="rect">
            <a:avLst/>
          </a:prstGeom>
          <a:solidFill>
            <a:srgbClr val="334155"/>
          </a:solidFill>
          <a:ln/>
          <a:effectLst>
            <a:outerShdw sx="100000" sy="100000" kx="0" ky="0" algn="bl" rotWithShape="0" blurRad="101600" dist="38100" dir="8100000">
              <a:srgbClr val="000000">
                <a:alpha val="25000"/>
              </a:srgbClr>
            </a:outerShdw>
          </a:effectLst>
        </p:spPr>
      </p:sp>
      <p:sp>
        <p:nvSpPr>
          <p:cNvPr id="5" name="Text 3"/>
          <p:cNvSpPr/>
          <p:nvPr/>
        </p:nvSpPr>
        <p:spPr>
          <a:xfrm>
            <a:off x="640080" y="1051560"/>
            <a:ext cx="7863840" cy="914400"/>
          </a:xfrm>
          <a:prstGeom prst="rect">
            <a:avLst/>
          </a:prstGeom>
          <a:noFill/>
          <a:ln/>
        </p:spPr>
        <p:txBody>
          <a:bodyPr wrap="square" lIns="0" tIns="0" rIns="0" bIns="0" rtlCol="0" anchor="ctr"/>
          <a:lstStyle/>
          <a:p>
            <a:pPr algn="ctr" indent="0" marL="0">
              <a:buNone/>
            </a:pPr>
            <a:r>
              <a:rPr lang="en-US" sz="2400" dirty="0">
                <a:solidFill>
                  <a:srgbClr val="2DD4BF"/>
                </a:solidFill>
                <a:latin typeface="Consolas" pitchFamily="34" charset="0"/>
                <a:ea typeface="Consolas" pitchFamily="34" charset="-122"/>
                <a:cs typeface="Consolas" pitchFamily="34" charset="-120"/>
              </a:rPr>
              <a:t>Attention(Q, K, V)  =  softmax( Q · Kᵀ / √dₖ ) · V</a:t>
            </a:r>
            <a:endParaRPr lang="en-US" sz="2400" dirty="0"/>
          </a:p>
        </p:txBody>
      </p:sp>
      <p:sp>
        <p:nvSpPr>
          <p:cNvPr id="6" name="Shape 4"/>
          <p:cNvSpPr/>
          <p:nvPr/>
        </p:nvSpPr>
        <p:spPr>
          <a:xfrm>
            <a:off x="457200" y="2286000"/>
            <a:ext cx="2560320" cy="237744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7" name="Shape 5"/>
          <p:cNvSpPr/>
          <p:nvPr/>
        </p:nvSpPr>
        <p:spPr>
          <a:xfrm>
            <a:off x="457200" y="2286000"/>
            <a:ext cx="54864" cy="2377440"/>
          </a:xfrm>
          <a:prstGeom prst="rect">
            <a:avLst/>
          </a:prstGeom>
          <a:solidFill>
            <a:srgbClr val="0D9488"/>
          </a:solidFill>
          <a:ln/>
        </p:spPr>
      </p:sp>
      <p:pic>
        <p:nvPicPr>
          <p:cNvPr id="8" name="Image 0" descr="preencoded.png">    </p:cNvPr>
          <p:cNvPicPr>
            <a:picLocks noChangeAspect="1"/>
          </p:cNvPicPr>
          <p:nvPr/>
        </p:nvPicPr>
        <p:blipFill>
          <a:blip r:embed="rId1"/>
          <a:stretch>
            <a:fillRect/>
          </a:stretch>
        </p:blipFill>
        <p:spPr>
          <a:xfrm>
            <a:off x="640080" y="2468880"/>
            <a:ext cx="365760" cy="365760"/>
          </a:xfrm>
          <a:prstGeom prst="rect">
            <a:avLst/>
          </a:prstGeom>
        </p:spPr>
      </p:pic>
      <p:sp>
        <p:nvSpPr>
          <p:cNvPr id="9" name="Text 6"/>
          <p:cNvSpPr/>
          <p:nvPr/>
        </p:nvSpPr>
        <p:spPr>
          <a:xfrm>
            <a:off x="1143000" y="2423160"/>
            <a:ext cx="16916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Query (Q)</a:t>
            </a:r>
            <a:endParaRPr lang="en-US" sz="1600" dirty="0"/>
          </a:p>
        </p:txBody>
      </p:sp>
      <p:sp>
        <p:nvSpPr>
          <p:cNvPr id="10" name="Text 7"/>
          <p:cNvSpPr/>
          <p:nvPr/>
        </p:nvSpPr>
        <p:spPr>
          <a:xfrm>
            <a:off x="685800" y="2834640"/>
            <a:ext cx="2103120" cy="169164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"What am I looking for?"</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Each token produces a query vector via Q = X·Wq.</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Represents the current token's information need.</a:t>
            </a:r>
            <a:endParaRPr lang="en-US" sz="1300" dirty="0"/>
          </a:p>
        </p:txBody>
      </p:sp>
      <p:sp>
        <p:nvSpPr>
          <p:cNvPr id="11" name="Shape 8"/>
          <p:cNvSpPr/>
          <p:nvPr/>
        </p:nvSpPr>
        <p:spPr>
          <a:xfrm>
            <a:off x="3291840" y="2286000"/>
            <a:ext cx="2560320" cy="237744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2" name="Shape 9"/>
          <p:cNvSpPr/>
          <p:nvPr/>
        </p:nvSpPr>
        <p:spPr>
          <a:xfrm>
            <a:off x="3291840" y="2286000"/>
            <a:ext cx="54864" cy="2377440"/>
          </a:xfrm>
          <a:prstGeom prst="rect">
            <a:avLst/>
          </a:prstGeom>
          <a:solidFill>
            <a:srgbClr val="0D9488"/>
          </a:solidFill>
          <a:ln/>
        </p:spPr>
      </p:sp>
      <p:pic>
        <p:nvPicPr>
          <p:cNvPr id="13" name="Image 1" descr="preencoded.png">    </p:cNvPr>
          <p:cNvPicPr>
            <a:picLocks noChangeAspect="1"/>
          </p:cNvPicPr>
          <p:nvPr/>
        </p:nvPicPr>
        <p:blipFill>
          <a:blip r:embed="rId2"/>
          <a:stretch>
            <a:fillRect/>
          </a:stretch>
        </p:blipFill>
        <p:spPr>
          <a:xfrm>
            <a:off x="3474720" y="2468880"/>
            <a:ext cx="365760" cy="365760"/>
          </a:xfrm>
          <a:prstGeom prst="rect">
            <a:avLst/>
          </a:prstGeom>
        </p:spPr>
      </p:pic>
      <p:sp>
        <p:nvSpPr>
          <p:cNvPr id="14" name="Text 10"/>
          <p:cNvSpPr/>
          <p:nvPr/>
        </p:nvSpPr>
        <p:spPr>
          <a:xfrm>
            <a:off x="3977640" y="2423160"/>
            <a:ext cx="16916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Key (K)</a:t>
            </a:r>
            <a:endParaRPr lang="en-US" sz="1600" dirty="0"/>
          </a:p>
        </p:txBody>
      </p:sp>
      <p:sp>
        <p:nvSpPr>
          <p:cNvPr id="15" name="Text 11"/>
          <p:cNvSpPr/>
          <p:nvPr/>
        </p:nvSpPr>
        <p:spPr>
          <a:xfrm>
            <a:off x="3520440" y="2834640"/>
            <a:ext cx="2103120" cy="169164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"What do I contain?"</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Each token produces a key via K = X·Wk.</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Represents the token's content for matching. Dot product Q·Kᵀ measures relevance.</a:t>
            </a:r>
            <a:endParaRPr lang="en-US" sz="1300" dirty="0"/>
          </a:p>
        </p:txBody>
      </p:sp>
      <p:sp>
        <p:nvSpPr>
          <p:cNvPr id="16" name="Shape 12"/>
          <p:cNvSpPr/>
          <p:nvPr/>
        </p:nvSpPr>
        <p:spPr>
          <a:xfrm>
            <a:off x="6126480" y="2286000"/>
            <a:ext cx="2560320" cy="237744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7" name="Shape 13"/>
          <p:cNvSpPr/>
          <p:nvPr/>
        </p:nvSpPr>
        <p:spPr>
          <a:xfrm>
            <a:off x="6126480" y="2286000"/>
            <a:ext cx="54864" cy="2377440"/>
          </a:xfrm>
          <a:prstGeom prst="rect">
            <a:avLst/>
          </a:prstGeom>
          <a:solidFill>
            <a:srgbClr val="0D9488"/>
          </a:solidFill>
          <a:ln/>
        </p:spPr>
      </p:sp>
      <p:pic>
        <p:nvPicPr>
          <p:cNvPr id="18" name="Image 2" descr="preencoded.png">    </p:cNvPr>
          <p:cNvPicPr>
            <a:picLocks noChangeAspect="1"/>
          </p:cNvPicPr>
          <p:nvPr/>
        </p:nvPicPr>
        <p:blipFill>
          <a:blip r:embed="rId3"/>
          <a:stretch>
            <a:fillRect/>
          </a:stretch>
        </p:blipFill>
        <p:spPr>
          <a:xfrm>
            <a:off x="6309360" y="2468880"/>
            <a:ext cx="365760" cy="365760"/>
          </a:xfrm>
          <a:prstGeom prst="rect">
            <a:avLst/>
          </a:prstGeom>
        </p:spPr>
      </p:pic>
      <p:sp>
        <p:nvSpPr>
          <p:cNvPr id="19" name="Text 14"/>
          <p:cNvSpPr/>
          <p:nvPr/>
        </p:nvSpPr>
        <p:spPr>
          <a:xfrm>
            <a:off x="6812280" y="2423160"/>
            <a:ext cx="16916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Value (V)</a:t>
            </a:r>
            <a:endParaRPr lang="en-US" sz="1600" dirty="0"/>
          </a:p>
        </p:txBody>
      </p:sp>
      <p:sp>
        <p:nvSpPr>
          <p:cNvPr id="20" name="Text 15"/>
          <p:cNvSpPr/>
          <p:nvPr/>
        </p:nvSpPr>
        <p:spPr>
          <a:xfrm>
            <a:off x="6355080" y="2834640"/>
            <a:ext cx="2103120" cy="169164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"What do I contribute?"</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Each token produces a value via V = X·Wv.</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The actual information to aggregate. Weighted by attention scores.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Why Scale by √dₖ ? Numerical Stability</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24</a:t>
            </a:r>
            <a:endParaRPr lang="en-US" sz="1100" dirty="0"/>
          </a:p>
        </p:txBody>
      </p:sp>
      <p:sp>
        <p:nvSpPr>
          <p:cNvPr id="4" name="Shape 2"/>
          <p:cNvSpPr/>
          <p:nvPr/>
        </p:nvSpPr>
        <p:spPr>
          <a:xfrm>
            <a:off x="457200" y="1005840"/>
            <a:ext cx="8229600" cy="16459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5" name="Shape 3"/>
          <p:cNvSpPr/>
          <p:nvPr/>
        </p:nvSpPr>
        <p:spPr>
          <a:xfrm>
            <a:off x="457200" y="1005840"/>
            <a:ext cx="54864" cy="1645920"/>
          </a:xfrm>
          <a:prstGeom prst="rect">
            <a:avLst/>
          </a:prstGeom>
          <a:solidFill>
            <a:srgbClr val="0D9488"/>
          </a:solidFill>
          <a:ln/>
        </p:spPr>
      </p:sp>
      <p:pic>
        <p:nvPicPr>
          <p:cNvPr id="6" name="Image 0" descr="preencoded.png">    </p:cNvPr>
          <p:cNvPicPr>
            <a:picLocks noChangeAspect="1"/>
          </p:cNvPicPr>
          <p:nvPr/>
        </p:nvPicPr>
        <p:blipFill>
          <a:blip r:embed="rId1"/>
          <a:stretch>
            <a:fillRect/>
          </a:stretch>
        </p:blipFill>
        <p:spPr>
          <a:xfrm>
            <a:off x="640080" y="1188720"/>
            <a:ext cx="365760" cy="365760"/>
          </a:xfrm>
          <a:prstGeom prst="rect">
            <a:avLst/>
          </a:prstGeom>
        </p:spPr>
      </p:pic>
      <p:sp>
        <p:nvSpPr>
          <p:cNvPr id="7" name="Text 4"/>
          <p:cNvSpPr/>
          <p:nvPr/>
        </p:nvSpPr>
        <p:spPr>
          <a:xfrm>
            <a:off x="1143000" y="1143000"/>
            <a:ext cx="736092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The Problem</a:t>
            </a:r>
            <a:endParaRPr lang="en-US" sz="1600" dirty="0"/>
          </a:p>
        </p:txBody>
      </p:sp>
      <p:sp>
        <p:nvSpPr>
          <p:cNvPr id="8" name="Text 5"/>
          <p:cNvSpPr/>
          <p:nvPr/>
        </p:nvSpPr>
        <p:spPr>
          <a:xfrm>
            <a:off x="685800" y="1554480"/>
            <a:ext cx="7772400" cy="96012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For high-dimensional keys (dₖ = 64), the dot products Q·Kᵀ grow proportionally to dₖ. The variance of each dot product ≈ dₖ when Q, K entries ~ N(0,1). Large dot products push softmax into saturation regions where gradients are near-zero. Dividing by √dₖ normalizes the variance back to 1.</a:t>
            </a:r>
            <a:endParaRPr lang="en-US" sz="1300" dirty="0"/>
          </a:p>
        </p:txBody>
      </p:sp>
      <p:sp>
        <p:nvSpPr>
          <p:cNvPr id="9" name="Shape 6"/>
          <p:cNvSpPr/>
          <p:nvPr/>
        </p:nvSpPr>
        <p:spPr>
          <a:xfrm>
            <a:off x="457200" y="2926080"/>
            <a:ext cx="3931920" cy="18288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0" name="Shape 7"/>
          <p:cNvSpPr/>
          <p:nvPr/>
        </p:nvSpPr>
        <p:spPr>
          <a:xfrm>
            <a:off x="457200" y="2926080"/>
            <a:ext cx="54864" cy="1828800"/>
          </a:xfrm>
          <a:prstGeom prst="rect">
            <a:avLst/>
          </a:prstGeom>
          <a:solidFill>
            <a:srgbClr val="0D9488"/>
          </a:solidFill>
          <a:ln/>
        </p:spPr>
      </p:sp>
      <p:pic>
        <p:nvPicPr>
          <p:cNvPr id="11" name="Image 1" descr="preencoded.png">    </p:cNvPr>
          <p:cNvPicPr>
            <a:picLocks noChangeAspect="1"/>
          </p:cNvPicPr>
          <p:nvPr/>
        </p:nvPicPr>
        <p:blipFill>
          <a:blip r:embed="rId2"/>
          <a:stretch>
            <a:fillRect/>
          </a:stretch>
        </p:blipFill>
        <p:spPr>
          <a:xfrm>
            <a:off x="640080" y="3108960"/>
            <a:ext cx="365760" cy="365760"/>
          </a:xfrm>
          <a:prstGeom prst="rect">
            <a:avLst/>
          </a:prstGeom>
        </p:spPr>
      </p:pic>
      <p:sp>
        <p:nvSpPr>
          <p:cNvPr id="12" name="Text 8"/>
          <p:cNvSpPr/>
          <p:nvPr/>
        </p:nvSpPr>
        <p:spPr>
          <a:xfrm>
            <a:off x="1143000" y="306324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Without Scaling</a:t>
            </a:r>
            <a:endParaRPr lang="en-US" sz="1600" dirty="0"/>
          </a:p>
        </p:txBody>
      </p:sp>
      <p:sp>
        <p:nvSpPr>
          <p:cNvPr id="13" name="Text 9"/>
          <p:cNvSpPr/>
          <p:nvPr/>
        </p:nvSpPr>
        <p:spPr>
          <a:xfrm>
            <a:off x="685800" y="3474720"/>
            <a:ext cx="3474720" cy="11430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dₖ = 64:</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Var(q·k) ≈ 64</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Max dot product ~ 30+</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Softmax → [0.999, 0.001, ...]</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Gradients ≈ 0 (vanishing)</a:t>
            </a:r>
            <a:endParaRPr lang="en-US" sz="1300" dirty="0"/>
          </a:p>
        </p:txBody>
      </p:sp>
      <p:sp>
        <p:nvSpPr>
          <p:cNvPr id="14" name="Shape 10"/>
          <p:cNvSpPr/>
          <p:nvPr/>
        </p:nvSpPr>
        <p:spPr>
          <a:xfrm>
            <a:off x="4754880" y="2926080"/>
            <a:ext cx="3931920" cy="18288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5" name="Shape 11"/>
          <p:cNvSpPr/>
          <p:nvPr/>
        </p:nvSpPr>
        <p:spPr>
          <a:xfrm>
            <a:off x="4754880" y="2926080"/>
            <a:ext cx="54864" cy="1828800"/>
          </a:xfrm>
          <a:prstGeom prst="rect">
            <a:avLst/>
          </a:prstGeom>
          <a:solidFill>
            <a:srgbClr val="0D9488"/>
          </a:solidFill>
          <a:ln/>
        </p:spPr>
      </p:sp>
      <p:pic>
        <p:nvPicPr>
          <p:cNvPr id="16" name="Image 2" descr="preencoded.png">    </p:cNvPr>
          <p:cNvPicPr>
            <a:picLocks noChangeAspect="1"/>
          </p:cNvPicPr>
          <p:nvPr/>
        </p:nvPicPr>
        <p:blipFill>
          <a:blip r:embed="rId3"/>
          <a:stretch>
            <a:fillRect/>
          </a:stretch>
        </p:blipFill>
        <p:spPr>
          <a:xfrm>
            <a:off x="4937760" y="3108960"/>
            <a:ext cx="365760" cy="365760"/>
          </a:xfrm>
          <a:prstGeom prst="rect">
            <a:avLst/>
          </a:prstGeom>
        </p:spPr>
      </p:pic>
      <p:sp>
        <p:nvSpPr>
          <p:cNvPr id="17" name="Text 12"/>
          <p:cNvSpPr/>
          <p:nvPr/>
        </p:nvSpPr>
        <p:spPr>
          <a:xfrm>
            <a:off x="5440680" y="306324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With Scaling</a:t>
            </a:r>
            <a:endParaRPr lang="en-US" sz="1600" dirty="0"/>
          </a:p>
        </p:txBody>
      </p:sp>
      <p:sp>
        <p:nvSpPr>
          <p:cNvPr id="18" name="Text 13"/>
          <p:cNvSpPr/>
          <p:nvPr/>
        </p:nvSpPr>
        <p:spPr>
          <a:xfrm>
            <a:off x="4983480" y="3474720"/>
            <a:ext cx="3474720" cy="11430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q·k / √64 = q·k / 8:</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Var(scaled) ≈ 1</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Softmax → [0.35, 0.25, ...]</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Healthy gradient distribution</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Stable training</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Multi-Head Attention</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25</a:t>
            </a:r>
            <a:endParaRPr lang="en-US" sz="1100" dirty="0"/>
          </a:p>
        </p:txBody>
      </p:sp>
      <p:sp>
        <p:nvSpPr>
          <p:cNvPr id="4" name="Shape 2"/>
          <p:cNvSpPr/>
          <p:nvPr/>
        </p:nvSpPr>
        <p:spPr>
          <a:xfrm>
            <a:off x="457200" y="1005840"/>
            <a:ext cx="8229600" cy="822960"/>
          </a:xfrm>
          <a:prstGeom prst="rect">
            <a:avLst/>
          </a:prstGeom>
          <a:solidFill>
            <a:srgbClr val="334155"/>
          </a:solidFill>
          <a:ln/>
          <a:effectLst>
            <a:outerShdw sx="100000" sy="100000" kx="0" ky="0" algn="bl" rotWithShape="0" blurRad="101600" dist="38100" dir="8100000">
              <a:srgbClr val="000000">
                <a:alpha val="25000"/>
              </a:srgbClr>
            </a:outerShdw>
          </a:effectLst>
        </p:spPr>
      </p:sp>
      <p:sp>
        <p:nvSpPr>
          <p:cNvPr id="5" name="Text 3"/>
          <p:cNvSpPr/>
          <p:nvPr/>
        </p:nvSpPr>
        <p:spPr>
          <a:xfrm>
            <a:off x="640080" y="1051560"/>
            <a:ext cx="7863840" cy="731520"/>
          </a:xfrm>
          <a:prstGeom prst="rect">
            <a:avLst/>
          </a:prstGeom>
          <a:noFill/>
          <a:ln/>
        </p:spPr>
        <p:txBody>
          <a:bodyPr wrap="square" lIns="0" tIns="0" rIns="0" bIns="0" rtlCol="0" anchor="ctr"/>
          <a:lstStyle/>
          <a:p>
            <a:pPr algn="ctr" indent="0" marL="0">
              <a:buNone/>
            </a:pPr>
            <a:r>
              <a:rPr lang="en-US" sz="1400" dirty="0">
                <a:solidFill>
                  <a:srgbClr val="2DD4BF"/>
                </a:solidFill>
                <a:latin typeface="Consolas" pitchFamily="34" charset="0"/>
                <a:ea typeface="Consolas" pitchFamily="34" charset="-122"/>
                <a:cs typeface="Consolas" pitchFamily="34" charset="-120"/>
              </a:rPr>
              <a:t>MultiHead(Q,K,V) = Concat(head₁,...,headₕ) · Wᴼ    where headᵢ = Attention(Q·Wᵢᵠ, K·Wᵢᵏ, V·Wᵢⱽ)</a:t>
            </a:r>
            <a:endParaRPr lang="en-US" sz="1400" dirty="0"/>
          </a:p>
        </p:txBody>
      </p:sp>
      <p:sp>
        <p:nvSpPr>
          <p:cNvPr id="6" name="Shape 4"/>
          <p:cNvSpPr/>
          <p:nvPr/>
        </p:nvSpPr>
        <p:spPr>
          <a:xfrm>
            <a:off x="457200" y="2103120"/>
            <a:ext cx="3931920" cy="13716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7" name="Shape 5"/>
          <p:cNvSpPr/>
          <p:nvPr/>
        </p:nvSpPr>
        <p:spPr>
          <a:xfrm>
            <a:off x="457200" y="2103120"/>
            <a:ext cx="54864" cy="1371600"/>
          </a:xfrm>
          <a:prstGeom prst="rect">
            <a:avLst/>
          </a:prstGeom>
          <a:solidFill>
            <a:srgbClr val="0D9488"/>
          </a:solidFill>
          <a:ln/>
        </p:spPr>
      </p:sp>
      <p:pic>
        <p:nvPicPr>
          <p:cNvPr id="8" name="Image 0" descr="preencoded.png">    </p:cNvPr>
          <p:cNvPicPr>
            <a:picLocks noChangeAspect="1"/>
          </p:cNvPicPr>
          <p:nvPr/>
        </p:nvPicPr>
        <p:blipFill>
          <a:blip r:embed="rId1"/>
          <a:stretch>
            <a:fillRect/>
          </a:stretch>
        </p:blipFill>
        <p:spPr>
          <a:xfrm>
            <a:off x="640080" y="2286000"/>
            <a:ext cx="365760" cy="365760"/>
          </a:xfrm>
          <a:prstGeom prst="rect">
            <a:avLst/>
          </a:prstGeom>
        </p:spPr>
      </p:pic>
      <p:sp>
        <p:nvSpPr>
          <p:cNvPr id="9" name="Text 6"/>
          <p:cNvSpPr/>
          <p:nvPr/>
        </p:nvSpPr>
        <p:spPr>
          <a:xfrm>
            <a:off x="1143000" y="224028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Why Multiple Heads?</a:t>
            </a:r>
            <a:endParaRPr lang="en-US" sz="1600" dirty="0"/>
          </a:p>
        </p:txBody>
      </p:sp>
      <p:sp>
        <p:nvSpPr>
          <p:cNvPr id="10" name="Text 7"/>
          <p:cNvSpPr/>
          <p:nvPr/>
        </p:nvSpPr>
        <p:spPr>
          <a:xfrm>
            <a:off x="685800" y="2651760"/>
            <a:ext cx="3474720" cy="6858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Single attention can only focus on one pattern. Multiple heads allow the model to attend to different positions, capture different relationship types (syntax, semantics, coreference) simultaneously.</a:t>
            </a:r>
            <a:endParaRPr lang="en-US" sz="1300" dirty="0"/>
          </a:p>
        </p:txBody>
      </p:sp>
      <p:sp>
        <p:nvSpPr>
          <p:cNvPr id="11" name="Shape 8"/>
          <p:cNvSpPr/>
          <p:nvPr/>
        </p:nvSpPr>
        <p:spPr>
          <a:xfrm>
            <a:off x="4754880" y="2103120"/>
            <a:ext cx="3931920" cy="13716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2" name="Shape 9"/>
          <p:cNvSpPr/>
          <p:nvPr/>
        </p:nvSpPr>
        <p:spPr>
          <a:xfrm>
            <a:off x="4754880" y="2103120"/>
            <a:ext cx="54864" cy="1371600"/>
          </a:xfrm>
          <a:prstGeom prst="rect">
            <a:avLst/>
          </a:prstGeom>
          <a:solidFill>
            <a:srgbClr val="0D9488"/>
          </a:solidFill>
          <a:ln/>
        </p:spPr>
      </p:sp>
      <p:pic>
        <p:nvPicPr>
          <p:cNvPr id="13" name="Image 1" descr="preencoded.png">    </p:cNvPr>
          <p:cNvPicPr>
            <a:picLocks noChangeAspect="1"/>
          </p:cNvPicPr>
          <p:nvPr/>
        </p:nvPicPr>
        <p:blipFill>
          <a:blip r:embed="rId2"/>
          <a:stretch>
            <a:fillRect/>
          </a:stretch>
        </p:blipFill>
        <p:spPr>
          <a:xfrm>
            <a:off x="4937760" y="2286000"/>
            <a:ext cx="365760" cy="365760"/>
          </a:xfrm>
          <a:prstGeom prst="rect">
            <a:avLst/>
          </a:prstGeom>
        </p:spPr>
      </p:pic>
      <p:sp>
        <p:nvSpPr>
          <p:cNvPr id="14" name="Text 10"/>
          <p:cNvSpPr/>
          <p:nvPr/>
        </p:nvSpPr>
        <p:spPr>
          <a:xfrm>
            <a:off x="5440680" y="224028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Dimensions</a:t>
            </a:r>
            <a:endParaRPr lang="en-US" sz="1600" dirty="0"/>
          </a:p>
        </p:txBody>
      </p:sp>
      <p:sp>
        <p:nvSpPr>
          <p:cNvPr id="15" name="Text 11"/>
          <p:cNvSpPr/>
          <p:nvPr/>
        </p:nvSpPr>
        <p:spPr>
          <a:xfrm>
            <a:off x="4983480" y="2651760"/>
            <a:ext cx="3474720" cy="6858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d_model = 512, h = 8 heads</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dₖ = dᵥ = d_model / h = 64 per head</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Total compute ≈ same as single-head with full dimension. Richer representation at no extra cost.</a:t>
            </a:r>
            <a:endParaRPr lang="en-US" sz="1300" dirty="0"/>
          </a:p>
        </p:txBody>
      </p:sp>
      <p:sp>
        <p:nvSpPr>
          <p:cNvPr id="16" name="Shape 12"/>
          <p:cNvSpPr/>
          <p:nvPr/>
        </p:nvSpPr>
        <p:spPr>
          <a:xfrm>
            <a:off x="457200" y="3749040"/>
            <a:ext cx="8229600" cy="100584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7" name="Shape 13"/>
          <p:cNvSpPr/>
          <p:nvPr/>
        </p:nvSpPr>
        <p:spPr>
          <a:xfrm>
            <a:off x="457200" y="3749040"/>
            <a:ext cx="54864" cy="1005840"/>
          </a:xfrm>
          <a:prstGeom prst="rect">
            <a:avLst/>
          </a:prstGeom>
          <a:solidFill>
            <a:srgbClr val="0D9488"/>
          </a:solidFill>
          <a:ln/>
        </p:spPr>
      </p:sp>
      <p:pic>
        <p:nvPicPr>
          <p:cNvPr id="18" name="Image 2" descr="preencoded.png">    </p:cNvPr>
          <p:cNvPicPr>
            <a:picLocks noChangeAspect="1"/>
          </p:cNvPicPr>
          <p:nvPr/>
        </p:nvPicPr>
        <p:blipFill>
          <a:blip r:embed="rId3"/>
          <a:stretch>
            <a:fillRect/>
          </a:stretch>
        </p:blipFill>
        <p:spPr>
          <a:xfrm>
            <a:off x="640080" y="3931920"/>
            <a:ext cx="365760" cy="365760"/>
          </a:xfrm>
          <a:prstGeom prst="rect">
            <a:avLst/>
          </a:prstGeom>
        </p:spPr>
      </p:pic>
      <p:sp>
        <p:nvSpPr>
          <p:cNvPr id="19" name="Text 14"/>
          <p:cNvSpPr/>
          <p:nvPr/>
        </p:nvSpPr>
        <p:spPr>
          <a:xfrm>
            <a:off x="1143000" y="3886200"/>
            <a:ext cx="736092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What Different Heads Learn</a:t>
            </a:r>
            <a:endParaRPr lang="en-US" sz="1600" dirty="0"/>
          </a:p>
        </p:txBody>
      </p:sp>
      <p:sp>
        <p:nvSpPr>
          <p:cNvPr id="20" name="Text 15"/>
          <p:cNvSpPr/>
          <p:nvPr/>
        </p:nvSpPr>
        <p:spPr>
          <a:xfrm>
            <a:off x="685800" y="4297680"/>
            <a:ext cx="7772400" cy="32004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Research shows heads specialize: some track syntactic dependencies (subject-verb), others capture positional patterns (adjacent tokens), and some learn semantic relationships (coreference, entity types). Pruning experiments show 30–50% of heads can be removed with minimal quality loss.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Positional Encoding: Injecting Order</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26</a:t>
            </a:r>
            <a:endParaRPr lang="en-US" sz="1100" dirty="0"/>
          </a:p>
        </p:txBody>
      </p:sp>
      <p:sp>
        <p:nvSpPr>
          <p:cNvPr id="4" name="Shape 2"/>
          <p:cNvSpPr/>
          <p:nvPr/>
        </p:nvSpPr>
        <p:spPr>
          <a:xfrm>
            <a:off x="457200" y="1005840"/>
            <a:ext cx="8229600" cy="914400"/>
          </a:xfrm>
          <a:prstGeom prst="rect">
            <a:avLst/>
          </a:prstGeom>
          <a:solidFill>
            <a:srgbClr val="334155"/>
          </a:solidFill>
          <a:ln/>
          <a:effectLst>
            <a:outerShdw sx="100000" sy="100000" kx="0" ky="0" algn="bl" rotWithShape="0" blurRad="101600" dist="38100" dir="8100000">
              <a:srgbClr val="000000">
                <a:alpha val="25000"/>
              </a:srgbClr>
            </a:outerShdw>
          </a:effectLst>
        </p:spPr>
      </p:sp>
      <p:sp>
        <p:nvSpPr>
          <p:cNvPr id="5" name="Text 3"/>
          <p:cNvSpPr/>
          <p:nvPr/>
        </p:nvSpPr>
        <p:spPr>
          <a:xfrm>
            <a:off x="640080" y="1051560"/>
            <a:ext cx="7863840" cy="822960"/>
          </a:xfrm>
          <a:prstGeom prst="rect">
            <a:avLst/>
          </a:prstGeom>
          <a:noFill/>
          <a:ln/>
        </p:spPr>
        <p:txBody>
          <a:bodyPr wrap="square" lIns="0" tIns="0" rIns="0" bIns="0" rtlCol="0" anchor="ctr"/>
          <a:lstStyle/>
          <a:p>
            <a:pPr algn="ctr" indent="0" marL="0">
              <a:buNone/>
            </a:pPr>
            <a:r>
              <a:rPr lang="en-US" sz="1600" dirty="0">
                <a:solidFill>
                  <a:srgbClr val="2DD4BF"/>
                </a:solidFill>
                <a:latin typeface="Consolas" pitchFamily="34" charset="0"/>
                <a:ea typeface="Consolas" pitchFamily="34" charset="-122"/>
                <a:cs typeface="Consolas" pitchFamily="34" charset="-120"/>
              </a:rPr>
              <a:t>PE(pos, 2i) = sin(pos / 10000^(2i/d))        PE(pos, 2i+1) = cos(pos / 10000^(2i/d))</a:t>
            </a:r>
            <a:endParaRPr lang="en-US" sz="1600" dirty="0"/>
          </a:p>
        </p:txBody>
      </p:sp>
      <p:sp>
        <p:nvSpPr>
          <p:cNvPr id="6" name="Shape 4"/>
          <p:cNvSpPr/>
          <p:nvPr/>
        </p:nvSpPr>
        <p:spPr>
          <a:xfrm>
            <a:off x="457200" y="2194560"/>
            <a:ext cx="3931920" cy="13716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7" name="Shape 5"/>
          <p:cNvSpPr/>
          <p:nvPr/>
        </p:nvSpPr>
        <p:spPr>
          <a:xfrm>
            <a:off x="457200" y="2194560"/>
            <a:ext cx="54864" cy="1371600"/>
          </a:xfrm>
          <a:prstGeom prst="rect">
            <a:avLst/>
          </a:prstGeom>
          <a:solidFill>
            <a:srgbClr val="0D9488"/>
          </a:solidFill>
          <a:ln/>
        </p:spPr>
      </p:sp>
      <p:pic>
        <p:nvPicPr>
          <p:cNvPr id="8" name="Image 0" descr="preencoded.png">    </p:cNvPr>
          <p:cNvPicPr>
            <a:picLocks noChangeAspect="1"/>
          </p:cNvPicPr>
          <p:nvPr/>
        </p:nvPicPr>
        <p:blipFill>
          <a:blip r:embed="rId1"/>
          <a:stretch>
            <a:fillRect/>
          </a:stretch>
        </p:blipFill>
        <p:spPr>
          <a:xfrm>
            <a:off x="640080" y="2377440"/>
            <a:ext cx="365760" cy="365760"/>
          </a:xfrm>
          <a:prstGeom prst="rect">
            <a:avLst/>
          </a:prstGeom>
        </p:spPr>
      </p:pic>
      <p:sp>
        <p:nvSpPr>
          <p:cNvPr id="9" name="Text 6"/>
          <p:cNvSpPr/>
          <p:nvPr/>
        </p:nvSpPr>
        <p:spPr>
          <a:xfrm>
            <a:off x="1143000" y="233172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Why Needed?</a:t>
            </a:r>
            <a:endParaRPr lang="en-US" sz="1600" dirty="0"/>
          </a:p>
        </p:txBody>
      </p:sp>
      <p:sp>
        <p:nvSpPr>
          <p:cNvPr id="10" name="Text 7"/>
          <p:cNvSpPr/>
          <p:nvPr/>
        </p:nvSpPr>
        <p:spPr>
          <a:xfrm>
            <a:off x="685800" y="2743200"/>
            <a:ext cx="3474720" cy="6858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Self-attention is permutation-invariant — it sees a SET of tokens, not a SEQUENCE. Without positional info, 'dog bites man' = 'man bites dog'. Positional encodings are ADDED to input embeddings.</a:t>
            </a:r>
            <a:endParaRPr lang="en-US" sz="1300" dirty="0"/>
          </a:p>
        </p:txBody>
      </p:sp>
      <p:sp>
        <p:nvSpPr>
          <p:cNvPr id="11" name="Shape 8"/>
          <p:cNvSpPr/>
          <p:nvPr/>
        </p:nvSpPr>
        <p:spPr>
          <a:xfrm>
            <a:off x="4754880" y="2194560"/>
            <a:ext cx="3931920" cy="13716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2" name="Shape 9"/>
          <p:cNvSpPr/>
          <p:nvPr/>
        </p:nvSpPr>
        <p:spPr>
          <a:xfrm>
            <a:off x="4754880" y="2194560"/>
            <a:ext cx="54864" cy="1371600"/>
          </a:xfrm>
          <a:prstGeom prst="rect">
            <a:avLst/>
          </a:prstGeom>
          <a:solidFill>
            <a:srgbClr val="0D9488"/>
          </a:solidFill>
          <a:ln/>
        </p:spPr>
      </p:sp>
      <p:pic>
        <p:nvPicPr>
          <p:cNvPr id="13" name="Image 1" descr="preencoded.png">    </p:cNvPr>
          <p:cNvPicPr>
            <a:picLocks noChangeAspect="1"/>
          </p:cNvPicPr>
          <p:nvPr/>
        </p:nvPicPr>
        <p:blipFill>
          <a:blip r:embed="rId2"/>
          <a:stretch>
            <a:fillRect/>
          </a:stretch>
        </p:blipFill>
        <p:spPr>
          <a:xfrm>
            <a:off x="4937760" y="2377440"/>
            <a:ext cx="365760" cy="365760"/>
          </a:xfrm>
          <a:prstGeom prst="rect">
            <a:avLst/>
          </a:prstGeom>
        </p:spPr>
      </p:pic>
      <p:sp>
        <p:nvSpPr>
          <p:cNvPr id="14" name="Text 10"/>
          <p:cNvSpPr/>
          <p:nvPr/>
        </p:nvSpPr>
        <p:spPr>
          <a:xfrm>
            <a:off x="5440680" y="233172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Sinusoidal Properties</a:t>
            </a:r>
            <a:endParaRPr lang="en-US" sz="1600" dirty="0"/>
          </a:p>
        </p:txBody>
      </p:sp>
      <p:sp>
        <p:nvSpPr>
          <p:cNvPr id="15" name="Text 11"/>
          <p:cNvSpPr/>
          <p:nvPr/>
        </p:nvSpPr>
        <p:spPr>
          <a:xfrm>
            <a:off x="4983480" y="2743200"/>
            <a:ext cx="3474720" cy="6858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Each dimension oscillates at a different frequency. Relative positions can be represented as linear functions. Generalizes to unseen sequence lengths. No additional learned parameters.</a:t>
            </a:r>
            <a:endParaRPr lang="en-US" sz="1300" dirty="0"/>
          </a:p>
        </p:txBody>
      </p:sp>
      <p:sp>
        <p:nvSpPr>
          <p:cNvPr id="16" name="Shape 12"/>
          <p:cNvSpPr/>
          <p:nvPr/>
        </p:nvSpPr>
        <p:spPr>
          <a:xfrm>
            <a:off x="457200" y="3840480"/>
            <a:ext cx="8229600" cy="91440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7" name="Shape 13"/>
          <p:cNvSpPr/>
          <p:nvPr/>
        </p:nvSpPr>
        <p:spPr>
          <a:xfrm>
            <a:off x="457200" y="3840480"/>
            <a:ext cx="54864" cy="914400"/>
          </a:xfrm>
          <a:prstGeom prst="rect">
            <a:avLst/>
          </a:prstGeom>
          <a:solidFill>
            <a:srgbClr val="0D9488"/>
          </a:solidFill>
          <a:ln/>
        </p:spPr>
      </p:sp>
      <p:pic>
        <p:nvPicPr>
          <p:cNvPr id="18" name="Image 2" descr="preencoded.png">    </p:cNvPr>
          <p:cNvPicPr>
            <a:picLocks noChangeAspect="1"/>
          </p:cNvPicPr>
          <p:nvPr/>
        </p:nvPicPr>
        <p:blipFill>
          <a:blip r:embed="rId3"/>
          <a:stretch>
            <a:fillRect/>
          </a:stretch>
        </p:blipFill>
        <p:spPr>
          <a:xfrm>
            <a:off x="640080" y="4023360"/>
            <a:ext cx="365760" cy="365760"/>
          </a:xfrm>
          <a:prstGeom prst="rect">
            <a:avLst/>
          </a:prstGeom>
        </p:spPr>
      </p:pic>
      <p:sp>
        <p:nvSpPr>
          <p:cNvPr id="19" name="Text 14"/>
          <p:cNvSpPr/>
          <p:nvPr/>
        </p:nvSpPr>
        <p:spPr>
          <a:xfrm>
            <a:off x="1143000" y="3977640"/>
            <a:ext cx="736092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Modern Alternatives</a:t>
            </a:r>
            <a:endParaRPr lang="en-US" sz="1600" dirty="0"/>
          </a:p>
        </p:txBody>
      </p:sp>
      <p:sp>
        <p:nvSpPr>
          <p:cNvPr id="20" name="Text 15"/>
          <p:cNvSpPr/>
          <p:nvPr/>
        </p:nvSpPr>
        <p:spPr>
          <a:xfrm>
            <a:off x="685800" y="4389120"/>
            <a:ext cx="7772400" cy="22860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RoPE (Rotary Position Embedding) — encodes position as rotation in complex plane, used in LLaMA/GPT-NeoX. ALiBi — adds linear bias to attention scores, no embedding. Learned embeddings — GPT-2/BERT style, simple but fixed max length.</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Feed-Forward Network, Residuals &amp; Layer Norm</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27</a:t>
            </a:r>
            <a:endParaRPr lang="en-US" sz="1100" dirty="0"/>
          </a:p>
        </p:txBody>
      </p:sp>
      <p:sp>
        <p:nvSpPr>
          <p:cNvPr id="4" name="Shape 2"/>
          <p:cNvSpPr/>
          <p:nvPr/>
        </p:nvSpPr>
        <p:spPr>
          <a:xfrm>
            <a:off x="457200" y="1005840"/>
            <a:ext cx="8229600" cy="731520"/>
          </a:xfrm>
          <a:prstGeom prst="rect">
            <a:avLst/>
          </a:prstGeom>
          <a:solidFill>
            <a:srgbClr val="334155"/>
          </a:solidFill>
          <a:ln/>
          <a:effectLst>
            <a:outerShdw sx="100000" sy="100000" kx="0" ky="0" algn="bl" rotWithShape="0" blurRad="101600" dist="38100" dir="8100000">
              <a:srgbClr val="000000">
                <a:alpha val="25000"/>
              </a:srgbClr>
            </a:outerShdw>
          </a:effectLst>
        </p:spPr>
      </p:sp>
      <p:sp>
        <p:nvSpPr>
          <p:cNvPr id="5" name="Text 3"/>
          <p:cNvSpPr/>
          <p:nvPr/>
        </p:nvSpPr>
        <p:spPr>
          <a:xfrm>
            <a:off x="640080" y="1051560"/>
            <a:ext cx="7863840" cy="640080"/>
          </a:xfrm>
          <a:prstGeom prst="rect">
            <a:avLst/>
          </a:prstGeom>
          <a:noFill/>
          <a:ln/>
        </p:spPr>
        <p:txBody>
          <a:bodyPr wrap="square" lIns="0" tIns="0" rIns="0" bIns="0" rtlCol="0" anchor="ctr"/>
          <a:lstStyle/>
          <a:p>
            <a:pPr algn="ctr" indent="0" marL="0">
              <a:buNone/>
            </a:pPr>
            <a:r>
              <a:rPr lang="en-US" sz="1500" dirty="0">
                <a:solidFill>
                  <a:srgbClr val="2DD4BF"/>
                </a:solidFill>
                <a:latin typeface="Consolas" pitchFamily="34" charset="0"/>
                <a:ea typeface="Consolas" pitchFamily="34" charset="-122"/>
                <a:cs typeface="Consolas" pitchFamily="34" charset="-120"/>
              </a:rPr>
              <a:t>FFN(x) = max(0, x·W₁ + b₁)·W₂ + b₂        d_ff = 2048, d_model = 512 (4× expansion)</a:t>
            </a:r>
            <a:endParaRPr lang="en-US" sz="1500" dirty="0"/>
          </a:p>
        </p:txBody>
      </p:sp>
      <p:sp>
        <p:nvSpPr>
          <p:cNvPr id="6" name="Shape 4"/>
          <p:cNvSpPr/>
          <p:nvPr/>
        </p:nvSpPr>
        <p:spPr>
          <a:xfrm>
            <a:off x="457200" y="2011680"/>
            <a:ext cx="2560320" cy="25603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7" name="Shape 5"/>
          <p:cNvSpPr/>
          <p:nvPr/>
        </p:nvSpPr>
        <p:spPr>
          <a:xfrm>
            <a:off x="457200" y="2011680"/>
            <a:ext cx="54864" cy="2560320"/>
          </a:xfrm>
          <a:prstGeom prst="rect">
            <a:avLst/>
          </a:prstGeom>
          <a:solidFill>
            <a:srgbClr val="0D9488"/>
          </a:solidFill>
          <a:ln/>
        </p:spPr>
      </p:sp>
      <p:pic>
        <p:nvPicPr>
          <p:cNvPr id="8" name="Image 0" descr="preencoded.png">    </p:cNvPr>
          <p:cNvPicPr>
            <a:picLocks noChangeAspect="1"/>
          </p:cNvPicPr>
          <p:nvPr/>
        </p:nvPicPr>
        <p:blipFill>
          <a:blip r:embed="rId1"/>
          <a:stretch>
            <a:fillRect/>
          </a:stretch>
        </p:blipFill>
        <p:spPr>
          <a:xfrm>
            <a:off x="640080" y="2194560"/>
            <a:ext cx="365760" cy="365760"/>
          </a:xfrm>
          <a:prstGeom prst="rect">
            <a:avLst/>
          </a:prstGeom>
        </p:spPr>
      </p:pic>
      <p:sp>
        <p:nvSpPr>
          <p:cNvPr id="9" name="Text 6"/>
          <p:cNvSpPr/>
          <p:nvPr/>
        </p:nvSpPr>
        <p:spPr>
          <a:xfrm>
            <a:off x="1143000" y="2148840"/>
            <a:ext cx="16916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Position-wise FFN</a:t>
            </a:r>
            <a:endParaRPr lang="en-US" sz="1600" dirty="0"/>
          </a:p>
        </p:txBody>
      </p:sp>
      <p:sp>
        <p:nvSpPr>
          <p:cNvPr id="10" name="Text 7"/>
          <p:cNvSpPr/>
          <p:nvPr/>
        </p:nvSpPr>
        <p:spPr>
          <a:xfrm>
            <a:off x="685800" y="2560320"/>
            <a:ext cx="2103120" cy="187452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Applied independently to each position. Two linear layers with ReLU between. Acts as a 'memory' — stores factual knowledge. Modern variants use GeLU, SwiGLU, or GeGLU activations.</a:t>
            </a:r>
            <a:endParaRPr lang="en-US" sz="1300" dirty="0"/>
          </a:p>
        </p:txBody>
      </p:sp>
      <p:sp>
        <p:nvSpPr>
          <p:cNvPr id="11" name="Shape 8"/>
          <p:cNvSpPr/>
          <p:nvPr/>
        </p:nvSpPr>
        <p:spPr>
          <a:xfrm>
            <a:off x="3291840" y="2011680"/>
            <a:ext cx="2560320" cy="25603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2" name="Shape 9"/>
          <p:cNvSpPr/>
          <p:nvPr/>
        </p:nvSpPr>
        <p:spPr>
          <a:xfrm>
            <a:off x="3291840" y="2011680"/>
            <a:ext cx="54864" cy="2560320"/>
          </a:xfrm>
          <a:prstGeom prst="rect">
            <a:avLst/>
          </a:prstGeom>
          <a:solidFill>
            <a:srgbClr val="0D9488"/>
          </a:solidFill>
          <a:ln/>
        </p:spPr>
      </p:sp>
      <p:pic>
        <p:nvPicPr>
          <p:cNvPr id="13" name="Image 1" descr="preencoded.png">    </p:cNvPr>
          <p:cNvPicPr>
            <a:picLocks noChangeAspect="1"/>
          </p:cNvPicPr>
          <p:nvPr/>
        </p:nvPicPr>
        <p:blipFill>
          <a:blip r:embed="rId2"/>
          <a:stretch>
            <a:fillRect/>
          </a:stretch>
        </p:blipFill>
        <p:spPr>
          <a:xfrm>
            <a:off x="3474720" y="2194560"/>
            <a:ext cx="365760" cy="365760"/>
          </a:xfrm>
          <a:prstGeom prst="rect">
            <a:avLst/>
          </a:prstGeom>
        </p:spPr>
      </p:pic>
      <p:sp>
        <p:nvSpPr>
          <p:cNvPr id="14" name="Text 10"/>
          <p:cNvSpPr/>
          <p:nvPr/>
        </p:nvSpPr>
        <p:spPr>
          <a:xfrm>
            <a:off x="3977640" y="2148840"/>
            <a:ext cx="16916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Residual Connections</a:t>
            </a:r>
            <a:endParaRPr lang="en-US" sz="1600" dirty="0"/>
          </a:p>
        </p:txBody>
      </p:sp>
      <p:sp>
        <p:nvSpPr>
          <p:cNvPr id="15" name="Text 11"/>
          <p:cNvSpPr/>
          <p:nvPr/>
        </p:nvSpPr>
        <p:spPr>
          <a:xfrm>
            <a:off x="3520440" y="2560320"/>
            <a:ext cx="2103120" cy="187452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output = LayerNorm(x + Sublayer(x))</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Every sub-layer (attention, FFN) has a skip connection. Enables gradient flow through 100+ layers. Borrowed from ResNet (He et al., 2015).</a:t>
            </a:r>
            <a:endParaRPr lang="en-US" sz="1300" dirty="0"/>
          </a:p>
        </p:txBody>
      </p:sp>
      <p:sp>
        <p:nvSpPr>
          <p:cNvPr id="16" name="Shape 12"/>
          <p:cNvSpPr/>
          <p:nvPr/>
        </p:nvSpPr>
        <p:spPr>
          <a:xfrm>
            <a:off x="6126480" y="2011680"/>
            <a:ext cx="2560320" cy="256032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7" name="Shape 13"/>
          <p:cNvSpPr/>
          <p:nvPr/>
        </p:nvSpPr>
        <p:spPr>
          <a:xfrm>
            <a:off x="6126480" y="2011680"/>
            <a:ext cx="54864" cy="2560320"/>
          </a:xfrm>
          <a:prstGeom prst="rect">
            <a:avLst/>
          </a:prstGeom>
          <a:solidFill>
            <a:srgbClr val="0D9488"/>
          </a:solidFill>
          <a:ln/>
        </p:spPr>
      </p:sp>
      <p:pic>
        <p:nvPicPr>
          <p:cNvPr id="18" name="Image 2" descr="preencoded.png">    </p:cNvPr>
          <p:cNvPicPr>
            <a:picLocks noChangeAspect="1"/>
          </p:cNvPicPr>
          <p:nvPr/>
        </p:nvPicPr>
        <p:blipFill>
          <a:blip r:embed="rId3"/>
          <a:stretch>
            <a:fillRect/>
          </a:stretch>
        </p:blipFill>
        <p:spPr>
          <a:xfrm>
            <a:off x="6309360" y="2194560"/>
            <a:ext cx="365760" cy="365760"/>
          </a:xfrm>
          <a:prstGeom prst="rect">
            <a:avLst/>
          </a:prstGeom>
        </p:spPr>
      </p:pic>
      <p:sp>
        <p:nvSpPr>
          <p:cNvPr id="19" name="Text 14"/>
          <p:cNvSpPr/>
          <p:nvPr/>
        </p:nvSpPr>
        <p:spPr>
          <a:xfrm>
            <a:off x="6812280" y="2148840"/>
            <a:ext cx="16916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Layer Normalization</a:t>
            </a:r>
            <a:endParaRPr lang="en-US" sz="1600" dirty="0"/>
          </a:p>
        </p:txBody>
      </p:sp>
      <p:sp>
        <p:nvSpPr>
          <p:cNvPr id="20" name="Text 15"/>
          <p:cNvSpPr/>
          <p:nvPr/>
        </p:nvSpPr>
        <p:spPr>
          <a:xfrm>
            <a:off x="6355080" y="2560320"/>
            <a:ext cx="2103120" cy="187452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Normalizes across features (not batch). μ, σ computed per-token. Stabilizes training in deep models. Pre-LN (norm before sublayer) is now preferred over Post-LN for training stability.</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Transformer: Training &amp; Complexity Analysis</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28</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011680"/>
        </p:xfrm>
        <a:graphic>
          <a:graphicData uri="http://schemas.openxmlformats.org/drawingml/2006/table">
            <a:tbl>
              <a:tblPr/>
              <a:tblGrid>
                <a:gridCol w="2286000"/>
                <a:gridCol w="2286000"/>
                <a:gridCol w="1828800"/>
                <a:gridCol w="1828800"/>
              </a:tblGrid>
              <a:tr h="402336">
                <a:tc>
                  <a:txBody>
                    <a:bodyP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Layer Type</a:t>
                      </a:r>
                      <a:endParaRPr lang="en-US" sz="1300" dirty="0">
                        <a:latin typeface="Trebuchet MS" charset="0"/>
                        <a:ea typeface="Trebuchet MS" charset="0"/>
                        <a:cs typeface="Trebuchet M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D9488"/>
                    </a:solidFill>
                  </a:tcPr>
                </a:tc>
                <a:tc>
                  <a:txBody>
                    <a:bodyP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Complexity/Layer</a:t>
                      </a:r>
                      <a:endParaRPr lang="en-US" sz="1300" dirty="0">
                        <a:latin typeface="Trebuchet MS" charset="0"/>
                        <a:ea typeface="Trebuchet MS" charset="0"/>
                        <a:cs typeface="Trebuchet M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D9488"/>
                    </a:solidFill>
                  </a:tcPr>
                </a:tc>
                <a:tc>
                  <a:txBody>
                    <a:bodyP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Sequential Ops</a:t>
                      </a:r>
                      <a:endParaRPr lang="en-US" sz="1300" dirty="0">
                        <a:latin typeface="Trebuchet MS" charset="0"/>
                        <a:ea typeface="Trebuchet MS" charset="0"/>
                        <a:cs typeface="Trebuchet M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D9488"/>
                    </a:solidFill>
                  </a:tcPr>
                </a:tc>
                <a:tc>
                  <a:txBody>
                    <a:bodyP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Max Path Length</a:t>
                      </a:r>
                      <a:endParaRPr lang="en-US" sz="1300" dirty="0">
                        <a:latin typeface="Trebuchet MS" charset="0"/>
                        <a:ea typeface="Trebuchet MS" charset="0"/>
                        <a:cs typeface="Trebuchet M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D9488"/>
                    </a:solidFill>
                  </a:tcPr>
                </a:tc>
              </a:tr>
              <a:tr h="402336">
                <a:tc>
                  <a:txBody>
                    <a:bodyPr/>
                    <a:lstStyle/>
                    <a:p>
                      <a:pPr indent="0" marL="0">
                        <a:buNone/>
                      </a:pPr>
                      <a:r>
                        <a:rPr lang="en-US" sz="1250" dirty="0">
                          <a:solidFill>
                            <a:srgbClr val="E2E8F0"/>
                          </a:solidFill>
                          <a:latin typeface="Consolas" pitchFamily="34" charset="0"/>
                          <a:ea typeface="Consolas" pitchFamily="34" charset="-122"/>
                          <a:cs typeface="Consolas" pitchFamily="34" charset="-120"/>
                        </a:rPr>
                        <a:t>Self-Attention</a:t>
                      </a:r>
                      <a:endParaRPr lang="en-US" sz="1250" dirty="0">
                        <a:latin typeface="Consolas" charset="0"/>
                        <a:ea typeface="Consolas" charset="0"/>
                        <a:cs typeface="Consola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50" dirty="0">
                          <a:solidFill>
                            <a:srgbClr val="E2E8F0"/>
                          </a:solidFill>
                          <a:latin typeface="Consolas" pitchFamily="34" charset="0"/>
                          <a:ea typeface="Consolas" pitchFamily="34" charset="-122"/>
                          <a:cs typeface="Consolas" pitchFamily="34" charset="-120"/>
                        </a:rPr>
                        <a:t>O(n²·d)</a:t>
                      </a:r>
                      <a:endParaRPr lang="en-US" sz="1250" dirty="0">
                        <a:latin typeface="Consolas" charset="0"/>
                        <a:ea typeface="Consolas" charset="0"/>
                        <a:cs typeface="Consola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50" dirty="0">
                          <a:solidFill>
                            <a:srgbClr val="E2E8F0"/>
                          </a:solidFill>
                          <a:latin typeface="Consolas" pitchFamily="34" charset="0"/>
                          <a:ea typeface="Consolas" pitchFamily="34" charset="-122"/>
                          <a:cs typeface="Consolas" pitchFamily="34" charset="-120"/>
                        </a:rPr>
                        <a:t>O(1)</a:t>
                      </a:r>
                      <a:endParaRPr lang="en-US" sz="1250" dirty="0">
                        <a:latin typeface="Consolas" charset="0"/>
                        <a:ea typeface="Consolas" charset="0"/>
                        <a:cs typeface="Consola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50" dirty="0">
                          <a:solidFill>
                            <a:srgbClr val="E2E8F0"/>
                          </a:solidFill>
                          <a:latin typeface="Consolas" pitchFamily="34" charset="0"/>
                          <a:ea typeface="Consolas" pitchFamily="34" charset="-122"/>
                          <a:cs typeface="Consolas" pitchFamily="34" charset="-120"/>
                        </a:rPr>
                        <a:t>O(1)</a:t>
                      </a:r>
                      <a:endParaRPr lang="en-US" sz="1250" dirty="0">
                        <a:latin typeface="Consolas" charset="0"/>
                        <a:ea typeface="Consolas" charset="0"/>
                        <a:cs typeface="Consola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r>
              <a:tr h="402336">
                <a:tc>
                  <a:txBody>
                    <a:bodyPr/>
                    <a:lstStyle/>
                    <a:p>
                      <a:pPr indent="0" marL="0">
                        <a:buNone/>
                      </a:pPr>
                      <a:r>
                        <a:rPr lang="en-US" sz="1250" dirty="0">
                          <a:solidFill>
                            <a:srgbClr val="E2E8F0"/>
                          </a:solidFill>
                          <a:latin typeface="Consolas" pitchFamily="34" charset="0"/>
                          <a:ea typeface="Consolas" pitchFamily="34" charset="-122"/>
                          <a:cs typeface="Consolas" pitchFamily="34" charset="-120"/>
                        </a:rPr>
                        <a:t>Recurrent (RNN)</a:t>
                      </a:r>
                      <a:endParaRPr lang="en-US" sz="1250" dirty="0">
                        <a:latin typeface="Consolas" charset="0"/>
                        <a:ea typeface="Consolas" charset="0"/>
                        <a:cs typeface="Consola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50" dirty="0">
                          <a:solidFill>
                            <a:srgbClr val="E2E8F0"/>
                          </a:solidFill>
                          <a:latin typeface="Consolas" pitchFamily="34" charset="0"/>
                          <a:ea typeface="Consolas" pitchFamily="34" charset="-122"/>
                          <a:cs typeface="Consolas" pitchFamily="34" charset="-120"/>
                        </a:rPr>
                        <a:t>O(n·d²)</a:t>
                      </a:r>
                      <a:endParaRPr lang="en-US" sz="1250" dirty="0">
                        <a:latin typeface="Consolas" charset="0"/>
                        <a:ea typeface="Consolas" charset="0"/>
                        <a:cs typeface="Consola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50" dirty="0">
                          <a:solidFill>
                            <a:srgbClr val="E2E8F0"/>
                          </a:solidFill>
                          <a:latin typeface="Consolas" pitchFamily="34" charset="0"/>
                          <a:ea typeface="Consolas" pitchFamily="34" charset="-122"/>
                          <a:cs typeface="Consolas" pitchFamily="34" charset="-120"/>
                        </a:rPr>
                        <a:t>O(n)</a:t>
                      </a:r>
                      <a:endParaRPr lang="en-US" sz="1250" dirty="0">
                        <a:latin typeface="Consolas" charset="0"/>
                        <a:ea typeface="Consolas" charset="0"/>
                        <a:cs typeface="Consola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50" dirty="0">
                          <a:solidFill>
                            <a:srgbClr val="E2E8F0"/>
                          </a:solidFill>
                          <a:latin typeface="Consolas" pitchFamily="34" charset="0"/>
                          <a:ea typeface="Consolas" pitchFamily="34" charset="-122"/>
                          <a:cs typeface="Consolas" pitchFamily="34" charset="-120"/>
                        </a:rPr>
                        <a:t>O(n)</a:t>
                      </a:r>
                      <a:endParaRPr lang="en-US" sz="1250" dirty="0">
                        <a:latin typeface="Consolas" charset="0"/>
                        <a:ea typeface="Consolas" charset="0"/>
                        <a:cs typeface="Consola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r h="402336">
                <a:tc>
                  <a:txBody>
                    <a:bodyPr/>
                    <a:lstStyle/>
                    <a:p>
                      <a:pPr indent="0" marL="0">
                        <a:buNone/>
                      </a:pPr>
                      <a:r>
                        <a:rPr lang="en-US" sz="1250" dirty="0">
                          <a:solidFill>
                            <a:srgbClr val="E2E8F0"/>
                          </a:solidFill>
                          <a:latin typeface="Consolas" pitchFamily="34" charset="0"/>
                          <a:ea typeface="Consolas" pitchFamily="34" charset="-122"/>
                          <a:cs typeface="Consolas" pitchFamily="34" charset="-120"/>
                        </a:rPr>
                        <a:t>Convolutional</a:t>
                      </a:r>
                      <a:endParaRPr lang="en-US" sz="1250" dirty="0">
                        <a:latin typeface="Consolas" charset="0"/>
                        <a:ea typeface="Consolas" charset="0"/>
                        <a:cs typeface="Consola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50" dirty="0">
                          <a:solidFill>
                            <a:srgbClr val="E2E8F0"/>
                          </a:solidFill>
                          <a:latin typeface="Consolas" pitchFamily="34" charset="0"/>
                          <a:ea typeface="Consolas" pitchFamily="34" charset="-122"/>
                          <a:cs typeface="Consolas" pitchFamily="34" charset="-120"/>
                        </a:rPr>
                        <a:t>O(k·n·d²)</a:t>
                      </a:r>
                      <a:endParaRPr lang="en-US" sz="1250" dirty="0">
                        <a:latin typeface="Consolas" charset="0"/>
                        <a:ea typeface="Consolas" charset="0"/>
                        <a:cs typeface="Consola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50" dirty="0">
                          <a:solidFill>
                            <a:srgbClr val="E2E8F0"/>
                          </a:solidFill>
                          <a:latin typeface="Consolas" pitchFamily="34" charset="0"/>
                          <a:ea typeface="Consolas" pitchFamily="34" charset="-122"/>
                          <a:cs typeface="Consolas" pitchFamily="34" charset="-120"/>
                        </a:rPr>
                        <a:t>O(1)</a:t>
                      </a:r>
                      <a:endParaRPr lang="en-US" sz="1250" dirty="0">
                        <a:latin typeface="Consolas" charset="0"/>
                        <a:ea typeface="Consolas" charset="0"/>
                        <a:cs typeface="Consola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c>
                  <a:txBody>
                    <a:bodyPr/>
                    <a:lstStyle/>
                    <a:p>
                      <a:pPr indent="0" marL="0">
                        <a:buNone/>
                      </a:pPr>
                      <a:r>
                        <a:rPr lang="en-US" sz="1250" dirty="0">
                          <a:solidFill>
                            <a:srgbClr val="E2E8F0"/>
                          </a:solidFill>
                          <a:latin typeface="Consolas" pitchFamily="34" charset="0"/>
                          <a:ea typeface="Consolas" pitchFamily="34" charset="-122"/>
                          <a:cs typeface="Consolas" pitchFamily="34" charset="-120"/>
                        </a:rPr>
                        <a:t>O(logₖ(n))</a:t>
                      </a:r>
                      <a:endParaRPr lang="en-US" sz="1250" dirty="0">
                        <a:latin typeface="Consolas" charset="0"/>
                        <a:ea typeface="Consolas" charset="0"/>
                        <a:cs typeface="Consola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3A5F"/>
                    </a:solidFill>
                  </a:tcPr>
                </a:tc>
              </a:tr>
              <a:tr h="402336">
                <a:tc>
                  <a:txBody>
                    <a:bodyPr/>
                    <a:lstStyle/>
                    <a:p>
                      <a:pPr indent="0" marL="0">
                        <a:buNone/>
                      </a:pPr>
                      <a:r>
                        <a:rPr lang="en-US" sz="1250" dirty="0">
                          <a:solidFill>
                            <a:srgbClr val="E2E8F0"/>
                          </a:solidFill>
                          <a:latin typeface="Consolas" pitchFamily="34" charset="0"/>
                          <a:ea typeface="Consolas" pitchFamily="34" charset="-122"/>
                          <a:cs typeface="Consolas" pitchFamily="34" charset="-120"/>
                        </a:rPr>
                        <a:t>Restricted Self-Attn</a:t>
                      </a:r>
                      <a:endParaRPr lang="en-US" sz="1250" dirty="0">
                        <a:latin typeface="Consolas" charset="0"/>
                        <a:ea typeface="Consolas" charset="0"/>
                        <a:cs typeface="Consola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50" dirty="0">
                          <a:solidFill>
                            <a:srgbClr val="E2E8F0"/>
                          </a:solidFill>
                          <a:latin typeface="Consolas" pitchFamily="34" charset="0"/>
                          <a:ea typeface="Consolas" pitchFamily="34" charset="-122"/>
                          <a:cs typeface="Consolas" pitchFamily="34" charset="-120"/>
                        </a:rPr>
                        <a:t>O(r·n·d)</a:t>
                      </a:r>
                      <a:endParaRPr lang="en-US" sz="1250" dirty="0">
                        <a:latin typeface="Consolas" charset="0"/>
                        <a:ea typeface="Consolas" charset="0"/>
                        <a:cs typeface="Consola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50" dirty="0">
                          <a:solidFill>
                            <a:srgbClr val="E2E8F0"/>
                          </a:solidFill>
                          <a:latin typeface="Consolas" pitchFamily="34" charset="0"/>
                          <a:ea typeface="Consolas" pitchFamily="34" charset="-122"/>
                          <a:cs typeface="Consolas" pitchFamily="34" charset="-120"/>
                        </a:rPr>
                        <a:t>O(1)</a:t>
                      </a:r>
                      <a:endParaRPr lang="en-US" sz="1250" dirty="0">
                        <a:latin typeface="Consolas" charset="0"/>
                        <a:ea typeface="Consolas" charset="0"/>
                        <a:cs typeface="Consola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1250" dirty="0">
                          <a:solidFill>
                            <a:srgbClr val="E2E8F0"/>
                          </a:solidFill>
                          <a:latin typeface="Consolas" pitchFamily="34" charset="0"/>
                          <a:ea typeface="Consolas" pitchFamily="34" charset="-122"/>
                          <a:cs typeface="Consolas" pitchFamily="34" charset="-120"/>
                        </a:rPr>
                        <a:t>O(n/r)</a:t>
                      </a:r>
                      <a:endParaRPr lang="en-US" sz="1250" dirty="0">
                        <a:latin typeface="Consolas" charset="0"/>
                        <a:ea typeface="Consolas" charset="0"/>
                        <a:cs typeface="Consolas" charset="0"/>
                      </a:endParaRPr>
                    </a:p>
                  </a:txBody>
                  <a:tcPr marL="91440" marR="91440" marT="45720" marB="4572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r>
            </a:tbl>
          </a:graphicData>
        </a:graphic>
      </p:graphicFrame>
      <p:sp>
        <p:nvSpPr>
          <p:cNvPr id="5" name="Shape 2"/>
          <p:cNvSpPr/>
          <p:nvPr/>
        </p:nvSpPr>
        <p:spPr>
          <a:xfrm>
            <a:off x="457200" y="3291840"/>
            <a:ext cx="3931920" cy="146304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6" name="Shape 3"/>
          <p:cNvSpPr/>
          <p:nvPr/>
        </p:nvSpPr>
        <p:spPr>
          <a:xfrm>
            <a:off x="457200" y="3291840"/>
            <a:ext cx="54864" cy="1463040"/>
          </a:xfrm>
          <a:prstGeom prst="rect">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640080" y="3474720"/>
            <a:ext cx="365760" cy="365760"/>
          </a:xfrm>
          <a:prstGeom prst="rect">
            <a:avLst/>
          </a:prstGeom>
        </p:spPr>
      </p:pic>
      <p:sp>
        <p:nvSpPr>
          <p:cNvPr id="8" name="Text 4"/>
          <p:cNvSpPr/>
          <p:nvPr/>
        </p:nvSpPr>
        <p:spPr>
          <a:xfrm>
            <a:off x="1143000" y="342900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Key Advantage</a:t>
            </a:r>
            <a:endParaRPr lang="en-US" sz="1600" dirty="0"/>
          </a:p>
        </p:txBody>
      </p:sp>
      <p:sp>
        <p:nvSpPr>
          <p:cNvPr id="9" name="Text 5"/>
          <p:cNvSpPr/>
          <p:nvPr/>
        </p:nvSpPr>
        <p:spPr>
          <a:xfrm>
            <a:off x="685800" y="3840480"/>
            <a:ext cx="3474720" cy="77724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O(1) maximum path length means ANY two tokens can interact directly. No more sequential chain of T steps. Gradient flows in a single hop. This is why Transformers train so much faster.</a:t>
            </a:r>
            <a:endParaRPr lang="en-US" sz="1300" dirty="0"/>
          </a:p>
        </p:txBody>
      </p:sp>
      <p:sp>
        <p:nvSpPr>
          <p:cNvPr id="10" name="Shape 6"/>
          <p:cNvSpPr/>
          <p:nvPr/>
        </p:nvSpPr>
        <p:spPr>
          <a:xfrm>
            <a:off x="4754880" y="3291840"/>
            <a:ext cx="3931920" cy="146304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1" name="Shape 7"/>
          <p:cNvSpPr/>
          <p:nvPr/>
        </p:nvSpPr>
        <p:spPr>
          <a:xfrm>
            <a:off x="4754880" y="3291840"/>
            <a:ext cx="54864" cy="1463040"/>
          </a:xfrm>
          <a:prstGeom prst="rect">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4937760" y="3474720"/>
            <a:ext cx="365760" cy="365760"/>
          </a:xfrm>
          <a:prstGeom prst="rect">
            <a:avLst/>
          </a:prstGeom>
        </p:spPr>
      </p:pic>
      <p:sp>
        <p:nvSpPr>
          <p:cNvPr id="13" name="Text 8"/>
          <p:cNvSpPr/>
          <p:nvPr/>
        </p:nvSpPr>
        <p:spPr>
          <a:xfrm>
            <a:off x="5440680" y="3429000"/>
            <a:ext cx="3063240" cy="41148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Training Recipe</a:t>
            </a:r>
            <a:endParaRPr lang="en-US" sz="1600" dirty="0"/>
          </a:p>
        </p:txBody>
      </p:sp>
      <p:sp>
        <p:nvSpPr>
          <p:cNvPr id="14" name="Text 9"/>
          <p:cNvSpPr/>
          <p:nvPr/>
        </p:nvSpPr>
        <p:spPr>
          <a:xfrm>
            <a:off x="4983480" y="3840480"/>
            <a:ext cx="3474720" cy="777240"/>
          </a:xfrm>
          <a:prstGeom prst="rect">
            <a:avLst/>
          </a:prstGeom>
          <a:noFill/>
          <a:ln/>
        </p:spPr>
        <p:txBody>
          <a:bodyPr wrap="square" lIns="0" tIns="0" rIns="0" bIns="0" rtlCol="0" anchor="ctr"/>
          <a:lstStyle/>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Optimizer: Adam (β₁=0.9, β₂=0.98)</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LR Schedule: Warmup + inverse sqrt decay</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Regularization: Dropout (0.1), label smoothing (0.1)</a:t>
            </a:r>
            <a:endParaRPr lang="en-US" sz="1300" dirty="0"/>
          </a:p>
          <a:p>
            <a:pPr indent="0" marL="0">
              <a:lnSpc>
                <a:spcPct val="125000"/>
              </a:lnSpc>
              <a:buNone/>
            </a:pPr>
            <a:r>
              <a:rPr lang="en-US" sz="1300" dirty="0">
                <a:solidFill>
                  <a:srgbClr val="E2E8F0"/>
                </a:solidFill>
                <a:latin typeface="Calibri" pitchFamily="34" charset="0"/>
                <a:ea typeface="Calibri" pitchFamily="34" charset="-122"/>
                <a:cs typeface="Calibri" pitchFamily="34" charset="-120"/>
              </a:rPr>
              <a:t>Original: 8× P100, 3.5 days, 36M params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Modern Transformer Variants &amp; Impact</a:t>
            </a:r>
            <a:endParaRPr lang="en-US" sz="2800" dirty="0"/>
          </a:p>
        </p:txBody>
      </p:sp>
      <p:sp>
        <p:nvSpPr>
          <p:cNvPr id="3" name="Text 1"/>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29</a:t>
            </a:r>
            <a:endParaRPr lang="en-US" sz="1100" dirty="0"/>
          </a:p>
        </p:txBody>
      </p:sp>
      <p:sp>
        <p:nvSpPr>
          <p:cNvPr id="4" name="Shape 2"/>
          <p:cNvSpPr/>
          <p:nvPr/>
        </p:nvSpPr>
        <p:spPr>
          <a:xfrm>
            <a:off x="457200" y="1005840"/>
            <a:ext cx="4023360" cy="109728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5" name="Shape 3"/>
          <p:cNvSpPr/>
          <p:nvPr/>
        </p:nvSpPr>
        <p:spPr>
          <a:xfrm>
            <a:off x="457200" y="1005840"/>
            <a:ext cx="54864" cy="1097280"/>
          </a:xfrm>
          <a:prstGeom prst="rect">
            <a:avLst/>
          </a:prstGeom>
          <a:solidFill>
            <a:srgbClr val="0D9488"/>
          </a:solidFill>
          <a:ln/>
        </p:spPr>
      </p:sp>
      <p:sp>
        <p:nvSpPr>
          <p:cNvPr id="6" name="Text 4"/>
          <p:cNvSpPr/>
          <p:nvPr/>
        </p:nvSpPr>
        <p:spPr>
          <a:xfrm>
            <a:off x="640080" y="1097280"/>
            <a:ext cx="3657600" cy="320040"/>
          </a:xfrm>
          <a:prstGeom prst="rect">
            <a:avLst/>
          </a:prstGeom>
          <a:noFill/>
          <a:ln/>
        </p:spPr>
        <p:txBody>
          <a:bodyPr wrap="square" lIns="0" tIns="0" rIns="0" bIns="0" rtlCol="0" anchor="ctr"/>
          <a:lstStyle/>
          <a:p>
            <a:pPr indent="0" marL="0">
              <a:buNone/>
            </a:pPr>
            <a:r>
              <a:rPr lang="en-US" sz="1500" b="1" dirty="0">
                <a:solidFill>
                  <a:srgbClr val="0D9488"/>
                </a:solidFill>
                <a:latin typeface="Trebuchet MS" pitchFamily="34" charset="0"/>
                <a:ea typeface="Trebuchet MS" pitchFamily="34" charset="-122"/>
                <a:cs typeface="Trebuchet MS" pitchFamily="34" charset="-120"/>
              </a:rPr>
              <a:t>BERT (2018)</a:t>
            </a:r>
            <a:endParaRPr lang="en-US" sz="1500" dirty="0"/>
          </a:p>
        </p:txBody>
      </p:sp>
      <p:sp>
        <p:nvSpPr>
          <p:cNvPr id="7" name="Text 5"/>
          <p:cNvSpPr/>
          <p:nvPr/>
        </p:nvSpPr>
        <p:spPr>
          <a:xfrm>
            <a:off x="640080" y="1463040"/>
            <a:ext cx="3657600" cy="548640"/>
          </a:xfrm>
          <a:prstGeom prst="rect">
            <a:avLst/>
          </a:prstGeom>
          <a:noFill/>
          <a:ln/>
        </p:spPr>
        <p:txBody>
          <a:bodyPr wrap="square" lIns="0" tIns="0" rIns="0" bIns="0" rtlCol="0" anchor="ctr"/>
          <a:lstStyle/>
          <a:p>
            <a:pPr indent="0" marL="0">
              <a:lnSpc>
                <a:spcPct val="120000"/>
              </a:lnSpc>
              <a:buNone/>
            </a:pPr>
            <a:r>
              <a:rPr lang="en-US" sz="1200" dirty="0">
                <a:solidFill>
                  <a:srgbClr val="E2E8F0"/>
                </a:solidFill>
                <a:latin typeface="Calibri" pitchFamily="34" charset="0"/>
                <a:ea typeface="Calibri" pitchFamily="34" charset="-122"/>
                <a:cs typeface="Calibri" pitchFamily="34" charset="-120"/>
              </a:rPr>
              <a:t>Encoder-only. Masked LM + NSP. Bidirectional context. Fine-tuning paradigm.</a:t>
            </a:r>
            <a:endParaRPr lang="en-US" sz="1200" dirty="0"/>
          </a:p>
        </p:txBody>
      </p:sp>
      <p:sp>
        <p:nvSpPr>
          <p:cNvPr id="8" name="Shape 6"/>
          <p:cNvSpPr/>
          <p:nvPr/>
        </p:nvSpPr>
        <p:spPr>
          <a:xfrm>
            <a:off x="457200" y="2286000"/>
            <a:ext cx="4023360" cy="109728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9" name="Shape 7"/>
          <p:cNvSpPr/>
          <p:nvPr/>
        </p:nvSpPr>
        <p:spPr>
          <a:xfrm>
            <a:off x="457200" y="2286000"/>
            <a:ext cx="54864" cy="1097280"/>
          </a:xfrm>
          <a:prstGeom prst="rect">
            <a:avLst/>
          </a:prstGeom>
          <a:solidFill>
            <a:srgbClr val="F59E0B"/>
          </a:solidFill>
          <a:ln/>
        </p:spPr>
      </p:sp>
      <p:sp>
        <p:nvSpPr>
          <p:cNvPr id="10" name="Text 8"/>
          <p:cNvSpPr/>
          <p:nvPr/>
        </p:nvSpPr>
        <p:spPr>
          <a:xfrm>
            <a:off x="640080" y="2377440"/>
            <a:ext cx="3657600" cy="320040"/>
          </a:xfrm>
          <a:prstGeom prst="rect">
            <a:avLst/>
          </a:prstGeom>
          <a:noFill/>
          <a:ln/>
        </p:spPr>
        <p:txBody>
          <a:bodyPr wrap="square" lIns="0" tIns="0" rIns="0" bIns="0" rtlCol="0" anchor="ctr"/>
          <a:lstStyle/>
          <a:p>
            <a:pPr indent="0" marL="0">
              <a:buNone/>
            </a:pPr>
            <a:r>
              <a:rPr lang="en-US" sz="1500" b="1" dirty="0">
                <a:solidFill>
                  <a:srgbClr val="F59E0B"/>
                </a:solidFill>
                <a:latin typeface="Trebuchet MS" pitchFamily="34" charset="0"/>
                <a:ea typeface="Trebuchet MS" pitchFamily="34" charset="-122"/>
                <a:cs typeface="Trebuchet MS" pitchFamily="34" charset="-120"/>
              </a:rPr>
              <a:t>GPT Series</a:t>
            </a:r>
            <a:endParaRPr lang="en-US" sz="1500" dirty="0"/>
          </a:p>
        </p:txBody>
      </p:sp>
      <p:sp>
        <p:nvSpPr>
          <p:cNvPr id="11" name="Text 9"/>
          <p:cNvSpPr/>
          <p:nvPr/>
        </p:nvSpPr>
        <p:spPr>
          <a:xfrm>
            <a:off x="640080" y="2743200"/>
            <a:ext cx="3657600" cy="548640"/>
          </a:xfrm>
          <a:prstGeom prst="rect">
            <a:avLst/>
          </a:prstGeom>
          <a:noFill/>
          <a:ln/>
        </p:spPr>
        <p:txBody>
          <a:bodyPr wrap="square" lIns="0" tIns="0" rIns="0" bIns="0" rtlCol="0" anchor="ctr"/>
          <a:lstStyle/>
          <a:p>
            <a:pPr indent="0" marL="0">
              <a:lnSpc>
                <a:spcPct val="120000"/>
              </a:lnSpc>
              <a:buNone/>
            </a:pPr>
            <a:r>
              <a:rPr lang="en-US" sz="1200" dirty="0">
                <a:solidFill>
                  <a:srgbClr val="E2E8F0"/>
                </a:solidFill>
                <a:latin typeface="Calibri" pitchFamily="34" charset="0"/>
                <a:ea typeface="Calibri" pitchFamily="34" charset="-122"/>
                <a:cs typeface="Calibri" pitchFamily="34" charset="-120"/>
              </a:rPr>
              <a:t>Decoder-only. Autoregressive LM. Scaling laws → GPT-4 (1.7T+ params).</a:t>
            </a:r>
            <a:endParaRPr lang="en-US" sz="1200" dirty="0"/>
          </a:p>
        </p:txBody>
      </p:sp>
      <p:sp>
        <p:nvSpPr>
          <p:cNvPr id="12" name="Shape 10"/>
          <p:cNvSpPr/>
          <p:nvPr/>
        </p:nvSpPr>
        <p:spPr>
          <a:xfrm>
            <a:off x="457200" y="3566160"/>
            <a:ext cx="4023360" cy="109728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3" name="Shape 11"/>
          <p:cNvSpPr/>
          <p:nvPr/>
        </p:nvSpPr>
        <p:spPr>
          <a:xfrm>
            <a:off x="457200" y="3566160"/>
            <a:ext cx="54864" cy="1097280"/>
          </a:xfrm>
          <a:prstGeom prst="rect">
            <a:avLst/>
          </a:prstGeom>
          <a:solidFill>
            <a:srgbClr val="8B5CF6"/>
          </a:solidFill>
          <a:ln/>
        </p:spPr>
      </p:sp>
      <p:sp>
        <p:nvSpPr>
          <p:cNvPr id="14" name="Text 12"/>
          <p:cNvSpPr/>
          <p:nvPr/>
        </p:nvSpPr>
        <p:spPr>
          <a:xfrm>
            <a:off x="640080" y="3657600"/>
            <a:ext cx="3657600" cy="320040"/>
          </a:xfrm>
          <a:prstGeom prst="rect">
            <a:avLst/>
          </a:prstGeom>
          <a:noFill/>
          <a:ln/>
        </p:spPr>
        <p:txBody>
          <a:bodyPr wrap="square" lIns="0" tIns="0" rIns="0" bIns="0" rtlCol="0" anchor="ctr"/>
          <a:lstStyle/>
          <a:p>
            <a:pPr indent="0" marL="0">
              <a:buNone/>
            </a:pPr>
            <a:r>
              <a:rPr lang="en-US" sz="1500" b="1" dirty="0">
                <a:solidFill>
                  <a:srgbClr val="8B5CF6"/>
                </a:solidFill>
                <a:latin typeface="Trebuchet MS" pitchFamily="34" charset="0"/>
                <a:ea typeface="Trebuchet MS" pitchFamily="34" charset="-122"/>
                <a:cs typeface="Trebuchet MS" pitchFamily="34" charset="-120"/>
              </a:rPr>
              <a:t>T5 (2020)</a:t>
            </a:r>
            <a:endParaRPr lang="en-US" sz="1500" dirty="0"/>
          </a:p>
        </p:txBody>
      </p:sp>
      <p:sp>
        <p:nvSpPr>
          <p:cNvPr id="15" name="Text 13"/>
          <p:cNvSpPr/>
          <p:nvPr/>
        </p:nvSpPr>
        <p:spPr>
          <a:xfrm>
            <a:off x="640080" y="4023360"/>
            <a:ext cx="3657600" cy="548640"/>
          </a:xfrm>
          <a:prstGeom prst="rect">
            <a:avLst/>
          </a:prstGeom>
          <a:noFill/>
          <a:ln/>
        </p:spPr>
        <p:txBody>
          <a:bodyPr wrap="square" lIns="0" tIns="0" rIns="0" bIns="0" rtlCol="0" anchor="ctr"/>
          <a:lstStyle/>
          <a:p>
            <a:pPr indent="0" marL="0">
              <a:lnSpc>
                <a:spcPct val="120000"/>
              </a:lnSpc>
              <a:buNone/>
            </a:pPr>
            <a:r>
              <a:rPr lang="en-US" sz="1200" dirty="0">
                <a:solidFill>
                  <a:srgbClr val="E2E8F0"/>
                </a:solidFill>
                <a:latin typeface="Calibri" pitchFamily="34" charset="0"/>
                <a:ea typeface="Calibri" pitchFamily="34" charset="-122"/>
                <a:cs typeface="Calibri" pitchFamily="34" charset="-120"/>
              </a:rPr>
              <a:t>Encoder-decoder. Text-to-text framework. Unified NLP tasks.</a:t>
            </a:r>
            <a:endParaRPr lang="en-US" sz="1200" dirty="0"/>
          </a:p>
        </p:txBody>
      </p:sp>
      <p:sp>
        <p:nvSpPr>
          <p:cNvPr id="16" name="Shape 14"/>
          <p:cNvSpPr/>
          <p:nvPr/>
        </p:nvSpPr>
        <p:spPr>
          <a:xfrm>
            <a:off x="4754880" y="1005840"/>
            <a:ext cx="4023360" cy="109728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17" name="Shape 15"/>
          <p:cNvSpPr/>
          <p:nvPr/>
        </p:nvSpPr>
        <p:spPr>
          <a:xfrm>
            <a:off x="4754880" y="1005840"/>
            <a:ext cx="54864" cy="1097280"/>
          </a:xfrm>
          <a:prstGeom prst="rect">
            <a:avLst/>
          </a:prstGeom>
          <a:solidFill>
            <a:srgbClr val="2DD4BF"/>
          </a:solidFill>
          <a:ln/>
        </p:spPr>
      </p:sp>
      <p:sp>
        <p:nvSpPr>
          <p:cNvPr id="18" name="Text 16"/>
          <p:cNvSpPr/>
          <p:nvPr/>
        </p:nvSpPr>
        <p:spPr>
          <a:xfrm>
            <a:off x="4937760" y="1097280"/>
            <a:ext cx="3657600" cy="320040"/>
          </a:xfrm>
          <a:prstGeom prst="rect">
            <a:avLst/>
          </a:prstGeom>
          <a:noFill/>
          <a:ln/>
        </p:spPr>
        <p:txBody>
          <a:bodyPr wrap="square" lIns="0" tIns="0" rIns="0" bIns="0" rtlCol="0" anchor="ctr"/>
          <a:lstStyle/>
          <a:p>
            <a:pPr indent="0" marL="0">
              <a:buNone/>
            </a:pPr>
            <a:r>
              <a:rPr lang="en-US" sz="1500" b="1" dirty="0">
                <a:solidFill>
                  <a:srgbClr val="2DD4BF"/>
                </a:solidFill>
                <a:latin typeface="Trebuchet MS" pitchFamily="34" charset="0"/>
                <a:ea typeface="Trebuchet MS" pitchFamily="34" charset="-122"/>
                <a:cs typeface="Trebuchet MS" pitchFamily="34" charset="-120"/>
              </a:rPr>
              <a:t>Vision Transformer</a:t>
            </a:r>
            <a:endParaRPr lang="en-US" sz="1500" dirty="0"/>
          </a:p>
        </p:txBody>
      </p:sp>
      <p:sp>
        <p:nvSpPr>
          <p:cNvPr id="19" name="Text 17"/>
          <p:cNvSpPr/>
          <p:nvPr/>
        </p:nvSpPr>
        <p:spPr>
          <a:xfrm>
            <a:off x="4937760" y="1463040"/>
            <a:ext cx="3657600" cy="548640"/>
          </a:xfrm>
          <a:prstGeom prst="rect">
            <a:avLst/>
          </a:prstGeom>
          <a:noFill/>
          <a:ln/>
        </p:spPr>
        <p:txBody>
          <a:bodyPr wrap="square" lIns="0" tIns="0" rIns="0" bIns="0" rtlCol="0" anchor="ctr"/>
          <a:lstStyle/>
          <a:p>
            <a:pPr indent="0" marL="0">
              <a:lnSpc>
                <a:spcPct val="120000"/>
              </a:lnSpc>
              <a:buNone/>
            </a:pPr>
            <a:r>
              <a:rPr lang="en-US" sz="1200" dirty="0">
                <a:solidFill>
                  <a:srgbClr val="E2E8F0"/>
                </a:solidFill>
                <a:latin typeface="Calibri" pitchFamily="34" charset="0"/>
                <a:ea typeface="Calibri" pitchFamily="34" charset="-122"/>
                <a:cs typeface="Calibri" pitchFamily="34" charset="-120"/>
              </a:rPr>
              <a:t>ViT: patches as tokens. DeiT, Swin. Transformers dominate CV too.</a:t>
            </a:r>
            <a:endParaRPr lang="en-US" sz="1200" dirty="0"/>
          </a:p>
        </p:txBody>
      </p:sp>
      <p:sp>
        <p:nvSpPr>
          <p:cNvPr id="20" name="Shape 18"/>
          <p:cNvSpPr/>
          <p:nvPr/>
        </p:nvSpPr>
        <p:spPr>
          <a:xfrm>
            <a:off x="4754880" y="2286000"/>
            <a:ext cx="4023360" cy="109728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21" name="Shape 19"/>
          <p:cNvSpPr/>
          <p:nvPr/>
        </p:nvSpPr>
        <p:spPr>
          <a:xfrm>
            <a:off x="4754880" y="2286000"/>
            <a:ext cx="54864" cy="1097280"/>
          </a:xfrm>
          <a:prstGeom prst="rect">
            <a:avLst/>
          </a:prstGeom>
          <a:solidFill>
            <a:srgbClr val="F43F5E"/>
          </a:solidFill>
          <a:ln/>
        </p:spPr>
      </p:sp>
      <p:sp>
        <p:nvSpPr>
          <p:cNvPr id="22" name="Text 20"/>
          <p:cNvSpPr/>
          <p:nvPr/>
        </p:nvSpPr>
        <p:spPr>
          <a:xfrm>
            <a:off x="4937760" y="2377440"/>
            <a:ext cx="3657600" cy="320040"/>
          </a:xfrm>
          <a:prstGeom prst="rect">
            <a:avLst/>
          </a:prstGeom>
          <a:noFill/>
          <a:ln/>
        </p:spPr>
        <p:txBody>
          <a:bodyPr wrap="square" lIns="0" tIns="0" rIns="0" bIns="0" rtlCol="0" anchor="ctr"/>
          <a:lstStyle/>
          <a:p>
            <a:pPr indent="0" marL="0">
              <a:buNone/>
            </a:pPr>
            <a:r>
              <a:rPr lang="en-US" sz="1500" b="1" dirty="0">
                <a:solidFill>
                  <a:srgbClr val="F43F5E"/>
                </a:solidFill>
                <a:latin typeface="Trebuchet MS" pitchFamily="34" charset="0"/>
                <a:ea typeface="Trebuchet MS" pitchFamily="34" charset="-122"/>
                <a:cs typeface="Trebuchet MS" pitchFamily="34" charset="-120"/>
              </a:rPr>
              <a:t>Efficient Variants</a:t>
            </a:r>
            <a:endParaRPr lang="en-US" sz="1500" dirty="0"/>
          </a:p>
        </p:txBody>
      </p:sp>
      <p:sp>
        <p:nvSpPr>
          <p:cNvPr id="23" name="Text 21"/>
          <p:cNvSpPr/>
          <p:nvPr/>
        </p:nvSpPr>
        <p:spPr>
          <a:xfrm>
            <a:off x="4937760" y="2743200"/>
            <a:ext cx="3657600" cy="548640"/>
          </a:xfrm>
          <a:prstGeom prst="rect">
            <a:avLst/>
          </a:prstGeom>
          <a:noFill/>
          <a:ln/>
        </p:spPr>
        <p:txBody>
          <a:bodyPr wrap="square" lIns="0" tIns="0" rIns="0" bIns="0" rtlCol="0" anchor="ctr"/>
          <a:lstStyle/>
          <a:p>
            <a:pPr indent="0" marL="0">
              <a:lnSpc>
                <a:spcPct val="120000"/>
              </a:lnSpc>
              <a:buNone/>
            </a:pPr>
            <a:r>
              <a:rPr lang="en-US" sz="1200" dirty="0">
                <a:solidFill>
                  <a:srgbClr val="E2E8F0"/>
                </a:solidFill>
                <a:latin typeface="Calibri" pitchFamily="34" charset="0"/>
                <a:ea typeface="Calibri" pitchFamily="34" charset="-122"/>
                <a:cs typeface="Calibri" pitchFamily="34" charset="-120"/>
              </a:rPr>
              <a:t>Linformer, Performer, FlashAttention, Longformer — O(n) attention.</a:t>
            </a:r>
            <a:endParaRPr lang="en-US" sz="1200" dirty="0"/>
          </a:p>
        </p:txBody>
      </p:sp>
      <p:sp>
        <p:nvSpPr>
          <p:cNvPr id="24" name="Shape 22"/>
          <p:cNvSpPr/>
          <p:nvPr/>
        </p:nvSpPr>
        <p:spPr>
          <a:xfrm>
            <a:off x="4754880" y="3566160"/>
            <a:ext cx="4023360" cy="1097280"/>
          </a:xfrm>
          <a:prstGeom prst="rect">
            <a:avLst/>
          </a:prstGeom>
          <a:solidFill>
            <a:srgbClr val="1E3A5F"/>
          </a:solidFill>
          <a:ln/>
          <a:effectLst>
            <a:outerShdw sx="100000" sy="100000" kx="0" ky="0" algn="bl" rotWithShape="0" blurRad="101600" dist="38100" dir="8100000">
              <a:srgbClr val="000000">
                <a:alpha val="25000"/>
              </a:srgbClr>
            </a:outerShdw>
          </a:effectLst>
        </p:spPr>
      </p:sp>
      <p:sp>
        <p:nvSpPr>
          <p:cNvPr id="25" name="Shape 23"/>
          <p:cNvSpPr/>
          <p:nvPr/>
        </p:nvSpPr>
        <p:spPr>
          <a:xfrm>
            <a:off x="4754880" y="3566160"/>
            <a:ext cx="54864" cy="1097280"/>
          </a:xfrm>
          <a:prstGeom prst="rect">
            <a:avLst/>
          </a:prstGeom>
          <a:solidFill>
            <a:srgbClr val="F59E0B"/>
          </a:solidFill>
          <a:ln/>
        </p:spPr>
      </p:sp>
      <p:sp>
        <p:nvSpPr>
          <p:cNvPr id="26" name="Text 24"/>
          <p:cNvSpPr/>
          <p:nvPr/>
        </p:nvSpPr>
        <p:spPr>
          <a:xfrm>
            <a:off x="4937760" y="3657600"/>
            <a:ext cx="3657600" cy="320040"/>
          </a:xfrm>
          <a:prstGeom prst="rect">
            <a:avLst/>
          </a:prstGeom>
          <a:noFill/>
          <a:ln/>
        </p:spPr>
        <p:txBody>
          <a:bodyPr wrap="square" lIns="0" tIns="0" rIns="0" bIns="0" rtlCol="0" anchor="ctr"/>
          <a:lstStyle/>
          <a:p>
            <a:pPr indent="0" marL="0">
              <a:buNone/>
            </a:pPr>
            <a:r>
              <a:rPr lang="en-US" sz="1500" b="1" dirty="0">
                <a:solidFill>
                  <a:srgbClr val="F59E0B"/>
                </a:solidFill>
                <a:latin typeface="Trebuchet MS" pitchFamily="34" charset="0"/>
                <a:ea typeface="Trebuchet MS" pitchFamily="34" charset="-122"/>
                <a:cs typeface="Trebuchet MS" pitchFamily="34" charset="-120"/>
              </a:rPr>
              <a:t>LLMs &amp; Beyond</a:t>
            </a:r>
            <a:endParaRPr lang="en-US" sz="1500" dirty="0"/>
          </a:p>
        </p:txBody>
      </p:sp>
      <p:sp>
        <p:nvSpPr>
          <p:cNvPr id="27" name="Text 25"/>
          <p:cNvSpPr/>
          <p:nvPr/>
        </p:nvSpPr>
        <p:spPr>
          <a:xfrm>
            <a:off x="4937760" y="4023360"/>
            <a:ext cx="3657600" cy="548640"/>
          </a:xfrm>
          <a:prstGeom prst="rect">
            <a:avLst/>
          </a:prstGeom>
          <a:noFill/>
          <a:ln/>
        </p:spPr>
        <p:txBody>
          <a:bodyPr wrap="square" lIns="0" tIns="0" rIns="0" bIns="0" rtlCol="0" anchor="ctr"/>
          <a:lstStyle/>
          <a:p>
            <a:pPr indent="0" marL="0">
              <a:lnSpc>
                <a:spcPct val="120000"/>
              </a:lnSpc>
              <a:buNone/>
            </a:pPr>
            <a:r>
              <a:rPr lang="en-US" sz="1200" dirty="0">
                <a:solidFill>
                  <a:srgbClr val="E2E8F0"/>
                </a:solidFill>
                <a:latin typeface="Calibri" pitchFamily="34" charset="0"/>
                <a:ea typeface="Calibri" pitchFamily="34" charset="-122"/>
                <a:cs typeface="Calibri" pitchFamily="34" charset="-120"/>
              </a:rPr>
              <a:t>LLaMA, Claude, Gemini. RLHF, instruction tuning, MoE, multimodal.</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D9488"/>
          </a:solidFill>
          <a:ln/>
        </p:spPr>
      </p:sp>
      <p:sp>
        <p:nvSpPr>
          <p:cNvPr id="3" name="Text 1"/>
          <p:cNvSpPr/>
          <p:nvPr/>
        </p:nvSpPr>
        <p:spPr>
          <a:xfrm>
            <a:off x="548640" y="22860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Key Takeaways</a:t>
            </a:r>
            <a:endParaRPr lang="en-US" sz="2800" dirty="0"/>
          </a:p>
        </p:txBody>
      </p:sp>
      <p:sp>
        <p:nvSpPr>
          <p:cNvPr id="4" name="Text 2"/>
          <p:cNvSpPr/>
          <p:nvPr/>
        </p:nvSpPr>
        <p:spPr>
          <a:xfrm>
            <a:off x="8412480" y="470916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30</a:t>
            </a:r>
            <a:endParaRPr lang="en-US" sz="1100" dirty="0"/>
          </a:p>
        </p:txBody>
      </p:sp>
      <p:sp>
        <p:nvSpPr>
          <p:cNvPr id="5" name="Shape 3"/>
          <p:cNvSpPr/>
          <p:nvPr/>
        </p:nvSpPr>
        <p:spPr>
          <a:xfrm>
            <a:off x="457200" y="960120"/>
            <a:ext cx="8229600" cy="457200"/>
          </a:xfrm>
          <a:prstGeom prst="rect">
            <a:avLst/>
          </a:prstGeom>
          <a:solidFill>
            <a:srgbClr val="1E3A5F"/>
          </a:solidFill>
          <a:ln/>
        </p:spPr>
      </p:sp>
      <p:sp>
        <p:nvSpPr>
          <p:cNvPr id="6" name="Shape 4"/>
          <p:cNvSpPr/>
          <p:nvPr/>
        </p:nvSpPr>
        <p:spPr>
          <a:xfrm>
            <a:off x="457200" y="960120"/>
            <a:ext cx="54864" cy="457200"/>
          </a:xfrm>
          <a:prstGeom prst="rect">
            <a:avLst/>
          </a:prstGeom>
          <a:solidFill>
            <a:srgbClr val="0D9488"/>
          </a:solidFill>
          <a:ln/>
        </p:spPr>
      </p:sp>
      <p:sp>
        <p:nvSpPr>
          <p:cNvPr id="7" name="Text 5"/>
          <p:cNvSpPr/>
          <p:nvPr/>
        </p:nvSpPr>
        <p:spPr>
          <a:xfrm>
            <a:off x="640080" y="1005840"/>
            <a:ext cx="320040" cy="36576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1</a:t>
            </a:r>
            <a:endParaRPr lang="en-US" sz="1600" dirty="0"/>
          </a:p>
        </p:txBody>
      </p:sp>
      <p:sp>
        <p:nvSpPr>
          <p:cNvPr id="8" name="Text 6"/>
          <p:cNvSpPr/>
          <p:nvPr/>
        </p:nvSpPr>
        <p:spPr>
          <a:xfrm>
            <a:off x="1051560" y="1005840"/>
            <a:ext cx="7406640" cy="36576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RNNs introduced recurrence for sequences but suffer from vanishing gradients and sequential bottlenecks.</a:t>
            </a:r>
            <a:endParaRPr lang="en-US" sz="1300" dirty="0"/>
          </a:p>
        </p:txBody>
      </p:sp>
      <p:sp>
        <p:nvSpPr>
          <p:cNvPr id="9" name="Shape 7"/>
          <p:cNvSpPr/>
          <p:nvPr/>
        </p:nvSpPr>
        <p:spPr>
          <a:xfrm>
            <a:off x="457200" y="1508760"/>
            <a:ext cx="8229600" cy="457200"/>
          </a:xfrm>
          <a:prstGeom prst="rect">
            <a:avLst/>
          </a:prstGeom>
          <a:solidFill>
            <a:srgbClr val="1E293B"/>
          </a:solidFill>
          <a:ln/>
        </p:spPr>
      </p:sp>
      <p:sp>
        <p:nvSpPr>
          <p:cNvPr id="10" name="Shape 8"/>
          <p:cNvSpPr/>
          <p:nvPr/>
        </p:nvSpPr>
        <p:spPr>
          <a:xfrm>
            <a:off x="457200" y="1508760"/>
            <a:ext cx="54864" cy="457200"/>
          </a:xfrm>
          <a:prstGeom prst="rect">
            <a:avLst/>
          </a:prstGeom>
          <a:solidFill>
            <a:srgbClr val="0D9488"/>
          </a:solidFill>
          <a:ln/>
        </p:spPr>
      </p:sp>
      <p:sp>
        <p:nvSpPr>
          <p:cNvPr id="11" name="Text 9"/>
          <p:cNvSpPr/>
          <p:nvPr/>
        </p:nvSpPr>
        <p:spPr>
          <a:xfrm>
            <a:off x="640080" y="1554480"/>
            <a:ext cx="320040" cy="36576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2</a:t>
            </a:r>
            <a:endParaRPr lang="en-US" sz="1600" dirty="0"/>
          </a:p>
        </p:txBody>
      </p:sp>
      <p:sp>
        <p:nvSpPr>
          <p:cNvPr id="12" name="Text 10"/>
          <p:cNvSpPr/>
          <p:nvPr/>
        </p:nvSpPr>
        <p:spPr>
          <a:xfrm>
            <a:off x="1051560" y="1554480"/>
            <a:ext cx="7406640" cy="36576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LSTMs/GRUs added gating mechanisms with additive cell state updates, solving long-range dependency learning.</a:t>
            </a:r>
            <a:endParaRPr lang="en-US" sz="1300" dirty="0"/>
          </a:p>
        </p:txBody>
      </p:sp>
      <p:sp>
        <p:nvSpPr>
          <p:cNvPr id="13" name="Shape 11"/>
          <p:cNvSpPr/>
          <p:nvPr/>
        </p:nvSpPr>
        <p:spPr>
          <a:xfrm>
            <a:off x="457200" y="2057400"/>
            <a:ext cx="8229600" cy="457200"/>
          </a:xfrm>
          <a:prstGeom prst="rect">
            <a:avLst/>
          </a:prstGeom>
          <a:solidFill>
            <a:srgbClr val="1E3A5F"/>
          </a:solidFill>
          <a:ln/>
        </p:spPr>
      </p:sp>
      <p:sp>
        <p:nvSpPr>
          <p:cNvPr id="14" name="Shape 12"/>
          <p:cNvSpPr/>
          <p:nvPr/>
        </p:nvSpPr>
        <p:spPr>
          <a:xfrm>
            <a:off x="457200" y="2057400"/>
            <a:ext cx="54864" cy="457200"/>
          </a:xfrm>
          <a:prstGeom prst="rect">
            <a:avLst/>
          </a:prstGeom>
          <a:solidFill>
            <a:srgbClr val="0D9488"/>
          </a:solidFill>
          <a:ln/>
        </p:spPr>
      </p:sp>
      <p:sp>
        <p:nvSpPr>
          <p:cNvPr id="15" name="Text 13"/>
          <p:cNvSpPr/>
          <p:nvPr/>
        </p:nvSpPr>
        <p:spPr>
          <a:xfrm>
            <a:off x="640080" y="2103120"/>
            <a:ext cx="320040" cy="36576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3</a:t>
            </a:r>
            <a:endParaRPr lang="en-US" sz="1600" dirty="0"/>
          </a:p>
        </p:txBody>
      </p:sp>
      <p:sp>
        <p:nvSpPr>
          <p:cNvPr id="16" name="Text 14"/>
          <p:cNvSpPr/>
          <p:nvPr/>
        </p:nvSpPr>
        <p:spPr>
          <a:xfrm>
            <a:off x="1051560" y="2103120"/>
            <a:ext cx="7406640" cy="36576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Encoder-Decoder (Seq2Seq) enabled variable-length mapping but was limited by fixed context vector compression.</a:t>
            </a:r>
            <a:endParaRPr lang="en-US" sz="1300" dirty="0"/>
          </a:p>
        </p:txBody>
      </p:sp>
      <p:sp>
        <p:nvSpPr>
          <p:cNvPr id="17" name="Shape 15"/>
          <p:cNvSpPr/>
          <p:nvPr/>
        </p:nvSpPr>
        <p:spPr>
          <a:xfrm>
            <a:off x="457200" y="2606040"/>
            <a:ext cx="8229600" cy="457200"/>
          </a:xfrm>
          <a:prstGeom prst="rect">
            <a:avLst/>
          </a:prstGeom>
          <a:solidFill>
            <a:srgbClr val="1E293B"/>
          </a:solidFill>
          <a:ln/>
        </p:spPr>
      </p:sp>
      <p:sp>
        <p:nvSpPr>
          <p:cNvPr id="18" name="Shape 16"/>
          <p:cNvSpPr/>
          <p:nvPr/>
        </p:nvSpPr>
        <p:spPr>
          <a:xfrm>
            <a:off x="457200" y="2606040"/>
            <a:ext cx="54864" cy="457200"/>
          </a:xfrm>
          <a:prstGeom prst="rect">
            <a:avLst/>
          </a:prstGeom>
          <a:solidFill>
            <a:srgbClr val="0D9488"/>
          </a:solidFill>
          <a:ln/>
        </p:spPr>
      </p:sp>
      <p:sp>
        <p:nvSpPr>
          <p:cNvPr id="19" name="Text 17"/>
          <p:cNvSpPr/>
          <p:nvPr/>
        </p:nvSpPr>
        <p:spPr>
          <a:xfrm>
            <a:off x="640080" y="2651760"/>
            <a:ext cx="320040" cy="36576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4</a:t>
            </a:r>
            <a:endParaRPr lang="en-US" sz="1600" dirty="0"/>
          </a:p>
        </p:txBody>
      </p:sp>
      <p:sp>
        <p:nvSpPr>
          <p:cNvPr id="20" name="Text 18"/>
          <p:cNvSpPr/>
          <p:nvPr/>
        </p:nvSpPr>
        <p:spPr>
          <a:xfrm>
            <a:off x="1051560" y="2651760"/>
            <a:ext cx="7406640" cy="36576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Attention eliminated the bottleneck by letting the decoder access all encoder states dynamically.</a:t>
            </a:r>
            <a:endParaRPr lang="en-US" sz="1300" dirty="0"/>
          </a:p>
        </p:txBody>
      </p:sp>
      <p:sp>
        <p:nvSpPr>
          <p:cNvPr id="21" name="Shape 19"/>
          <p:cNvSpPr/>
          <p:nvPr/>
        </p:nvSpPr>
        <p:spPr>
          <a:xfrm>
            <a:off x="457200" y="3154680"/>
            <a:ext cx="8229600" cy="457200"/>
          </a:xfrm>
          <a:prstGeom prst="rect">
            <a:avLst/>
          </a:prstGeom>
          <a:solidFill>
            <a:srgbClr val="1E3A5F"/>
          </a:solidFill>
          <a:ln/>
        </p:spPr>
      </p:sp>
      <p:sp>
        <p:nvSpPr>
          <p:cNvPr id="22" name="Shape 20"/>
          <p:cNvSpPr/>
          <p:nvPr/>
        </p:nvSpPr>
        <p:spPr>
          <a:xfrm>
            <a:off x="457200" y="3154680"/>
            <a:ext cx="54864" cy="457200"/>
          </a:xfrm>
          <a:prstGeom prst="rect">
            <a:avLst/>
          </a:prstGeom>
          <a:solidFill>
            <a:srgbClr val="0D9488"/>
          </a:solidFill>
          <a:ln/>
        </p:spPr>
      </p:sp>
      <p:sp>
        <p:nvSpPr>
          <p:cNvPr id="23" name="Text 21"/>
          <p:cNvSpPr/>
          <p:nvPr/>
        </p:nvSpPr>
        <p:spPr>
          <a:xfrm>
            <a:off x="640080" y="3200400"/>
            <a:ext cx="320040" cy="36576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5</a:t>
            </a:r>
            <a:endParaRPr lang="en-US" sz="1600" dirty="0"/>
          </a:p>
        </p:txBody>
      </p:sp>
      <p:sp>
        <p:nvSpPr>
          <p:cNvPr id="24" name="Text 22"/>
          <p:cNvSpPr/>
          <p:nvPr/>
        </p:nvSpPr>
        <p:spPr>
          <a:xfrm>
            <a:off x="1051560" y="3200400"/>
            <a:ext cx="7406640" cy="36576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Transformers removed recurrence entirely, using self-attention for O(1) path length and full parallelization.</a:t>
            </a:r>
            <a:endParaRPr lang="en-US" sz="1300" dirty="0"/>
          </a:p>
        </p:txBody>
      </p:sp>
      <p:sp>
        <p:nvSpPr>
          <p:cNvPr id="25" name="Shape 23"/>
          <p:cNvSpPr/>
          <p:nvPr/>
        </p:nvSpPr>
        <p:spPr>
          <a:xfrm>
            <a:off x="457200" y="3703320"/>
            <a:ext cx="8229600" cy="457200"/>
          </a:xfrm>
          <a:prstGeom prst="rect">
            <a:avLst/>
          </a:prstGeom>
          <a:solidFill>
            <a:srgbClr val="1E293B"/>
          </a:solidFill>
          <a:ln/>
        </p:spPr>
      </p:sp>
      <p:sp>
        <p:nvSpPr>
          <p:cNvPr id="26" name="Shape 24"/>
          <p:cNvSpPr/>
          <p:nvPr/>
        </p:nvSpPr>
        <p:spPr>
          <a:xfrm>
            <a:off x="457200" y="3703320"/>
            <a:ext cx="54864" cy="457200"/>
          </a:xfrm>
          <a:prstGeom prst="rect">
            <a:avLst/>
          </a:prstGeom>
          <a:solidFill>
            <a:srgbClr val="0D9488"/>
          </a:solidFill>
          <a:ln/>
        </p:spPr>
      </p:sp>
      <p:sp>
        <p:nvSpPr>
          <p:cNvPr id="27" name="Text 25"/>
          <p:cNvSpPr/>
          <p:nvPr/>
        </p:nvSpPr>
        <p:spPr>
          <a:xfrm>
            <a:off x="640080" y="3749040"/>
            <a:ext cx="320040" cy="365760"/>
          </a:xfrm>
          <a:prstGeom prst="rect">
            <a:avLst/>
          </a:prstGeom>
          <a:noFill/>
          <a:ln/>
        </p:spPr>
        <p:txBody>
          <a:bodyPr wrap="square" lIns="0" tIns="0" rIns="0" bIns="0" rtlCol="0" anchor="ctr"/>
          <a:lstStyle/>
          <a:p>
            <a:pPr indent="0" marL="0">
              <a:buNone/>
            </a:pPr>
            <a:r>
              <a:rPr lang="en-US" sz="1600" b="1" dirty="0">
                <a:solidFill>
                  <a:srgbClr val="2DD4BF"/>
                </a:solidFill>
                <a:latin typeface="Trebuchet MS" pitchFamily="34" charset="0"/>
                <a:ea typeface="Trebuchet MS" pitchFamily="34" charset="-122"/>
                <a:cs typeface="Trebuchet MS" pitchFamily="34" charset="-120"/>
              </a:rPr>
              <a:t>6</a:t>
            </a:r>
            <a:endParaRPr lang="en-US" sz="1600" dirty="0"/>
          </a:p>
        </p:txBody>
      </p:sp>
      <p:sp>
        <p:nvSpPr>
          <p:cNvPr id="28" name="Text 26"/>
          <p:cNvSpPr/>
          <p:nvPr/>
        </p:nvSpPr>
        <p:spPr>
          <a:xfrm>
            <a:off x="1051560" y="3749040"/>
            <a:ext cx="7406640" cy="36576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Modern LLMs (GPT, Claude, LLaMA) are all Transformer variants — the architecture that changed everything.</a:t>
            </a:r>
            <a:endParaRPr lang="en-US" sz="1300" dirty="0"/>
          </a:p>
        </p:txBody>
      </p:sp>
      <p:sp>
        <p:nvSpPr>
          <p:cNvPr id="29" name="Text 27"/>
          <p:cNvSpPr/>
          <p:nvPr/>
        </p:nvSpPr>
        <p:spPr>
          <a:xfrm>
            <a:off x="457200" y="4526280"/>
            <a:ext cx="82296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"Attention Is All You Need" — but understanding the journey from RNNs makes you a better architect.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Tutorial: From RNNs to Transformers</dc:title>
  <dc:subject>PptxGenJS Presentation</dc:subject>
  <dc:creator>Jitendra</dc:creator>
  <cp:lastModifiedBy>Jitendra</cp:lastModifiedBy>
  <cp:revision>1</cp:revision>
  <dcterms:created xsi:type="dcterms:W3CDTF">2026-04-11T09:25:47Z</dcterms:created>
  <dcterms:modified xsi:type="dcterms:W3CDTF">2026-04-11T09:25:47Z</dcterms:modified>
</cp:coreProperties>
</file>