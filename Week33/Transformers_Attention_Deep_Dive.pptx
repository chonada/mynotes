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1.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slideLayout" Target="../slideLayouts/slideLayout1.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slideLayout" Target="../slideLayouts/slideLayout1.xml"/><Relationship Id="rId8"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7C3AED"/>
          </a:solidFill>
          <a:ln/>
        </p:spPr>
      </p:sp>
      <p:sp>
        <p:nvSpPr>
          <p:cNvPr id="3" name="Text 1"/>
          <p:cNvSpPr/>
          <p:nvPr/>
        </p:nvSpPr>
        <p:spPr>
          <a:xfrm>
            <a:off x="457200" y="548640"/>
            <a:ext cx="8229600" cy="1280160"/>
          </a:xfrm>
          <a:prstGeom prst="rect">
            <a:avLst/>
          </a:prstGeom>
          <a:noFill/>
          <a:ln/>
        </p:spPr>
        <p:txBody>
          <a:bodyPr wrap="square" lIns="0" tIns="0" rIns="0" bIns="0" rtlCol="0" anchor="ctr"/>
          <a:lstStyle/>
          <a:p>
            <a:pPr algn="ctr" indent="0" marL="0">
              <a:buNone/>
            </a:pPr>
            <a:r>
              <a:rPr lang="en-US" sz="4800" b="1" dirty="0">
                <a:solidFill>
                  <a:srgbClr val="FFFFFF"/>
                </a:solidFill>
                <a:latin typeface="Trebuchet MS" pitchFamily="34" charset="0"/>
                <a:ea typeface="Trebuchet MS" pitchFamily="34" charset="-122"/>
                <a:cs typeface="Trebuchet MS" pitchFamily="34" charset="-120"/>
              </a:rPr>
              <a:t>TRANSFORMERS</a:t>
            </a:r>
            <a:endParaRPr lang="en-US" sz="4800" dirty="0"/>
          </a:p>
        </p:txBody>
      </p:sp>
      <p:sp>
        <p:nvSpPr>
          <p:cNvPr id="4" name="Text 2"/>
          <p:cNvSpPr/>
          <p:nvPr/>
        </p:nvSpPr>
        <p:spPr>
          <a:xfrm>
            <a:off x="457200" y="1645920"/>
            <a:ext cx="8229600" cy="640080"/>
          </a:xfrm>
          <a:prstGeom prst="rect">
            <a:avLst/>
          </a:prstGeom>
          <a:noFill/>
          <a:ln/>
        </p:spPr>
        <p:txBody>
          <a:bodyPr wrap="square" lIns="0" tIns="0" rIns="0" bIns="0" rtlCol="0" anchor="ctr"/>
          <a:lstStyle/>
          <a:p>
            <a:pPr algn="ctr" indent="0" marL="0">
              <a:buNone/>
            </a:pPr>
            <a:r>
              <a:rPr lang="en-US" sz="2800" b="1" dirty="0">
                <a:solidFill>
                  <a:srgbClr val="7C3AED"/>
                </a:solidFill>
                <a:latin typeface="Trebuchet MS" pitchFamily="34" charset="0"/>
                <a:ea typeface="Trebuchet MS" pitchFamily="34" charset="-122"/>
                <a:cs typeface="Trebuchet MS" pitchFamily="34" charset="-120"/>
              </a:rPr>
              <a:t>&amp; ATTENTION MECHANISMS</a:t>
            </a:r>
            <a:endParaRPr lang="en-US" sz="2800" dirty="0"/>
          </a:p>
        </p:txBody>
      </p:sp>
      <p:sp>
        <p:nvSpPr>
          <p:cNvPr id="5" name="Shape 3"/>
          <p:cNvSpPr/>
          <p:nvPr/>
        </p:nvSpPr>
        <p:spPr>
          <a:xfrm>
            <a:off x="457200" y="2560320"/>
            <a:ext cx="1280160" cy="347472"/>
          </a:xfrm>
          <a:prstGeom prst="roundRect">
            <a:avLst>
              <a:gd name="adj" fmla="val 15789"/>
            </a:avLst>
          </a:prstGeom>
          <a:solidFill>
            <a:srgbClr val="7C3AED">
              <a:alpha val="20000"/>
            </a:srgbClr>
          </a:solidFill>
          <a:ln w="12700">
            <a:solidFill>
              <a:srgbClr val="7C3AED"/>
            </a:solidFill>
            <a:prstDash val="solid"/>
          </a:ln>
        </p:spPr>
      </p:sp>
      <p:sp>
        <p:nvSpPr>
          <p:cNvPr id="6" name="Text 4"/>
          <p:cNvSpPr/>
          <p:nvPr/>
        </p:nvSpPr>
        <p:spPr>
          <a:xfrm>
            <a:off x="457200" y="2560320"/>
            <a:ext cx="1280160" cy="347472"/>
          </a:xfrm>
          <a:prstGeom prst="rect">
            <a:avLst/>
          </a:prstGeom>
          <a:noFill/>
          <a:ln/>
        </p:spPr>
        <p:txBody>
          <a:bodyPr wrap="square" lIns="0" tIns="0" rIns="0" bIns="0" rtlCol="0" anchor="ctr"/>
          <a:lstStyle/>
          <a:p>
            <a:pPr algn="ctr" indent="0" marL="0">
              <a:buNone/>
            </a:pPr>
            <a:r>
              <a:rPr lang="en-US" sz="1000" b="1" dirty="0">
                <a:solidFill>
                  <a:srgbClr val="7C3AED"/>
                </a:solidFill>
                <a:latin typeface="Calibri" pitchFamily="34" charset="0"/>
                <a:ea typeface="Calibri" pitchFamily="34" charset="-122"/>
                <a:cs typeface="Calibri" pitchFamily="34" charset="-120"/>
              </a:rPr>
              <a:t>Self-Attention</a:t>
            </a:r>
            <a:endParaRPr lang="en-US" sz="1000" dirty="0"/>
          </a:p>
        </p:txBody>
      </p:sp>
      <p:sp>
        <p:nvSpPr>
          <p:cNvPr id="7" name="Shape 5"/>
          <p:cNvSpPr/>
          <p:nvPr/>
        </p:nvSpPr>
        <p:spPr>
          <a:xfrm>
            <a:off x="1874520" y="2560320"/>
            <a:ext cx="1280160" cy="347472"/>
          </a:xfrm>
          <a:prstGeom prst="roundRect">
            <a:avLst>
              <a:gd name="adj" fmla="val 15789"/>
            </a:avLst>
          </a:prstGeom>
          <a:solidFill>
            <a:srgbClr val="6366F1">
              <a:alpha val="20000"/>
            </a:srgbClr>
          </a:solidFill>
          <a:ln w="12700">
            <a:solidFill>
              <a:srgbClr val="6366F1"/>
            </a:solidFill>
            <a:prstDash val="solid"/>
          </a:ln>
        </p:spPr>
      </p:sp>
      <p:sp>
        <p:nvSpPr>
          <p:cNvPr id="8" name="Text 6"/>
          <p:cNvSpPr/>
          <p:nvPr/>
        </p:nvSpPr>
        <p:spPr>
          <a:xfrm>
            <a:off x="1874520" y="2560320"/>
            <a:ext cx="1280160" cy="347472"/>
          </a:xfrm>
          <a:prstGeom prst="rect">
            <a:avLst/>
          </a:prstGeom>
          <a:noFill/>
          <a:ln/>
        </p:spPr>
        <p:txBody>
          <a:bodyPr wrap="square" lIns="0" tIns="0" rIns="0" bIns="0" rtlCol="0" anchor="ctr"/>
          <a:lstStyle/>
          <a:p>
            <a:pPr algn="ctr" indent="0" marL="0">
              <a:buNone/>
            </a:pPr>
            <a:r>
              <a:rPr lang="en-US" sz="1000" b="1" dirty="0">
                <a:solidFill>
                  <a:srgbClr val="6366F1"/>
                </a:solidFill>
                <a:latin typeface="Calibri" pitchFamily="34" charset="0"/>
                <a:ea typeface="Calibri" pitchFamily="34" charset="-122"/>
                <a:cs typeface="Calibri" pitchFamily="34" charset="-120"/>
              </a:rPr>
              <a:t>Multi-Head</a:t>
            </a:r>
            <a:endParaRPr lang="en-US" sz="1000" dirty="0"/>
          </a:p>
        </p:txBody>
      </p:sp>
      <p:sp>
        <p:nvSpPr>
          <p:cNvPr id="9" name="Shape 7"/>
          <p:cNvSpPr/>
          <p:nvPr/>
        </p:nvSpPr>
        <p:spPr>
          <a:xfrm>
            <a:off x="3291840" y="2560320"/>
            <a:ext cx="1280160" cy="347472"/>
          </a:xfrm>
          <a:prstGeom prst="roundRect">
            <a:avLst>
              <a:gd name="adj" fmla="val 15789"/>
            </a:avLst>
          </a:prstGeom>
          <a:solidFill>
            <a:srgbClr val="3B82F6">
              <a:alpha val="20000"/>
            </a:srgbClr>
          </a:solidFill>
          <a:ln w="12700">
            <a:solidFill>
              <a:srgbClr val="3B82F6"/>
            </a:solidFill>
            <a:prstDash val="solid"/>
          </a:ln>
        </p:spPr>
      </p:sp>
      <p:sp>
        <p:nvSpPr>
          <p:cNvPr id="10" name="Text 8"/>
          <p:cNvSpPr/>
          <p:nvPr/>
        </p:nvSpPr>
        <p:spPr>
          <a:xfrm>
            <a:off x="3291840" y="2560320"/>
            <a:ext cx="1280160" cy="347472"/>
          </a:xfrm>
          <a:prstGeom prst="rect">
            <a:avLst/>
          </a:prstGeom>
          <a:noFill/>
          <a:ln/>
        </p:spPr>
        <p:txBody>
          <a:bodyPr wrap="square" lIns="0" tIns="0" rIns="0" bIns="0" rtlCol="0" anchor="ctr"/>
          <a:lstStyle/>
          <a:p>
            <a:pPr algn="ctr" indent="0" marL="0">
              <a:buNone/>
            </a:pPr>
            <a:r>
              <a:rPr lang="en-US" sz="1000" b="1" dirty="0">
                <a:solidFill>
                  <a:srgbClr val="3B82F6"/>
                </a:solidFill>
                <a:latin typeface="Calibri" pitchFamily="34" charset="0"/>
                <a:ea typeface="Calibri" pitchFamily="34" charset="-122"/>
                <a:cs typeface="Calibri" pitchFamily="34" charset="-120"/>
              </a:rPr>
              <a:t>Cross-Attention</a:t>
            </a:r>
            <a:endParaRPr lang="en-US" sz="1000" dirty="0"/>
          </a:p>
        </p:txBody>
      </p:sp>
      <p:sp>
        <p:nvSpPr>
          <p:cNvPr id="11" name="Shape 9"/>
          <p:cNvSpPr/>
          <p:nvPr/>
        </p:nvSpPr>
        <p:spPr>
          <a:xfrm>
            <a:off x="4709160" y="2560320"/>
            <a:ext cx="1280160" cy="347472"/>
          </a:xfrm>
          <a:prstGeom prst="roundRect">
            <a:avLst>
              <a:gd name="adj" fmla="val 15789"/>
            </a:avLst>
          </a:prstGeom>
          <a:solidFill>
            <a:srgbClr val="06B6D4">
              <a:alpha val="20000"/>
            </a:srgbClr>
          </a:solidFill>
          <a:ln w="12700">
            <a:solidFill>
              <a:srgbClr val="06B6D4"/>
            </a:solidFill>
            <a:prstDash val="solid"/>
          </a:ln>
        </p:spPr>
      </p:sp>
      <p:sp>
        <p:nvSpPr>
          <p:cNvPr id="12" name="Text 10"/>
          <p:cNvSpPr/>
          <p:nvPr/>
        </p:nvSpPr>
        <p:spPr>
          <a:xfrm>
            <a:off x="4709160" y="2560320"/>
            <a:ext cx="1280160" cy="347472"/>
          </a:xfrm>
          <a:prstGeom prst="rect">
            <a:avLst/>
          </a:prstGeom>
          <a:noFill/>
          <a:ln/>
        </p:spPr>
        <p:txBody>
          <a:bodyPr wrap="square" lIns="0" tIns="0" rIns="0" bIns="0" rtlCol="0" anchor="ctr"/>
          <a:lstStyle/>
          <a:p>
            <a:pPr algn="ctr" indent="0" marL="0">
              <a:buNone/>
            </a:pPr>
            <a:r>
              <a:rPr lang="en-US" sz="1000" b="1" dirty="0">
                <a:solidFill>
                  <a:srgbClr val="06B6D4"/>
                </a:solidFill>
                <a:latin typeface="Calibri" pitchFamily="34" charset="0"/>
                <a:ea typeface="Calibri" pitchFamily="34" charset="-122"/>
                <a:cs typeface="Calibri" pitchFamily="34" charset="-120"/>
              </a:rPr>
              <a:t>Sparse</a:t>
            </a:r>
            <a:endParaRPr lang="en-US" sz="1000" dirty="0"/>
          </a:p>
        </p:txBody>
      </p:sp>
      <p:sp>
        <p:nvSpPr>
          <p:cNvPr id="13" name="Shape 11"/>
          <p:cNvSpPr/>
          <p:nvPr/>
        </p:nvSpPr>
        <p:spPr>
          <a:xfrm>
            <a:off x="6126480" y="2560320"/>
            <a:ext cx="1280160" cy="347472"/>
          </a:xfrm>
          <a:prstGeom prst="roundRect">
            <a:avLst>
              <a:gd name="adj" fmla="val 15789"/>
            </a:avLst>
          </a:prstGeom>
          <a:solidFill>
            <a:srgbClr val="14B8A6">
              <a:alpha val="20000"/>
            </a:srgbClr>
          </a:solidFill>
          <a:ln w="12700">
            <a:solidFill>
              <a:srgbClr val="14B8A6"/>
            </a:solidFill>
            <a:prstDash val="solid"/>
          </a:ln>
        </p:spPr>
      </p:sp>
      <p:sp>
        <p:nvSpPr>
          <p:cNvPr id="14" name="Text 12"/>
          <p:cNvSpPr/>
          <p:nvPr/>
        </p:nvSpPr>
        <p:spPr>
          <a:xfrm>
            <a:off x="6126480" y="2560320"/>
            <a:ext cx="1280160" cy="347472"/>
          </a:xfrm>
          <a:prstGeom prst="rect">
            <a:avLst/>
          </a:prstGeom>
          <a:noFill/>
          <a:ln/>
        </p:spPr>
        <p:txBody>
          <a:bodyPr wrap="square" lIns="0" tIns="0" rIns="0" bIns="0" rtlCol="0" anchor="ctr"/>
          <a:lstStyle/>
          <a:p>
            <a:pPr algn="ctr" indent="0" marL="0">
              <a:buNone/>
            </a:pPr>
            <a:r>
              <a:rPr lang="en-US" sz="1000" b="1" dirty="0">
                <a:solidFill>
                  <a:srgbClr val="14B8A6"/>
                </a:solidFill>
                <a:latin typeface="Calibri" pitchFamily="34" charset="0"/>
                <a:ea typeface="Calibri" pitchFamily="34" charset="-122"/>
                <a:cs typeface="Calibri" pitchFamily="34" charset="-120"/>
              </a:rPr>
              <a:t>Linear</a:t>
            </a:r>
            <a:endParaRPr lang="en-US" sz="1000" dirty="0"/>
          </a:p>
        </p:txBody>
      </p:sp>
      <p:sp>
        <p:nvSpPr>
          <p:cNvPr id="15" name="Shape 13"/>
          <p:cNvSpPr/>
          <p:nvPr/>
        </p:nvSpPr>
        <p:spPr>
          <a:xfrm>
            <a:off x="7543800" y="2560320"/>
            <a:ext cx="1280160" cy="347472"/>
          </a:xfrm>
          <a:prstGeom prst="roundRect">
            <a:avLst>
              <a:gd name="adj" fmla="val 15789"/>
            </a:avLst>
          </a:prstGeom>
          <a:solidFill>
            <a:srgbClr val="10B981">
              <a:alpha val="20000"/>
            </a:srgbClr>
          </a:solidFill>
          <a:ln w="12700">
            <a:solidFill>
              <a:srgbClr val="10B981"/>
            </a:solidFill>
            <a:prstDash val="solid"/>
          </a:ln>
        </p:spPr>
      </p:sp>
      <p:sp>
        <p:nvSpPr>
          <p:cNvPr id="16" name="Text 14"/>
          <p:cNvSpPr/>
          <p:nvPr/>
        </p:nvSpPr>
        <p:spPr>
          <a:xfrm>
            <a:off x="7543800" y="2560320"/>
            <a:ext cx="1280160" cy="347472"/>
          </a:xfrm>
          <a:prstGeom prst="rect">
            <a:avLst/>
          </a:prstGeom>
          <a:noFill/>
          <a:ln/>
        </p:spPr>
        <p:txBody>
          <a:bodyPr wrap="square" lIns="0" tIns="0" rIns="0" bIns="0" rtlCol="0" anchor="ctr"/>
          <a:lstStyle/>
          <a:p>
            <a:pPr algn="ctr" indent="0" marL="0">
              <a:buNone/>
            </a:pPr>
            <a:r>
              <a:rPr lang="en-US" sz="1000" b="1" dirty="0">
                <a:solidFill>
                  <a:srgbClr val="10B981"/>
                </a:solidFill>
                <a:latin typeface="Calibri" pitchFamily="34" charset="0"/>
                <a:ea typeface="Calibri" pitchFamily="34" charset="-122"/>
                <a:cs typeface="Calibri" pitchFamily="34" charset="-120"/>
              </a:rPr>
              <a:t>Flash</a:t>
            </a:r>
            <a:endParaRPr lang="en-US" sz="1000" dirty="0"/>
          </a:p>
        </p:txBody>
      </p:sp>
      <p:sp>
        <p:nvSpPr>
          <p:cNvPr id="17" name="Text 15"/>
          <p:cNvSpPr/>
          <p:nvPr/>
        </p:nvSpPr>
        <p:spPr>
          <a:xfrm>
            <a:off x="914400" y="3200400"/>
            <a:ext cx="7315200" cy="365760"/>
          </a:xfrm>
          <a:prstGeom prst="rect">
            <a:avLst/>
          </a:prstGeom>
          <a:noFill/>
          <a:ln/>
        </p:spPr>
        <p:txBody>
          <a:bodyPr wrap="square" lIns="0" tIns="0" rIns="0" bIns="0"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Architecture, Variants &amp; Mathematical Foundations</a:t>
            </a:r>
            <a:endParaRPr lang="en-US" sz="1400" dirty="0"/>
          </a:p>
        </p:txBody>
      </p:sp>
      <p:pic>
        <p:nvPicPr>
          <p:cNvPr id="18" name="Image 0" descr="preencoded.png">    </p:cNvPr>
          <p:cNvPicPr>
            <a:picLocks noChangeAspect="1"/>
          </p:cNvPicPr>
          <p:nvPr/>
        </p:nvPicPr>
        <p:blipFill>
          <a:blip r:embed="rId1"/>
          <a:stretch>
            <a:fillRect/>
          </a:stretch>
        </p:blipFill>
        <p:spPr>
          <a:xfrm>
            <a:off x="2286000" y="3749040"/>
            <a:ext cx="411480" cy="411480"/>
          </a:xfrm>
          <a:prstGeom prst="rect">
            <a:avLst/>
          </a:prstGeom>
        </p:spPr>
      </p:pic>
      <p:pic>
        <p:nvPicPr>
          <p:cNvPr id="19" name="Image 1" descr="preencoded.png">    </p:cNvPr>
          <p:cNvPicPr>
            <a:picLocks noChangeAspect="1"/>
          </p:cNvPicPr>
          <p:nvPr/>
        </p:nvPicPr>
        <p:blipFill>
          <a:blip r:embed="rId2"/>
          <a:stretch>
            <a:fillRect/>
          </a:stretch>
        </p:blipFill>
        <p:spPr>
          <a:xfrm>
            <a:off x="3566160" y="3749040"/>
            <a:ext cx="411480" cy="411480"/>
          </a:xfrm>
          <a:prstGeom prst="rect">
            <a:avLst/>
          </a:prstGeom>
        </p:spPr>
      </p:pic>
      <p:pic>
        <p:nvPicPr>
          <p:cNvPr id="20" name="Image 2" descr="preencoded.png">    </p:cNvPr>
          <p:cNvPicPr>
            <a:picLocks noChangeAspect="1"/>
          </p:cNvPicPr>
          <p:nvPr/>
        </p:nvPicPr>
        <p:blipFill>
          <a:blip r:embed="rId3"/>
          <a:stretch>
            <a:fillRect/>
          </a:stretch>
        </p:blipFill>
        <p:spPr>
          <a:xfrm>
            <a:off x="4846320" y="3749040"/>
            <a:ext cx="411480" cy="411480"/>
          </a:xfrm>
          <a:prstGeom prst="rect">
            <a:avLst/>
          </a:prstGeom>
        </p:spPr>
      </p:pic>
      <p:pic>
        <p:nvPicPr>
          <p:cNvPr id="21" name="Image 3" descr="preencoded.png">    </p:cNvPr>
          <p:cNvPicPr>
            <a:picLocks noChangeAspect="1"/>
          </p:cNvPicPr>
          <p:nvPr/>
        </p:nvPicPr>
        <p:blipFill>
          <a:blip r:embed="rId4"/>
          <a:stretch>
            <a:fillRect/>
          </a:stretch>
        </p:blipFill>
        <p:spPr>
          <a:xfrm>
            <a:off x="6126480" y="3749040"/>
            <a:ext cx="411480" cy="411480"/>
          </a:xfrm>
          <a:prstGeom prst="rect">
            <a:avLst/>
          </a:prstGeom>
        </p:spPr>
      </p:pic>
      <p:sp>
        <p:nvSpPr>
          <p:cNvPr id="22" name="Text 16"/>
          <p:cNvSpPr/>
          <p:nvPr/>
        </p:nvSpPr>
        <p:spPr>
          <a:xfrm>
            <a:off x="1828800" y="4343400"/>
            <a:ext cx="5486400" cy="274320"/>
          </a:xfrm>
          <a:prstGeom prst="rect">
            <a:avLst/>
          </a:prstGeom>
          <a:noFill/>
          <a:ln/>
        </p:spPr>
        <p:txBody>
          <a:bodyPr wrap="square"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From "Attention Is All You Need" to State-of-the-Art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457200" y="228600"/>
            <a:ext cx="2286000" cy="274320"/>
          </a:xfrm>
          <a:prstGeom prst="rect">
            <a:avLst/>
          </a:prstGeom>
          <a:noFill/>
          <a:ln/>
        </p:spPr>
        <p:txBody>
          <a:bodyPr wrap="square" lIns="0" tIns="0" rIns="0" bIns="0" rtlCol="0" anchor="ctr"/>
          <a:lstStyle/>
          <a:p>
            <a:pPr indent="0" marL="0">
              <a:buNone/>
            </a:pPr>
            <a:r>
              <a:rPr lang="en-US" sz="800" b="1" spc="400" kern="0" dirty="0">
                <a:solidFill>
                  <a:srgbClr val="7C3AED"/>
                </a:solidFill>
                <a:latin typeface="Calibri" pitchFamily="34" charset="0"/>
                <a:ea typeface="Calibri" pitchFamily="34" charset="-122"/>
                <a:cs typeface="Calibri" pitchFamily="34" charset="-120"/>
              </a:rPr>
              <a:t>AGENDA</a:t>
            </a:r>
            <a:endParaRPr lang="en-US" sz="8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What We Will Cover</a:t>
            </a:r>
            <a:endParaRPr lang="en-US" sz="2800" dirty="0"/>
          </a:p>
        </p:txBody>
      </p:sp>
      <p:sp>
        <p:nvSpPr>
          <p:cNvPr id="4" name="Shape 2"/>
          <p:cNvSpPr/>
          <p:nvPr/>
        </p:nvSpPr>
        <p:spPr>
          <a:xfrm>
            <a:off x="457200" y="1188720"/>
            <a:ext cx="8229600" cy="502920"/>
          </a:xfrm>
          <a:prstGeom prst="rect">
            <a:avLst/>
          </a:prstGeom>
          <a:solidFill>
            <a:srgbClr val="161B2E"/>
          </a:solidFill>
          <a:ln/>
        </p:spPr>
      </p:sp>
      <p:sp>
        <p:nvSpPr>
          <p:cNvPr id="5" name="Shape 3"/>
          <p:cNvSpPr/>
          <p:nvPr/>
        </p:nvSpPr>
        <p:spPr>
          <a:xfrm>
            <a:off x="457200" y="1188720"/>
            <a:ext cx="45720" cy="502920"/>
          </a:xfrm>
          <a:prstGeom prst="rect">
            <a:avLst/>
          </a:prstGeom>
          <a:solidFill>
            <a:srgbClr val="7C3AED"/>
          </a:solidFill>
          <a:ln/>
        </p:spPr>
      </p:sp>
      <p:sp>
        <p:nvSpPr>
          <p:cNvPr id="6" name="Text 4"/>
          <p:cNvSpPr/>
          <p:nvPr/>
        </p:nvSpPr>
        <p:spPr>
          <a:xfrm>
            <a:off x="640080" y="1225296"/>
            <a:ext cx="457200" cy="411480"/>
          </a:xfrm>
          <a:prstGeom prst="rect">
            <a:avLst/>
          </a:prstGeom>
          <a:noFill/>
          <a:ln/>
        </p:spPr>
        <p:txBody>
          <a:bodyPr wrap="square" lIns="0" tIns="0" rIns="0" bIns="0" rtlCol="0" anchor="ctr"/>
          <a:lstStyle/>
          <a:p>
            <a:pPr indent="0" marL="0">
              <a:buNone/>
            </a:pPr>
            <a:r>
              <a:rPr lang="en-US" sz="1800" b="1" dirty="0">
                <a:solidFill>
                  <a:srgbClr val="7C3AED"/>
                </a:solidFill>
                <a:latin typeface="Trebuchet MS" pitchFamily="34" charset="0"/>
                <a:ea typeface="Trebuchet MS" pitchFamily="34" charset="-122"/>
                <a:cs typeface="Trebuchet MS" pitchFamily="34" charset="-120"/>
              </a:rPr>
              <a:t>01</a:t>
            </a:r>
            <a:endParaRPr lang="en-US" sz="1800" dirty="0"/>
          </a:p>
        </p:txBody>
      </p:sp>
      <p:pic>
        <p:nvPicPr>
          <p:cNvPr id="7" name="Image 0" descr="preencoded.png">    </p:cNvPr>
          <p:cNvPicPr>
            <a:picLocks noChangeAspect="1"/>
          </p:cNvPicPr>
          <p:nvPr/>
        </p:nvPicPr>
        <p:blipFill>
          <a:blip r:embed="rId1"/>
          <a:stretch>
            <a:fillRect/>
          </a:stretch>
        </p:blipFill>
        <p:spPr>
          <a:xfrm>
            <a:off x="1143000" y="1280160"/>
            <a:ext cx="274320" cy="274320"/>
          </a:xfrm>
          <a:prstGeom prst="rect">
            <a:avLst/>
          </a:prstGeom>
        </p:spPr>
      </p:pic>
      <p:sp>
        <p:nvSpPr>
          <p:cNvPr id="8" name="Text 5"/>
          <p:cNvSpPr/>
          <p:nvPr/>
        </p:nvSpPr>
        <p:spPr>
          <a:xfrm>
            <a:off x="1554480" y="1216152"/>
            <a:ext cx="4114800" cy="228600"/>
          </a:xfrm>
          <a:prstGeom prst="rect">
            <a:avLst/>
          </a:prstGeom>
          <a:noFill/>
          <a:ln/>
        </p:spPr>
        <p:txBody>
          <a:bodyPr wrap="square" lIns="0" tIns="0" rIns="0" bIns="0"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Foundations &amp; Original Architecture</a:t>
            </a:r>
            <a:endParaRPr lang="en-US" sz="1300" dirty="0"/>
          </a:p>
        </p:txBody>
      </p:sp>
      <p:sp>
        <p:nvSpPr>
          <p:cNvPr id="9" name="Text 6"/>
          <p:cNvSpPr/>
          <p:nvPr/>
        </p:nvSpPr>
        <p:spPr>
          <a:xfrm>
            <a:off x="1554480" y="1444752"/>
            <a:ext cx="6400800" cy="20116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Attention Is All You Need — Encoder-Decoder, Positional Encoding</a:t>
            </a:r>
            <a:endParaRPr lang="en-US" sz="950" dirty="0"/>
          </a:p>
        </p:txBody>
      </p:sp>
      <p:sp>
        <p:nvSpPr>
          <p:cNvPr id="10" name="Shape 7"/>
          <p:cNvSpPr/>
          <p:nvPr/>
        </p:nvSpPr>
        <p:spPr>
          <a:xfrm>
            <a:off x="457200" y="1783080"/>
            <a:ext cx="8229600" cy="502920"/>
          </a:xfrm>
          <a:prstGeom prst="rect">
            <a:avLst/>
          </a:prstGeom>
          <a:solidFill>
            <a:srgbClr val="161B2E"/>
          </a:solidFill>
          <a:ln/>
        </p:spPr>
      </p:sp>
      <p:sp>
        <p:nvSpPr>
          <p:cNvPr id="11" name="Shape 8"/>
          <p:cNvSpPr/>
          <p:nvPr/>
        </p:nvSpPr>
        <p:spPr>
          <a:xfrm>
            <a:off x="457200" y="1783080"/>
            <a:ext cx="45720" cy="502920"/>
          </a:xfrm>
          <a:prstGeom prst="rect">
            <a:avLst/>
          </a:prstGeom>
          <a:solidFill>
            <a:srgbClr val="6366F1"/>
          </a:solidFill>
          <a:ln/>
        </p:spPr>
      </p:sp>
      <p:sp>
        <p:nvSpPr>
          <p:cNvPr id="12" name="Text 9"/>
          <p:cNvSpPr/>
          <p:nvPr/>
        </p:nvSpPr>
        <p:spPr>
          <a:xfrm>
            <a:off x="640080" y="1819656"/>
            <a:ext cx="457200" cy="411480"/>
          </a:xfrm>
          <a:prstGeom prst="rect">
            <a:avLst/>
          </a:prstGeom>
          <a:noFill/>
          <a:ln/>
        </p:spPr>
        <p:txBody>
          <a:bodyPr wrap="square" lIns="0" tIns="0" rIns="0" bIns="0" rtlCol="0" anchor="ctr"/>
          <a:lstStyle/>
          <a:p>
            <a:pPr indent="0" marL="0">
              <a:buNone/>
            </a:pPr>
            <a:r>
              <a:rPr lang="en-US" sz="1800" b="1" dirty="0">
                <a:solidFill>
                  <a:srgbClr val="6366F1"/>
                </a:solidFill>
                <a:latin typeface="Trebuchet MS" pitchFamily="34" charset="0"/>
                <a:ea typeface="Trebuchet MS" pitchFamily="34" charset="-122"/>
                <a:cs typeface="Trebuchet MS" pitchFamily="34" charset="-120"/>
              </a:rPr>
              <a:t>02</a:t>
            </a:r>
            <a:endParaRPr lang="en-US" sz="1800" dirty="0"/>
          </a:p>
        </p:txBody>
      </p:sp>
      <p:pic>
        <p:nvPicPr>
          <p:cNvPr id="13" name="Image 1" descr="preencoded.png">    </p:cNvPr>
          <p:cNvPicPr>
            <a:picLocks noChangeAspect="1"/>
          </p:cNvPicPr>
          <p:nvPr/>
        </p:nvPicPr>
        <p:blipFill>
          <a:blip r:embed="rId2"/>
          <a:stretch>
            <a:fillRect/>
          </a:stretch>
        </p:blipFill>
        <p:spPr>
          <a:xfrm>
            <a:off x="1143000" y="1874520"/>
            <a:ext cx="274320" cy="274320"/>
          </a:xfrm>
          <a:prstGeom prst="rect">
            <a:avLst/>
          </a:prstGeom>
        </p:spPr>
      </p:pic>
      <p:sp>
        <p:nvSpPr>
          <p:cNvPr id="14" name="Text 10"/>
          <p:cNvSpPr/>
          <p:nvPr/>
        </p:nvSpPr>
        <p:spPr>
          <a:xfrm>
            <a:off x="1554480" y="1810512"/>
            <a:ext cx="4114800" cy="228600"/>
          </a:xfrm>
          <a:prstGeom prst="rect">
            <a:avLst/>
          </a:prstGeom>
          <a:noFill/>
          <a:ln/>
        </p:spPr>
        <p:txBody>
          <a:bodyPr wrap="square" lIns="0" tIns="0" rIns="0" bIns="0"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Attention Mechanisms Deep Dive</a:t>
            </a:r>
            <a:endParaRPr lang="en-US" sz="1300" dirty="0"/>
          </a:p>
        </p:txBody>
      </p:sp>
      <p:sp>
        <p:nvSpPr>
          <p:cNvPr id="15" name="Text 11"/>
          <p:cNvSpPr/>
          <p:nvPr/>
        </p:nvSpPr>
        <p:spPr>
          <a:xfrm>
            <a:off x="1554480" y="2039112"/>
            <a:ext cx="6400800" cy="20116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Self, Multi-Head, Cross, Causal, Grouped-Query, Sliding Window, Flash</a:t>
            </a:r>
            <a:endParaRPr lang="en-US" sz="950" dirty="0"/>
          </a:p>
        </p:txBody>
      </p:sp>
      <p:sp>
        <p:nvSpPr>
          <p:cNvPr id="16" name="Shape 12"/>
          <p:cNvSpPr/>
          <p:nvPr/>
        </p:nvSpPr>
        <p:spPr>
          <a:xfrm>
            <a:off x="457200" y="2377440"/>
            <a:ext cx="8229600" cy="502920"/>
          </a:xfrm>
          <a:prstGeom prst="rect">
            <a:avLst/>
          </a:prstGeom>
          <a:solidFill>
            <a:srgbClr val="161B2E"/>
          </a:solidFill>
          <a:ln/>
        </p:spPr>
      </p:sp>
      <p:sp>
        <p:nvSpPr>
          <p:cNvPr id="17" name="Shape 13"/>
          <p:cNvSpPr/>
          <p:nvPr/>
        </p:nvSpPr>
        <p:spPr>
          <a:xfrm>
            <a:off x="457200" y="2377440"/>
            <a:ext cx="45720" cy="502920"/>
          </a:xfrm>
          <a:prstGeom prst="rect">
            <a:avLst/>
          </a:prstGeom>
          <a:solidFill>
            <a:srgbClr val="3B82F6"/>
          </a:solidFill>
          <a:ln/>
        </p:spPr>
      </p:sp>
      <p:sp>
        <p:nvSpPr>
          <p:cNvPr id="18" name="Text 14"/>
          <p:cNvSpPr/>
          <p:nvPr/>
        </p:nvSpPr>
        <p:spPr>
          <a:xfrm>
            <a:off x="640080" y="2414016"/>
            <a:ext cx="457200" cy="411480"/>
          </a:xfrm>
          <a:prstGeom prst="rect">
            <a:avLst/>
          </a:prstGeom>
          <a:noFill/>
          <a:ln/>
        </p:spPr>
        <p:txBody>
          <a:bodyPr wrap="square" lIns="0" tIns="0" rIns="0" bIns="0" rtlCol="0" anchor="ctr"/>
          <a:lstStyle/>
          <a:p>
            <a:pPr indent="0" marL="0">
              <a:buNone/>
            </a:pPr>
            <a:r>
              <a:rPr lang="en-US" sz="1800" b="1" dirty="0">
                <a:solidFill>
                  <a:srgbClr val="3B82F6"/>
                </a:solidFill>
                <a:latin typeface="Trebuchet MS" pitchFamily="34" charset="0"/>
                <a:ea typeface="Trebuchet MS" pitchFamily="34" charset="-122"/>
                <a:cs typeface="Trebuchet MS" pitchFamily="34" charset="-120"/>
              </a:rPr>
              <a:t>03</a:t>
            </a:r>
            <a:endParaRPr lang="en-US" sz="1800" dirty="0"/>
          </a:p>
        </p:txBody>
      </p:sp>
      <p:pic>
        <p:nvPicPr>
          <p:cNvPr id="19" name="Image 2" descr="preencoded.png">    </p:cNvPr>
          <p:cNvPicPr>
            <a:picLocks noChangeAspect="1"/>
          </p:cNvPicPr>
          <p:nvPr/>
        </p:nvPicPr>
        <p:blipFill>
          <a:blip r:embed="rId3"/>
          <a:stretch>
            <a:fillRect/>
          </a:stretch>
        </p:blipFill>
        <p:spPr>
          <a:xfrm>
            <a:off x="1143000" y="2468880"/>
            <a:ext cx="274320" cy="274320"/>
          </a:xfrm>
          <a:prstGeom prst="rect">
            <a:avLst/>
          </a:prstGeom>
        </p:spPr>
      </p:pic>
      <p:sp>
        <p:nvSpPr>
          <p:cNvPr id="20" name="Text 15"/>
          <p:cNvSpPr/>
          <p:nvPr/>
        </p:nvSpPr>
        <p:spPr>
          <a:xfrm>
            <a:off x="1554480" y="2404872"/>
            <a:ext cx="4114800" cy="228600"/>
          </a:xfrm>
          <a:prstGeom prst="rect">
            <a:avLst/>
          </a:prstGeom>
          <a:noFill/>
          <a:ln/>
        </p:spPr>
        <p:txBody>
          <a:bodyPr wrap="square" lIns="0" tIns="0" rIns="0" bIns="0"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Encoder-Only Transformers</a:t>
            </a:r>
            <a:endParaRPr lang="en-US" sz="1300" dirty="0"/>
          </a:p>
        </p:txBody>
      </p:sp>
      <p:sp>
        <p:nvSpPr>
          <p:cNvPr id="21" name="Text 16"/>
          <p:cNvSpPr/>
          <p:nvPr/>
        </p:nvSpPr>
        <p:spPr>
          <a:xfrm>
            <a:off x="1554480" y="2633472"/>
            <a:ext cx="6400800" cy="20116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BERT, RoBERTa, DeBERTa, ELECTRA, ALBERT</a:t>
            </a:r>
            <a:endParaRPr lang="en-US" sz="950" dirty="0"/>
          </a:p>
        </p:txBody>
      </p:sp>
      <p:sp>
        <p:nvSpPr>
          <p:cNvPr id="22" name="Shape 17"/>
          <p:cNvSpPr/>
          <p:nvPr/>
        </p:nvSpPr>
        <p:spPr>
          <a:xfrm>
            <a:off x="457200" y="2971800"/>
            <a:ext cx="8229600" cy="502920"/>
          </a:xfrm>
          <a:prstGeom prst="rect">
            <a:avLst/>
          </a:prstGeom>
          <a:solidFill>
            <a:srgbClr val="161B2E"/>
          </a:solidFill>
          <a:ln/>
        </p:spPr>
      </p:sp>
      <p:sp>
        <p:nvSpPr>
          <p:cNvPr id="23" name="Shape 18"/>
          <p:cNvSpPr/>
          <p:nvPr/>
        </p:nvSpPr>
        <p:spPr>
          <a:xfrm>
            <a:off x="457200" y="2971800"/>
            <a:ext cx="45720" cy="502920"/>
          </a:xfrm>
          <a:prstGeom prst="rect">
            <a:avLst/>
          </a:prstGeom>
          <a:solidFill>
            <a:srgbClr val="06B6D4"/>
          </a:solidFill>
          <a:ln/>
        </p:spPr>
      </p:sp>
      <p:sp>
        <p:nvSpPr>
          <p:cNvPr id="24" name="Text 19"/>
          <p:cNvSpPr/>
          <p:nvPr/>
        </p:nvSpPr>
        <p:spPr>
          <a:xfrm>
            <a:off x="640080" y="3008376"/>
            <a:ext cx="457200" cy="411480"/>
          </a:xfrm>
          <a:prstGeom prst="rect">
            <a:avLst/>
          </a:prstGeom>
          <a:noFill/>
          <a:ln/>
        </p:spPr>
        <p:txBody>
          <a:bodyPr wrap="square" lIns="0" tIns="0" rIns="0" bIns="0" rtlCol="0" anchor="ctr"/>
          <a:lstStyle/>
          <a:p>
            <a:pPr indent="0" marL="0">
              <a:buNone/>
            </a:pPr>
            <a:r>
              <a:rPr lang="en-US" sz="1800" b="1" dirty="0">
                <a:solidFill>
                  <a:srgbClr val="06B6D4"/>
                </a:solidFill>
                <a:latin typeface="Trebuchet MS" pitchFamily="34" charset="0"/>
                <a:ea typeface="Trebuchet MS" pitchFamily="34" charset="-122"/>
                <a:cs typeface="Trebuchet MS" pitchFamily="34" charset="-120"/>
              </a:rPr>
              <a:t>04</a:t>
            </a:r>
            <a:endParaRPr lang="en-US" sz="1800" dirty="0"/>
          </a:p>
        </p:txBody>
      </p:sp>
      <p:pic>
        <p:nvPicPr>
          <p:cNvPr id="25" name="Image 3" descr="preencoded.png">    </p:cNvPr>
          <p:cNvPicPr>
            <a:picLocks noChangeAspect="1"/>
          </p:cNvPicPr>
          <p:nvPr/>
        </p:nvPicPr>
        <p:blipFill>
          <a:blip r:embed="rId4"/>
          <a:stretch>
            <a:fillRect/>
          </a:stretch>
        </p:blipFill>
        <p:spPr>
          <a:xfrm>
            <a:off x="1143000" y="3063240"/>
            <a:ext cx="274320" cy="274320"/>
          </a:xfrm>
          <a:prstGeom prst="rect">
            <a:avLst/>
          </a:prstGeom>
        </p:spPr>
      </p:pic>
      <p:sp>
        <p:nvSpPr>
          <p:cNvPr id="26" name="Text 20"/>
          <p:cNvSpPr/>
          <p:nvPr/>
        </p:nvSpPr>
        <p:spPr>
          <a:xfrm>
            <a:off x="1554480" y="2999232"/>
            <a:ext cx="4114800" cy="228600"/>
          </a:xfrm>
          <a:prstGeom prst="rect">
            <a:avLst/>
          </a:prstGeom>
          <a:noFill/>
          <a:ln/>
        </p:spPr>
        <p:txBody>
          <a:bodyPr wrap="square" lIns="0" tIns="0" rIns="0" bIns="0"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Decoder-Only Transformers</a:t>
            </a:r>
            <a:endParaRPr lang="en-US" sz="1300" dirty="0"/>
          </a:p>
        </p:txBody>
      </p:sp>
      <p:sp>
        <p:nvSpPr>
          <p:cNvPr id="27" name="Text 21"/>
          <p:cNvSpPr/>
          <p:nvPr/>
        </p:nvSpPr>
        <p:spPr>
          <a:xfrm>
            <a:off x="1554480" y="3227832"/>
            <a:ext cx="6400800" cy="20116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GPT family, LLaMA, Mistral, Gemma, Phi, Claude</a:t>
            </a:r>
            <a:endParaRPr lang="en-US" sz="950" dirty="0"/>
          </a:p>
        </p:txBody>
      </p:sp>
      <p:sp>
        <p:nvSpPr>
          <p:cNvPr id="28" name="Shape 22"/>
          <p:cNvSpPr/>
          <p:nvPr/>
        </p:nvSpPr>
        <p:spPr>
          <a:xfrm>
            <a:off x="457200" y="3566160"/>
            <a:ext cx="8229600" cy="502920"/>
          </a:xfrm>
          <a:prstGeom prst="rect">
            <a:avLst/>
          </a:prstGeom>
          <a:solidFill>
            <a:srgbClr val="161B2E"/>
          </a:solidFill>
          <a:ln/>
        </p:spPr>
      </p:sp>
      <p:sp>
        <p:nvSpPr>
          <p:cNvPr id="29" name="Shape 23"/>
          <p:cNvSpPr/>
          <p:nvPr/>
        </p:nvSpPr>
        <p:spPr>
          <a:xfrm>
            <a:off x="457200" y="3566160"/>
            <a:ext cx="45720" cy="502920"/>
          </a:xfrm>
          <a:prstGeom prst="rect">
            <a:avLst/>
          </a:prstGeom>
          <a:solidFill>
            <a:srgbClr val="14B8A6"/>
          </a:solidFill>
          <a:ln/>
        </p:spPr>
      </p:sp>
      <p:sp>
        <p:nvSpPr>
          <p:cNvPr id="30" name="Text 24"/>
          <p:cNvSpPr/>
          <p:nvPr/>
        </p:nvSpPr>
        <p:spPr>
          <a:xfrm>
            <a:off x="640080" y="3602736"/>
            <a:ext cx="457200" cy="411480"/>
          </a:xfrm>
          <a:prstGeom prst="rect">
            <a:avLst/>
          </a:prstGeom>
          <a:noFill/>
          <a:ln/>
        </p:spPr>
        <p:txBody>
          <a:bodyPr wrap="square" lIns="0" tIns="0" rIns="0" bIns="0" rtlCol="0" anchor="ctr"/>
          <a:lstStyle/>
          <a:p>
            <a:pPr indent="0" marL="0">
              <a:buNone/>
            </a:pPr>
            <a:r>
              <a:rPr lang="en-US" sz="1800" b="1" dirty="0">
                <a:solidFill>
                  <a:srgbClr val="14B8A6"/>
                </a:solidFill>
                <a:latin typeface="Trebuchet MS" pitchFamily="34" charset="0"/>
                <a:ea typeface="Trebuchet MS" pitchFamily="34" charset="-122"/>
                <a:cs typeface="Trebuchet MS" pitchFamily="34" charset="-120"/>
              </a:rPr>
              <a:t>05</a:t>
            </a:r>
            <a:endParaRPr lang="en-US" sz="1800" dirty="0"/>
          </a:p>
        </p:txBody>
      </p:sp>
      <p:pic>
        <p:nvPicPr>
          <p:cNvPr id="31" name="Image 4" descr="preencoded.png">    </p:cNvPr>
          <p:cNvPicPr>
            <a:picLocks noChangeAspect="1"/>
          </p:cNvPicPr>
          <p:nvPr/>
        </p:nvPicPr>
        <p:blipFill>
          <a:blip r:embed="rId5"/>
          <a:stretch>
            <a:fillRect/>
          </a:stretch>
        </p:blipFill>
        <p:spPr>
          <a:xfrm>
            <a:off x="1143000" y="3657600"/>
            <a:ext cx="274320" cy="274320"/>
          </a:xfrm>
          <a:prstGeom prst="rect">
            <a:avLst/>
          </a:prstGeom>
        </p:spPr>
      </p:pic>
      <p:sp>
        <p:nvSpPr>
          <p:cNvPr id="32" name="Text 25"/>
          <p:cNvSpPr/>
          <p:nvPr/>
        </p:nvSpPr>
        <p:spPr>
          <a:xfrm>
            <a:off x="1554480" y="3593592"/>
            <a:ext cx="4114800" cy="228600"/>
          </a:xfrm>
          <a:prstGeom prst="rect">
            <a:avLst/>
          </a:prstGeom>
          <a:noFill/>
          <a:ln/>
        </p:spPr>
        <p:txBody>
          <a:bodyPr wrap="square" lIns="0" tIns="0" rIns="0" bIns="0"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Encoder-Decoder &amp; Advanced Variants</a:t>
            </a:r>
            <a:endParaRPr lang="en-US" sz="1300" dirty="0"/>
          </a:p>
        </p:txBody>
      </p:sp>
      <p:sp>
        <p:nvSpPr>
          <p:cNvPr id="33" name="Text 26"/>
          <p:cNvSpPr/>
          <p:nvPr/>
        </p:nvSpPr>
        <p:spPr>
          <a:xfrm>
            <a:off x="1554480" y="3822192"/>
            <a:ext cx="6400800" cy="20116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T5, BART, Mixture-of-Experts, State-Space, Vision Transformers</a:t>
            </a:r>
            <a:endParaRPr lang="en-US" sz="950" dirty="0"/>
          </a:p>
        </p:txBody>
      </p:sp>
      <p:sp>
        <p:nvSpPr>
          <p:cNvPr id="34" name="Shape 27"/>
          <p:cNvSpPr/>
          <p:nvPr/>
        </p:nvSpPr>
        <p:spPr>
          <a:xfrm>
            <a:off x="457200" y="4160520"/>
            <a:ext cx="8229600" cy="502920"/>
          </a:xfrm>
          <a:prstGeom prst="rect">
            <a:avLst/>
          </a:prstGeom>
          <a:solidFill>
            <a:srgbClr val="161B2E"/>
          </a:solidFill>
          <a:ln/>
        </p:spPr>
      </p:sp>
      <p:sp>
        <p:nvSpPr>
          <p:cNvPr id="35" name="Shape 28"/>
          <p:cNvSpPr/>
          <p:nvPr/>
        </p:nvSpPr>
        <p:spPr>
          <a:xfrm>
            <a:off x="457200" y="4160520"/>
            <a:ext cx="45720" cy="502920"/>
          </a:xfrm>
          <a:prstGeom prst="rect">
            <a:avLst/>
          </a:prstGeom>
          <a:solidFill>
            <a:srgbClr val="10B981"/>
          </a:solidFill>
          <a:ln/>
        </p:spPr>
      </p:sp>
      <p:sp>
        <p:nvSpPr>
          <p:cNvPr id="36" name="Text 29"/>
          <p:cNvSpPr/>
          <p:nvPr/>
        </p:nvSpPr>
        <p:spPr>
          <a:xfrm>
            <a:off x="640080" y="4197096"/>
            <a:ext cx="457200" cy="411480"/>
          </a:xfrm>
          <a:prstGeom prst="rect">
            <a:avLst/>
          </a:prstGeom>
          <a:noFill/>
          <a:ln/>
        </p:spPr>
        <p:txBody>
          <a:bodyPr wrap="square" lIns="0" tIns="0" rIns="0" bIns="0" rtlCol="0" anchor="ctr"/>
          <a:lstStyle/>
          <a:p>
            <a:pPr indent="0" marL="0">
              <a:buNone/>
            </a:pPr>
            <a:r>
              <a:rPr lang="en-US" sz="1800" b="1" dirty="0">
                <a:solidFill>
                  <a:srgbClr val="10B981"/>
                </a:solidFill>
                <a:latin typeface="Trebuchet MS" pitchFamily="34" charset="0"/>
                <a:ea typeface="Trebuchet MS" pitchFamily="34" charset="-122"/>
                <a:cs typeface="Trebuchet MS" pitchFamily="34" charset="-120"/>
              </a:rPr>
              <a:t>06</a:t>
            </a:r>
            <a:endParaRPr lang="en-US" sz="1800" dirty="0"/>
          </a:p>
        </p:txBody>
      </p:sp>
      <p:pic>
        <p:nvPicPr>
          <p:cNvPr id="37" name="Image 5" descr="preencoded.png">    </p:cNvPr>
          <p:cNvPicPr>
            <a:picLocks noChangeAspect="1"/>
          </p:cNvPicPr>
          <p:nvPr/>
        </p:nvPicPr>
        <p:blipFill>
          <a:blip r:embed="rId6"/>
          <a:stretch>
            <a:fillRect/>
          </a:stretch>
        </p:blipFill>
        <p:spPr>
          <a:xfrm>
            <a:off x="1143000" y="4251960"/>
            <a:ext cx="274320" cy="274320"/>
          </a:xfrm>
          <a:prstGeom prst="rect">
            <a:avLst/>
          </a:prstGeom>
        </p:spPr>
      </p:pic>
      <p:sp>
        <p:nvSpPr>
          <p:cNvPr id="38" name="Text 30"/>
          <p:cNvSpPr/>
          <p:nvPr/>
        </p:nvSpPr>
        <p:spPr>
          <a:xfrm>
            <a:off x="1554480" y="4187952"/>
            <a:ext cx="4114800" cy="228600"/>
          </a:xfrm>
          <a:prstGeom prst="rect">
            <a:avLst/>
          </a:prstGeom>
          <a:noFill/>
          <a:ln/>
        </p:spPr>
        <p:txBody>
          <a:bodyPr wrap="square" lIns="0" tIns="0" rIns="0" bIns="0"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Efficiency &amp; Future Frontiers</a:t>
            </a:r>
            <a:endParaRPr lang="en-US" sz="1300" dirty="0"/>
          </a:p>
        </p:txBody>
      </p:sp>
      <p:sp>
        <p:nvSpPr>
          <p:cNvPr id="39" name="Text 31"/>
          <p:cNvSpPr/>
          <p:nvPr/>
        </p:nvSpPr>
        <p:spPr>
          <a:xfrm>
            <a:off x="1554480" y="4416552"/>
            <a:ext cx="6400800" cy="20116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KV-Cache, Speculative Decoding, Ring Attention, Mamba</a:t>
            </a:r>
            <a:endParaRPr lang="en-US" sz="950" dirty="0"/>
          </a:p>
        </p:txBody>
      </p:sp>
      <p:sp>
        <p:nvSpPr>
          <p:cNvPr id="40" name="Text 32"/>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2 / 30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7C3AED">
              <a:alpha val="8000"/>
            </a:srgbClr>
          </a:solidFill>
          <a:ln/>
        </p:spPr>
      </p:sp>
      <p:sp>
        <p:nvSpPr>
          <p:cNvPr id="3" name="Shape 1"/>
          <p:cNvSpPr/>
          <p:nvPr/>
        </p:nvSpPr>
        <p:spPr>
          <a:xfrm>
            <a:off x="0" y="2103120"/>
            <a:ext cx="9144000" cy="3658"/>
          </a:xfrm>
          <a:prstGeom prst="rect">
            <a:avLst/>
          </a:prstGeom>
          <a:solidFill>
            <a:srgbClr val="7C3AED">
              <a:alpha val="50000"/>
            </a:srgbClr>
          </a:solidFill>
          <a:ln/>
        </p:spPr>
      </p:sp>
      <p:sp>
        <p:nvSpPr>
          <p:cNvPr id="4" name="Text 2"/>
          <p:cNvSpPr/>
          <p:nvPr/>
        </p:nvSpPr>
        <p:spPr>
          <a:xfrm>
            <a:off x="457200" y="1371600"/>
            <a:ext cx="8229600" cy="320040"/>
          </a:xfrm>
          <a:prstGeom prst="rect">
            <a:avLst/>
          </a:prstGeom>
          <a:noFill/>
          <a:ln/>
        </p:spPr>
        <p:txBody>
          <a:bodyPr wrap="square" lIns="0" tIns="0" rIns="0" bIns="0" rtlCol="0" anchor="ctr"/>
          <a:lstStyle/>
          <a:p>
            <a:pPr algn="ctr" indent="0" marL="0">
              <a:buNone/>
            </a:pPr>
            <a:r>
              <a:rPr lang="en-US" sz="1200" spc="600" kern="0" dirty="0">
                <a:solidFill>
                  <a:srgbClr val="7C3AED"/>
                </a:solidFill>
                <a:latin typeface="Calibri" pitchFamily="34" charset="0"/>
                <a:ea typeface="Calibri" pitchFamily="34" charset="-122"/>
                <a:cs typeface="Calibri" pitchFamily="34" charset="-120"/>
              </a:rPr>
              <a:t>SECTION 01</a:t>
            </a:r>
            <a:endParaRPr lang="en-US" sz="1200" dirty="0"/>
          </a:p>
        </p:txBody>
      </p:sp>
      <p:sp>
        <p:nvSpPr>
          <p:cNvPr id="5" name="Text 3"/>
          <p:cNvSpPr/>
          <p:nvPr/>
        </p:nvSpPr>
        <p:spPr>
          <a:xfrm>
            <a:off x="457200" y="1828800"/>
            <a:ext cx="8229600" cy="822960"/>
          </a:xfrm>
          <a:prstGeom prst="rect">
            <a:avLst/>
          </a:prstGeom>
          <a:noFill/>
          <a:ln/>
        </p:spPr>
        <p:txBody>
          <a:bodyPr wrap="square" lIns="0" tIns="0" rIns="0" bIns="0" rtlCol="0" anchor="ctr"/>
          <a:lstStyle/>
          <a:p>
            <a:pPr algn="ctr" indent="0" marL="0">
              <a:buNone/>
            </a:pPr>
            <a:r>
              <a:rPr lang="en-US" sz="3600" b="1" dirty="0">
                <a:solidFill>
                  <a:srgbClr val="FFFFFF"/>
                </a:solidFill>
                <a:latin typeface="Trebuchet MS" pitchFamily="34" charset="0"/>
                <a:ea typeface="Trebuchet MS" pitchFamily="34" charset="-122"/>
                <a:cs typeface="Trebuchet MS" pitchFamily="34" charset="-120"/>
              </a:rPr>
              <a:t>Transformer Foundations</a:t>
            </a:r>
            <a:endParaRPr lang="en-US" sz="3600" dirty="0"/>
          </a:p>
        </p:txBody>
      </p:sp>
      <p:sp>
        <p:nvSpPr>
          <p:cNvPr id="6" name="Text 4"/>
          <p:cNvSpPr/>
          <p:nvPr/>
        </p:nvSpPr>
        <p:spPr>
          <a:xfrm>
            <a:off x="457200" y="2606040"/>
            <a:ext cx="8229600" cy="457200"/>
          </a:xfrm>
          <a:prstGeom prst="rect">
            <a:avLst/>
          </a:prstGeom>
          <a:noFill/>
          <a:ln/>
        </p:spPr>
        <p:txBody>
          <a:bodyPr wrap="square" lIns="0" tIns="0" rIns="0" bIns="0" rtlCol="0" anchor="ctr"/>
          <a:lstStyle/>
          <a:p>
            <a:pPr algn="ctr" indent="0" marL="0">
              <a:buNone/>
            </a:pPr>
            <a:r>
              <a:rPr lang="en-US" sz="1400" dirty="0">
                <a:solidFill>
                  <a:srgbClr val="7C3AED"/>
                </a:solidFill>
                <a:latin typeface="Calibri" pitchFamily="34" charset="0"/>
                <a:ea typeface="Calibri" pitchFamily="34" charset="-122"/>
                <a:cs typeface="Calibri" pitchFamily="34" charset="-120"/>
              </a:rPr>
              <a:t>The Architecture That Changed AI</a:t>
            </a:r>
            <a:endParaRPr lang="en-US" sz="1400" dirty="0"/>
          </a:p>
        </p:txBody>
      </p:sp>
      <p:pic>
        <p:nvPicPr>
          <p:cNvPr id="7" name="Image 0" descr="preencoded.png">    </p:cNvPr>
          <p:cNvPicPr>
            <a:picLocks noChangeAspect="1"/>
          </p:cNvPicPr>
          <p:nvPr/>
        </p:nvPicPr>
        <p:blipFill>
          <a:blip r:embed="rId1"/>
          <a:stretch>
            <a:fillRect/>
          </a:stretch>
        </p:blipFill>
        <p:spPr>
          <a:xfrm>
            <a:off x="4160520" y="3200400"/>
            <a:ext cx="777240" cy="777240"/>
          </a:xfrm>
          <a:prstGeom prst="rect">
            <a:avLst/>
          </a:prstGeom>
        </p:spPr>
      </p:pic>
      <p:sp>
        <p:nvSpPr>
          <p:cNvPr id="8" name="Text 5"/>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3 / 30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457200" y="228600"/>
            <a:ext cx="2286000" cy="274320"/>
          </a:xfrm>
          <a:prstGeom prst="rect">
            <a:avLst/>
          </a:prstGeom>
          <a:noFill/>
          <a:ln/>
        </p:spPr>
        <p:txBody>
          <a:bodyPr wrap="square" lIns="0" tIns="0" rIns="0" bIns="0" rtlCol="0" anchor="ctr"/>
          <a:lstStyle/>
          <a:p>
            <a:pPr indent="0" marL="0">
              <a:buNone/>
            </a:pPr>
            <a:r>
              <a:rPr lang="en-US" sz="800" b="1" spc="400" kern="0" dirty="0">
                <a:solidFill>
                  <a:srgbClr val="7C3AED"/>
                </a:solidFill>
                <a:latin typeface="Calibri" pitchFamily="34" charset="0"/>
                <a:ea typeface="Calibri" pitchFamily="34" charset="-122"/>
                <a:cs typeface="Calibri" pitchFamily="34" charset="-120"/>
              </a:rPr>
              <a:t>FOUNDATIONS</a:t>
            </a:r>
            <a:endParaRPr lang="en-US" sz="8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Why Transformers Replaced RNNs</a:t>
            </a:r>
            <a:endParaRPr lang="en-US" sz="2600" dirty="0"/>
          </a:p>
        </p:txBody>
      </p:sp>
      <p:sp>
        <p:nvSpPr>
          <p:cNvPr id="4" name="Text 2"/>
          <p:cNvSpPr/>
          <p:nvPr/>
        </p:nvSpPr>
        <p:spPr>
          <a:xfrm>
            <a:off x="457200" y="1097280"/>
            <a:ext cx="8229600" cy="54864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The 2017 paper "Attention Is All You Need" (Vaswani et al.) eliminated recurrence entirely, enabling massive parallelization and capturing long-range dependencies that RNNs and LSTMs fundamentally struggled with.</a:t>
            </a:r>
            <a:endParaRPr lang="en-US" sz="1200" dirty="0"/>
          </a:p>
        </p:txBody>
      </p:sp>
      <p:sp>
        <p:nvSpPr>
          <p:cNvPr id="5" name="Shape 3"/>
          <p:cNvSpPr/>
          <p:nvPr/>
        </p:nvSpPr>
        <p:spPr>
          <a:xfrm>
            <a:off x="457200" y="1874520"/>
            <a:ext cx="4023360" cy="256032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6" name="Shape 4"/>
          <p:cNvSpPr/>
          <p:nvPr/>
        </p:nvSpPr>
        <p:spPr>
          <a:xfrm>
            <a:off x="457200" y="1874520"/>
            <a:ext cx="4023360" cy="36576"/>
          </a:xfrm>
          <a:prstGeom prst="rect">
            <a:avLst/>
          </a:prstGeom>
          <a:solidFill>
            <a:srgbClr val="F43F5E"/>
          </a:solidFill>
          <a:ln/>
        </p:spPr>
      </p:sp>
      <p:sp>
        <p:nvSpPr>
          <p:cNvPr id="7" name="Text 5"/>
          <p:cNvSpPr/>
          <p:nvPr/>
        </p:nvSpPr>
        <p:spPr>
          <a:xfrm>
            <a:off x="640080" y="2011680"/>
            <a:ext cx="3657600" cy="320040"/>
          </a:xfrm>
          <a:prstGeom prst="rect">
            <a:avLst/>
          </a:prstGeom>
          <a:noFill/>
          <a:ln/>
        </p:spPr>
        <p:txBody>
          <a:bodyPr wrap="square" lIns="0" tIns="0" rIns="0" bIns="0" rtlCol="0" anchor="ctr"/>
          <a:lstStyle/>
          <a:p>
            <a:pPr algn="ctr" indent="0" marL="0">
              <a:buNone/>
            </a:pPr>
            <a:r>
              <a:rPr lang="en-US" sz="1600" b="1" dirty="0">
                <a:solidFill>
                  <a:srgbClr val="F43F5E"/>
                </a:solidFill>
                <a:latin typeface="Trebuchet MS" pitchFamily="34" charset="0"/>
                <a:ea typeface="Trebuchet MS" pitchFamily="34" charset="-122"/>
                <a:cs typeface="Trebuchet MS" pitchFamily="34" charset="-120"/>
              </a:rPr>
              <a:t>RNN / LSTM</a:t>
            </a:r>
            <a:endParaRPr lang="en-US" sz="1600" dirty="0"/>
          </a:p>
        </p:txBody>
      </p:sp>
      <p:sp>
        <p:nvSpPr>
          <p:cNvPr id="8" name="Text 6"/>
          <p:cNvSpPr/>
          <p:nvPr/>
        </p:nvSpPr>
        <p:spPr>
          <a:xfrm>
            <a:off x="731520" y="2423160"/>
            <a:ext cx="3474720" cy="1737360"/>
          </a:xfrm>
          <a:prstGeom prst="rect">
            <a:avLst/>
          </a:prstGeom>
          <a:noFill/>
          <a:ln/>
        </p:spPr>
        <p:txBody>
          <a:bodyPr wrap="square" lIns="0" tIns="0" rIns="0" bIns="0" rtlCol="0" anchor="t"/>
          <a:lstStyle/>
          <a:p>
            <a:pPr indent="0" marL="0">
              <a:buNone/>
            </a:pPr>
            <a:r>
              <a:rPr lang="en-US" sz="1100" dirty="0">
                <a:solidFill>
                  <a:srgbClr val="E2E8F0"/>
                </a:solidFill>
                <a:latin typeface="Calibri" pitchFamily="34" charset="0"/>
                <a:ea typeface="Calibri" pitchFamily="34" charset="-122"/>
                <a:cs typeface="Calibri" pitchFamily="34" charset="-120"/>
              </a:rPr>
              <a:t>Sequential processing</a:t>
            </a:r>
            <a:endParaRPr lang="en-US" sz="1100" dirty="0"/>
          </a:p>
          <a:p>
            <a:pPr indent="0" marL="0">
              <a:buNone/>
            </a:pPr>
            <a:r>
              <a:rPr lang="en-US" sz="1100" dirty="0">
                <a:solidFill>
                  <a:srgbClr val="E2E8F0"/>
                </a:solidFill>
                <a:latin typeface="Calibri" pitchFamily="34" charset="0"/>
                <a:ea typeface="Calibri" pitchFamily="34" charset="-122"/>
                <a:cs typeface="Calibri" pitchFamily="34" charset="-120"/>
              </a:rPr>
              <a:t>O(n) steps for length n</a:t>
            </a:r>
            <a:endParaRPr lang="en-US" sz="1100" dirty="0"/>
          </a:p>
          <a:p>
            <a:pPr indent="0" marL="0">
              <a:buNone/>
            </a:pPr>
            <a:r>
              <a:rPr lang="en-US" sz="1100" dirty="0">
                <a:solidFill>
                  <a:srgbClr val="E2E8F0"/>
                </a:solidFill>
                <a:latin typeface="Calibri" pitchFamily="34" charset="0"/>
                <a:ea typeface="Calibri" pitchFamily="34" charset="-122"/>
                <a:cs typeface="Calibri" pitchFamily="34" charset="-120"/>
              </a:rPr>
              <a:t>Vanishing gradients</a:t>
            </a:r>
            <a:endParaRPr lang="en-US" sz="1100" dirty="0"/>
          </a:p>
          <a:p>
            <a:pPr indent="0" marL="0">
              <a:buNone/>
            </a:pPr>
            <a:r>
              <a:rPr lang="en-US" sz="1100" dirty="0">
                <a:solidFill>
                  <a:srgbClr val="E2E8F0"/>
                </a:solidFill>
                <a:latin typeface="Calibri" pitchFamily="34" charset="0"/>
                <a:ea typeface="Calibri" pitchFamily="34" charset="-122"/>
                <a:cs typeface="Calibri" pitchFamily="34" charset="-120"/>
              </a:rPr>
              <a:t>Limited context window</a:t>
            </a:r>
            <a:endParaRPr lang="en-US" sz="1100" dirty="0"/>
          </a:p>
          <a:p>
            <a:pPr indent="0" marL="0">
              <a:buNone/>
            </a:pPr>
            <a:r>
              <a:rPr lang="en-US" sz="1100" dirty="0">
                <a:solidFill>
                  <a:srgbClr val="E2E8F0"/>
                </a:solidFill>
                <a:latin typeface="Calibri" pitchFamily="34" charset="0"/>
                <a:ea typeface="Calibri" pitchFamily="34" charset="-122"/>
                <a:cs typeface="Calibri" pitchFamily="34" charset="-120"/>
              </a:rPr>
              <a:t>Slow training</a:t>
            </a:r>
            <a:endParaRPr lang="en-US" sz="1100" dirty="0"/>
          </a:p>
        </p:txBody>
      </p:sp>
      <p:sp>
        <p:nvSpPr>
          <p:cNvPr id="9" name="Shape 7"/>
          <p:cNvSpPr/>
          <p:nvPr/>
        </p:nvSpPr>
        <p:spPr>
          <a:xfrm>
            <a:off x="4754880" y="1874520"/>
            <a:ext cx="4023360" cy="256032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10" name="Shape 8"/>
          <p:cNvSpPr/>
          <p:nvPr/>
        </p:nvSpPr>
        <p:spPr>
          <a:xfrm>
            <a:off x="4754880" y="1874520"/>
            <a:ext cx="4023360" cy="36576"/>
          </a:xfrm>
          <a:prstGeom prst="rect">
            <a:avLst/>
          </a:prstGeom>
          <a:solidFill>
            <a:srgbClr val="10B981"/>
          </a:solidFill>
          <a:ln/>
        </p:spPr>
      </p:sp>
      <p:sp>
        <p:nvSpPr>
          <p:cNvPr id="11" name="Text 9"/>
          <p:cNvSpPr/>
          <p:nvPr/>
        </p:nvSpPr>
        <p:spPr>
          <a:xfrm>
            <a:off x="4937760" y="2011680"/>
            <a:ext cx="3657600" cy="320040"/>
          </a:xfrm>
          <a:prstGeom prst="rect">
            <a:avLst/>
          </a:prstGeom>
          <a:noFill/>
          <a:ln/>
        </p:spPr>
        <p:txBody>
          <a:bodyPr wrap="square" lIns="0" tIns="0" rIns="0" bIns="0" rtlCol="0" anchor="ctr"/>
          <a:lstStyle/>
          <a:p>
            <a:pPr algn="ctr" indent="0" marL="0">
              <a:buNone/>
            </a:pPr>
            <a:r>
              <a:rPr lang="en-US" sz="1600" b="1" dirty="0">
                <a:solidFill>
                  <a:srgbClr val="10B981"/>
                </a:solidFill>
                <a:latin typeface="Trebuchet MS" pitchFamily="34" charset="0"/>
                <a:ea typeface="Trebuchet MS" pitchFamily="34" charset="-122"/>
                <a:cs typeface="Trebuchet MS" pitchFamily="34" charset="-120"/>
              </a:rPr>
              <a:t>Transformer</a:t>
            </a:r>
            <a:endParaRPr lang="en-US" sz="1600" dirty="0"/>
          </a:p>
        </p:txBody>
      </p:sp>
      <p:sp>
        <p:nvSpPr>
          <p:cNvPr id="12" name="Text 10"/>
          <p:cNvSpPr/>
          <p:nvPr/>
        </p:nvSpPr>
        <p:spPr>
          <a:xfrm>
            <a:off x="5029200" y="2423160"/>
            <a:ext cx="3474720" cy="1737360"/>
          </a:xfrm>
          <a:prstGeom prst="rect">
            <a:avLst/>
          </a:prstGeom>
          <a:noFill/>
          <a:ln/>
        </p:spPr>
        <p:txBody>
          <a:bodyPr wrap="square" lIns="0" tIns="0" rIns="0" bIns="0" rtlCol="0" anchor="t"/>
          <a:lstStyle/>
          <a:p>
            <a:pPr indent="0" marL="0">
              <a:buNone/>
            </a:pPr>
            <a:r>
              <a:rPr lang="en-US" sz="1100" dirty="0">
                <a:solidFill>
                  <a:srgbClr val="E2E8F0"/>
                </a:solidFill>
                <a:latin typeface="Calibri" pitchFamily="34" charset="0"/>
                <a:ea typeface="Calibri" pitchFamily="34" charset="-122"/>
                <a:cs typeface="Calibri" pitchFamily="34" charset="-120"/>
              </a:rPr>
              <a:t>Parallel processing</a:t>
            </a:r>
            <a:endParaRPr lang="en-US" sz="1100" dirty="0"/>
          </a:p>
          <a:p>
            <a:pPr indent="0" marL="0">
              <a:buNone/>
            </a:pPr>
            <a:r>
              <a:rPr lang="en-US" sz="1100" dirty="0">
                <a:solidFill>
                  <a:srgbClr val="E2E8F0"/>
                </a:solidFill>
                <a:latin typeface="Calibri" pitchFamily="34" charset="0"/>
                <a:ea typeface="Calibri" pitchFamily="34" charset="-122"/>
                <a:cs typeface="Calibri" pitchFamily="34" charset="-120"/>
              </a:rPr>
              <a:t>O(1) depth for any pair</a:t>
            </a:r>
            <a:endParaRPr lang="en-US" sz="1100" dirty="0"/>
          </a:p>
          <a:p>
            <a:pPr indent="0" marL="0">
              <a:buNone/>
            </a:pPr>
            <a:r>
              <a:rPr lang="en-US" sz="1100" dirty="0">
                <a:solidFill>
                  <a:srgbClr val="E2E8F0"/>
                </a:solidFill>
                <a:latin typeface="Calibri" pitchFamily="34" charset="0"/>
                <a:ea typeface="Calibri" pitchFamily="34" charset="-122"/>
                <a:cs typeface="Calibri" pitchFamily="34" charset="-120"/>
              </a:rPr>
              <a:t>Direct connections</a:t>
            </a:r>
            <a:endParaRPr lang="en-US" sz="1100" dirty="0"/>
          </a:p>
          <a:p>
            <a:pPr indent="0" marL="0">
              <a:buNone/>
            </a:pPr>
            <a:r>
              <a:rPr lang="en-US" sz="1100" dirty="0">
                <a:solidFill>
                  <a:srgbClr val="E2E8F0"/>
                </a:solidFill>
                <a:latin typeface="Calibri" pitchFamily="34" charset="0"/>
                <a:ea typeface="Calibri" pitchFamily="34" charset="-122"/>
                <a:cs typeface="Calibri" pitchFamily="34" charset="-120"/>
              </a:rPr>
              <a:t>Full sequence context</a:t>
            </a:r>
            <a:endParaRPr lang="en-US" sz="1100" dirty="0"/>
          </a:p>
          <a:p>
            <a:pPr indent="0" marL="0">
              <a:buNone/>
            </a:pPr>
            <a:r>
              <a:rPr lang="en-US" sz="1100" dirty="0">
                <a:solidFill>
                  <a:srgbClr val="E2E8F0"/>
                </a:solidFill>
                <a:latin typeface="Calibri" pitchFamily="34" charset="0"/>
                <a:ea typeface="Calibri" pitchFamily="34" charset="-122"/>
                <a:cs typeface="Calibri" pitchFamily="34" charset="-120"/>
              </a:rPr>
              <a:t>1000x faster training</a:t>
            </a:r>
            <a:endParaRPr lang="en-US" sz="1100" dirty="0"/>
          </a:p>
        </p:txBody>
      </p:sp>
      <p:sp>
        <p:nvSpPr>
          <p:cNvPr id="13" name="Text 11"/>
          <p:cNvSpPr/>
          <p:nvPr/>
        </p:nvSpPr>
        <p:spPr>
          <a:xfrm>
            <a:off x="4206240" y="2743200"/>
            <a:ext cx="731520" cy="548640"/>
          </a:xfrm>
          <a:prstGeom prst="rect">
            <a:avLst/>
          </a:prstGeom>
          <a:noFill/>
          <a:ln/>
        </p:spPr>
        <p:txBody>
          <a:bodyPr wrap="square" lIns="0" tIns="0" rIns="0" bIns="0" rtlCol="0" anchor="ctr"/>
          <a:lstStyle/>
          <a:p>
            <a:pPr algn="ctr" indent="0" marL="0">
              <a:buNone/>
            </a:pPr>
            <a:r>
              <a:rPr lang="en-US" sz="3000" dirty="0">
                <a:solidFill>
                  <a:srgbClr val="7C3AED"/>
                </a:solidFill>
              </a:rPr>
              <a:t>→</a:t>
            </a:r>
            <a:endParaRPr lang="en-US" sz="3000" dirty="0"/>
          </a:p>
        </p:txBody>
      </p:sp>
      <p:sp>
        <p:nvSpPr>
          <p:cNvPr id="14" name="Text 12"/>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4 / 30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457200" y="228600"/>
            <a:ext cx="2286000" cy="274320"/>
          </a:xfrm>
          <a:prstGeom prst="rect">
            <a:avLst/>
          </a:prstGeom>
          <a:noFill/>
          <a:ln/>
        </p:spPr>
        <p:txBody>
          <a:bodyPr wrap="square" lIns="0" tIns="0" rIns="0" bIns="0" rtlCol="0" anchor="ctr"/>
          <a:lstStyle/>
          <a:p>
            <a:pPr indent="0" marL="0">
              <a:buNone/>
            </a:pPr>
            <a:r>
              <a:rPr lang="en-US" sz="800" b="1" spc="400" kern="0" dirty="0">
                <a:solidFill>
                  <a:srgbClr val="7C3AED"/>
                </a:solidFill>
                <a:latin typeface="Calibri" pitchFamily="34" charset="0"/>
                <a:ea typeface="Calibri" pitchFamily="34" charset="-122"/>
                <a:cs typeface="Calibri" pitchFamily="34" charset="-120"/>
              </a:rPr>
              <a:t>FOUNDATIONS</a:t>
            </a:r>
            <a:endParaRPr lang="en-US" sz="8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Original Transformer Architecture</a:t>
            </a:r>
            <a:endParaRPr lang="en-US" sz="2600" dirty="0"/>
          </a:p>
        </p:txBody>
      </p:sp>
      <p:sp>
        <p:nvSpPr>
          <p:cNvPr id="4" name="Shape 2"/>
          <p:cNvSpPr/>
          <p:nvPr/>
        </p:nvSpPr>
        <p:spPr>
          <a:xfrm>
            <a:off x="457200" y="1234440"/>
            <a:ext cx="3840480" cy="3291840"/>
          </a:xfrm>
          <a:prstGeom prst="rect">
            <a:avLst/>
          </a:prstGeom>
          <a:solidFill>
            <a:srgbClr val="7C3AED">
              <a:alpha val="12000"/>
            </a:srgbClr>
          </a:solidFill>
          <a:ln w="12700">
            <a:solidFill>
              <a:srgbClr val="7C3AED"/>
            </a:solidFill>
            <a:prstDash val="solid"/>
          </a:ln>
        </p:spPr>
      </p:sp>
      <p:sp>
        <p:nvSpPr>
          <p:cNvPr id="5" name="Text 3"/>
          <p:cNvSpPr/>
          <p:nvPr/>
        </p:nvSpPr>
        <p:spPr>
          <a:xfrm>
            <a:off x="457200" y="1280160"/>
            <a:ext cx="3840480" cy="274320"/>
          </a:xfrm>
          <a:prstGeom prst="rect">
            <a:avLst/>
          </a:prstGeom>
          <a:noFill/>
          <a:ln/>
        </p:spPr>
        <p:txBody>
          <a:bodyPr wrap="square" lIns="0" tIns="0" rIns="0" bIns="0" rtlCol="0" anchor="ctr"/>
          <a:lstStyle/>
          <a:p>
            <a:pPr algn="ctr" indent="0" marL="0">
              <a:buNone/>
            </a:pPr>
            <a:r>
              <a:rPr lang="en-US" sz="1000" b="1" spc="300" kern="0" dirty="0">
                <a:solidFill>
                  <a:srgbClr val="7C3AED"/>
                </a:solidFill>
                <a:latin typeface="Calibri" pitchFamily="34" charset="0"/>
                <a:ea typeface="Calibri" pitchFamily="34" charset="-122"/>
                <a:cs typeface="Calibri" pitchFamily="34" charset="-120"/>
              </a:rPr>
              <a:t>ENCODER (N×)</a:t>
            </a:r>
            <a:endParaRPr lang="en-US" sz="1000" dirty="0"/>
          </a:p>
        </p:txBody>
      </p:sp>
      <p:sp>
        <p:nvSpPr>
          <p:cNvPr id="6" name="Shape 4"/>
          <p:cNvSpPr/>
          <p:nvPr/>
        </p:nvSpPr>
        <p:spPr>
          <a:xfrm>
            <a:off x="731520" y="1645920"/>
            <a:ext cx="3291840" cy="347472"/>
          </a:xfrm>
          <a:prstGeom prst="rect">
            <a:avLst/>
          </a:prstGeom>
          <a:solidFill>
            <a:srgbClr val="161B2E"/>
          </a:solidFill>
          <a:ln/>
        </p:spPr>
      </p:sp>
      <p:sp>
        <p:nvSpPr>
          <p:cNvPr id="7" name="Text 5"/>
          <p:cNvSpPr/>
          <p:nvPr/>
        </p:nvSpPr>
        <p:spPr>
          <a:xfrm>
            <a:off x="731520" y="1645920"/>
            <a:ext cx="3291840" cy="34747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Input Embedding</a:t>
            </a:r>
            <a:endParaRPr lang="en-US" sz="1000" dirty="0"/>
          </a:p>
        </p:txBody>
      </p:sp>
      <p:sp>
        <p:nvSpPr>
          <p:cNvPr id="8" name="Shape 6"/>
          <p:cNvSpPr/>
          <p:nvPr/>
        </p:nvSpPr>
        <p:spPr>
          <a:xfrm>
            <a:off x="731520" y="2103120"/>
            <a:ext cx="3291840" cy="347472"/>
          </a:xfrm>
          <a:prstGeom prst="rect">
            <a:avLst/>
          </a:prstGeom>
          <a:solidFill>
            <a:srgbClr val="161B2E"/>
          </a:solidFill>
          <a:ln/>
        </p:spPr>
      </p:sp>
      <p:sp>
        <p:nvSpPr>
          <p:cNvPr id="9" name="Text 7"/>
          <p:cNvSpPr/>
          <p:nvPr/>
        </p:nvSpPr>
        <p:spPr>
          <a:xfrm>
            <a:off x="731520" y="2103120"/>
            <a:ext cx="3291840" cy="34747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Positional Encoding</a:t>
            </a:r>
            <a:endParaRPr lang="en-US" sz="1000" dirty="0"/>
          </a:p>
        </p:txBody>
      </p:sp>
      <p:sp>
        <p:nvSpPr>
          <p:cNvPr id="10" name="Shape 8"/>
          <p:cNvSpPr/>
          <p:nvPr/>
        </p:nvSpPr>
        <p:spPr>
          <a:xfrm>
            <a:off x="731520" y="2560320"/>
            <a:ext cx="3291840" cy="347472"/>
          </a:xfrm>
          <a:prstGeom prst="rect">
            <a:avLst/>
          </a:prstGeom>
          <a:solidFill>
            <a:srgbClr val="7C3AED"/>
          </a:solidFill>
          <a:ln/>
        </p:spPr>
      </p:sp>
      <p:sp>
        <p:nvSpPr>
          <p:cNvPr id="11" name="Text 9"/>
          <p:cNvSpPr/>
          <p:nvPr/>
        </p:nvSpPr>
        <p:spPr>
          <a:xfrm>
            <a:off x="731520" y="2560320"/>
            <a:ext cx="32918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Multi-Head Self-Attention</a:t>
            </a:r>
            <a:endParaRPr lang="en-US" sz="1000" dirty="0"/>
          </a:p>
        </p:txBody>
      </p:sp>
      <p:sp>
        <p:nvSpPr>
          <p:cNvPr id="12" name="Shape 10"/>
          <p:cNvSpPr/>
          <p:nvPr/>
        </p:nvSpPr>
        <p:spPr>
          <a:xfrm>
            <a:off x="731520" y="3017520"/>
            <a:ext cx="3291840" cy="347472"/>
          </a:xfrm>
          <a:prstGeom prst="rect">
            <a:avLst/>
          </a:prstGeom>
          <a:solidFill>
            <a:srgbClr val="161B2E"/>
          </a:solidFill>
          <a:ln/>
        </p:spPr>
      </p:sp>
      <p:sp>
        <p:nvSpPr>
          <p:cNvPr id="13" name="Text 11"/>
          <p:cNvSpPr/>
          <p:nvPr/>
        </p:nvSpPr>
        <p:spPr>
          <a:xfrm>
            <a:off x="731520" y="3017520"/>
            <a:ext cx="3291840" cy="34747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Add &amp; Layer Norm</a:t>
            </a:r>
            <a:endParaRPr lang="en-US" sz="1000" dirty="0"/>
          </a:p>
        </p:txBody>
      </p:sp>
      <p:sp>
        <p:nvSpPr>
          <p:cNvPr id="14" name="Shape 12"/>
          <p:cNvSpPr/>
          <p:nvPr/>
        </p:nvSpPr>
        <p:spPr>
          <a:xfrm>
            <a:off x="731520" y="3474720"/>
            <a:ext cx="3291840" cy="347472"/>
          </a:xfrm>
          <a:prstGeom prst="rect">
            <a:avLst/>
          </a:prstGeom>
          <a:solidFill>
            <a:srgbClr val="161B2E"/>
          </a:solidFill>
          <a:ln/>
        </p:spPr>
      </p:sp>
      <p:sp>
        <p:nvSpPr>
          <p:cNvPr id="15" name="Text 13"/>
          <p:cNvSpPr/>
          <p:nvPr/>
        </p:nvSpPr>
        <p:spPr>
          <a:xfrm>
            <a:off x="731520" y="3474720"/>
            <a:ext cx="3291840" cy="34747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Feed-Forward Network</a:t>
            </a:r>
            <a:endParaRPr lang="en-US" sz="1000" dirty="0"/>
          </a:p>
        </p:txBody>
      </p:sp>
      <p:sp>
        <p:nvSpPr>
          <p:cNvPr id="16" name="Shape 14"/>
          <p:cNvSpPr/>
          <p:nvPr/>
        </p:nvSpPr>
        <p:spPr>
          <a:xfrm>
            <a:off x="731520" y="3931920"/>
            <a:ext cx="3291840" cy="347472"/>
          </a:xfrm>
          <a:prstGeom prst="rect">
            <a:avLst/>
          </a:prstGeom>
          <a:solidFill>
            <a:srgbClr val="161B2E"/>
          </a:solidFill>
          <a:ln/>
        </p:spPr>
      </p:sp>
      <p:sp>
        <p:nvSpPr>
          <p:cNvPr id="17" name="Text 15"/>
          <p:cNvSpPr/>
          <p:nvPr/>
        </p:nvSpPr>
        <p:spPr>
          <a:xfrm>
            <a:off x="731520" y="3931920"/>
            <a:ext cx="3291840" cy="34747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Add &amp; Layer Norm</a:t>
            </a:r>
            <a:endParaRPr lang="en-US" sz="1000" dirty="0"/>
          </a:p>
        </p:txBody>
      </p:sp>
      <p:sp>
        <p:nvSpPr>
          <p:cNvPr id="18" name="Shape 16"/>
          <p:cNvSpPr/>
          <p:nvPr/>
        </p:nvSpPr>
        <p:spPr>
          <a:xfrm>
            <a:off x="4846320" y="1234440"/>
            <a:ext cx="3840480" cy="3291840"/>
          </a:xfrm>
          <a:prstGeom prst="rect">
            <a:avLst/>
          </a:prstGeom>
          <a:solidFill>
            <a:srgbClr val="6366F1">
              <a:alpha val="12000"/>
            </a:srgbClr>
          </a:solidFill>
          <a:ln w="12700">
            <a:solidFill>
              <a:srgbClr val="6366F1"/>
            </a:solidFill>
            <a:prstDash val="solid"/>
          </a:ln>
        </p:spPr>
      </p:sp>
      <p:sp>
        <p:nvSpPr>
          <p:cNvPr id="19" name="Text 17"/>
          <p:cNvSpPr/>
          <p:nvPr/>
        </p:nvSpPr>
        <p:spPr>
          <a:xfrm>
            <a:off x="4846320" y="1280160"/>
            <a:ext cx="3840480" cy="274320"/>
          </a:xfrm>
          <a:prstGeom prst="rect">
            <a:avLst/>
          </a:prstGeom>
          <a:noFill/>
          <a:ln/>
        </p:spPr>
        <p:txBody>
          <a:bodyPr wrap="square" lIns="0" tIns="0" rIns="0" bIns="0" rtlCol="0" anchor="ctr"/>
          <a:lstStyle/>
          <a:p>
            <a:pPr algn="ctr" indent="0" marL="0">
              <a:buNone/>
            </a:pPr>
            <a:r>
              <a:rPr lang="en-US" sz="1000" b="1" spc="300" kern="0" dirty="0">
                <a:solidFill>
                  <a:srgbClr val="6366F1"/>
                </a:solidFill>
                <a:latin typeface="Calibri" pitchFamily="34" charset="0"/>
                <a:ea typeface="Calibri" pitchFamily="34" charset="-122"/>
                <a:cs typeface="Calibri" pitchFamily="34" charset="-120"/>
              </a:rPr>
              <a:t>DECODER (N×)</a:t>
            </a:r>
            <a:endParaRPr lang="en-US" sz="1000" dirty="0"/>
          </a:p>
        </p:txBody>
      </p:sp>
      <p:sp>
        <p:nvSpPr>
          <p:cNvPr id="20" name="Shape 18"/>
          <p:cNvSpPr/>
          <p:nvPr/>
        </p:nvSpPr>
        <p:spPr>
          <a:xfrm>
            <a:off x="5120640" y="1645920"/>
            <a:ext cx="3291840" cy="347472"/>
          </a:xfrm>
          <a:prstGeom prst="rect">
            <a:avLst/>
          </a:prstGeom>
          <a:solidFill>
            <a:srgbClr val="161B2E"/>
          </a:solidFill>
          <a:ln/>
        </p:spPr>
      </p:sp>
      <p:sp>
        <p:nvSpPr>
          <p:cNvPr id="21" name="Text 19"/>
          <p:cNvSpPr/>
          <p:nvPr/>
        </p:nvSpPr>
        <p:spPr>
          <a:xfrm>
            <a:off x="5120640" y="1645920"/>
            <a:ext cx="3291840" cy="34747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Output Embedding</a:t>
            </a:r>
            <a:endParaRPr lang="en-US" sz="1000" dirty="0"/>
          </a:p>
        </p:txBody>
      </p:sp>
      <p:sp>
        <p:nvSpPr>
          <p:cNvPr id="22" name="Shape 20"/>
          <p:cNvSpPr/>
          <p:nvPr/>
        </p:nvSpPr>
        <p:spPr>
          <a:xfrm>
            <a:off x="5120640" y="2103120"/>
            <a:ext cx="3291840" cy="347472"/>
          </a:xfrm>
          <a:prstGeom prst="rect">
            <a:avLst/>
          </a:prstGeom>
          <a:solidFill>
            <a:srgbClr val="161B2E"/>
          </a:solidFill>
          <a:ln/>
        </p:spPr>
      </p:sp>
      <p:sp>
        <p:nvSpPr>
          <p:cNvPr id="23" name="Text 21"/>
          <p:cNvSpPr/>
          <p:nvPr/>
        </p:nvSpPr>
        <p:spPr>
          <a:xfrm>
            <a:off x="5120640" y="2103120"/>
            <a:ext cx="3291840" cy="34747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Positional Encoding</a:t>
            </a:r>
            <a:endParaRPr lang="en-US" sz="1000" dirty="0"/>
          </a:p>
        </p:txBody>
      </p:sp>
      <p:sp>
        <p:nvSpPr>
          <p:cNvPr id="24" name="Shape 22"/>
          <p:cNvSpPr/>
          <p:nvPr/>
        </p:nvSpPr>
        <p:spPr>
          <a:xfrm>
            <a:off x="5120640" y="2560320"/>
            <a:ext cx="3291840" cy="347472"/>
          </a:xfrm>
          <a:prstGeom prst="rect">
            <a:avLst/>
          </a:prstGeom>
          <a:solidFill>
            <a:srgbClr val="6366F1"/>
          </a:solidFill>
          <a:ln/>
        </p:spPr>
      </p:sp>
      <p:sp>
        <p:nvSpPr>
          <p:cNvPr id="25" name="Text 23"/>
          <p:cNvSpPr/>
          <p:nvPr/>
        </p:nvSpPr>
        <p:spPr>
          <a:xfrm>
            <a:off x="5120640" y="2560320"/>
            <a:ext cx="32918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Masked Multi-Head Attn</a:t>
            </a:r>
            <a:endParaRPr lang="en-US" sz="1000" dirty="0"/>
          </a:p>
        </p:txBody>
      </p:sp>
      <p:sp>
        <p:nvSpPr>
          <p:cNvPr id="26" name="Shape 24"/>
          <p:cNvSpPr/>
          <p:nvPr/>
        </p:nvSpPr>
        <p:spPr>
          <a:xfrm>
            <a:off x="5120640" y="3017520"/>
            <a:ext cx="3291840" cy="347472"/>
          </a:xfrm>
          <a:prstGeom prst="rect">
            <a:avLst/>
          </a:prstGeom>
          <a:solidFill>
            <a:srgbClr val="161B2E"/>
          </a:solidFill>
          <a:ln/>
        </p:spPr>
      </p:sp>
      <p:sp>
        <p:nvSpPr>
          <p:cNvPr id="27" name="Text 25"/>
          <p:cNvSpPr/>
          <p:nvPr/>
        </p:nvSpPr>
        <p:spPr>
          <a:xfrm>
            <a:off x="5120640" y="3017520"/>
            <a:ext cx="3291840" cy="34747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Add &amp; Layer Norm</a:t>
            </a:r>
            <a:endParaRPr lang="en-US" sz="1000" dirty="0"/>
          </a:p>
        </p:txBody>
      </p:sp>
      <p:sp>
        <p:nvSpPr>
          <p:cNvPr id="28" name="Shape 26"/>
          <p:cNvSpPr/>
          <p:nvPr/>
        </p:nvSpPr>
        <p:spPr>
          <a:xfrm>
            <a:off x="5120640" y="3474720"/>
            <a:ext cx="3291840" cy="347472"/>
          </a:xfrm>
          <a:prstGeom prst="rect">
            <a:avLst/>
          </a:prstGeom>
          <a:solidFill>
            <a:srgbClr val="6366F1"/>
          </a:solidFill>
          <a:ln/>
        </p:spPr>
      </p:sp>
      <p:sp>
        <p:nvSpPr>
          <p:cNvPr id="29" name="Text 27"/>
          <p:cNvSpPr/>
          <p:nvPr/>
        </p:nvSpPr>
        <p:spPr>
          <a:xfrm>
            <a:off x="5120640" y="3474720"/>
            <a:ext cx="32918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Cross-Attention (Enc→Dec)</a:t>
            </a:r>
            <a:endParaRPr lang="en-US" sz="1000" dirty="0"/>
          </a:p>
        </p:txBody>
      </p:sp>
      <p:sp>
        <p:nvSpPr>
          <p:cNvPr id="30" name="Shape 28"/>
          <p:cNvSpPr/>
          <p:nvPr/>
        </p:nvSpPr>
        <p:spPr>
          <a:xfrm>
            <a:off x="5120640" y="3931920"/>
            <a:ext cx="3291840" cy="347472"/>
          </a:xfrm>
          <a:prstGeom prst="rect">
            <a:avLst/>
          </a:prstGeom>
          <a:solidFill>
            <a:srgbClr val="161B2E"/>
          </a:solidFill>
          <a:ln/>
        </p:spPr>
      </p:sp>
      <p:sp>
        <p:nvSpPr>
          <p:cNvPr id="31" name="Text 29"/>
          <p:cNvSpPr/>
          <p:nvPr/>
        </p:nvSpPr>
        <p:spPr>
          <a:xfrm>
            <a:off x="5120640" y="3931920"/>
            <a:ext cx="3291840" cy="34747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Add &amp; Norm → FFN → Norm</a:t>
            </a:r>
            <a:endParaRPr lang="en-US" sz="1000" dirty="0"/>
          </a:p>
        </p:txBody>
      </p:sp>
      <p:sp>
        <p:nvSpPr>
          <p:cNvPr id="32" name="Text 30"/>
          <p:cNvSpPr/>
          <p:nvPr/>
        </p:nvSpPr>
        <p:spPr>
          <a:xfrm>
            <a:off x="4114800" y="2560320"/>
            <a:ext cx="731520" cy="457200"/>
          </a:xfrm>
          <a:prstGeom prst="rect">
            <a:avLst/>
          </a:prstGeom>
          <a:noFill/>
          <a:ln/>
        </p:spPr>
        <p:txBody>
          <a:bodyPr wrap="square" lIns="0" tIns="0" rIns="0" bIns="0" rtlCol="0" anchor="ctr"/>
          <a:lstStyle/>
          <a:p>
            <a:pPr algn="ctr" indent="0" marL="0">
              <a:buNone/>
            </a:pPr>
            <a:r>
              <a:rPr lang="en-US" sz="2400" dirty="0">
                <a:solidFill>
                  <a:srgbClr val="94A3B8"/>
                </a:solidFill>
              </a:rPr>
              <a:t>→</a:t>
            </a:r>
            <a:endParaRPr lang="en-US" sz="2400" dirty="0"/>
          </a:p>
        </p:txBody>
      </p:sp>
      <p:sp>
        <p:nvSpPr>
          <p:cNvPr id="33" name="Shape 31"/>
          <p:cNvSpPr/>
          <p:nvPr/>
        </p:nvSpPr>
        <p:spPr>
          <a:xfrm>
            <a:off x="5120640" y="4206240"/>
            <a:ext cx="3291840" cy="274320"/>
          </a:xfrm>
          <a:prstGeom prst="rect">
            <a:avLst/>
          </a:prstGeom>
          <a:solidFill>
            <a:srgbClr val="10B981"/>
          </a:solidFill>
          <a:ln/>
        </p:spPr>
      </p:sp>
      <p:sp>
        <p:nvSpPr>
          <p:cNvPr id="34" name="Text 32"/>
          <p:cNvSpPr/>
          <p:nvPr/>
        </p:nvSpPr>
        <p:spPr>
          <a:xfrm>
            <a:off x="5120640" y="4206240"/>
            <a:ext cx="3291840" cy="27432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Linear → Softmax → Output Probabilities</a:t>
            </a:r>
            <a:endParaRPr lang="en-US" sz="900" dirty="0"/>
          </a:p>
        </p:txBody>
      </p:sp>
      <p:sp>
        <p:nvSpPr>
          <p:cNvPr id="35" name="Text 33"/>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5 / 30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457200" y="228600"/>
            <a:ext cx="2286000" cy="274320"/>
          </a:xfrm>
          <a:prstGeom prst="rect">
            <a:avLst/>
          </a:prstGeom>
          <a:noFill/>
          <a:ln/>
        </p:spPr>
        <p:txBody>
          <a:bodyPr wrap="square" lIns="0" tIns="0" rIns="0" bIns="0" rtlCol="0" anchor="ctr"/>
          <a:lstStyle/>
          <a:p>
            <a:pPr indent="0" marL="0">
              <a:buNone/>
            </a:pPr>
            <a:r>
              <a:rPr lang="en-US" sz="800" b="1" spc="400" kern="0" dirty="0">
                <a:solidFill>
                  <a:srgbClr val="7C3AED"/>
                </a:solidFill>
                <a:latin typeface="Calibri" pitchFamily="34" charset="0"/>
                <a:ea typeface="Calibri" pitchFamily="34" charset="-122"/>
                <a:cs typeface="Calibri" pitchFamily="34" charset="-120"/>
              </a:rPr>
              <a:t>FOUNDATIONS</a:t>
            </a:r>
            <a:endParaRPr lang="en-US" sz="8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Positional Encoding</a:t>
            </a:r>
            <a:endParaRPr lang="en-US" sz="2600" dirty="0"/>
          </a:p>
        </p:txBody>
      </p:sp>
      <p:sp>
        <p:nvSpPr>
          <p:cNvPr id="4" name="Text 2"/>
          <p:cNvSpPr/>
          <p:nvPr/>
        </p:nvSpPr>
        <p:spPr>
          <a:xfrm>
            <a:off x="457200" y="1051560"/>
            <a:ext cx="8229600" cy="54864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Transformers have no inherent notion of sequence order. Positional encodings inject position information into token embeddings, enabling the model to distinguish "The cat sat on the mat" from "The mat sat on the cat."</a:t>
            </a:r>
            <a:endParaRPr lang="en-US" sz="1200" dirty="0"/>
          </a:p>
        </p:txBody>
      </p:sp>
      <p:sp>
        <p:nvSpPr>
          <p:cNvPr id="5" name="Shape 3"/>
          <p:cNvSpPr/>
          <p:nvPr/>
        </p:nvSpPr>
        <p:spPr>
          <a:xfrm>
            <a:off x="457200" y="1828800"/>
            <a:ext cx="4023360" cy="128016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6" name="Shape 4"/>
          <p:cNvSpPr/>
          <p:nvPr/>
        </p:nvSpPr>
        <p:spPr>
          <a:xfrm>
            <a:off x="457200" y="1828800"/>
            <a:ext cx="54864" cy="1280160"/>
          </a:xfrm>
          <a:prstGeom prst="rect">
            <a:avLst/>
          </a:prstGeom>
          <a:solidFill>
            <a:srgbClr val="7C3AED"/>
          </a:solidFill>
          <a:ln/>
        </p:spPr>
      </p:sp>
      <p:pic>
        <p:nvPicPr>
          <p:cNvPr id="7" name="Image 0" descr="preencoded.png">    </p:cNvPr>
          <p:cNvPicPr>
            <a:picLocks noChangeAspect="1"/>
          </p:cNvPicPr>
          <p:nvPr/>
        </p:nvPicPr>
        <p:blipFill>
          <a:blip r:embed="rId1"/>
          <a:stretch>
            <a:fillRect/>
          </a:stretch>
        </p:blipFill>
        <p:spPr>
          <a:xfrm>
            <a:off x="640080" y="1965960"/>
            <a:ext cx="292608" cy="292608"/>
          </a:xfrm>
          <a:prstGeom prst="rect">
            <a:avLst/>
          </a:prstGeom>
        </p:spPr>
      </p:pic>
      <p:sp>
        <p:nvSpPr>
          <p:cNvPr id="8" name="Text 5"/>
          <p:cNvSpPr/>
          <p:nvPr/>
        </p:nvSpPr>
        <p:spPr>
          <a:xfrm>
            <a:off x="1051560" y="1938528"/>
            <a:ext cx="3246120" cy="27432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Sinusoidal (Fixed)</a:t>
            </a:r>
            <a:endParaRPr lang="en-US" sz="1200" dirty="0"/>
          </a:p>
        </p:txBody>
      </p:sp>
      <p:sp>
        <p:nvSpPr>
          <p:cNvPr id="9" name="Text 6"/>
          <p:cNvSpPr/>
          <p:nvPr/>
        </p:nvSpPr>
        <p:spPr>
          <a:xfrm>
            <a:off x="640080" y="2267712"/>
            <a:ext cx="3657600" cy="749808"/>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Original Vaswani et al. PE(pos,2i) = sin(pos/10000^(2i/d)). Deterministic, generalizes to unseen lengths. No learnable parameters.</a:t>
            </a:r>
            <a:endParaRPr lang="en-US" sz="950" dirty="0"/>
          </a:p>
        </p:txBody>
      </p:sp>
      <p:sp>
        <p:nvSpPr>
          <p:cNvPr id="10" name="Shape 7"/>
          <p:cNvSpPr/>
          <p:nvPr/>
        </p:nvSpPr>
        <p:spPr>
          <a:xfrm>
            <a:off x="457200" y="3291840"/>
            <a:ext cx="4023360" cy="128016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11" name="Shape 8"/>
          <p:cNvSpPr/>
          <p:nvPr/>
        </p:nvSpPr>
        <p:spPr>
          <a:xfrm>
            <a:off x="457200" y="3291840"/>
            <a:ext cx="54864" cy="1280160"/>
          </a:xfrm>
          <a:prstGeom prst="rect">
            <a:avLst/>
          </a:prstGeom>
          <a:solidFill>
            <a:srgbClr val="6366F1"/>
          </a:solidFill>
          <a:ln/>
        </p:spPr>
      </p:sp>
      <p:pic>
        <p:nvPicPr>
          <p:cNvPr id="12" name="Image 1" descr="preencoded.png">    </p:cNvPr>
          <p:cNvPicPr>
            <a:picLocks noChangeAspect="1"/>
          </p:cNvPicPr>
          <p:nvPr/>
        </p:nvPicPr>
        <p:blipFill>
          <a:blip r:embed="rId2"/>
          <a:stretch>
            <a:fillRect/>
          </a:stretch>
        </p:blipFill>
        <p:spPr>
          <a:xfrm>
            <a:off x="640080" y="3429000"/>
            <a:ext cx="292608" cy="292608"/>
          </a:xfrm>
          <a:prstGeom prst="rect">
            <a:avLst/>
          </a:prstGeom>
        </p:spPr>
      </p:pic>
      <p:sp>
        <p:nvSpPr>
          <p:cNvPr id="13" name="Text 9"/>
          <p:cNvSpPr/>
          <p:nvPr/>
        </p:nvSpPr>
        <p:spPr>
          <a:xfrm>
            <a:off x="1051560" y="3401568"/>
            <a:ext cx="3246120" cy="27432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Learned Absolute</a:t>
            </a:r>
            <a:endParaRPr lang="en-US" sz="1200" dirty="0"/>
          </a:p>
        </p:txBody>
      </p:sp>
      <p:sp>
        <p:nvSpPr>
          <p:cNvPr id="14" name="Text 10"/>
          <p:cNvSpPr/>
          <p:nvPr/>
        </p:nvSpPr>
        <p:spPr>
          <a:xfrm>
            <a:off x="640080" y="3730752"/>
            <a:ext cx="3657600" cy="749808"/>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BERT / GPT-2 approach. Embedding matrix E ∈ R^(L×d) trained end-to-end. Simple but limited to max training length.</a:t>
            </a:r>
            <a:endParaRPr lang="en-US" sz="950" dirty="0"/>
          </a:p>
        </p:txBody>
      </p:sp>
      <p:sp>
        <p:nvSpPr>
          <p:cNvPr id="15" name="Shape 11"/>
          <p:cNvSpPr/>
          <p:nvPr/>
        </p:nvSpPr>
        <p:spPr>
          <a:xfrm>
            <a:off x="4754880" y="1828800"/>
            <a:ext cx="4023360" cy="128016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16" name="Shape 12"/>
          <p:cNvSpPr/>
          <p:nvPr/>
        </p:nvSpPr>
        <p:spPr>
          <a:xfrm>
            <a:off x="4754880" y="1828800"/>
            <a:ext cx="54864" cy="1280160"/>
          </a:xfrm>
          <a:prstGeom prst="rect">
            <a:avLst/>
          </a:prstGeom>
          <a:solidFill>
            <a:srgbClr val="3B82F6"/>
          </a:solidFill>
          <a:ln/>
        </p:spPr>
      </p:sp>
      <p:pic>
        <p:nvPicPr>
          <p:cNvPr id="17" name="Image 2" descr="preencoded.png">    </p:cNvPr>
          <p:cNvPicPr>
            <a:picLocks noChangeAspect="1"/>
          </p:cNvPicPr>
          <p:nvPr/>
        </p:nvPicPr>
        <p:blipFill>
          <a:blip r:embed="rId3"/>
          <a:stretch>
            <a:fillRect/>
          </a:stretch>
        </p:blipFill>
        <p:spPr>
          <a:xfrm>
            <a:off x="4937760" y="1965960"/>
            <a:ext cx="292608" cy="292608"/>
          </a:xfrm>
          <a:prstGeom prst="rect">
            <a:avLst/>
          </a:prstGeom>
        </p:spPr>
      </p:pic>
      <p:sp>
        <p:nvSpPr>
          <p:cNvPr id="18" name="Text 13"/>
          <p:cNvSpPr/>
          <p:nvPr/>
        </p:nvSpPr>
        <p:spPr>
          <a:xfrm>
            <a:off x="5349240" y="1938528"/>
            <a:ext cx="3246120" cy="27432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Rotary (RoPE)</a:t>
            </a:r>
            <a:endParaRPr lang="en-US" sz="1200" dirty="0"/>
          </a:p>
        </p:txBody>
      </p:sp>
      <p:sp>
        <p:nvSpPr>
          <p:cNvPr id="19" name="Text 14"/>
          <p:cNvSpPr/>
          <p:nvPr/>
        </p:nvSpPr>
        <p:spPr>
          <a:xfrm>
            <a:off x="4937760" y="2267712"/>
            <a:ext cx="3657600" cy="749808"/>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LLaMA / Mistral / GPT-NeoX. Encodes position by rotating Q,K vectors in 2D subspaces. Relative position via dot product. Length-extrapolatable.</a:t>
            </a:r>
            <a:endParaRPr lang="en-US" sz="950" dirty="0"/>
          </a:p>
        </p:txBody>
      </p:sp>
      <p:sp>
        <p:nvSpPr>
          <p:cNvPr id="20" name="Shape 15"/>
          <p:cNvSpPr/>
          <p:nvPr/>
        </p:nvSpPr>
        <p:spPr>
          <a:xfrm>
            <a:off x="4754880" y="3291840"/>
            <a:ext cx="4023360" cy="128016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21" name="Shape 16"/>
          <p:cNvSpPr/>
          <p:nvPr/>
        </p:nvSpPr>
        <p:spPr>
          <a:xfrm>
            <a:off x="4754880" y="3291840"/>
            <a:ext cx="54864" cy="1280160"/>
          </a:xfrm>
          <a:prstGeom prst="rect">
            <a:avLst/>
          </a:prstGeom>
          <a:solidFill>
            <a:srgbClr val="06B6D4"/>
          </a:solidFill>
          <a:ln/>
        </p:spPr>
      </p:sp>
      <p:pic>
        <p:nvPicPr>
          <p:cNvPr id="22" name="Image 3" descr="preencoded.png">    </p:cNvPr>
          <p:cNvPicPr>
            <a:picLocks noChangeAspect="1"/>
          </p:cNvPicPr>
          <p:nvPr/>
        </p:nvPicPr>
        <p:blipFill>
          <a:blip r:embed="rId4"/>
          <a:stretch>
            <a:fillRect/>
          </a:stretch>
        </p:blipFill>
        <p:spPr>
          <a:xfrm>
            <a:off x="4937760" y="3429000"/>
            <a:ext cx="292608" cy="292608"/>
          </a:xfrm>
          <a:prstGeom prst="rect">
            <a:avLst/>
          </a:prstGeom>
        </p:spPr>
      </p:pic>
      <p:sp>
        <p:nvSpPr>
          <p:cNvPr id="23" name="Text 17"/>
          <p:cNvSpPr/>
          <p:nvPr/>
        </p:nvSpPr>
        <p:spPr>
          <a:xfrm>
            <a:off x="5349240" y="3401568"/>
            <a:ext cx="3246120" cy="27432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ALiBi</a:t>
            </a:r>
            <a:endParaRPr lang="en-US" sz="1200" dirty="0"/>
          </a:p>
        </p:txBody>
      </p:sp>
      <p:sp>
        <p:nvSpPr>
          <p:cNvPr id="24" name="Text 18"/>
          <p:cNvSpPr/>
          <p:nvPr/>
        </p:nvSpPr>
        <p:spPr>
          <a:xfrm>
            <a:off x="4937760" y="3730752"/>
            <a:ext cx="3657600" cy="749808"/>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Attention with Linear Biases. Adds linear penalty to attention scores based on distance. No position embedding needed. Native length generalization.</a:t>
            </a:r>
            <a:endParaRPr lang="en-US" sz="950" dirty="0"/>
          </a:p>
        </p:txBody>
      </p:sp>
      <p:sp>
        <p:nvSpPr>
          <p:cNvPr id="25" name="Text 19"/>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6 / 30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6366F1">
              <a:alpha val="8000"/>
            </a:srgbClr>
          </a:solidFill>
          <a:ln/>
        </p:spPr>
      </p:sp>
      <p:sp>
        <p:nvSpPr>
          <p:cNvPr id="3" name="Shape 1"/>
          <p:cNvSpPr/>
          <p:nvPr/>
        </p:nvSpPr>
        <p:spPr>
          <a:xfrm>
            <a:off x="0" y="2103120"/>
            <a:ext cx="9144000" cy="3658"/>
          </a:xfrm>
          <a:prstGeom prst="rect">
            <a:avLst/>
          </a:prstGeom>
          <a:solidFill>
            <a:srgbClr val="6366F1">
              <a:alpha val="50000"/>
            </a:srgbClr>
          </a:solidFill>
          <a:ln/>
        </p:spPr>
      </p:sp>
      <p:sp>
        <p:nvSpPr>
          <p:cNvPr id="4" name="Text 2"/>
          <p:cNvSpPr/>
          <p:nvPr/>
        </p:nvSpPr>
        <p:spPr>
          <a:xfrm>
            <a:off x="457200" y="1371600"/>
            <a:ext cx="8229600" cy="320040"/>
          </a:xfrm>
          <a:prstGeom prst="rect">
            <a:avLst/>
          </a:prstGeom>
          <a:noFill/>
          <a:ln/>
        </p:spPr>
        <p:txBody>
          <a:bodyPr wrap="square" lIns="0" tIns="0" rIns="0" bIns="0" rtlCol="0" anchor="ctr"/>
          <a:lstStyle/>
          <a:p>
            <a:pPr algn="ctr" indent="0" marL="0">
              <a:buNone/>
            </a:pPr>
            <a:r>
              <a:rPr lang="en-US" sz="1200" spc="600" kern="0" dirty="0">
                <a:solidFill>
                  <a:srgbClr val="6366F1"/>
                </a:solidFill>
                <a:latin typeface="Calibri" pitchFamily="34" charset="0"/>
                <a:ea typeface="Calibri" pitchFamily="34" charset="-122"/>
                <a:cs typeface="Calibri" pitchFamily="34" charset="-120"/>
              </a:rPr>
              <a:t>SECTION 02</a:t>
            </a:r>
            <a:endParaRPr lang="en-US" sz="1200" dirty="0"/>
          </a:p>
        </p:txBody>
      </p:sp>
      <p:sp>
        <p:nvSpPr>
          <p:cNvPr id="5" name="Text 3"/>
          <p:cNvSpPr/>
          <p:nvPr/>
        </p:nvSpPr>
        <p:spPr>
          <a:xfrm>
            <a:off x="457200" y="1828800"/>
            <a:ext cx="8229600" cy="822960"/>
          </a:xfrm>
          <a:prstGeom prst="rect">
            <a:avLst/>
          </a:prstGeom>
          <a:noFill/>
          <a:ln/>
        </p:spPr>
        <p:txBody>
          <a:bodyPr wrap="square" lIns="0" tIns="0" rIns="0" bIns="0" rtlCol="0" anchor="ctr"/>
          <a:lstStyle/>
          <a:p>
            <a:pPr algn="ctr" indent="0" marL="0">
              <a:buNone/>
            </a:pPr>
            <a:r>
              <a:rPr lang="en-US" sz="3600" b="1" dirty="0">
                <a:solidFill>
                  <a:srgbClr val="FFFFFF"/>
                </a:solidFill>
                <a:latin typeface="Trebuchet MS" pitchFamily="34" charset="0"/>
                <a:ea typeface="Trebuchet MS" pitchFamily="34" charset="-122"/>
                <a:cs typeface="Trebuchet MS" pitchFamily="34" charset="-120"/>
              </a:rPr>
              <a:t>Attention Mechanisms</a:t>
            </a:r>
            <a:endParaRPr lang="en-US" sz="3600" dirty="0"/>
          </a:p>
        </p:txBody>
      </p:sp>
      <p:sp>
        <p:nvSpPr>
          <p:cNvPr id="6" name="Text 4"/>
          <p:cNvSpPr/>
          <p:nvPr/>
        </p:nvSpPr>
        <p:spPr>
          <a:xfrm>
            <a:off x="457200" y="2606040"/>
            <a:ext cx="8229600" cy="457200"/>
          </a:xfrm>
          <a:prstGeom prst="rect">
            <a:avLst/>
          </a:prstGeom>
          <a:noFill/>
          <a:ln/>
        </p:spPr>
        <p:txBody>
          <a:bodyPr wrap="square" lIns="0" tIns="0" rIns="0" bIns="0" rtlCol="0" anchor="ctr"/>
          <a:lstStyle/>
          <a:p>
            <a:pPr algn="ctr" indent="0" marL="0">
              <a:buNone/>
            </a:pPr>
            <a:r>
              <a:rPr lang="en-US" sz="1400" dirty="0">
                <a:solidFill>
                  <a:srgbClr val="6366F1"/>
                </a:solidFill>
                <a:latin typeface="Calibri" pitchFamily="34" charset="0"/>
                <a:ea typeface="Calibri" pitchFamily="34" charset="-122"/>
                <a:cs typeface="Calibri" pitchFamily="34" charset="-120"/>
              </a:rPr>
              <a:t>The Core Innovation Behind Transformers</a:t>
            </a:r>
            <a:endParaRPr lang="en-US" sz="1400" dirty="0"/>
          </a:p>
        </p:txBody>
      </p:sp>
      <p:pic>
        <p:nvPicPr>
          <p:cNvPr id="7" name="Image 0" descr="preencoded.png">    </p:cNvPr>
          <p:cNvPicPr>
            <a:picLocks noChangeAspect="1"/>
          </p:cNvPicPr>
          <p:nvPr/>
        </p:nvPicPr>
        <p:blipFill>
          <a:blip r:embed="rId1"/>
          <a:stretch>
            <a:fillRect/>
          </a:stretch>
        </p:blipFill>
        <p:spPr>
          <a:xfrm>
            <a:off x="4160520" y="3200400"/>
            <a:ext cx="777240" cy="777240"/>
          </a:xfrm>
          <a:prstGeom prst="rect">
            <a:avLst/>
          </a:prstGeom>
        </p:spPr>
      </p:pic>
      <p:sp>
        <p:nvSpPr>
          <p:cNvPr id="8" name="Text 5"/>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7 / 30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457200" y="228600"/>
            <a:ext cx="2286000" cy="274320"/>
          </a:xfrm>
          <a:prstGeom prst="rect">
            <a:avLst/>
          </a:prstGeom>
          <a:noFill/>
          <a:ln/>
        </p:spPr>
        <p:txBody>
          <a:bodyPr wrap="square" lIns="0" tIns="0" rIns="0" bIns="0" rtlCol="0" anchor="ctr"/>
          <a:lstStyle/>
          <a:p>
            <a:pPr indent="0" marL="0">
              <a:buNone/>
            </a:pPr>
            <a:r>
              <a:rPr lang="en-US" sz="800" b="1" spc="400" kern="0" dirty="0">
                <a:solidFill>
                  <a:srgbClr val="6366F1"/>
                </a:solidFill>
                <a:latin typeface="Calibri" pitchFamily="34" charset="0"/>
                <a:ea typeface="Calibri" pitchFamily="34" charset="-122"/>
                <a:cs typeface="Calibri" pitchFamily="34" charset="-120"/>
              </a:rPr>
              <a:t>ATTENTION</a:t>
            </a:r>
            <a:endParaRPr lang="en-US" sz="8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Scaled Dot-Product Attention</a:t>
            </a:r>
            <a:endParaRPr lang="en-US" sz="2600" dirty="0"/>
          </a:p>
        </p:txBody>
      </p:sp>
      <p:sp>
        <p:nvSpPr>
          <p:cNvPr id="4" name="Shape 2"/>
          <p:cNvSpPr/>
          <p:nvPr/>
        </p:nvSpPr>
        <p:spPr>
          <a:xfrm>
            <a:off x="1371600" y="1188720"/>
            <a:ext cx="6400800" cy="640080"/>
          </a:xfrm>
          <a:prstGeom prst="rect">
            <a:avLst/>
          </a:prstGeom>
          <a:solidFill>
            <a:srgbClr val="1C2240"/>
          </a:solidFill>
          <a:ln w="12700">
            <a:solidFill>
              <a:srgbClr val="6366F1"/>
            </a:solidFill>
            <a:prstDash val="solid"/>
          </a:ln>
        </p:spPr>
      </p:sp>
      <p:sp>
        <p:nvSpPr>
          <p:cNvPr id="5" name="Text 3"/>
          <p:cNvSpPr/>
          <p:nvPr/>
        </p:nvSpPr>
        <p:spPr>
          <a:xfrm>
            <a:off x="1371600" y="1188720"/>
            <a:ext cx="6400800" cy="640080"/>
          </a:xfrm>
          <a:prstGeom prst="rect">
            <a:avLst/>
          </a:prstGeom>
          <a:noFill/>
          <a:ln/>
        </p:spPr>
        <p:txBody>
          <a:bodyPr wrap="square" lIns="0" tIns="0" rIns="0" bIns="0" rtlCol="0" anchor="ctr"/>
          <a:lstStyle/>
          <a:p>
            <a:pPr algn="ctr" indent="0" marL="0">
              <a:buNone/>
            </a:pPr>
            <a:r>
              <a:rPr lang="en-US" sz="1800" b="1" dirty="0">
                <a:solidFill>
                  <a:srgbClr val="6366F1"/>
                </a:solidFill>
                <a:latin typeface="Consolas" pitchFamily="34" charset="0"/>
                <a:ea typeface="Consolas" pitchFamily="34" charset="-122"/>
                <a:cs typeface="Consolas" pitchFamily="34" charset="-120"/>
              </a:rPr>
              <a:t>Attention(Q, K, V) = softmax( Q·K^T / √d_k ) · V</a:t>
            </a:r>
            <a:endParaRPr lang="en-US" sz="1800" dirty="0"/>
          </a:p>
        </p:txBody>
      </p:sp>
      <p:sp>
        <p:nvSpPr>
          <p:cNvPr id="6" name="Shape 4"/>
          <p:cNvSpPr/>
          <p:nvPr/>
        </p:nvSpPr>
        <p:spPr>
          <a:xfrm>
            <a:off x="457200" y="2103120"/>
            <a:ext cx="2560320" cy="137160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7" name="Shape 5"/>
          <p:cNvSpPr/>
          <p:nvPr/>
        </p:nvSpPr>
        <p:spPr>
          <a:xfrm>
            <a:off x="457200" y="2103120"/>
            <a:ext cx="2560320" cy="36576"/>
          </a:xfrm>
          <a:prstGeom prst="rect">
            <a:avLst/>
          </a:prstGeom>
          <a:solidFill>
            <a:srgbClr val="7C3AED"/>
          </a:solidFill>
          <a:ln/>
        </p:spPr>
      </p:sp>
      <p:sp>
        <p:nvSpPr>
          <p:cNvPr id="8" name="Text 6"/>
          <p:cNvSpPr/>
          <p:nvPr/>
        </p:nvSpPr>
        <p:spPr>
          <a:xfrm>
            <a:off x="594360" y="2240280"/>
            <a:ext cx="2286000" cy="256032"/>
          </a:xfrm>
          <a:prstGeom prst="rect">
            <a:avLst/>
          </a:prstGeom>
          <a:noFill/>
          <a:ln/>
        </p:spPr>
        <p:txBody>
          <a:bodyPr wrap="square" lIns="0" tIns="0" rIns="0" bIns="0" rtlCol="0" anchor="ctr"/>
          <a:lstStyle/>
          <a:p>
            <a:pPr algn="ctr" indent="0" marL="0">
              <a:buNone/>
            </a:pPr>
            <a:r>
              <a:rPr lang="en-US" sz="1300" b="1" dirty="0">
                <a:solidFill>
                  <a:srgbClr val="7C3AED"/>
                </a:solidFill>
                <a:latin typeface="Trebuchet MS" pitchFamily="34" charset="0"/>
                <a:ea typeface="Trebuchet MS" pitchFamily="34" charset="-122"/>
                <a:cs typeface="Trebuchet MS" pitchFamily="34" charset="-120"/>
              </a:rPr>
              <a:t>Q (Query)</a:t>
            </a:r>
            <a:endParaRPr lang="en-US" sz="1300" dirty="0"/>
          </a:p>
        </p:txBody>
      </p:sp>
      <p:sp>
        <p:nvSpPr>
          <p:cNvPr id="9" name="Text 7"/>
          <p:cNvSpPr/>
          <p:nvPr/>
        </p:nvSpPr>
        <p:spPr>
          <a:xfrm>
            <a:off x="594360" y="2560320"/>
            <a:ext cx="2286000" cy="777240"/>
          </a:xfrm>
          <a:prstGeom prst="rect">
            <a:avLst/>
          </a:prstGeom>
          <a:noFill/>
          <a:ln/>
        </p:spPr>
        <p:txBody>
          <a:bodyPr wrap="square" lIns="0" tIns="0" rIns="0" bIns="0" rtlCol="0" anchor="t"/>
          <a:lstStyle/>
          <a:p>
            <a:pPr algn="ctr" indent="0" marL="0">
              <a:buNone/>
            </a:pPr>
            <a:r>
              <a:rPr lang="en-US" sz="950" dirty="0">
                <a:solidFill>
                  <a:srgbClr val="E2E8F0"/>
                </a:solidFill>
                <a:latin typeface="Calibri" pitchFamily="34" charset="0"/>
                <a:ea typeface="Calibri" pitchFamily="34" charset="-122"/>
                <a:cs typeface="Calibri" pitchFamily="34" charset="-120"/>
              </a:rPr>
              <a:t>"What am I looking for?" — the current token's representation projected into query space.</a:t>
            </a:r>
            <a:endParaRPr lang="en-US" sz="950" dirty="0"/>
          </a:p>
        </p:txBody>
      </p:sp>
      <p:sp>
        <p:nvSpPr>
          <p:cNvPr id="10" name="Shape 8"/>
          <p:cNvSpPr/>
          <p:nvPr/>
        </p:nvSpPr>
        <p:spPr>
          <a:xfrm>
            <a:off x="3291840" y="2103120"/>
            <a:ext cx="2560320" cy="137160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11" name="Shape 9"/>
          <p:cNvSpPr/>
          <p:nvPr/>
        </p:nvSpPr>
        <p:spPr>
          <a:xfrm>
            <a:off x="3291840" y="2103120"/>
            <a:ext cx="2560320" cy="36576"/>
          </a:xfrm>
          <a:prstGeom prst="rect">
            <a:avLst/>
          </a:prstGeom>
          <a:solidFill>
            <a:srgbClr val="3B82F6"/>
          </a:solidFill>
          <a:ln/>
        </p:spPr>
      </p:sp>
      <p:sp>
        <p:nvSpPr>
          <p:cNvPr id="12" name="Text 10"/>
          <p:cNvSpPr/>
          <p:nvPr/>
        </p:nvSpPr>
        <p:spPr>
          <a:xfrm>
            <a:off x="3429000" y="2240280"/>
            <a:ext cx="2286000" cy="256032"/>
          </a:xfrm>
          <a:prstGeom prst="rect">
            <a:avLst/>
          </a:prstGeom>
          <a:noFill/>
          <a:ln/>
        </p:spPr>
        <p:txBody>
          <a:bodyPr wrap="square" lIns="0" tIns="0" rIns="0" bIns="0" rtlCol="0" anchor="ctr"/>
          <a:lstStyle/>
          <a:p>
            <a:pPr algn="ctr" indent="0" marL="0">
              <a:buNone/>
            </a:pPr>
            <a:r>
              <a:rPr lang="en-US" sz="1300" b="1" dirty="0">
                <a:solidFill>
                  <a:srgbClr val="3B82F6"/>
                </a:solidFill>
                <a:latin typeface="Trebuchet MS" pitchFamily="34" charset="0"/>
                <a:ea typeface="Trebuchet MS" pitchFamily="34" charset="-122"/>
                <a:cs typeface="Trebuchet MS" pitchFamily="34" charset="-120"/>
              </a:rPr>
              <a:t>K (Key)</a:t>
            </a:r>
            <a:endParaRPr lang="en-US" sz="1300" dirty="0"/>
          </a:p>
        </p:txBody>
      </p:sp>
      <p:sp>
        <p:nvSpPr>
          <p:cNvPr id="13" name="Text 11"/>
          <p:cNvSpPr/>
          <p:nvPr/>
        </p:nvSpPr>
        <p:spPr>
          <a:xfrm>
            <a:off x="3429000" y="2560320"/>
            <a:ext cx="2286000" cy="777240"/>
          </a:xfrm>
          <a:prstGeom prst="rect">
            <a:avLst/>
          </a:prstGeom>
          <a:noFill/>
          <a:ln/>
        </p:spPr>
        <p:txBody>
          <a:bodyPr wrap="square" lIns="0" tIns="0" rIns="0" bIns="0" rtlCol="0" anchor="t"/>
          <a:lstStyle/>
          <a:p>
            <a:pPr algn="ctr" indent="0" marL="0">
              <a:buNone/>
            </a:pPr>
            <a:r>
              <a:rPr lang="en-US" sz="950" dirty="0">
                <a:solidFill>
                  <a:srgbClr val="E2E8F0"/>
                </a:solidFill>
                <a:latin typeface="Calibri" pitchFamily="34" charset="0"/>
                <a:ea typeface="Calibri" pitchFamily="34" charset="-122"/>
                <a:cs typeface="Calibri" pitchFamily="34" charset="-120"/>
              </a:rPr>
              <a:t>"What do I contain?" — every token's representation projected into key space. Dot product Q·K computes relevance scores.</a:t>
            </a:r>
            <a:endParaRPr lang="en-US" sz="950" dirty="0"/>
          </a:p>
        </p:txBody>
      </p:sp>
      <p:sp>
        <p:nvSpPr>
          <p:cNvPr id="14" name="Shape 12"/>
          <p:cNvSpPr/>
          <p:nvPr/>
        </p:nvSpPr>
        <p:spPr>
          <a:xfrm>
            <a:off x="6126480" y="2103120"/>
            <a:ext cx="2560320" cy="137160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15" name="Shape 13"/>
          <p:cNvSpPr/>
          <p:nvPr/>
        </p:nvSpPr>
        <p:spPr>
          <a:xfrm>
            <a:off x="6126480" y="2103120"/>
            <a:ext cx="2560320" cy="36576"/>
          </a:xfrm>
          <a:prstGeom prst="rect">
            <a:avLst/>
          </a:prstGeom>
          <a:solidFill>
            <a:srgbClr val="14B8A6"/>
          </a:solidFill>
          <a:ln/>
        </p:spPr>
      </p:sp>
      <p:sp>
        <p:nvSpPr>
          <p:cNvPr id="16" name="Text 14"/>
          <p:cNvSpPr/>
          <p:nvPr/>
        </p:nvSpPr>
        <p:spPr>
          <a:xfrm>
            <a:off x="6263640" y="2240280"/>
            <a:ext cx="2286000" cy="256032"/>
          </a:xfrm>
          <a:prstGeom prst="rect">
            <a:avLst/>
          </a:prstGeom>
          <a:noFill/>
          <a:ln/>
        </p:spPr>
        <p:txBody>
          <a:bodyPr wrap="square" lIns="0" tIns="0" rIns="0" bIns="0" rtlCol="0" anchor="ctr"/>
          <a:lstStyle/>
          <a:p>
            <a:pPr algn="ctr" indent="0" marL="0">
              <a:buNone/>
            </a:pPr>
            <a:r>
              <a:rPr lang="en-US" sz="1300" b="1" dirty="0">
                <a:solidFill>
                  <a:srgbClr val="14B8A6"/>
                </a:solidFill>
                <a:latin typeface="Trebuchet MS" pitchFamily="34" charset="0"/>
                <a:ea typeface="Trebuchet MS" pitchFamily="34" charset="-122"/>
                <a:cs typeface="Trebuchet MS" pitchFamily="34" charset="-120"/>
              </a:rPr>
              <a:t>V (Value)</a:t>
            </a:r>
            <a:endParaRPr lang="en-US" sz="1300" dirty="0"/>
          </a:p>
        </p:txBody>
      </p:sp>
      <p:sp>
        <p:nvSpPr>
          <p:cNvPr id="17" name="Text 15"/>
          <p:cNvSpPr/>
          <p:nvPr/>
        </p:nvSpPr>
        <p:spPr>
          <a:xfrm>
            <a:off x="6263640" y="2560320"/>
            <a:ext cx="2286000" cy="777240"/>
          </a:xfrm>
          <a:prstGeom prst="rect">
            <a:avLst/>
          </a:prstGeom>
          <a:noFill/>
          <a:ln/>
        </p:spPr>
        <p:txBody>
          <a:bodyPr wrap="square" lIns="0" tIns="0" rIns="0" bIns="0" rtlCol="0" anchor="t"/>
          <a:lstStyle/>
          <a:p>
            <a:pPr algn="ctr" indent="0" marL="0">
              <a:buNone/>
            </a:pPr>
            <a:r>
              <a:rPr lang="en-US" sz="950" dirty="0">
                <a:solidFill>
                  <a:srgbClr val="E2E8F0"/>
                </a:solidFill>
                <a:latin typeface="Calibri" pitchFamily="34" charset="0"/>
                <a:ea typeface="Calibri" pitchFamily="34" charset="-122"/>
                <a:cs typeface="Calibri" pitchFamily="34" charset="-120"/>
              </a:rPr>
              <a:t>"What information do I carry?" — the actual content to aggregate, weighted by the attention scores from softmax.</a:t>
            </a:r>
            <a:endParaRPr lang="en-US" sz="950" dirty="0"/>
          </a:p>
        </p:txBody>
      </p:sp>
      <p:sp>
        <p:nvSpPr>
          <p:cNvPr id="18" name="Shape 16"/>
          <p:cNvSpPr/>
          <p:nvPr/>
        </p:nvSpPr>
        <p:spPr>
          <a:xfrm>
            <a:off x="457200" y="3749040"/>
            <a:ext cx="8229600" cy="731520"/>
          </a:xfrm>
          <a:prstGeom prst="rect">
            <a:avLst/>
          </a:prstGeom>
          <a:solidFill>
            <a:srgbClr val="6366F1">
              <a:alpha val="12000"/>
            </a:srgbClr>
          </a:solidFill>
          <a:ln w="10160">
            <a:solidFill>
              <a:srgbClr val="6366F1"/>
            </a:solidFill>
            <a:prstDash val="solid"/>
          </a:ln>
        </p:spPr>
      </p:sp>
      <p:sp>
        <p:nvSpPr>
          <p:cNvPr id="19" name="Text 17"/>
          <p:cNvSpPr/>
          <p:nvPr/>
        </p:nvSpPr>
        <p:spPr>
          <a:xfrm>
            <a:off x="640080" y="3776472"/>
            <a:ext cx="1828800" cy="182880"/>
          </a:xfrm>
          <a:prstGeom prst="rect">
            <a:avLst/>
          </a:prstGeom>
          <a:noFill/>
          <a:ln/>
        </p:spPr>
        <p:txBody>
          <a:bodyPr wrap="square" lIns="0" tIns="0" rIns="0" bIns="0" rtlCol="0" anchor="ctr"/>
          <a:lstStyle/>
          <a:p>
            <a:pPr indent="0" marL="0">
              <a:buNone/>
            </a:pPr>
            <a:r>
              <a:rPr lang="en-US" sz="800" b="1" spc="200" kern="0" dirty="0">
                <a:solidFill>
                  <a:srgbClr val="6366F1"/>
                </a:solidFill>
                <a:latin typeface="Calibri" pitchFamily="34" charset="0"/>
                <a:ea typeface="Calibri" pitchFamily="34" charset="-122"/>
                <a:cs typeface="Calibri" pitchFamily="34" charset="-120"/>
              </a:rPr>
              <a:t>WHY √d_k SCALING?</a:t>
            </a:r>
            <a:endParaRPr lang="en-US" sz="800" dirty="0"/>
          </a:p>
        </p:txBody>
      </p:sp>
      <p:sp>
        <p:nvSpPr>
          <p:cNvPr id="20" name="Text 18"/>
          <p:cNvSpPr/>
          <p:nvPr/>
        </p:nvSpPr>
        <p:spPr>
          <a:xfrm>
            <a:off x="640080" y="4005072"/>
            <a:ext cx="7772400" cy="411480"/>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Without scaling, dot products grow with dimension d_k, pushing softmax into saturation (near-zero gradients). Dividing by √d_k keeps variance ≈ 1, ensuring healthy gradient flow during training. For d_k = 64, the scaling factor is √64 = 8.</a:t>
            </a:r>
            <a:endParaRPr lang="en-US" sz="1000" dirty="0"/>
          </a:p>
        </p:txBody>
      </p:sp>
      <p:sp>
        <p:nvSpPr>
          <p:cNvPr id="21" name="Text 19"/>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8 / 30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457200" y="228600"/>
            <a:ext cx="2286000" cy="274320"/>
          </a:xfrm>
          <a:prstGeom prst="rect">
            <a:avLst/>
          </a:prstGeom>
          <a:noFill/>
          <a:ln/>
        </p:spPr>
        <p:txBody>
          <a:bodyPr wrap="square" lIns="0" tIns="0" rIns="0" bIns="0" rtlCol="0" anchor="ctr"/>
          <a:lstStyle/>
          <a:p>
            <a:pPr indent="0" marL="0">
              <a:buNone/>
            </a:pPr>
            <a:r>
              <a:rPr lang="en-US" sz="800" b="1" spc="400" kern="0" dirty="0">
                <a:solidFill>
                  <a:srgbClr val="6366F1"/>
                </a:solidFill>
                <a:latin typeface="Calibri" pitchFamily="34" charset="0"/>
                <a:ea typeface="Calibri" pitchFamily="34" charset="-122"/>
                <a:cs typeface="Calibri" pitchFamily="34" charset="-120"/>
              </a:rPr>
              <a:t>ATTENTION</a:t>
            </a:r>
            <a:endParaRPr lang="en-US" sz="8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Multi-Head Attention (MHA)</a:t>
            </a:r>
            <a:endParaRPr lang="en-US" sz="2600" dirty="0"/>
          </a:p>
        </p:txBody>
      </p:sp>
      <p:sp>
        <p:nvSpPr>
          <p:cNvPr id="4" name="Text 2"/>
          <p:cNvSpPr/>
          <p:nvPr/>
        </p:nvSpPr>
        <p:spPr>
          <a:xfrm>
            <a:off x="457200" y="1051560"/>
            <a:ext cx="8229600" cy="54864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Instead of a single attention function, MHA runs h parallel attention heads with independent Q, K, V projections, concatenates their outputs, and applies a final linear projection. Each head can attend to different representation subspaces.</a:t>
            </a:r>
            <a:endParaRPr lang="en-US" sz="1200" dirty="0"/>
          </a:p>
        </p:txBody>
      </p:sp>
      <p:sp>
        <p:nvSpPr>
          <p:cNvPr id="5" name="Shape 3"/>
          <p:cNvSpPr/>
          <p:nvPr/>
        </p:nvSpPr>
        <p:spPr>
          <a:xfrm>
            <a:off x="457200" y="1691640"/>
            <a:ext cx="8229600" cy="457200"/>
          </a:xfrm>
          <a:prstGeom prst="rect">
            <a:avLst/>
          </a:prstGeom>
          <a:solidFill>
            <a:srgbClr val="1C2240"/>
          </a:solidFill>
          <a:ln w="10160">
            <a:solidFill>
              <a:srgbClr val="6366F1"/>
            </a:solidFill>
            <a:prstDash val="solid"/>
          </a:ln>
        </p:spPr>
      </p:sp>
      <p:sp>
        <p:nvSpPr>
          <p:cNvPr id="6" name="Text 4"/>
          <p:cNvSpPr/>
          <p:nvPr/>
        </p:nvSpPr>
        <p:spPr>
          <a:xfrm>
            <a:off x="640080" y="1691640"/>
            <a:ext cx="7863840" cy="457200"/>
          </a:xfrm>
          <a:prstGeom prst="rect">
            <a:avLst/>
          </a:prstGeom>
          <a:noFill/>
          <a:ln/>
        </p:spPr>
        <p:txBody>
          <a:bodyPr wrap="square" lIns="0" tIns="0" rIns="0" bIns="0" rtlCol="0" anchor="ctr"/>
          <a:lstStyle/>
          <a:p>
            <a:pPr indent="0" marL="0">
              <a:buNone/>
            </a:pPr>
            <a:r>
              <a:rPr lang="en-US" sz="1100" dirty="0">
                <a:solidFill>
                  <a:srgbClr val="6366F1"/>
                </a:solidFill>
                <a:latin typeface="Consolas" pitchFamily="34" charset="0"/>
                <a:ea typeface="Consolas" pitchFamily="34" charset="-122"/>
                <a:cs typeface="Consolas" pitchFamily="34" charset="-120"/>
              </a:rPr>
              <a:t>MultiHead(Q,K,V) = Concat(head₁, ..., headₕ) · W^O    where headᵢ = Attention(Q·Wᵢ^Q, K·Wᵢ^K, V·Wᵢ^V)</a:t>
            </a:r>
            <a:endParaRPr lang="en-US" sz="1100" dirty="0"/>
          </a:p>
        </p:txBody>
      </p:sp>
      <p:sp>
        <p:nvSpPr>
          <p:cNvPr id="7" name="Shape 5"/>
          <p:cNvSpPr/>
          <p:nvPr/>
        </p:nvSpPr>
        <p:spPr>
          <a:xfrm>
            <a:off x="457200" y="2377440"/>
            <a:ext cx="914400" cy="822960"/>
          </a:xfrm>
          <a:prstGeom prst="rect">
            <a:avLst/>
          </a:prstGeom>
          <a:solidFill>
            <a:srgbClr val="161B2E"/>
          </a:solidFill>
          <a:ln w="7620">
            <a:solidFill>
              <a:srgbClr val="6366F1"/>
            </a:solidFill>
            <a:prstDash val="solid"/>
          </a:ln>
        </p:spPr>
      </p:sp>
      <p:sp>
        <p:nvSpPr>
          <p:cNvPr id="8" name="Text 6"/>
          <p:cNvSpPr/>
          <p:nvPr/>
        </p:nvSpPr>
        <p:spPr>
          <a:xfrm>
            <a:off x="457200" y="2377440"/>
            <a:ext cx="914400" cy="822960"/>
          </a:xfrm>
          <a:prstGeom prst="rect">
            <a:avLst/>
          </a:prstGeom>
          <a:noFill/>
          <a:ln/>
        </p:spPr>
        <p:txBody>
          <a:bodyPr wrap="square" lIns="0" tIns="0" rIns="0" bIns="0" rtlCol="0" anchor="ctr"/>
          <a:lstStyle/>
          <a:p>
            <a:pPr algn="ctr" indent="0" marL="0">
              <a:buNone/>
            </a:pPr>
            <a:r>
              <a:rPr lang="en-US" sz="800" dirty="0">
                <a:solidFill>
                  <a:srgbClr val="E2E8F0"/>
                </a:solidFill>
                <a:latin typeface="Calibri" pitchFamily="34" charset="0"/>
                <a:ea typeface="Calibri" pitchFamily="34" charset="-122"/>
                <a:cs typeface="Calibri" pitchFamily="34" charset="-120"/>
              </a:rPr>
              <a:t>Head 1</a:t>
            </a:r>
            <a:endParaRPr lang="en-US" sz="800" dirty="0"/>
          </a:p>
          <a:p>
            <a:pPr algn="ctr" indent="0" marL="0">
              <a:buNone/>
            </a:pPr>
            <a:r>
              <a:rPr lang="en-US" sz="800" dirty="0">
                <a:solidFill>
                  <a:srgbClr val="E2E8F0"/>
                </a:solidFill>
                <a:latin typeface="Calibri" pitchFamily="34" charset="0"/>
                <a:ea typeface="Calibri" pitchFamily="34" charset="-122"/>
                <a:cs typeface="Calibri" pitchFamily="34" charset="-120"/>
              </a:rPr>
              <a:t>Syntax</a:t>
            </a:r>
            <a:endParaRPr lang="en-US" sz="800" dirty="0"/>
          </a:p>
        </p:txBody>
      </p:sp>
      <p:sp>
        <p:nvSpPr>
          <p:cNvPr id="9" name="Shape 7"/>
          <p:cNvSpPr/>
          <p:nvPr/>
        </p:nvSpPr>
        <p:spPr>
          <a:xfrm>
            <a:off x="1508760" y="2377440"/>
            <a:ext cx="914400" cy="822960"/>
          </a:xfrm>
          <a:prstGeom prst="rect">
            <a:avLst/>
          </a:prstGeom>
          <a:solidFill>
            <a:srgbClr val="161B2E"/>
          </a:solidFill>
          <a:ln w="7620">
            <a:solidFill>
              <a:srgbClr val="6366F1"/>
            </a:solidFill>
            <a:prstDash val="solid"/>
          </a:ln>
        </p:spPr>
      </p:sp>
      <p:sp>
        <p:nvSpPr>
          <p:cNvPr id="10" name="Text 8"/>
          <p:cNvSpPr/>
          <p:nvPr/>
        </p:nvSpPr>
        <p:spPr>
          <a:xfrm>
            <a:off x="1508760" y="2377440"/>
            <a:ext cx="914400" cy="822960"/>
          </a:xfrm>
          <a:prstGeom prst="rect">
            <a:avLst/>
          </a:prstGeom>
          <a:noFill/>
          <a:ln/>
        </p:spPr>
        <p:txBody>
          <a:bodyPr wrap="square" lIns="0" tIns="0" rIns="0" bIns="0" rtlCol="0" anchor="ctr"/>
          <a:lstStyle/>
          <a:p>
            <a:pPr algn="ctr" indent="0" marL="0">
              <a:buNone/>
            </a:pPr>
            <a:r>
              <a:rPr lang="en-US" sz="800" dirty="0">
                <a:solidFill>
                  <a:srgbClr val="E2E8F0"/>
                </a:solidFill>
                <a:latin typeface="Calibri" pitchFamily="34" charset="0"/>
                <a:ea typeface="Calibri" pitchFamily="34" charset="-122"/>
                <a:cs typeface="Calibri" pitchFamily="34" charset="-120"/>
              </a:rPr>
              <a:t>Head 2</a:t>
            </a:r>
            <a:endParaRPr lang="en-US" sz="800" dirty="0"/>
          </a:p>
          <a:p>
            <a:pPr algn="ctr" indent="0" marL="0">
              <a:buNone/>
            </a:pPr>
            <a:r>
              <a:rPr lang="en-US" sz="800" dirty="0">
                <a:solidFill>
                  <a:srgbClr val="E2E8F0"/>
                </a:solidFill>
                <a:latin typeface="Calibri" pitchFamily="34" charset="0"/>
                <a:ea typeface="Calibri" pitchFamily="34" charset="-122"/>
                <a:cs typeface="Calibri" pitchFamily="34" charset="-120"/>
              </a:rPr>
              <a:t>Coreference</a:t>
            </a:r>
            <a:endParaRPr lang="en-US" sz="800" dirty="0"/>
          </a:p>
        </p:txBody>
      </p:sp>
      <p:sp>
        <p:nvSpPr>
          <p:cNvPr id="11" name="Shape 9"/>
          <p:cNvSpPr/>
          <p:nvPr/>
        </p:nvSpPr>
        <p:spPr>
          <a:xfrm>
            <a:off x="2560320" y="2377440"/>
            <a:ext cx="914400" cy="822960"/>
          </a:xfrm>
          <a:prstGeom prst="rect">
            <a:avLst/>
          </a:prstGeom>
          <a:solidFill>
            <a:srgbClr val="161B2E"/>
          </a:solidFill>
          <a:ln w="7620">
            <a:solidFill>
              <a:srgbClr val="6366F1"/>
            </a:solidFill>
            <a:prstDash val="solid"/>
          </a:ln>
        </p:spPr>
      </p:sp>
      <p:sp>
        <p:nvSpPr>
          <p:cNvPr id="12" name="Text 10"/>
          <p:cNvSpPr/>
          <p:nvPr/>
        </p:nvSpPr>
        <p:spPr>
          <a:xfrm>
            <a:off x="2560320" y="2377440"/>
            <a:ext cx="914400" cy="822960"/>
          </a:xfrm>
          <a:prstGeom prst="rect">
            <a:avLst/>
          </a:prstGeom>
          <a:noFill/>
          <a:ln/>
        </p:spPr>
        <p:txBody>
          <a:bodyPr wrap="square" lIns="0" tIns="0" rIns="0" bIns="0" rtlCol="0" anchor="ctr"/>
          <a:lstStyle/>
          <a:p>
            <a:pPr algn="ctr" indent="0" marL="0">
              <a:buNone/>
            </a:pPr>
            <a:r>
              <a:rPr lang="en-US" sz="800" dirty="0">
                <a:solidFill>
                  <a:srgbClr val="E2E8F0"/>
                </a:solidFill>
                <a:latin typeface="Calibri" pitchFamily="34" charset="0"/>
                <a:ea typeface="Calibri" pitchFamily="34" charset="-122"/>
                <a:cs typeface="Calibri" pitchFamily="34" charset="-120"/>
              </a:rPr>
              <a:t>Head 3</a:t>
            </a:r>
            <a:endParaRPr lang="en-US" sz="800" dirty="0"/>
          </a:p>
          <a:p>
            <a:pPr algn="ctr" indent="0" marL="0">
              <a:buNone/>
            </a:pPr>
            <a:r>
              <a:rPr lang="en-US" sz="800" dirty="0">
                <a:solidFill>
                  <a:srgbClr val="E2E8F0"/>
                </a:solidFill>
                <a:latin typeface="Calibri" pitchFamily="34" charset="0"/>
                <a:ea typeface="Calibri" pitchFamily="34" charset="-122"/>
                <a:cs typeface="Calibri" pitchFamily="34" charset="-120"/>
              </a:rPr>
              <a:t>Position</a:t>
            </a:r>
            <a:endParaRPr lang="en-US" sz="800" dirty="0"/>
          </a:p>
        </p:txBody>
      </p:sp>
      <p:sp>
        <p:nvSpPr>
          <p:cNvPr id="13" name="Shape 11"/>
          <p:cNvSpPr/>
          <p:nvPr/>
        </p:nvSpPr>
        <p:spPr>
          <a:xfrm>
            <a:off x="3611880" y="2377440"/>
            <a:ext cx="914400" cy="822960"/>
          </a:xfrm>
          <a:prstGeom prst="rect">
            <a:avLst/>
          </a:prstGeom>
          <a:solidFill>
            <a:srgbClr val="161B2E"/>
          </a:solidFill>
          <a:ln w="7620">
            <a:solidFill>
              <a:srgbClr val="6366F1"/>
            </a:solidFill>
            <a:prstDash val="solid"/>
          </a:ln>
        </p:spPr>
      </p:sp>
      <p:sp>
        <p:nvSpPr>
          <p:cNvPr id="14" name="Text 12"/>
          <p:cNvSpPr/>
          <p:nvPr/>
        </p:nvSpPr>
        <p:spPr>
          <a:xfrm>
            <a:off x="3611880" y="2377440"/>
            <a:ext cx="914400" cy="822960"/>
          </a:xfrm>
          <a:prstGeom prst="rect">
            <a:avLst/>
          </a:prstGeom>
          <a:noFill/>
          <a:ln/>
        </p:spPr>
        <p:txBody>
          <a:bodyPr wrap="square" lIns="0" tIns="0" rIns="0" bIns="0" rtlCol="0" anchor="ctr"/>
          <a:lstStyle/>
          <a:p>
            <a:pPr algn="ctr" indent="0" marL="0">
              <a:buNone/>
            </a:pPr>
            <a:r>
              <a:rPr lang="en-US" sz="800" dirty="0">
                <a:solidFill>
                  <a:srgbClr val="E2E8F0"/>
                </a:solidFill>
                <a:latin typeface="Calibri" pitchFamily="34" charset="0"/>
                <a:ea typeface="Calibri" pitchFamily="34" charset="-122"/>
                <a:cs typeface="Calibri" pitchFamily="34" charset="-120"/>
              </a:rPr>
              <a:t>Head 4</a:t>
            </a:r>
            <a:endParaRPr lang="en-US" sz="800" dirty="0"/>
          </a:p>
          <a:p>
            <a:pPr algn="ctr" indent="0" marL="0">
              <a:buNone/>
            </a:pPr>
            <a:r>
              <a:rPr lang="en-US" sz="800" dirty="0">
                <a:solidFill>
                  <a:srgbClr val="E2E8F0"/>
                </a:solidFill>
                <a:latin typeface="Calibri" pitchFamily="34" charset="0"/>
                <a:ea typeface="Calibri" pitchFamily="34" charset="-122"/>
                <a:cs typeface="Calibri" pitchFamily="34" charset="-120"/>
              </a:rPr>
              <a:t>Semantic</a:t>
            </a:r>
            <a:endParaRPr lang="en-US" sz="800" dirty="0"/>
          </a:p>
        </p:txBody>
      </p:sp>
      <p:sp>
        <p:nvSpPr>
          <p:cNvPr id="15" name="Shape 13"/>
          <p:cNvSpPr/>
          <p:nvPr/>
        </p:nvSpPr>
        <p:spPr>
          <a:xfrm>
            <a:off x="4663440" y="2377440"/>
            <a:ext cx="914400" cy="822960"/>
          </a:xfrm>
          <a:prstGeom prst="rect">
            <a:avLst/>
          </a:prstGeom>
          <a:solidFill>
            <a:srgbClr val="161B2E"/>
          </a:solidFill>
          <a:ln w="7620">
            <a:solidFill>
              <a:srgbClr val="6366F1"/>
            </a:solidFill>
            <a:prstDash val="solid"/>
          </a:ln>
        </p:spPr>
      </p:sp>
      <p:sp>
        <p:nvSpPr>
          <p:cNvPr id="16" name="Text 14"/>
          <p:cNvSpPr/>
          <p:nvPr/>
        </p:nvSpPr>
        <p:spPr>
          <a:xfrm>
            <a:off x="4663440" y="2377440"/>
            <a:ext cx="914400" cy="822960"/>
          </a:xfrm>
          <a:prstGeom prst="rect">
            <a:avLst/>
          </a:prstGeom>
          <a:noFill/>
          <a:ln/>
        </p:spPr>
        <p:txBody>
          <a:bodyPr wrap="square" lIns="0" tIns="0" rIns="0" bIns="0" rtlCol="0" anchor="ctr"/>
          <a:lstStyle/>
          <a:p>
            <a:pPr algn="ctr" indent="0" marL="0">
              <a:buNone/>
            </a:pPr>
            <a:r>
              <a:rPr lang="en-US" sz="800" dirty="0">
                <a:solidFill>
                  <a:srgbClr val="E2E8F0"/>
                </a:solidFill>
                <a:latin typeface="Calibri" pitchFamily="34" charset="0"/>
                <a:ea typeface="Calibri" pitchFamily="34" charset="-122"/>
                <a:cs typeface="Calibri" pitchFamily="34" charset="-120"/>
              </a:rPr>
              <a:t>Head 5</a:t>
            </a:r>
            <a:endParaRPr lang="en-US" sz="800" dirty="0"/>
          </a:p>
          <a:p>
            <a:pPr algn="ctr" indent="0" marL="0">
              <a:buNone/>
            </a:pPr>
            <a:r>
              <a:rPr lang="en-US" sz="800" dirty="0">
                <a:solidFill>
                  <a:srgbClr val="E2E8F0"/>
                </a:solidFill>
                <a:latin typeface="Calibri" pitchFamily="34" charset="0"/>
                <a:ea typeface="Calibri" pitchFamily="34" charset="-122"/>
                <a:cs typeface="Calibri" pitchFamily="34" charset="-120"/>
              </a:rPr>
              <a:t>Entity</a:t>
            </a:r>
            <a:endParaRPr lang="en-US" sz="800" dirty="0"/>
          </a:p>
        </p:txBody>
      </p:sp>
      <p:sp>
        <p:nvSpPr>
          <p:cNvPr id="17" name="Shape 15"/>
          <p:cNvSpPr/>
          <p:nvPr/>
        </p:nvSpPr>
        <p:spPr>
          <a:xfrm>
            <a:off x="5715000" y="2377440"/>
            <a:ext cx="914400" cy="822960"/>
          </a:xfrm>
          <a:prstGeom prst="rect">
            <a:avLst/>
          </a:prstGeom>
          <a:solidFill>
            <a:srgbClr val="161B2E"/>
          </a:solidFill>
          <a:ln w="7620">
            <a:solidFill>
              <a:srgbClr val="6366F1"/>
            </a:solidFill>
            <a:prstDash val="solid"/>
          </a:ln>
        </p:spPr>
      </p:sp>
      <p:sp>
        <p:nvSpPr>
          <p:cNvPr id="18" name="Text 16"/>
          <p:cNvSpPr/>
          <p:nvPr/>
        </p:nvSpPr>
        <p:spPr>
          <a:xfrm>
            <a:off x="5715000" y="2377440"/>
            <a:ext cx="914400" cy="822960"/>
          </a:xfrm>
          <a:prstGeom prst="rect">
            <a:avLst/>
          </a:prstGeom>
          <a:noFill/>
          <a:ln/>
        </p:spPr>
        <p:txBody>
          <a:bodyPr wrap="square" lIns="0" tIns="0" rIns="0" bIns="0" rtlCol="0" anchor="ctr"/>
          <a:lstStyle/>
          <a:p>
            <a:pPr algn="ctr" indent="0" marL="0">
              <a:buNone/>
            </a:pPr>
            <a:r>
              <a:rPr lang="en-US" sz="800" dirty="0">
                <a:solidFill>
                  <a:srgbClr val="E2E8F0"/>
                </a:solidFill>
                <a:latin typeface="Calibri" pitchFamily="34" charset="0"/>
                <a:ea typeface="Calibri" pitchFamily="34" charset="-122"/>
                <a:cs typeface="Calibri" pitchFamily="34" charset="-120"/>
              </a:rPr>
              <a:t>Head 6</a:t>
            </a:r>
            <a:endParaRPr lang="en-US" sz="800" dirty="0"/>
          </a:p>
          <a:p>
            <a:pPr algn="ctr" indent="0" marL="0">
              <a:buNone/>
            </a:pPr>
            <a:r>
              <a:rPr lang="en-US" sz="800" dirty="0">
                <a:solidFill>
                  <a:srgbClr val="E2E8F0"/>
                </a:solidFill>
                <a:latin typeface="Calibri" pitchFamily="34" charset="0"/>
                <a:ea typeface="Calibri" pitchFamily="34" charset="-122"/>
                <a:cs typeface="Calibri" pitchFamily="34" charset="-120"/>
              </a:rPr>
              <a:t>Negation</a:t>
            </a:r>
            <a:endParaRPr lang="en-US" sz="800" dirty="0"/>
          </a:p>
        </p:txBody>
      </p:sp>
      <p:sp>
        <p:nvSpPr>
          <p:cNvPr id="19" name="Shape 17"/>
          <p:cNvSpPr/>
          <p:nvPr/>
        </p:nvSpPr>
        <p:spPr>
          <a:xfrm>
            <a:off x="6766560" y="2377440"/>
            <a:ext cx="914400" cy="822960"/>
          </a:xfrm>
          <a:prstGeom prst="rect">
            <a:avLst/>
          </a:prstGeom>
          <a:solidFill>
            <a:srgbClr val="161B2E"/>
          </a:solidFill>
          <a:ln w="7620">
            <a:solidFill>
              <a:srgbClr val="6366F1"/>
            </a:solidFill>
            <a:prstDash val="solid"/>
          </a:ln>
        </p:spPr>
      </p:sp>
      <p:sp>
        <p:nvSpPr>
          <p:cNvPr id="20" name="Text 18"/>
          <p:cNvSpPr/>
          <p:nvPr/>
        </p:nvSpPr>
        <p:spPr>
          <a:xfrm>
            <a:off x="6766560" y="2377440"/>
            <a:ext cx="914400" cy="822960"/>
          </a:xfrm>
          <a:prstGeom prst="rect">
            <a:avLst/>
          </a:prstGeom>
          <a:noFill/>
          <a:ln/>
        </p:spPr>
        <p:txBody>
          <a:bodyPr wrap="square" lIns="0" tIns="0" rIns="0" bIns="0" rtlCol="0" anchor="ctr"/>
          <a:lstStyle/>
          <a:p>
            <a:pPr algn="ctr" indent="0" marL="0">
              <a:buNone/>
            </a:pPr>
            <a:r>
              <a:rPr lang="en-US" sz="800" dirty="0">
                <a:solidFill>
                  <a:srgbClr val="E2E8F0"/>
                </a:solidFill>
                <a:latin typeface="Calibri" pitchFamily="34" charset="0"/>
                <a:ea typeface="Calibri" pitchFamily="34" charset="-122"/>
                <a:cs typeface="Calibri" pitchFamily="34" charset="-120"/>
              </a:rPr>
              <a:t>Head 7</a:t>
            </a:r>
            <a:endParaRPr lang="en-US" sz="800" dirty="0"/>
          </a:p>
          <a:p>
            <a:pPr algn="ctr" indent="0" marL="0">
              <a:buNone/>
            </a:pPr>
            <a:r>
              <a:rPr lang="en-US" sz="800" dirty="0">
                <a:solidFill>
                  <a:srgbClr val="E2E8F0"/>
                </a:solidFill>
                <a:latin typeface="Calibri" pitchFamily="34" charset="0"/>
                <a:ea typeface="Calibri" pitchFamily="34" charset="-122"/>
                <a:cs typeface="Calibri" pitchFamily="34" charset="-120"/>
              </a:rPr>
              <a:t>Relation</a:t>
            </a:r>
            <a:endParaRPr lang="en-US" sz="800" dirty="0"/>
          </a:p>
        </p:txBody>
      </p:sp>
      <p:sp>
        <p:nvSpPr>
          <p:cNvPr id="21" name="Shape 19"/>
          <p:cNvSpPr/>
          <p:nvPr/>
        </p:nvSpPr>
        <p:spPr>
          <a:xfrm>
            <a:off x="7818120" y="2377440"/>
            <a:ext cx="914400" cy="822960"/>
          </a:xfrm>
          <a:prstGeom prst="rect">
            <a:avLst/>
          </a:prstGeom>
          <a:solidFill>
            <a:srgbClr val="161B2E"/>
          </a:solidFill>
          <a:ln w="7620">
            <a:solidFill>
              <a:srgbClr val="6366F1"/>
            </a:solidFill>
            <a:prstDash val="solid"/>
          </a:ln>
        </p:spPr>
      </p:sp>
      <p:sp>
        <p:nvSpPr>
          <p:cNvPr id="22" name="Text 20"/>
          <p:cNvSpPr/>
          <p:nvPr/>
        </p:nvSpPr>
        <p:spPr>
          <a:xfrm>
            <a:off x="7818120" y="2377440"/>
            <a:ext cx="914400" cy="822960"/>
          </a:xfrm>
          <a:prstGeom prst="rect">
            <a:avLst/>
          </a:prstGeom>
          <a:noFill/>
          <a:ln/>
        </p:spPr>
        <p:txBody>
          <a:bodyPr wrap="square" lIns="0" tIns="0" rIns="0" bIns="0" rtlCol="0" anchor="ctr"/>
          <a:lstStyle/>
          <a:p>
            <a:pPr algn="ctr" indent="0" marL="0">
              <a:buNone/>
            </a:pPr>
            <a:r>
              <a:rPr lang="en-US" sz="800" dirty="0">
                <a:solidFill>
                  <a:srgbClr val="E2E8F0"/>
                </a:solidFill>
                <a:latin typeface="Calibri" pitchFamily="34" charset="0"/>
                <a:ea typeface="Calibri" pitchFamily="34" charset="-122"/>
                <a:cs typeface="Calibri" pitchFamily="34" charset="-120"/>
              </a:rPr>
              <a:t>Head 8</a:t>
            </a:r>
            <a:endParaRPr lang="en-US" sz="800" dirty="0"/>
          </a:p>
          <a:p>
            <a:pPr algn="ctr" indent="0" marL="0">
              <a:buNone/>
            </a:pPr>
            <a:r>
              <a:rPr lang="en-US" sz="800" dirty="0">
                <a:solidFill>
                  <a:srgbClr val="E2E8F0"/>
                </a:solidFill>
                <a:latin typeface="Calibri" pitchFamily="34" charset="0"/>
                <a:ea typeface="Calibri" pitchFamily="34" charset="-122"/>
                <a:cs typeface="Calibri" pitchFamily="34" charset="-120"/>
              </a:rPr>
              <a:t>Global</a:t>
            </a:r>
            <a:endParaRPr lang="en-US" sz="800" dirty="0"/>
          </a:p>
        </p:txBody>
      </p:sp>
      <p:sp>
        <p:nvSpPr>
          <p:cNvPr id="23" name="Text 21"/>
          <p:cNvSpPr/>
          <p:nvPr/>
        </p:nvSpPr>
        <p:spPr>
          <a:xfrm>
            <a:off x="3200400" y="3337560"/>
            <a:ext cx="2743200" cy="274320"/>
          </a:xfrm>
          <a:prstGeom prst="rect">
            <a:avLst/>
          </a:prstGeom>
          <a:noFill/>
          <a:ln/>
        </p:spPr>
        <p:txBody>
          <a:bodyPr wrap="square" lIns="0" tIns="0" rIns="0" bIns="0" rtlCol="0" anchor="ctr"/>
          <a:lstStyle/>
          <a:p>
            <a:pPr algn="ctr" indent="0" marL="0">
              <a:buNone/>
            </a:pPr>
            <a:r>
              <a:rPr lang="en-US" sz="1200" b="1" dirty="0">
                <a:solidFill>
                  <a:srgbClr val="7C3AED"/>
                </a:solidFill>
                <a:latin typeface="Trebuchet MS" pitchFamily="34" charset="0"/>
                <a:ea typeface="Trebuchet MS" pitchFamily="34" charset="-122"/>
                <a:cs typeface="Trebuchet MS" pitchFamily="34" charset="-120"/>
              </a:rPr>
              <a:t>Concat</a:t>
            </a:r>
            <a:endParaRPr lang="en-US" sz="1200" dirty="0"/>
          </a:p>
        </p:txBody>
      </p:sp>
      <p:sp>
        <p:nvSpPr>
          <p:cNvPr id="24" name="Text 22"/>
          <p:cNvSpPr/>
          <p:nvPr/>
        </p:nvSpPr>
        <p:spPr>
          <a:xfrm>
            <a:off x="4114800" y="3566160"/>
            <a:ext cx="914400" cy="274320"/>
          </a:xfrm>
          <a:prstGeom prst="rect">
            <a:avLst/>
          </a:prstGeom>
          <a:noFill/>
          <a:ln/>
        </p:spPr>
        <p:txBody>
          <a:bodyPr wrap="square" lIns="0" tIns="0" rIns="0" bIns="0" rtlCol="0" anchor="ctr"/>
          <a:lstStyle/>
          <a:p>
            <a:pPr algn="ctr" indent="0" marL="0">
              <a:buNone/>
            </a:pPr>
            <a:r>
              <a:rPr lang="en-US" sz="1600" dirty="0">
                <a:solidFill>
                  <a:srgbClr val="7C3AED"/>
                </a:solidFill>
              </a:rPr>
              <a:t>↓</a:t>
            </a:r>
            <a:endParaRPr lang="en-US" sz="1600" dirty="0"/>
          </a:p>
        </p:txBody>
      </p:sp>
      <p:sp>
        <p:nvSpPr>
          <p:cNvPr id="25" name="Shape 23"/>
          <p:cNvSpPr/>
          <p:nvPr/>
        </p:nvSpPr>
        <p:spPr>
          <a:xfrm>
            <a:off x="2743200" y="3794760"/>
            <a:ext cx="3657600" cy="320040"/>
          </a:xfrm>
          <a:prstGeom prst="rect">
            <a:avLst/>
          </a:prstGeom>
          <a:solidFill>
            <a:srgbClr val="7C3AED"/>
          </a:solidFill>
          <a:ln/>
        </p:spPr>
      </p:sp>
      <p:sp>
        <p:nvSpPr>
          <p:cNvPr id="26" name="Text 24"/>
          <p:cNvSpPr/>
          <p:nvPr/>
        </p:nvSpPr>
        <p:spPr>
          <a:xfrm>
            <a:off x="2743200" y="3794760"/>
            <a:ext cx="365760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Linear Projection W^O</a:t>
            </a:r>
            <a:endParaRPr lang="en-US" sz="1100" dirty="0"/>
          </a:p>
        </p:txBody>
      </p:sp>
      <p:sp>
        <p:nvSpPr>
          <p:cNvPr id="27" name="Shape 25"/>
          <p:cNvSpPr/>
          <p:nvPr/>
        </p:nvSpPr>
        <p:spPr>
          <a:xfrm>
            <a:off x="6858000" y="2377440"/>
            <a:ext cx="1828800" cy="96012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28" name="Text 26"/>
          <p:cNvSpPr/>
          <p:nvPr/>
        </p:nvSpPr>
        <p:spPr>
          <a:xfrm>
            <a:off x="6858000" y="2450592"/>
            <a:ext cx="1828800" cy="457200"/>
          </a:xfrm>
          <a:prstGeom prst="rect">
            <a:avLst/>
          </a:prstGeom>
          <a:noFill/>
          <a:ln/>
        </p:spPr>
        <p:txBody>
          <a:bodyPr wrap="square" lIns="0" tIns="0" rIns="0" bIns="0" rtlCol="0" anchor="ctr"/>
          <a:lstStyle/>
          <a:p>
            <a:pPr algn="ctr" indent="0" marL="0">
              <a:buNone/>
            </a:pPr>
            <a:r>
              <a:rPr lang="en-US" sz="2600" b="1" dirty="0">
                <a:solidFill>
                  <a:srgbClr val="7C3AED"/>
                </a:solidFill>
                <a:latin typeface="Trebuchet MS" pitchFamily="34" charset="0"/>
                <a:ea typeface="Trebuchet MS" pitchFamily="34" charset="-122"/>
                <a:cs typeface="Trebuchet MS" pitchFamily="34" charset="-120"/>
              </a:rPr>
              <a:t>h = 8</a:t>
            </a:r>
            <a:endParaRPr lang="en-US" sz="2600" dirty="0"/>
          </a:p>
        </p:txBody>
      </p:sp>
      <p:sp>
        <p:nvSpPr>
          <p:cNvPr id="29" name="Text 27"/>
          <p:cNvSpPr/>
          <p:nvPr/>
        </p:nvSpPr>
        <p:spPr>
          <a:xfrm>
            <a:off x="6858000" y="2926080"/>
            <a:ext cx="1828800" cy="320040"/>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Heads (Base)</a:t>
            </a:r>
            <a:endParaRPr lang="en-US" sz="900" dirty="0"/>
          </a:p>
        </p:txBody>
      </p:sp>
      <p:sp>
        <p:nvSpPr>
          <p:cNvPr id="30" name="Shape 28"/>
          <p:cNvSpPr/>
          <p:nvPr/>
        </p:nvSpPr>
        <p:spPr>
          <a:xfrm>
            <a:off x="6858000" y="3474720"/>
            <a:ext cx="1828800" cy="96012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31" name="Text 29"/>
          <p:cNvSpPr/>
          <p:nvPr/>
        </p:nvSpPr>
        <p:spPr>
          <a:xfrm>
            <a:off x="6858000" y="3547872"/>
            <a:ext cx="1828800" cy="457200"/>
          </a:xfrm>
          <a:prstGeom prst="rect">
            <a:avLst/>
          </a:prstGeom>
          <a:noFill/>
          <a:ln/>
        </p:spPr>
        <p:txBody>
          <a:bodyPr wrap="square" lIns="0" tIns="0" rIns="0" bIns="0" rtlCol="0" anchor="ctr"/>
          <a:lstStyle/>
          <a:p>
            <a:pPr algn="ctr" indent="0" marL="0">
              <a:buNone/>
            </a:pPr>
            <a:r>
              <a:rPr lang="en-US" sz="2600" b="1" dirty="0">
                <a:solidFill>
                  <a:srgbClr val="6366F1"/>
                </a:solidFill>
                <a:latin typeface="Trebuchet MS" pitchFamily="34" charset="0"/>
                <a:ea typeface="Trebuchet MS" pitchFamily="34" charset="-122"/>
                <a:cs typeface="Trebuchet MS" pitchFamily="34" charset="-120"/>
              </a:rPr>
              <a:t>d_k = 64</a:t>
            </a:r>
            <a:endParaRPr lang="en-US" sz="2600" dirty="0"/>
          </a:p>
        </p:txBody>
      </p:sp>
      <p:sp>
        <p:nvSpPr>
          <p:cNvPr id="32" name="Text 30"/>
          <p:cNvSpPr/>
          <p:nvPr/>
        </p:nvSpPr>
        <p:spPr>
          <a:xfrm>
            <a:off x="6858000" y="4023360"/>
            <a:ext cx="1828800" cy="320040"/>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Head Dim</a:t>
            </a:r>
            <a:endParaRPr lang="en-US" sz="900" dirty="0"/>
          </a:p>
        </p:txBody>
      </p:sp>
      <p:sp>
        <p:nvSpPr>
          <p:cNvPr id="33" name="Text 31"/>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9 / 30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457200" y="228600"/>
            <a:ext cx="2286000" cy="274320"/>
          </a:xfrm>
          <a:prstGeom prst="rect">
            <a:avLst/>
          </a:prstGeom>
          <a:noFill/>
          <a:ln/>
        </p:spPr>
        <p:txBody>
          <a:bodyPr wrap="square" lIns="0" tIns="0" rIns="0" bIns="0" rtlCol="0" anchor="ctr"/>
          <a:lstStyle/>
          <a:p>
            <a:pPr indent="0" marL="0">
              <a:buNone/>
            </a:pPr>
            <a:r>
              <a:rPr lang="en-US" sz="800" b="1" spc="400" kern="0" dirty="0">
                <a:solidFill>
                  <a:srgbClr val="6366F1"/>
                </a:solidFill>
                <a:latin typeface="Calibri" pitchFamily="34" charset="0"/>
                <a:ea typeface="Calibri" pitchFamily="34" charset="-122"/>
                <a:cs typeface="Calibri" pitchFamily="34" charset="-120"/>
              </a:rPr>
              <a:t>ATTENTION</a:t>
            </a:r>
            <a:endParaRPr lang="en-US" sz="8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Self-Attention vs Cross-Attention</a:t>
            </a:r>
            <a:endParaRPr lang="en-US" sz="2600" dirty="0"/>
          </a:p>
        </p:txBody>
      </p:sp>
      <p:sp>
        <p:nvSpPr>
          <p:cNvPr id="4" name="Shape 2"/>
          <p:cNvSpPr/>
          <p:nvPr/>
        </p:nvSpPr>
        <p:spPr>
          <a:xfrm>
            <a:off x="457200" y="1188720"/>
            <a:ext cx="4023360" cy="182880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5" name="Shape 3"/>
          <p:cNvSpPr/>
          <p:nvPr/>
        </p:nvSpPr>
        <p:spPr>
          <a:xfrm>
            <a:off x="457200" y="1188720"/>
            <a:ext cx="54864" cy="1828800"/>
          </a:xfrm>
          <a:prstGeom prst="rect">
            <a:avLst/>
          </a:prstGeom>
          <a:solidFill>
            <a:srgbClr val="7C3AED"/>
          </a:solidFill>
          <a:ln/>
        </p:spPr>
      </p:sp>
      <p:pic>
        <p:nvPicPr>
          <p:cNvPr id="6" name="Image 0" descr="preencoded.png">    </p:cNvPr>
          <p:cNvPicPr>
            <a:picLocks noChangeAspect="1"/>
          </p:cNvPicPr>
          <p:nvPr/>
        </p:nvPicPr>
        <p:blipFill>
          <a:blip r:embed="rId1"/>
          <a:stretch>
            <a:fillRect/>
          </a:stretch>
        </p:blipFill>
        <p:spPr>
          <a:xfrm>
            <a:off x="640080" y="1325880"/>
            <a:ext cx="292608" cy="292608"/>
          </a:xfrm>
          <a:prstGeom prst="rect">
            <a:avLst/>
          </a:prstGeom>
        </p:spPr>
      </p:pic>
      <p:sp>
        <p:nvSpPr>
          <p:cNvPr id="7" name="Text 4"/>
          <p:cNvSpPr/>
          <p:nvPr/>
        </p:nvSpPr>
        <p:spPr>
          <a:xfrm>
            <a:off x="1051560" y="1298448"/>
            <a:ext cx="3246120" cy="27432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Self-Attention</a:t>
            </a:r>
            <a:endParaRPr lang="en-US" sz="1200" dirty="0"/>
          </a:p>
        </p:txBody>
      </p:sp>
      <p:sp>
        <p:nvSpPr>
          <p:cNvPr id="8" name="Text 5"/>
          <p:cNvSpPr/>
          <p:nvPr/>
        </p:nvSpPr>
        <p:spPr>
          <a:xfrm>
            <a:off x="640080" y="1627632"/>
            <a:ext cx="3657600" cy="1298448"/>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Q, K, V all come from the SAME sequence. Each token attends to every other token in its own sequence. Used in both encoder and decoder. Captures intra-sequence dependencies — syntax, coreference, semantic roles.</a:t>
            </a:r>
            <a:endParaRPr lang="en-US" sz="950" dirty="0"/>
          </a:p>
        </p:txBody>
      </p:sp>
      <p:sp>
        <p:nvSpPr>
          <p:cNvPr id="9" name="Shape 6"/>
          <p:cNvSpPr/>
          <p:nvPr/>
        </p:nvSpPr>
        <p:spPr>
          <a:xfrm>
            <a:off x="4754880" y="1188720"/>
            <a:ext cx="4023360" cy="182880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10" name="Shape 7"/>
          <p:cNvSpPr/>
          <p:nvPr/>
        </p:nvSpPr>
        <p:spPr>
          <a:xfrm>
            <a:off x="4754880" y="1188720"/>
            <a:ext cx="54864" cy="1828800"/>
          </a:xfrm>
          <a:prstGeom prst="rect">
            <a:avLst/>
          </a:prstGeom>
          <a:solidFill>
            <a:srgbClr val="3B82F6"/>
          </a:solidFill>
          <a:ln/>
        </p:spPr>
      </p:sp>
      <p:pic>
        <p:nvPicPr>
          <p:cNvPr id="11" name="Image 1" descr="preencoded.png">    </p:cNvPr>
          <p:cNvPicPr>
            <a:picLocks noChangeAspect="1"/>
          </p:cNvPicPr>
          <p:nvPr/>
        </p:nvPicPr>
        <p:blipFill>
          <a:blip r:embed="rId2"/>
          <a:stretch>
            <a:fillRect/>
          </a:stretch>
        </p:blipFill>
        <p:spPr>
          <a:xfrm>
            <a:off x="4937760" y="1325880"/>
            <a:ext cx="292608" cy="292608"/>
          </a:xfrm>
          <a:prstGeom prst="rect">
            <a:avLst/>
          </a:prstGeom>
        </p:spPr>
      </p:pic>
      <p:sp>
        <p:nvSpPr>
          <p:cNvPr id="12" name="Text 8"/>
          <p:cNvSpPr/>
          <p:nvPr/>
        </p:nvSpPr>
        <p:spPr>
          <a:xfrm>
            <a:off x="5349240" y="1298448"/>
            <a:ext cx="3246120" cy="27432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Cross-Attention</a:t>
            </a:r>
            <a:endParaRPr lang="en-US" sz="1200" dirty="0"/>
          </a:p>
        </p:txBody>
      </p:sp>
      <p:sp>
        <p:nvSpPr>
          <p:cNvPr id="13" name="Text 9"/>
          <p:cNvSpPr/>
          <p:nvPr/>
        </p:nvSpPr>
        <p:spPr>
          <a:xfrm>
            <a:off x="4937760" y="1627632"/>
            <a:ext cx="3657600" cy="1298448"/>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Q comes from the DECODER, K and V come from the ENCODER output. Allows the decoder to "look at" the encoder's representation. Essential for seq2seq tasks — translation, summarization. Bridges two different sequences.</a:t>
            </a:r>
            <a:endParaRPr lang="en-US" sz="950" dirty="0"/>
          </a:p>
        </p:txBody>
      </p:sp>
      <p:sp>
        <p:nvSpPr>
          <p:cNvPr id="14" name="Shape 10"/>
          <p:cNvSpPr/>
          <p:nvPr/>
        </p:nvSpPr>
        <p:spPr>
          <a:xfrm>
            <a:off x="457200" y="3246120"/>
            <a:ext cx="4023360" cy="146304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15" name="Shape 11"/>
          <p:cNvSpPr/>
          <p:nvPr/>
        </p:nvSpPr>
        <p:spPr>
          <a:xfrm>
            <a:off x="457200" y="3246120"/>
            <a:ext cx="54864" cy="1463040"/>
          </a:xfrm>
          <a:prstGeom prst="rect">
            <a:avLst/>
          </a:prstGeom>
          <a:solidFill>
            <a:srgbClr val="F43F5E"/>
          </a:solidFill>
          <a:ln/>
        </p:spPr>
      </p:sp>
      <p:pic>
        <p:nvPicPr>
          <p:cNvPr id="16" name="Image 2" descr="preencoded.png">    </p:cNvPr>
          <p:cNvPicPr>
            <a:picLocks noChangeAspect="1"/>
          </p:cNvPicPr>
          <p:nvPr/>
        </p:nvPicPr>
        <p:blipFill>
          <a:blip r:embed="rId3"/>
          <a:stretch>
            <a:fillRect/>
          </a:stretch>
        </p:blipFill>
        <p:spPr>
          <a:xfrm>
            <a:off x="640080" y="3383280"/>
            <a:ext cx="292608" cy="292608"/>
          </a:xfrm>
          <a:prstGeom prst="rect">
            <a:avLst/>
          </a:prstGeom>
        </p:spPr>
      </p:pic>
      <p:sp>
        <p:nvSpPr>
          <p:cNvPr id="17" name="Text 12"/>
          <p:cNvSpPr/>
          <p:nvPr/>
        </p:nvSpPr>
        <p:spPr>
          <a:xfrm>
            <a:off x="1051560" y="3355848"/>
            <a:ext cx="3246120" cy="27432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Causal (Masked) Self-Attention</a:t>
            </a:r>
            <a:endParaRPr lang="en-US" sz="1200" dirty="0"/>
          </a:p>
        </p:txBody>
      </p:sp>
      <p:sp>
        <p:nvSpPr>
          <p:cNvPr id="18" name="Text 13"/>
          <p:cNvSpPr/>
          <p:nvPr/>
        </p:nvSpPr>
        <p:spPr>
          <a:xfrm>
            <a:off x="640080" y="3685032"/>
            <a:ext cx="3657600" cy="932688"/>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Self-attention with a triangular mask preventing tokens from attending to future positions. Used in autoregressive decoders (GPT, LLaMA). Mask sets future attention scores to -∞ before softmax, ensuring left-to-right generation.</a:t>
            </a:r>
            <a:endParaRPr lang="en-US" sz="950" dirty="0"/>
          </a:p>
        </p:txBody>
      </p:sp>
      <p:sp>
        <p:nvSpPr>
          <p:cNvPr id="19" name="Shape 14"/>
          <p:cNvSpPr/>
          <p:nvPr/>
        </p:nvSpPr>
        <p:spPr>
          <a:xfrm>
            <a:off x="4754880" y="3246120"/>
            <a:ext cx="4023360" cy="146304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20" name="Shape 15"/>
          <p:cNvSpPr/>
          <p:nvPr/>
        </p:nvSpPr>
        <p:spPr>
          <a:xfrm>
            <a:off x="4754880" y="3246120"/>
            <a:ext cx="54864" cy="1463040"/>
          </a:xfrm>
          <a:prstGeom prst="rect">
            <a:avLst/>
          </a:prstGeom>
          <a:solidFill>
            <a:srgbClr val="14B8A6"/>
          </a:solidFill>
          <a:ln/>
        </p:spPr>
      </p:sp>
      <p:pic>
        <p:nvPicPr>
          <p:cNvPr id="21" name="Image 3" descr="preencoded.png">    </p:cNvPr>
          <p:cNvPicPr>
            <a:picLocks noChangeAspect="1"/>
          </p:cNvPicPr>
          <p:nvPr/>
        </p:nvPicPr>
        <p:blipFill>
          <a:blip r:embed="rId4"/>
          <a:stretch>
            <a:fillRect/>
          </a:stretch>
        </p:blipFill>
        <p:spPr>
          <a:xfrm>
            <a:off x="4937760" y="3383280"/>
            <a:ext cx="292608" cy="292608"/>
          </a:xfrm>
          <a:prstGeom prst="rect">
            <a:avLst/>
          </a:prstGeom>
        </p:spPr>
      </p:pic>
      <p:sp>
        <p:nvSpPr>
          <p:cNvPr id="22" name="Text 16"/>
          <p:cNvSpPr/>
          <p:nvPr/>
        </p:nvSpPr>
        <p:spPr>
          <a:xfrm>
            <a:off x="5349240" y="3355848"/>
            <a:ext cx="3246120" cy="27432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Bidirectional Self-Attention</a:t>
            </a:r>
            <a:endParaRPr lang="en-US" sz="1200" dirty="0"/>
          </a:p>
        </p:txBody>
      </p:sp>
      <p:sp>
        <p:nvSpPr>
          <p:cNvPr id="23" name="Text 17"/>
          <p:cNvSpPr/>
          <p:nvPr/>
        </p:nvSpPr>
        <p:spPr>
          <a:xfrm>
            <a:off x="4937760" y="3685032"/>
            <a:ext cx="3657600" cy="932688"/>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Full self-attention without masking — every token sees every other token. Used in encoders (BERT, RoBERTa). Enables rich contextual representations but cannot be used for autoregressive generation.</a:t>
            </a:r>
            <a:endParaRPr lang="en-US" sz="950" dirty="0"/>
          </a:p>
        </p:txBody>
      </p:sp>
      <p:sp>
        <p:nvSpPr>
          <p:cNvPr id="24" name="Text 18"/>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10 / 30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457200" y="228600"/>
            <a:ext cx="2286000" cy="274320"/>
          </a:xfrm>
          <a:prstGeom prst="rect">
            <a:avLst/>
          </a:prstGeom>
          <a:noFill/>
          <a:ln/>
        </p:spPr>
        <p:txBody>
          <a:bodyPr wrap="square" lIns="0" tIns="0" rIns="0" bIns="0" rtlCol="0" anchor="ctr"/>
          <a:lstStyle/>
          <a:p>
            <a:pPr indent="0" marL="0">
              <a:buNone/>
            </a:pPr>
            <a:r>
              <a:rPr lang="en-US" sz="800" b="1" spc="400" kern="0" dirty="0">
                <a:solidFill>
                  <a:srgbClr val="6366F1"/>
                </a:solidFill>
                <a:latin typeface="Calibri" pitchFamily="34" charset="0"/>
                <a:ea typeface="Calibri" pitchFamily="34" charset="-122"/>
                <a:cs typeface="Calibri" pitchFamily="34" charset="-120"/>
              </a:rPr>
              <a:t>ATTENTION</a:t>
            </a:r>
            <a:endParaRPr lang="en-US" sz="8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Multi-Query &amp; Grouped-Query Attention</a:t>
            </a:r>
            <a:endParaRPr lang="en-US" sz="2600" dirty="0"/>
          </a:p>
        </p:txBody>
      </p:sp>
      <p:sp>
        <p:nvSpPr>
          <p:cNvPr id="4" name="Shape 2"/>
          <p:cNvSpPr/>
          <p:nvPr/>
        </p:nvSpPr>
        <p:spPr>
          <a:xfrm>
            <a:off x="457200" y="1188720"/>
            <a:ext cx="8229600" cy="105156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5" name="Shape 3"/>
          <p:cNvSpPr/>
          <p:nvPr/>
        </p:nvSpPr>
        <p:spPr>
          <a:xfrm>
            <a:off x="457200" y="1188720"/>
            <a:ext cx="54864" cy="1051560"/>
          </a:xfrm>
          <a:prstGeom prst="rect">
            <a:avLst/>
          </a:prstGeom>
          <a:solidFill>
            <a:srgbClr val="7C3AED"/>
          </a:solidFill>
          <a:ln/>
        </p:spPr>
      </p:sp>
      <p:sp>
        <p:nvSpPr>
          <p:cNvPr id="6" name="Text 4"/>
          <p:cNvSpPr/>
          <p:nvPr/>
        </p:nvSpPr>
        <p:spPr>
          <a:xfrm>
            <a:off x="731520" y="1261872"/>
            <a:ext cx="2743200" cy="256032"/>
          </a:xfrm>
          <a:prstGeom prst="rect">
            <a:avLst/>
          </a:prstGeom>
          <a:noFill/>
          <a:ln/>
        </p:spPr>
        <p:txBody>
          <a:bodyPr wrap="square" lIns="0" tIns="0" rIns="0" bIns="0" rtlCol="0" anchor="ctr"/>
          <a:lstStyle/>
          <a:p>
            <a:pPr indent="0" marL="0">
              <a:buNone/>
            </a:pPr>
            <a:r>
              <a:rPr lang="en-US" sz="1400" b="1" dirty="0">
                <a:solidFill>
                  <a:srgbClr val="7C3AED"/>
                </a:solidFill>
                <a:latin typeface="Trebuchet MS" pitchFamily="34" charset="0"/>
                <a:ea typeface="Trebuchet MS" pitchFamily="34" charset="-122"/>
                <a:cs typeface="Trebuchet MS" pitchFamily="34" charset="-120"/>
              </a:rPr>
              <a:t>Multi-Head (MHA)</a:t>
            </a:r>
            <a:endParaRPr lang="en-US" sz="1400" dirty="0"/>
          </a:p>
        </p:txBody>
      </p:sp>
      <p:sp>
        <p:nvSpPr>
          <p:cNvPr id="7" name="Shape 5"/>
          <p:cNvSpPr/>
          <p:nvPr/>
        </p:nvSpPr>
        <p:spPr>
          <a:xfrm>
            <a:off x="7132320" y="1261872"/>
            <a:ext cx="1371600" cy="228600"/>
          </a:xfrm>
          <a:prstGeom prst="rect">
            <a:avLst/>
          </a:prstGeom>
          <a:solidFill>
            <a:srgbClr val="7C3AED">
              <a:alpha val="30000"/>
            </a:srgbClr>
          </a:solidFill>
          <a:ln/>
        </p:spPr>
      </p:sp>
      <p:sp>
        <p:nvSpPr>
          <p:cNvPr id="8" name="Text 6"/>
          <p:cNvSpPr/>
          <p:nvPr/>
        </p:nvSpPr>
        <p:spPr>
          <a:xfrm>
            <a:off x="7132320" y="1261872"/>
            <a:ext cx="1371600" cy="228600"/>
          </a:xfrm>
          <a:prstGeom prst="rect">
            <a:avLst/>
          </a:prstGeom>
          <a:noFill/>
          <a:ln/>
        </p:spPr>
        <p:txBody>
          <a:bodyPr wrap="square" lIns="0" tIns="0" rIns="0" bIns="0" rtlCol="0" anchor="ctr"/>
          <a:lstStyle/>
          <a:p>
            <a:pPr algn="ctr" indent="0" marL="0">
              <a:buNone/>
            </a:pPr>
            <a:r>
              <a:rPr lang="en-US" sz="800" dirty="0">
                <a:solidFill>
                  <a:srgbClr val="7C3AED"/>
                </a:solidFill>
                <a:latin typeface="Calibri" pitchFamily="34" charset="0"/>
                <a:ea typeface="Calibri" pitchFamily="34" charset="-122"/>
                <a:cs typeface="Calibri" pitchFamily="34" charset="-120"/>
              </a:rPr>
              <a:t>h KV heads</a:t>
            </a:r>
            <a:endParaRPr lang="en-US" sz="800" dirty="0"/>
          </a:p>
        </p:txBody>
      </p:sp>
      <p:sp>
        <p:nvSpPr>
          <p:cNvPr id="9" name="Text 7"/>
          <p:cNvSpPr/>
          <p:nvPr/>
        </p:nvSpPr>
        <p:spPr>
          <a:xfrm>
            <a:off x="731520" y="1554480"/>
            <a:ext cx="5029200" cy="320040"/>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Standard — each head has its own Q, K, V projections. h heads × 3 projections = 3h weight matrices. Full expressiveness, largest KV cache.</a:t>
            </a:r>
            <a:endParaRPr lang="en-US" sz="1000" dirty="0"/>
          </a:p>
        </p:txBody>
      </p:sp>
      <p:sp>
        <p:nvSpPr>
          <p:cNvPr id="10" name="Text 8"/>
          <p:cNvSpPr/>
          <p:nvPr/>
        </p:nvSpPr>
        <p:spPr>
          <a:xfrm>
            <a:off x="731520" y="1901952"/>
            <a:ext cx="7315200" cy="228600"/>
          </a:xfrm>
          <a:prstGeom prst="rect">
            <a:avLst/>
          </a:prstGeom>
          <a:noFill/>
          <a:ln/>
        </p:spPr>
        <p:txBody>
          <a:bodyPr wrap="square" lIns="0" tIns="0" rIns="0" bIns="0" rtlCol="0" anchor="ctr"/>
          <a:lstStyle/>
          <a:p>
            <a:pPr indent="0" marL="0">
              <a:buNone/>
            </a:pPr>
            <a:r>
              <a:rPr lang="en-US" sz="1000" dirty="0">
                <a:solidFill>
                  <a:srgbClr val="94A3B8"/>
                </a:solidFill>
                <a:latin typeface="Consolas" pitchFamily="34" charset="0"/>
                <a:ea typeface="Consolas" pitchFamily="34" charset="-122"/>
                <a:cs typeface="Consolas" pitchFamily="34" charset="-120"/>
              </a:rPr>
              <a:t>Q₁K₁V₁ Q₂K₂V₂ ... QₕKₕVₕ</a:t>
            </a:r>
            <a:endParaRPr lang="en-US" sz="1000" dirty="0"/>
          </a:p>
        </p:txBody>
      </p:sp>
      <p:sp>
        <p:nvSpPr>
          <p:cNvPr id="11" name="Shape 9"/>
          <p:cNvSpPr/>
          <p:nvPr/>
        </p:nvSpPr>
        <p:spPr>
          <a:xfrm>
            <a:off x="457200" y="2423160"/>
            <a:ext cx="8229600" cy="105156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12" name="Shape 10"/>
          <p:cNvSpPr/>
          <p:nvPr/>
        </p:nvSpPr>
        <p:spPr>
          <a:xfrm>
            <a:off x="457200" y="2423160"/>
            <a:ext cx="54864" cy="1051560"/>
          </a:xfrm>
          <a:prstGeom prst="rect">
            <a:avLst/>
          </a:prstGeom>
          <a:solidFill>
            <a:srgbClr val="3B82F6"/>
          </a:solidFill>
          <a:ln/>
        </p:spPr>
      </p:sp>
      <p:sp>
        <p:nvSpPr>
          <p:cNvPr id="13" name="Text 11"/>
          <p:cNvSpPr/>
          <p:nvPr/>
        </p:nvSpPr>
        <p:spPr>
          <a:xfrm>
            <a:off x="731520" y="2496312"/>
            <a:ext cx="2743200" cy="256032"/>
          </a:xfrm>
          <a:prstGeom prst="rect">
            <a:avLst/>
          </a:prstGeom>
          <a:noFill/>
          <a:ln/>
        </p:spPr>
        <p:txBody>
          <a:bodyPr wrap="square" lIns="0" tIns="0" rIns="0" bIns="0" rtlCol="0" anchor="ctr"/>
          <a:lstStyle/>
          <a:p>
            <a:pPr indent="0" marL="0">
              <a:buNone/>
            </a:pPr>
            <a:r>
              <a:rPr lang="en-US" sz="1400" b="1" dirty="0">
                <a:solidFill>
                  <a:srgbClr val="3B82F6"/>
                </a:solidFill>
                <a:latin typeface="Trebuchet MS" pitchFamily="34" charset="0"/>
                <a:ea typeface="Trebuchet MS" pitchFamily="34" charset="-122"/>
                <a:cs typeface="Trebuchet MS" pitchFamily="34" charset="-120"/>
              </a:rPr>
              <a:t>Multi-Query (MQA)</a:t>
            </a:r>
            <a:endParaRPr lang="en-US" sz="1400" dirty="0"/>
          </a:p>
        </p:txBody>
      </p:sp>
      <p:sp>
        <p:nvSpPr>
          <p:cNvPr id="14" name="Shape 12"/>
          <p:cNvSpPr/>
          <p:nvPr/>
        </p:nvSpPr>
        <p:spPr>
          <a:xfrm>
            <a:off x="7132320" y="2496312"/>
            <a:ext cx="1371600" cy="228600"/>
          </a:xfrm>
          <a:prstGeom prst="rect">
            <a:avLst/>
          </a:prstGeom>
          <a:solidFill>
            <a:srgbClr val="3B82F6">
              <a:alpha val="30000"/>
            </a:srgbClr>
          </a:solidFill>
          <a:ln/>
        </p:spPr>
      </p:sp>
      <p:sp>
        <p:nvSpPr>
          <p:cNvPr id="15" name="Text 13"/>
          <p:cNvSpPr/>
          <p:nvPr/>
        </p:nvSpPr>
        <p:spPr>
          <a:xfrm>
            <a:off x="7132320" y="2496312"/>
            <a:ext cx="1371600" cy="228600"/>
          </a:xfrm>
          <a:prstGeom prst="rect">
            <a:avLst/>
          </a:prstGeom>
          <a:noFill/>
          <a:ln/>
        </p:spPr>
        <p:txBody>
          <a:bodyPr wrap="square" lIns="0" tIns="0" rIns="0" bIns="0" rtlCol="0" anchor="ctr"/>
          <a:lstStyle/>
          <a:p>
            <a:pPr algn="ctr" indent="0" marL="0">
              <a:buNone/>
            </a:pPr>
            <a:r>
              <a:rPr lang="en-US" sz="800" dirty="0">
                <a:solidFill>
                  <a:srgbClr val="3B82F6"/>
                </a:solidFill>
                <a:latin typeface="Calibri" pitchFamily="34" charset="0"/>
                <a:ea typeface="Calibri" pitchFamily="34" charset="-122"/>
                <a:cs typeface="Calibri" pitchFamily="34" charset="-120"/>
              </a:rPr>
              <a:t>1 KV head</a:t>
            </a:r>
            <a:endParaRPr lang="en-US" sz="800" dirty="0"/>
          </a:p>
        </p:txBody>
      </p:sp>
      <p:sp>
        <p:nvSpPr>
          <p:cNvPr id="16" name="Text 14"/>
          <p:cNvSpPr/>
          <p:nvPr/>
        </p:nvSpPr>
        <p:spPr>
          <a:xfrm>
            <a:off x="731520" y="2788920"/>
            <a:ext cx="5029200" cy="320040"/>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All heads share a SINGLE K and V projection. Only Q is per-head. Drastically reduces KV cache (1/h). Used in PaLM, Falcon. Slight quality loss.</a:t>
            </a:r>
            <a:endParaRPr lang="en-US" sz="1000" dirty="0"/>
          </a:p>
        </p:txBody>
      </p:sp>
      <p:sp>
        <p:nvSpPr>
          <p:cNvPr id="17" name="Text 15"/>
          <p:cNvSpPr/>
          <p:nvPr/>
        </p:nvSpPr>
        <p:spPr>
          <a:xfrm>
            <a:off x="731520" y="3136392"/>
            <a:ext cx="7315200" cy="228600"/>
          </a:xfrm>
          <a:prstGeom prst="rect">
            <a:avLst/>
          </a:prstGeom>
          <a:noFill/>
          <a:ln/>
        </p:spPr>
        <p:txBody>
          <a:bodyPr wrap="square" lIns="0" tIns="0" rIns="0" bIns="0" rtlCol="0" anchor="ctr"/>
          <a:lstStyle/>
          <a:p>
            <a:pPr indent="0" marL="0">
              <a:buNone/>
            </a:pPr>
            <a:r>
              <a:rPr lang="en-US" sz="1000" dirty="0">
                <a:solidFill>
                  <a:srgbClr val="94A3B8"/>
                </a:solidFill>
                <a:latin typeface="Consolas" pitchFamily="34" charset="0"/>
                <a:ea typeface="Consolas" pitchFamily="34" charset="-122"/>
                <a:cs typeface="Consolas" pitchFamily="34" charset="-120"/>
              </a:rPr>
              <a:t>Q₁ Q₂ ... Qₕ  ←  K V (shared)</a:t>
            </a:r>
            <a:endParaRPr lang="en-US" sz="1000" dirty="0"/>
          </a:p>
        </p:txBody>
      </p:sp>
      <p:sp>
        <p:nvSpPr>
          <p:cNvPr id="18" name="Shape 16"/>
          <p:cNvSpPr/>
          <p:nvPr/>
        </p:nvSpPr>
        <p:spPr>
          <a:xfrm>
            <a:off x="457200" y="3657600"/>
            <a:ext cx="8229600" cy="105156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19" name="Shape 17"/>
          <p:cNvSpPr/>
          <p:nvPr/>
        </p:nvSpPr>
        <p:spPr>
          <a:xfrm>
            <a:off x="457200" y="3657600"/>
            <a:ext cx="54864" cy="1051560"/>
          </a:xfrm>
          <a:prstGeom prst="rect">
            <a:avLst/>
          </a:prstGeom>
          <a:solidFill>
            <a:srgbClr val="14B8A6"/>
          </a:solidFill>
          <a:ln/>
        </p:spPr>
      </p:sp>
      <p:sp>
        <p:nvSpPr>
          <p:cNvPr id="20" name="Text 18"/>
          <p:cNvSpPr/>
          <p:nvPr/>
        </p:nvSpPr>
        <p:spPr>
          <a:xfrm>
            <a:off x="731520" y="3730752"/>
            <a:ext cx="2743200" cy="256032"/>
          </a:xfrm>
          <a:prstGeom prst="rect">
            <a:avLst/>
          </a:prstGeom>
          <a:noFill/>
          <a:ln/>
        </p:spPr>
        <p:txBody>
          <a:bodyPr wrap="square" lIns="0" tIns="0" rIns="0" bIns="0" rtlCol="0" anchor="ctr"/>
          <a:lstStyle/>
          <a:p>
            <a:pPr indent="0" marL="0">
              <a:buNone/>
            </a:pPr>
            <a:r>
              <a:rPr lang="en-US" sz="1400" b="1" dirty="0">
                <a:solidFill>
                  <a:srgbClr val="14B8A6"/>
                </a:solidFill>
                <a:latin typeface="Trebuchet MS" pitchFamily="34" charset="0"/>
                <a:ea typeface="Trebuchet MS" pitchFamily="34" charset="-122"/>
                <a:cs typeface="Trebuchet MS" pitchFamily="34" charset="-120"/>
              </a:rPr>
              <a:t>Grouped-Query (GQA)</a:t>
            </a:r>
            <a:endParaRPr lang="en-US" sz="1400" dirty="0"/>
          </a:p>
        </p:txBody>
      </p:sp>
      <p:sp>
        <p:nvSpPr>
          <p:cNvPr id="21" name="Shape 19"/>
          <p:cNvSpPr/>
          <p:nvPr/>
        </p:nvSpPr>
        <p:spPr>
          <a:xfrm>
            <a:off x="7132320" y="3730752"/>
            <a:ext cx="1371600" cy="228600"/>
          </a:xfrm>
          <a:prstGeom prst="rect">
            <a:avLst/>
          </a:prstGeom>
          <a:solidFill>
            <a:srgbClr val="14B8A6">
              <a:alpha val="30000"/>
            </a:srgbClr>
          </a:solidFill>
          <a:ln/>
        </p:spPr>
      </p:sp>
      <p:sp>
        <p:nvSpPr>
          <p:cNvPr id="22" name="Text 20"/>
          <p:cNvSpPr/>
          <p:nvPr/>
        </p:nvSpPr>
        <p:spPr>
          <a:xfrm>
            <a:off x="7132320" y="3730752"/>
            <a:ext cx="1371600" cy="228600"/>
          </a:xfrm>
          <a:prstGeom prst="rect">
            <a:avLst/>
          </a:prstGeom>
          <a:noFill/>
          <a:ln/>
        </p:spPr>
        <p:txBody>
          <a:bodyPr wrap="square" lIns="0" tIns="0" rIns="0" bIns="0" rtlCol="0" anchor="ctr"/>
          <a:lstStyle/>
          <a:p>
            <a:pPr algn="ctr" indent="0" marL="0">
              <a:buNone/>
            </a:pPr>
            <a:r>
              <a:rPr lang="en-US" sz="800" dirty="0">
                <a:solidFill>
                  <a:srgbClr val="14B8A6"/>
                </a:solidFill>
                <a:latin typeface="Calibri" pitchFamily="34" charset="0"/>
                <a:ea typeface="Calibri" pitchFamily="34" charset="-122"/>
                <a:cs typeface="Calibri" pitchFamily="34" charset="-120"/>
              </a:rPr>
              <a:t>g KV heads</a:t>
            </a:r>
            <a:endParaRPr lang="en-US" sz="800" dirty="0"/>
          </a:p>
        </p:txBody>
      </p:sp>
      <p:sp>
        <p:nvSpPr>
          <p:cNvPr id="23" name="Text 21"/>
          <p:cNvSpPr/>
          <p:nvPr/>
        </p:nvSpPr>
        <p:spPr>
          <a:xfrm>
            <a:off x="731520" y="4023360"/>
            <a:ext cx="5029200" cy="320040"/>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Heads grouped into g groups. Each group shares K,V. Interpolates between MHA and MQA. Used in LLaMA 2/3, Mistral. Best quality/efficiency tradeoff.</a:t>
            </a:r>
            <a:endParaRPr lang="en-US" sz="1000" dirty="0"/>
          </a:p>
        </p:txBody>
      </p:sp>
      <p:sp>
        <p:nvSpPr>
          <p:cNvPr id="24" name="Text 22"/>
          <p:cNvSpPr/>
          <p:nvPr/>
        </p:nvSpPr>
        <p:spPr>
          <a:xfrm>
            <a:off x="731520" y="4370832"/>
            <a:ext cx="7315200" cy="228600"/>
          </a:xfrm>
          <a:prstGeom prst="rect">
            <a:avLst/>
          </a:prstGeom>
          <a:noFill/>
          <a:ln/>
        </p:spPr>
        <p:txBody>
          <a:bodyPr wrap="square" lIns="0" tIns="0" rIns="0" bIns="0" rtlCol="0" anchor="ctr"/>
          <a:lstStyle/>
          <a:p>
            <a:pPr indent="0" marL="0">
              <a:buNone/>
            </a:pPr>
            <a:r>
              <a:rPr lang="en-US" sz="1000" dirty="0">
                <a:solidFill>
                  <a:srgbClr val="94A3B8"/>
                </a:solidFill>
                <a:latin typeface="Consolas" pitchFamily="34" charset="0"/>
                <a:ea typeface="Consolas" pitchFamily="34" charset="-122"/>
                <a:cs typeface="Consolas" pitchFamily="34" charset="-120"/>
              </a:rPr>
              <a:t>G₁{Q₁Q₂} G₂{Q₃Q₄} ← KV per group</a:t>
            </a:r>
            <a:endParaRPr lang="en-US" sz="1000" dirty="0"/>
          </a:p>
        </p:txBody>
      </p:sp>
      <p:sp>
        <p:nvSpPr>
          <p:cNvPr id="25" name="Text 23"/>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11 / 30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457200" y="228600"/>
            <a:ext cx="2286000" cy="274320"/>
          </a:xfrm>
          <a:prstGeom prst="rect">
            <a:avLst/>
          </a:prstGeom>
          <a:noFill/>
          <a:ln/>
        </p:spPr>
        <p:txBody>
          <a:bodyPr wrap="square" lIns="0" tIns="0" rIns="0" bIns="0" rtlCol="0" anchor="ctr"/>
          <a:lstStyle/>
          <a:p>
            <a:pPr indent="0" marL="0">
              <a:buNone/>
            </a:pPr>
            <a:r>
              <a:rPr lang="en-US" sz="800" b="1" spc="400" kern="0" dirty="0">
                <a:solidFill>
                  <a:srgbClr val="6366F1"/>
                </a:solidFill>
                <a:latin typeface="Calibri" pitchFamily="34" charset="0"/>
                <a:ea typeface="Calibri" pitchFamily="34" charset="-122"/>
                <a:cs typeface="Calibri" pitchFamily="34" charset="-120"/>
              </a:rPr>
              <a:t>ATTENTION</a:t>
            </a:r>
            <a:endParaRPr lang="en-US" sz="8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Sparse &amp; Local Attention Patterns</a:t>
            </a:r>
            <a:endParaRPr lang="en-US" sz="2600" dirty="0"/>
          </a:p>
        </p:txBody>
      </p:sp>
      <p:sp>
        <p:nvSpPr>
          <p:cNvPr id="4" name="Text 2"/>
          <p:cNvSpPr/>
          <p:nvPr/>
        </p:nvSpPr>
        <p:spPr>
          <a:xfrm>
            <a:off x="457200" y="1051560"/>
            <a:ext cx="8229600" cy="457200"/>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Standard attention is O(n²) — quadratic in sequence length. For long sequences (4K–128K+ tokens), sparse attention patterns reduce this to O(n·√n) or O(n·log n) while preserving most quality.</a:t>
            </a:r>
            <a:endParaRPr lang="en-US" sz="1100" dirty="0"/>
          </a:p>
        </p:txBody>
      </p:sp>
      <p:sp>
        <p:nvSpPr>
          <p:cNvPr id="5" name="Shape 3"/>
          <p:cNvSpPr/>
          <p:nvPr/>
        </p:nvSpPr>
        <p:spPr>
          <a:xfrm>
            <a:off x="457200" y="1645920"/>
            <a:ext cx="4023360" cy="914400"/>
          </a:xfrm>
          <a:prstGeom prst="rect">
            <a:avLst/>
          </a:prstGeom>
          <a:solidFill>
            <a:srgbClr val="161B2E"/>
          </a:solidFill>
          <a:ln/>
        </p:spPr>
      </p:sp>
      <p:sp>
        <p:nvSpPr>
          <p:cNvPr id="6" name="Shape 4"/>
          <p:cNvSpPr/>
          <p:nvPr/>
        </p:nvSpPr>
        <p:spPr>
          <a:xfrm>
            <a:off x="457200" y="1645920"/>
            <a:ext cx="45720" cy="914400"/>
          </a:xfrm>
          <a:prstGeom prst="rect">
            <a:avLst/>
          </a:prstGeom>
          <a:solidFill>
            <a:srgbClr val="7C3AED"/>
          </a:solidFill>
          <a:ln/>
        </p:spPr>
      </p:sp>
      <p:sp>
        <p:nvSpPr>
          <p:cNvPr id="7" name="Text 5"/>
          <p:cNvSpPr/>
          <p:nvPr/>
        </p:nvSpPr>
        <p:spPr>
          <a:xfrm>
            <a:off x="640080" y="1700784"/>
            <a:ext cx="3657600" cy="228600"/>
          </a:xfrm>
          <a:prstGeom prst="rect">
            <a:avLst/>
          </a:prstGeom>
          <a:noFill/>
          <a:ln/>
        </p:spPr>
        <p:txBody>
          <a:bodyPr wrap="square" lIns="0" tIns="0" rIns="0" bIns="0" rtlCol="0" anchor="ctr"/>
          <a:lstStyle/>
          <a:p>
            <a:pPr indent="0" marL="0">
              <a:buNone/>
            </a:pPr>
            <a:r>
              <a:rPr lang="en-US" sz="1200" b="1" dirty="0">
                <a:solidFill>
                  <a:srgbClr val="7C3AED"/>
                </a:solidFill>
                <a:latin typeface="Trebuchet MS" pitchFamily="34" charset="0"/>
                <a:ea typeface="Trebuchet MS" pitchFamily="34" charset="-122"/>
                <a:cs typeface="Trebuchet MS" pitchFamily="34" charset="-120"/>
              </a:rPr>
              <a:t>Sliding Window</a:t>
            </a:r>
            <a:endParaRPr lang="en-US" sz="1200" dirty="0"/>
          </a:p>
        </p:txBody>
      </p:sp>
      <p:sp>
        <p:nvSpPr>
          <p:cNvPr id="8" name="Text 6"/>
          <p:cNvSpPr/>
          <p:nvPr/>
        </p:nvSpPr>
        <p:spPr>
          <a:xfrm>
            <a:off x="640080" y="1965960"/>
            <a:ext cx="3657600" cy="502920"/>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Each token attends to a fixed window of w neighbors. O(n·w). Used in Mistral, Longformer local attention. Stack layers for effective receptive field growth.</a:t>
            </a:r>
            <a:endParaRPr lang="en-US" sz="900" dirty="0"/>
          </a:p>
        </p:txBody>
      </p:sp>
      <p:sp>
        <p:nvSpPr>
          <p:cNvPr id="9" name="Shape 7"/>
          <p:cNvSpPr/>
          <p:nvPr/>
        </p:nvSpPr>
        <p:spPr>
          <a:xfrm>
            <a:off x="457200" y="2697480"/>
            <a:ext cx="4023360" cy="914400"/>
          </a:xfrm>
          <a:prstGeom prst="rect">
            <a:avLst/>
          </a:prstGeom>
          <a:solidFill>
            <a:srgbClr val="161B2E"/>
          </a:solidFill>
          <a:ln/>
        </p:spPr>
      </p:sp>
      <p:sp>
        <p:nvSpPr>
          <p:cNvPr id="10" name="Shape 8"/>
          <p:cNvSpPr/>
          <p:nvPr/>
        </p:nvSpPr>
        <p:spPr>
          <a:xfrm>
            <a:off x="457200" y="2697480"/>
            <a:ext cx="45720" cy="914400"/>
          </a:xfrm>
          <a:prstGeom prst="rect">
            <a:avLst/>
          </a:prstGeom>
          <a:solidFill>
            <a:srgbClr val="3B82F6"/>
          </a:solidFill>
          <a:ln/>
        </p:spPr>
      </p:sp>
      <p:sp>
        <p:nvSpPr>
          <p:cNvPr id="11" name="Text 9"/>
          <p:cNvSpPr/>
          <p:nvPr/>
        </p:nvSpPr>
        <p:spPr>
          <a:xfrm>
            <a:off x="640080" y="2752344"/>
            <a:ext cx="3657600" cy="228600"/>
          </a:xfrm>
          <a:prstGeom prst="rect">
            <a:avLst/>
          </a:prstGeom>
          <a:noFill/>
          <a:ln/>
        </p:spPr>
        <p:txBody>
          <a:bodyPr wrap="square" lIns="0" tIns="0" rIns="0" bIns="0" rtlCol="0" anchor="ctr"/>
          <a:lstStyle/>
          <a:p>
            <a:pPr indent="0" marL="0">
              <a:buNone/>
            </a:pPr>
            <a:r>
              <a:rPr lang="en-US" sz="1200" b="1" dirty="0">
                <a:solidFill>
                  <a:srgbClr val="3B82F6"/>
                </a:solidFill>
                <a:latin typeface="Trebuchet MS" pitchFamily="34" charset="0"/>
                <a:ea typeface="Trebuchet MS" pitchFamily="34" charset="-122"/>
                <a:cs typeface="Trebuchet MS" pitchFamily="34" charset="-120"/>
              </a:rPr>
              <a:t>Global + Local</a:t>
            </a:r>
            <a:endParaRPr lang="en-US" sz="1200" dirty="0"/>
          </a:p>
        </p:txBody>
      </p:sp>
      <p:sp>
        <p:nvSpPr>
          <p:cNvPr id="12" name="Text 10"/>
          <p:cNvSpPr/>
          <p:nvPr/>
        </p:nvSpPr>
        <p:spPr>
          <a:xfrm>
            <a:off x="640080" y="3017520"/>
            <a:ext cx="3657600" cy="502920"/>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Longformer: selected tokens (CLS, question tokens) attend globally, rest use sliding window. Combines global context with local efficiency.</a:t>
            </a:r>
            <a:endParaRPr lang="en-US" sz="900" dirty="0"/>
          </a:p>
        </p:txBody>
      </p:sp>
      <p:sp>
        <p:nvSpPr>
          <p:cNvPr id="13" name="Shape 11"/>
          <p:cNvSpPr/>
          <p:nvPr/>
        </p:nvSpPr>
        <p:spPr>
          <a:xfrm>
            <a:off x="457200" y="3749040"/>
            <a:ext cx="4023360" cy="914400"/>
          </a:xfrm>
          <a:prstGeom prst="rect">
            <a:avLst/>
          </a:prstGeom>
          <a:solidFill>
            <a:srgbClr val="161B2E"/>
          </a:solidFill>
          <a:ln/>
        </p:spPr>
      </p:sp>
      <p:sp>
        <p:nvSpPr>
          <p:cNvPr id="14" name="Shape 12"/>
          <p:cNvSpPr/>
          <p:nvPr/>
        </p:nvSpPr>
        <p:spPr>
          <a:xfrm>
            <a:off x="457200" y="3749040"/>
            <a:ext cx="45720" cy="914400"/>
          </a:xfrm>
          <a:prstGeom prst="rect">
            <a:avLst/>
          </a:prstGeom>
          <a:solidFill>
            <a:srgbClr val="06B6D4"/>
          </a:solidFill>
          <a:ln/>
        </p:spPr>
      </p:sp>
      <p:sp>
        <p:nvSpPr>
          <p:cNvPr id="15" name="Text 13"/>
          <p:cNvSpPr/>
          <p:nvPr/>
        </p:nvSpPr>
        <p:spPr>
          <a:xfrm>
            <a:off x="640080" y="3803904"/>
            <a:ext cx="3657600" cy="228600"/>
          </a:xfrm>
          <a:prstGeom prst="rect">
            <a:avLst/>
          </a:prstGeom>
          <a:noFill/>
          <a:ln/>
        </p:spPr>
        <p:txBody>
          <a:bodyPr wrap="square" lIns="0" tIns="0" rIns="0" bIns="0" rtlCol="0" anchor="ctr"/>
          <a:lstStyle/>
          <a:p>
            <a:pPr indent="0" marL="0">
              <a:buNone/>
            </a:pPr>
            <a:r>
              <a:rPr lang="en-US" sz="1200" b="1" dirty="0">
                <a:solidFill>
                  <a:srgbClr val="06B6D4"/>
                </a:solidFill>
                <a:latin typeface="Trebuchet MS" pitchFamily="34" charset="0"/>
                <a:ea typeface="Trebuchet MS" pitchFamily="34" charset="-122"/>
                <a:cs typeface="Trebuchet MS" pitchFamily="34" charset="-120"/>
              </a:rPr>
              <a:t>Dilated / Strided</a:t>
            </a:r>
            <a:endParaRPr lang="en-US" sz="1200" dirty="0"/>
          </a:p>
        </p:txBody>
      </p:sp>
      <p:sp>
        <p:nvSpPr>
          <p:cNvPr id="16" name="Text 14"/>
          <p:cNvSpPr/>
          <p:nvPr/>
        </p:nvSpPr>
        <p:spPr>
          <a:xfrm>
            <a:off x="640080" y="4069080"/>
            <a:ext cx="3657600" cy="502920"/>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Attend to every k-th token, creating gaps. Multiple dilation rates in different heads cover different ranges. Used in BigBird.</a:t>
            </a:r>
            <a:endParaRPr lang="en-US" sz="900" dirty="0"/>
          </a:p>
        </p:txBody>
      </p:sp>
      <p:sp>
        <p:nvSpPr>
          <p:cNvPr id="17" name="Shape 15"/>
          <p:cNvSpPr/>
          <p:nvPr/>
        </p:nvSpPr>
        <p:spPr>
          <a:xfrm>
            <a:off x="4754880" y="1645920"/>
            <a:ext cx="4023360" cy="914400"/>
          </a:xfrm>
          <a:prstGeom prst="rect">
            <a:avLst/>
          </a:prstGeom>
          <a:solidFill>
            <a:srgbClr val="161B2E"/>
          </a:solidFill>
          <a:ln/>
        </p:spPr>
      </p:sp>
      <p:sp>
        <p:nvSpPr>
          <p:cNvPr id="18" name="Shape 16"/>
          <p:cNvSpPr/>
          <p:nvPr/>
        </p:nvSpPr>
        <p:spPr>
          <a:xfrm>
            <a:off x="4754880" y="1645920"/>
            <a:ext cx="45720" cy="914400"/>
          </a:xfrm>
          <a:prstGeom prst="rect">
            <a:avLst/>
          </a:prstGeom>
          <a:solidFill>
            <a:srgbClr val="14B8A6"/>
          </a:solidFill>
          <a:ln/>
        </p:spPr>
      </p:sp>
      <p:sp>
        <p:nvSpPr>
          <p:cNvPr id="19" name="Text 17"/>
          <p:cNvSpPr/>
          <p:nvPr/>
        </p:nvSpPr>
        <p:spPr>
          <a:xfrm>
            <a:off x="4937760" y="1700784"/>
            <a:ext cx="3657600" cy="228600"/>
          </a:xfrm>
          <a:prstGeom prst="rect">
            <a:avLst/>
          </a:prstGeom>
          <a:noFill/>
          <a:ln/>
        </p:spPr>
        <p:txBody>
          <a:bodyPr wrap="square" lIns="0" tIns="0" rIns="0" bIns="0" rtlCol="0" anchor="ctr"/>
          <a:lstStyle/>
          <a:p>
            <a:pPr indent="0" marL="0">
              <a:buNone/>
            </a:pPr>
            <a:r>
              <a:rPr lang="en-US" sz="1200" b="1" dirty="0">
                <a:solidFill>
                  <a:srgbClr val="14B8A6"/>
                </a:solidFill>
                <a:latin typeface="Trebuchet MS" pitchFamily="34" charset="0"/>
                <a:ea typeface="Trebuchet MS" pitchFamily="34" charset="-122"/>
                <a:cs typeface="Trebuchet MS" pitchFamily="34" charset="-120"/>
              </a:rPr>
              <a:t>Block Sparse</a:t>
            </a:r>
            <a:endParaRPr lang="en-US" sz="1200" dirty="0"/>
          </a:p>
        </p:txBody>
      </p:sp>
      <p:sp>
        <p:nvSpPr>
          <p:cNvPr id="20" name="Text 18"/>
          <p:cNvSpPr/>
          <p:nvPr/>
        </p:nvSpPr>
        <p:spPr>
          <a:xfrm>
            <a:off x="4937760" y="1965960"/>
            <a:ext cx="3657600" cy="502920"/>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Divide sequence into fixed blocks. Attention computed within and between selected blocks. GPT-3 style. Highly GPU-efficient due to memory locality.</a:t>
            </a:r>
            <a:endParaRPr lang="en-US" sz="900" dirty="0"/>
          </a:p>
        </p:txBody>
      </p:sp>
      <p:sp>
        <p:nvSpPr>
          <p:cNvPr id="21" name="Shape 19"/>
          <p:cNvSpPr/>
          <p:nvPr/>
        </p:nvSpPr>
        <p:spPr>
          <a:xfrm>
            <a:off x="4754880" y="2697480"/>
            <a:ext cx="4023360" cy="914400"/>
          </a:xfrm>
          <a:prstGeom prst="rect">
            <a:avLst/>
          </a:prstGeom>
          <a:solidFill>
            <a:srgbClr val="161B2E"/>
          </a:solidFill>
          <a:ln/>
        </p:spPr>
      </p:sp>
      <p:sp>
        <p:nvSpPr>
          <p:cNvPr id="22" name="Shape 20"/>
          <p:cNvSpPr/>
          <p:nvPr/>
        </p:nvSpPr>
        <p:spPr>
          <a:xfrm>
            <a:off x="4754880" y="2697480"/>
            <a:ext cx="45720" cy="914400"/>
          </a:xfrm>
          <a:prstGeom prst="rect">
            <a:avLst/>
          </a:prstGeom>
          <a:solidFill>
            <a:srgbClr val="10B981"/>
          </a:solidFill>
          <a:ln/>
        </p:spPr>
      </p:sp>
      <p:sp>
        <p:nvSpPr>
          <p:cNvPr id="23" name="Text 21"/>
          <p:cNvSpPr/>
          <p:nvPr/>
        </p:nvSpPr>
        <p:spPr>
          <a:xfrm>
            <a:off x="4937760" y="2752344"/>
            <a:ext cx="3657600" cy="228600"/>
          </a:xfrm>
          <a:prstGeom prst="rect">
            <a:avLst/>
          </a:prstGeom>
          <a:noFill/>
          <a:ln/>
        </p:spPr>
        <p:txBody>
          <a:bodyPr wrap="square" lIns="0" tIns="0" rIns="0" bIns="0" rtlCol="0" anchor="ctr"/>
          <a:lstStyle/>
          <a:p>
            <a:pPr indent="0" marL="0">
              <a:buNone/>
            </a:pPr>
            <a:r>
              <a:rPr lang="en-US" sz="1200" b="1" dirty="0">
                <a:solidFill>
                  <a:srgbClr val="10B981"/>
                </a:solidFill>
                <a:latin typeface="Trebuchet MS" pitchFamily="34" charset="0"/>
                <a:ea typeface="Trebuchet MS" pitchFamily="34" charset="-122"/>
                <a:cs typeface="Trebuchet MS" pitchFamily="34" charset="-120"/>
              </a:rPr>
              <a:t>Random Sparse</a:t>
            </a:r>
            <a:endParaRPr lang="en-US" sz="1200" dirty="0"/>
          </a:p>
        </p:txBody>
      </p:sp>
      <p:sp>
        <p:nvSpPr>
          <p:cNvPr id="24" name="Text 22"/>
          <p:cNvSpPr/>
          <p:nvPr/>
        </p:nvSpPr>
        <p:spPr>
          <a:xfrm>
            <a:off x="4937760" y="3017520"/>
            <a:ext cx="3657600" cy="502920"/>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Each token attends to a random subset of other tokens. Theoretically O(n·log n) coverage. Combined with local patterns in BigBird for provable approximation.</a:t>
            </a:r>
            <a:endParaRPr lang="en-US" sz="900" dirty="0"/>
          </a:p>
        </p:txBody>
      </p:sp>
      <p:sp>
        <p:nvSpPr>
          <p:cNvPr id="25" name="Shape 23"/>
          <p:cNvSpPr/>
          <p:nvPr/>
        </p:nvSpPr>
        <p:spPr>
          <a:xfrm>
            <a:off x="4754880" y="3749040"/>
            <a:ext cx="4023360" cy="914400"/>
          </a:xfrm>
          <a:prstGeom prst="rect">
            <a:avLst/>
          </a:prstGeom>
          <a:solidFill>
            <a:srgbClr val="161B2E"/>
          </a:solidFill>
          <a:ln/>
        </p:spPr>
      </p:sp>
      <p:sp>
        <p:nvSpPr>
          <p:cNvPr id="26" name="Shape 24"/>
          <p:cNvSpPr/>
          <p:nvPr/>
        </p:nvSpPr>
        <p:spPr>
          <a:xfrm>
            <a:off x="4754880" y="3749040"/>
            <a:ext cx="45720" cy="914400"/>
          </a:xfrm>
          <a:prstGeom prst="rect">
            <a:avLst/>
          </a:prstGeom>
          <a:solidFill>
            <a:srgbClr val="F59E0B"/>
          </a:solidFill>
          <a:ln/>
        </p:spPr>
      </p:sp>
      <p:sp>
        <p:nvSpPr>
          <p:cNvPr id="27" name="Text 25"/>
          <p:cNvSpPr/>
          <p:nvPr/>
        </p:nvSpPr>
        <p:spPr>
          <a:xfrm>
            <a:off x="4937760" y="3803904"/>
            <a:ext cx="3657600" cy="228600"/>
          </a:xfrm>
          <a:prstGeom prst="rect">
            <a:avLst/>
          </a:prstGeom>
          <a:noFill/>
          <a:ln/>
        </p:spPr>
        <p:txBody>
          <a:bodyPr wrap="square" lIns="0" tIns="0" rIns="0" bIns="0" rtlCol="0" anchor="ctr"/>
          <a:lstStyle/>
          <a:p>
            <a:pPr indent="0" marL="0">
              <a:buNone/>
            </a:pPr>
            <a:r>
              <a:rPr lang="en-US" sz="1200" b="1" dirty="0">
                <a:solidFill>
                  <a:srgbClr val="F59E0B"/>
                </a:solidFill>
                <a:latin typeface="Trebuchet MS" pitchFamily="34" charset="0"/>
                <a:ea typeface="Trebuchet MS" pitchFamily="34" charset="-122"/>
                <a:cs typeface="Trebuchet MS" pitchFamily="34" charset="-120"/>
              </a:rPr>
              <a:t>Axial / Factored</a:t>
            </a:r>
            <a:endParaRPr lang="en-US" sz="1200" dirty="0"/>
          </a:p>
        </p:txBody>
      </p:sp>
      <p:sp>
        <p:nvSpPr>
          <p:cNvPr id="28" name="Text 26"/>
          <p:cNvSpPr/>
          <p:nvPr/>
        </p:nvSpPr>
        <p:spPr>
          <a:xfrm>
            <a:off x="4937760" y="4069080"/>
            <a:ext cx="3657600" cy="502920"/>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For 2D data (images), factorize attention into row-attention × column-attention. Reduces O(n²) to O(n·√n). Used in Axial Transformer, ViT variants.</a:t>
            </a:r>
            <a:endParaRPr lang="en-US" sz="900" dirty="0"/>
          </a:p>
        </p:txBody>
      </p:sp>
      <p:sp>
        <p:nvSpPr>
          <p:cNvPr id="29" name="Text 2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12 / 30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457200" y="228600"/>
            <a:ext cx="2286000" cy="274320"/>
          </a:xfrm>
          <a:prstGeom prst="rect">
            <a:avLst/>
          </a:prstGeom>
          <a:noFill/>
          <a:ln/>
        </p:spPr>
        <p:txBody>
          <a:bodyPr wrap="square" lIns="0" tIns="0" rIns="0" bIns="0" rtlCol="0" anchor="ctr"/>
          <a:lstStyle/>
          <a:p>
            <a:pPr indent="0" marL="0">
              <a:buNone/>
            </a:pPr>
            <a:r>
              <a:rPr lang="en-US" sz="800" b="1" spc="400" kern="0" dirty="0">
                <a:solidFill>
                  <a:srgbClr val="6366F1"/>
                </a:solidFill>
                <a:latin typeface="Calibri" pitchFamily="34" charset="0"/>
                <a:ea typeface="Calibri" pitchFamily="34" charset="-122"/>
                <a:cs typeface="Calibri" pitchFamily="34" charset="-120"/>
              </a:rPr>
              <a:t>ATTENTION</a:t>
            </a:r>
            <a:endParaRPr lang="en-US" sz="8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Linear Attention &amp; Kernel Methods</a:t>
            </a:r>
            <a:endParaRPr lang="en-US" sz="2600" dirty="0"/>
          </a:p>
        </p:txBody>
      </p:sp>
      <p:sp>
        <p:nvSpPr>
          <p:cNvPr id="4" name="Text 2"/>
          <p:cNvSpPr/>
          <p:nvPr/>
        </p:nvSpPr>
        <p:spPr>
          <a:xfrm>
            <a:off x="457200" y="1051560"/>
            <a:ext cx="8229600" cy="50292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Linear attention replaces softmax(QK^T)V with φ(Q)(φ(K)^T V), exploiting associativity to compute in O(n) instead of O(n²). The key insight: compute KV first (d×d matrix), then multiply by Q.</a:t>
            </a:r>
            <a:endParaRPr lang="en-US" sz="1200" dirty="0"/>
          </a:p>
        </p:txBody>
      </p:sp>
      <p:sp>
        <p:nvSpPr>
          <p:cNvPr id="5" name="Shape 3"/>
          <p:cNvSpPr/>
          <p:nvPr/>
        </p:nvSpPr>
        <p:spPr>
          <a:xfrm>
            <a:off x="457200" y="1737360"/>
            <a:ext cx="4023360" cy="132588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6" name="Shape 4"/>
          <p:cNvSpPr/>
          <p:nvPr/>
        </p:nvSpPr>
        <p:spPr>
          <a:xfrm>
            <a:off x="457200" y="1737360"/>
            <a:ext cx="54864" cy="1325880"/>
          </a:xfrm>
          <a:prstGeom prst="rect">
            <a:avLst/>
          </a:prstGeom>
          <a:solidFill>
            <a:srgbClr val="7C3AED"/>
          </a:solidFill>
          <a:ln/>
        </p:spPr>
      </p:sp>
      <p:pic>
        <p:nvPicPr>
          <p:cNvPr id="7" name="Image 0" descr="preencoded.png">    </p:cNvPr>
          <p:cNvPicPr>
            <a:picLocks noChangeAspect="1"/>
          </p:cNvPicPr>
          <p:nvPr/>
        </p:nvPicPr>
        <p:blipFill>
          <a:blip r:embed="rId1"/>
          <a:stretch>
            <a:fillRect/>
          </a:stretch>
        </p:blipFill>
        <p:spPr>
          <a:xfrm>
            <a:off x="640080" y="1874520"/>
            <a:ext cx="292608" cy="292608"/>
          </a:xfrm>
          <a:prstGeom prst="rect">
            <a:avLst/>
          </a:prstGeom>
        </p:spPr>
      </p:pic>
      <p:sp>
        <p:nvSpPr>
          <p:cNvPr id="8" name="Text 5"/>
          <p:cNvSpPr/>
          <p:nvPr/>
        </p:nvSpPr>
        <p:spPr>
          <a:xfrm>
            <a:off x="1051560" y="1847088"/>
            <a:ext cx="3246120" cy="27432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Linear Transformer</a:t>
            </a:r>
            <a:endParaRPr lang="en-US" sz="1200" dirty="0"/>
          </a:p>
        </p:txBody>
      </p:sp>
      <p:sp>
        <p:nvSpPr>
          <p:cNvPr id="9" name="Text 6"/>
          <p:cNvSpPr/>
          <p:nvPr/>
        </p:nvSpPr>
        <p:spPr>
          <a:xfrm>
            <a:off x="640080" y="2176272"/>
            <a:ext cx="3657600" cy="795528"/>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Katharopoulos et al. 2020. Uses ELU+1 as kernel function φ. Enables causal linear attention via cumulative sums. True O(n) complexity but lower quality on language modeling.</a:t>
            </a:r>
            <a:endParaRPr lang="en-US" sz="950" dirty="0"/>
          </a:p>
        </p:txBody>
      </p:sp>
      <p:sp>
        <p:nvSpPr>
          <p:cNvPr id="10" name="Shape 7"/>
          <p:cNvSpPr/>
          <p:nvPr/>
        </p:nvSpPr>
        <p:spPr>
          <a:xfrm>
            <a:off x="457200" y="3246120"/>
            <a:ext cx="4023360" cy="132588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11" name="Shape 8"/>
          <p:cNvSpPr/>
          <p:nvPr/>
        </p:nvSpPr>
        <p:spPr>
          <a:xfrm>
            <a:off x="457200" y="3246120"/>
            <a:ext cx="54864" cy="1325880"/>
          </a:xfrm>
          <a:prstGeom prst="rect">
            <a:avLst/>
          </a:prstGeom>
          <a:solidFill>
            <a:srgbClr val="3B82F6"/>
          </a:solidFill>
          <a:ln/>
        </p:spPr>
      </p:sp>
      <p:pic>
        <p:nvPicPr>
          <p:cNvPr id="12" name="Image 1" descr="preencoded.png">    </p:cNvPr>
          <p:cNvPicPr>
            <a:picLocks noChangeAspect="1"/>
          </p:cNvPicPr>
          <p:nvPr/>
        </p:nvPicPr>
        <p:blipFill>
          <a:blip r:embed="rId2"/>
          <a:stretch>
            <a:fillRect/>
          </a:stretch>
        </p:blipFill>
        <p:spPr>
          <a:xfrm>
            <a:off x="640080" y="3383280"/>
            <a:ext cx="292608" cy="292608"/>
          </a:xfrm>
          <a:prstGeom prst="rect">
            <a:avLst/>
          </a:prstGeom>
        </p:spPr>
      </p:pic>
      <p:sp>
        <p:nvSpPr>
          <p:cNvPr id="13" name="Text 9"/>
          <p:cNvSpPr/>
          <p:nvPr/>
        </p:nvSpPr>
        <p:spPr>
          <a:xfrm>
            <a:off x="1051560" y="3355848"/>
            <a:ext cx="3246120" cy="27432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Performer / FAVOR+</a:t>
            </a:r>
            <a:endParaRPr lang="en-US" sz="1200" dirty="0"/>
          </a:p>
        </p:txBody>
      </p:sp>
      <p:sp>
        <p:nvSpPr>
          <p:cNvPr id="14" name="Text 10"/>
          <p:cNvSpPr/>
          <p:nvPr/>
        </p:nvSpPr>
        <p:spPr>
          <a:xfrm>
            <a:off x="640080" y="3685032"/>
            <a:ext cx="3657600" cy="795528"/>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Random feature approximation of softmax kernel. Uses orthogonal random features for unbiased estimation. O(n·r·d) where r is #features. Scalable but approximation introduces variance.</a:t>
            </a:r>
            <a:endParaRPr lang="en-US" sz="950" dirty="0"/>
          </a:p>
        </p:txBody>
      </p:sp>
      <p:sp>
        <p:nvSpPr>
          <p:cNvPr id="15" name="Shape 11"/>
          <p:cNvSpPr/>
          <p:nvPr/>
        </p:nvSpPr>
        <p:spPr>
          <a:xfrm>
            <a:off x="4754880" y="1737360"/>
            <a:ext cx="4023360" cy="132588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16" name="Shape 12"/>
          <p:cNvSpPr/>
          <p:nvPr/>
        </p:nvSpPr>
        <p:spPr>
          <a:xfrm>
            <a:off x="4754880" y="1737360"/>
            <a:ext cx="54864" cy="1325880"/>
          </a:xfrm>
          <a:prstGeom prst="rect">
            <a:avLst/>
          </a:prstGeom>
          <a:solidFill>
            <a:srgbClr val="14B8A6"/>
          </a:solidFill>
          <a:ln/>
        </p:spPr>
      </p:sp>
      <p:pic>
        <p:nvPicPr>
          <p:cNvPr id="17" name="Image 2" descr="preencoded.png">    </p:cNvPr>
          <p:cNvPicPr>
            <a:picLocks noChangeAspect="1"/>
          </p:cNvPicPr>
          <p:nvPr/>
        </p:nvPicPr>
        <p:blipFill>
          <a:blip r:embed="rId3"/>
          <a:stretch>
            <a:fillRect/>
          </a:stretch>
        </p:blipFill>
        <p:spPr>
          <a:xfrm>
            <a:off x="4937760" y="1874520"/>
            <a:ext cx="292608" cy="292608"/>
          </a:xfrm>
          <a:prstGeom prst="rect">
            <a:avLst/>
          </a:prstGeom>
        </p:spPr>
      </p:pic>
      <p:sp>
        <p:nvSpPr>
          <p:cNvPr id="18" name="Text 13"/>
          <p:cNvSpPr/>
          <p:nvPr/>
        </p:nvSpPr>
        <p:spPr>
          <a:xfrm>
            <a:off x="5349240" y="1847088"/>
            <a:ext cx="3246120" cy="27432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cosFormer</a:t>
            </a:r>
            <a:endParaRPr lang="en-US" sz="1200" dirty="0"/>
          </a:p>
        </p:txBody>
      </p:sp>
      <p:sp>
        <p:nvSpPr>
          <p:cNvPr id="19" name="Text 14"/>
          <p:cNvSpPr/>
          <p:nvPr/>
        </p:nvSpPr>
        <p:spPr>
          <a:xfrm>
            <a:off x="4937760" y="2176272"/>
            <a:ext cx="3657600" cy="795528"/>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Uses cos-based re-weighting to achieve linear attention with locality bias. Cos(πi/2N)·cos(πj/2N) provides RoPE-like position sensitivity. Near-softmax quality at O(n).</a:t>
            </a:r>
            <a:endParaRPr lang="en-US" sz="950" dirty="0"/>
          </a:p>
        </p:txBody>
      </p:sp>
      <p:sp>
        <p:nvSpPr>
          <p:cNvPr id="20" name="Shape 15"/>
          <p:cNvSpPr/>
          <p:nvPr/>
        </p:nvSpPr>
        <p:spPr>
          <a:xfrm>
            <a:off x="4754880" y="3246120"/>
            <a:ext cx="4023360" cy="132588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21" name="Shape 16"/>
          <p:cNvSpPr/>
          <p:nvPr/>
        </p:nvSpPr>
        <p:spPr>
          <a:xfrm>
            <a:off x="4754880" y="3246120"/>
            <a:ext cx="54864" cy="1325880"/>
          </a:xfrm>
          <a:prstGeom prst="rect">
            <a:avLst/>
          </a:prstGeom>
          <a:solidFill>
            <a:srgbClr val="10B981"/>
          </a:solidFill>
          <a:ln/>
        </p:spPr>
      </p:sp>
      <p:pic>
        <p:nvPicPr>
          <p:cNvPr id="22" name="Image 3" descr="preencoded.png">    </p:cNvPr>
          <p:cNvPicPr>
            <a:picLocks noChangeAspect="1"/>
          </p:cNvPicPr>
          <p:nvPr/>
        </p:nvPicPr>
        <p:blipFill>
          <a:blip r:embed="rId4"/>
          <a:stretch>
            <a:fillRect/>
          </a:stretch>
        </p:blipFill>
        <p:spPr>
          <a:xfrm>
            <a:off x="4937760" y="3383280"/>
            <a:ext cx="292608" cy="292608"/>
          </a:xfrm>
          <a:prstGeom prst="rect">
            <a:avLst/>
          </a:prstGeom>
        </p:spPr>
      </p:pic>
      <p:sp>
        <p:nvSpPr>
          <p:cNvPr id="23" name="Text 17"/>
          <p:cNvSpPr/>
          <p:nvPr/>
        </p:nvSpPr>
        <p:spPr>
          <a:xfrm>
            <a:off x="5349240" y="3355848"/>
            <a:ext cx="3246120" cy="27432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RetNet (Retentive Network)</a:t>
            </a:r>
            <a:endParaRPr lang="en-US" sz="1200" dirty="0"/>
          </a:p>
        </p:txBody>
      </p:sp>
      <p:sp>
        <p:nvSpPr>
          <p:cNvPr id="24" name="Text 18"/>
          <p:cNvSpPr/>
          <p:nvPr/>
        </p:nvSpPr>
        <p:spPr>
          <a:xfrm>
            <a:off x="4937760" y="3685032"/>
            <a:ext cx="3657600" cy="795528"/>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Microsoft 2023. Combines retention mechanism (linear recurrence) with parallel training. Three computation paradigms: parallel (training), recurrent (inference), chunkwise. O(n) inference with O(1) per-step.</a:t>
            </a:r>
            <a:endParaRPr lang="en-US" sz="950" dirty="0"/>
          </a:p>
        </p:txBody>
      </p:sp>
      <p:sp>
        <p:nvSpPr>
          <p:cNvPr id="25" name="Text 19"/>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13 / 30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457200" y="228600"/>
            <a:ext cx="2286000" cy="274320"/>
          </a:xfrm>
          <a:prstGeom prst="rect">
            <a:avLst/>
          </a:prstGeom>
          <a:noFill/>
          <a:ln/>
        </p:spPr>
        <p:txBody>
          <a:bodyPr wrap="square" lIns="0" tIns="0" rIns="0" bIns="0" rtlCol="0" anchor="ctr"/>
          <a:lstStyle/>
          <a:p>
            <a:pPr indent="0" marL="0">
              <a:buNone/>
            </a:pPr>
            <a:r>
              <a:rPr lang="en-US" sz="800" b="1" spc="400" kern="0" dirty="0">
                <a:solidFill>
                  <a:srgbClr val="6366F1"/>
                </a:solidFill>
                <a:latin typeface="Calibri" pitchFamily="34" charset="0"/>
                <a:ea typeface="Calibri" pitchFamily="34" charset="-122"/>
                <a:cs typeface="Calibri" pitchFamily="34" charset="-120"/>
              </a:rPr>
              <a:t>ATTENTION</a:t>
            </a:r>
            <a:endParaRPr lang="en-US" sz="8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Flash Attention &amp; Hardware-Aware Attention</a:t>
            </a:r>
            <a:endParaRPr lang="en-US" sz="2600" dirty="0"/>
          </a:p>
        </p:txBody>
      </p:sp>
      <p:sp>
        <p:nvSpPr>
          <p:cNvPr id="4" name="Text 2"/>
          <p:cNvSpPr/>
          <p:nvPr/>
        </p:nvSpPr>
        <p:spPr>
          <a:xfrm>
            <a:off x="457200" y="1051560"/>
            <a:ext cx="8229600" cy="54864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Flash Attention doesn't change the attention computation — it computes exact softmax attention but restructures the algorithm to minimize GPU HBM (High Bandwidth Memory) reads/writes, achieving 2-4x speedup with O(n) memory instead of O(n²).</a:t>
            </a:r>
            <a:endParaRPr lang="en-US" sz="1200" dirty="0"/>
          </a:p>
        </p:txBody>
      </p:sp>
      <p:sp>
        <p:nvSpPr>
          <p:cNvPr id="5" name="Shape 3"/>
          <p:cNvSpPr/>
          <p:nvPr/>
        </p:nvSpPr>
        <p:spPr>
          <a:xfrm>
            <a:off x="457200" y="1783080"/>
            <a:ext cx="1828800" cy="96012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6" name="Text 4"/>
          <p:cNvSpPr/>
          <p:nvPr/>
        </p:nvSpPr>
        <p:spPr>
          <a:xfrm>
            <a:off x="457200" y="1856232"/>
            <a:ext cx="1828800" cy="457200"/>
          </a:xfrm>
          <a:prstGeom prst="rect">
            <a:avLst/>
          </a:prstGeom>
          <a:noFill/>
          <a:ln/>
        </p:spPr>
        <p:txBody>
          <a:bodyPr wrap="square" lIns="0" tIns="0" rIns="0" bIns="0" rtlCol="0" anchor="ctr"/>
          <a:lstStyle/>
          <a:p>
            <a:pPr algn="ctr" indent="0" marL="0">
              <a:buNone/>
            </a:pPr>
            <a:r>
              <a:rPr lang="en-US" sz="2600" b="1" dirty="0">
                <a:solidFill>
                  <a:srgbClr val="10B981"/>
                </a:solidFill>
                <a:latin typeface="Trebuchet MS" pitchFamily="34" charset="0"/>
                <a:ea typeface="Trebuchet MS" pitchFamily="34" charset="-122"/>
                <a:cs typeface="Trebuchet MS" pitchFamily="34" charset="-120"/>
              </a:rPr>
              <a:t>2–4×</a:t>
            </a:r>
            <a:endParaRPr lang="en-US" sz="2600" dirty="0"/>
          </a:p>
        </p:txBody>
      </p:sp>
      <p:sp>
        <p:nvSpPr>
          <p:cNvPr id="7" name="Text 5"/>
          <p:cNvSpPr/>
          <p:nvPr/>
        </p:nvSpPr>
        <p:spPr>
          <a:xfrm>
            <a:off x="457200" y="2331720"/>
            <a:ext cx="1828800" cy="320040"/>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Wall-clock Speedup</a:t>
            </a:r>
            <a:endParaRPr lang="en-US" sz="900" dirty="0"/>
          </a:p>
        </p:txBody>
      </p:sp>
      <p:sp>
        <p:nvSpPr>
          <p:cNvPr id="8" name="Shape 6"/>
          <p:cNvSpPr/>
          <p:nvPr/>
        </p:nvSpPr>
        <p:spPr>
          <a:xfrm>
            <a:off x="2560320" y="1783080"/>
            <a:ext cx="1828800" cy="96012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9" name="Text 7"/>
          <p:cNvSpPr/>
          <p:nvPr/>
        </p:nvSpPr>
        <p:spPr>
          <a:xfrm>
            <a:off x="2560320" y="1856232"/>
            <a:ext cx="1828800" cy="457200"/>
          </a:xfrm>
          <a:prstGeom prst="rect">
            <a:avLst/>
          </a:prstGeom>
          <a:noFill/>
          <a:ln/>
        </p:spPr>
        <p:txBody>
          <a:bodyPr wrap="square" lIns="0" tIns="0" rIns="0" bIns="0" rtlCol="0" anchor="ctr"/>
          <a:lstStyle/>
          <a:p>
            <a:pPr algn="ctr" indent="0" marL="0">
              <a:buNone/>
            </a:pPr>
            <a:r>
              <a:rPr lang="en-US" sz="2600" b="1" dirty="0">
                <a:solidFill>
                  <a:srgbClr val="3B82F6"/>
                </a:solidFill>
                <a:latin typeface="Trebuchet MS" pitchFamily="34" charset="0"/>
                <a:ea typeface="Trebuchet MS" pitchFamily="34" charset="-122"/>
                <a:cs typeface="Trebuchet MS" pitchFamily="34" charset="-120"/>
              </a:rPr>
              <a:t>O(n)</a:t>
            </a:r>
            <a:endParaRPr lang="en-US" sz="2600" dirty="0"/>
          </a:p>
        </p:txBody>
      </p:sp>
      <p:sp>
        <p:nvSpPr>
          <p:cNvPr id="10" name="Text 8"/>
          <p:cNvSpPr/>
          <p:nvPr/>
        </p:nvSpPr>
        <p:spPr>
          <a:xfrm>
            <a:off x="2560320" y="2331720"/>
            <a:ext cx="1828800" cy="320040"/>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Memory (vs O(n²))</a:t>
            </a:r>
            <a:endParaRPr lang="en-US" sz="900" dirty="0"/>
          </a:p>
        </p:txBody>
      </p:sp>
      <p:sp>
        <p:nvSpPr>
          <p:cNvPr id="11" name="Shape 9"/>
          <p:cNvSpPr/>
          <p:nvPr/>
        </p:nvSpPr>
        <p:spPr>
          <a:xfrm>
            <a:off x="4663440" y="1783080"/>
            <a:ext cx="1828800" cy="96012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12" name="Text 10"/>
          <p:cNvSpPr/>
          <p:nvPr/>
        </p:nvSpPr>
        <p:spPr>
          <a:xfrm>
            <a:off x="4663440" y="1856232"/>
            <a:ext cx="1828800" cy="457200"/>
          </a:xfrm>
          <a:prstGeom prst="rect">
            <a:avLst/>
          </a:prstGeom>
          <a:noFill/>
          <a:ln/>
        </p:spPr>
        <p:txBody>
          <a:bodyPr wrap="square" lIns="0" tIns="0" rIns="0" bIns="0" rtlCol="0" anchor="ctr"/>
          <a:lstStyle/>
          <a:p>
            <a:pPr algn="ctr" indent="0" marL="0">
              <a:buNone/>
            </a:pPr>
            <a:r>
              <a:rPr lang="en-US" sz="2600" b="1" dirty="0">
                <a:solidFill>
                  <a:srgbClr val="7C3AED"/>
                </a:solidFill>
                <a:latin typeface="Trebuchet MS" pitchFamily="34" charset="0"/>
                <a:ea typeface="Trebuchet MS" pitchFamily="34" charset="-122"/>
                <a:cs typeface="Trebuchet MS" pitchFamily="34" charset="-120"/>
              </a:rPr>
              <a:t>Exact</a:t>
            </a:r>
            <a:endParaRPr lang="en-US" sz="2600" dirty="0"/>
          </a:p>
        </p:txBody>
      </p:sp>
      <p:sp>
        <p:nvSpPr>
          <p:cNvPr id="13" name="Text 11"/>
          <p:cNvSpPr/>
          <p:nvPr/>
        </p:nvSpPr>
        <p:spPr>
          <a:xfrm>
            <a:off x="4663440" y="2331720"/>
            <a:ext cx="1828800" cy="320040"/>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No Approximation</a:t>
            </a:r>
            <a:endParaRPr lang="en-US" sz="900" dirty="0"/>
          </a:p>
        </p:txBody>
      </p:sp>
      <p:sp>
        <p:nvSpPr>
          <p:cNvPr id="14" name="Shape 12"/>
          <p:cNvSpPr/>
          <p:nvPr/>
        </p:nvSpPr>
        <p:spPr>
          <a:xfrm>
            <a:off x="6766560" y="1783080"/>
            <a:ext cx="1828800" cy="96012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15" name="Text 13"/>
          <p:cNvSpPr/>
          <p:nvPr/>
        </p:nvSpPr>
        <p:spPr>
          <a:xfrm>
            <a:off x="6766560" y="1856232"/>
            <a:ext cx="1828800" cy="457200"/>
          </a:xfrm>
          <a:prstGeom prst="rect">
            <a:avLst/>
          </a:prstGeom>
          <a:noFill/>
          <a:ln/>
        </p:spPr>
        <p:txBody>
          <a:bodyPr wrap="square" lIns="0" tIns="0" rIns="0" bIns="0" rtlCol="0" anchor="ctr"/>
          <a:lstStyle/>
          <a:p>
            <a:pPr algn="ctr" indent="0" marL="0">
              <a:buNone/>
            </a:pPr>
            <a:r>
              <a:rPr lang="en-US" sz="2600" b="1" dirty="0">
                <a:solidFill>
                  <a:srgbClr val="F59E0B"/>
                </a:solidFill>
                <a:latin typeface="Trebuchet MS" pitchFamily="34" charset="0"/>
                <a:ea typeface="Trebuchet MS" pitchFamily="34" charset="-122"/>
                <a:cs typeface="Trebuchet MS" pitchFamily="34" charset="-120"/>
              </a:rPr>
              <a:t>v3</a:t>
            </a:r>
            <a:endParaRPr lang="en-US" sz="2600" dirty="0"/>
          </a:p>
        </p:txBody>
      </p:sp>
      <p:sp>
        <p:nvSpPr>
          <p:cNvPr id="16" name="Text 14"/>
          <p:cNvSpPr/>
          <p:nvPr/>
        </p:nvSpPr>
        <p:spPr>
          <a:xfrm>
            <a:off x="6766560" y="2331720"/>
            <a:ext cx="1828800" cy="320040"/>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Latest Version</a:t>
            </a:r>
            <a:endParaRPr lang="en-US" sz="900" dirty="0"/>
          </a:p>
        </p:txBody>
      </p:sp>
      <p:sp>
        <p:nvSpPr>
          <p:cNvPr id="17" name="Shape 15"/>
          <p:cNvSpPr/>
          <p:nvPr/>
        </p:nvSpPr>
        <p:spPr>
          <a:xfrm>
            <a:off x="457200" y="3017520"/>
            <a:ext cx="2560320" cy="173736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18" name="Shape 16"/>
          <p:cNvSpPr/>
          <p:nvPr/>
        </p:nvSpPr>
        <p:spPr>
          <a:xfrm>
            <a:off x="457200" y="3017520"/>
            <a:ext cx="2560320" cy="36576"/>
          </a:xfrm>
          <a:prstGeom prst="rect">
            <a:avLst/>
          </a:prstGeom>
          <a:solidFill>
            <a:srgbClr val="7C3AED"/>
          </a:solidFill>
          <a:ln/>
        </p:spPr>
      </p:sp>
      <p:sp>
        <p:nvSpPr>
          <p:cNvPr id="19" name="Text 17"/>
          <p:cNvSpPr/>
          <p:nvPr/>
        </p:nvSpPr>
        <p:spPr>
          <a:xfrm>
            <a:off x="594360" y="3154680"/>
            <a:ext cx="2286000" cy="256032"/>
          </a:xfrm>
          <a:prstGeom prst="rect">
            <a:avLst/>
          </a:prstGeom>
          <a:noFill/>
          <a:ln/>
        </p:spPr>
        <p:txBody>
          <a:bodyPr wrap="square" lIns="0" tIns="0" rIns="0" bIns="0" rtlCol="0" anchor="ctr"/>
          <a:lstStyle/>
          <a:p>
            <a:pPr algn="ctr" indent="0" marL="0">
              <a:buNone/>
            </a:pPr>
            <a:r>
              <a:rPr lang="en-US" sz="1200" b="1" dirty="0">
                <a:solidFill>
                  <a:srgbClr val="7C3AED"/>
                </a:solidFill>
                <a:latin typeface="Trebuchet MS" pitchFamily="34" charset="0"/>
                <a:ea typeface="Trebuchet MS" pitchFamily="34" charset="-122"/>
                <a:cs typeface="Trebuchet MS" pitchFamily="34" charset="-120"/>
              </a:rPr>
              <a:t>Flash Attention v1</a:t>
            </a:r>
            <a:endParaRPr lang="en-US" sz="1200" dirty="0"/>
          </a:p>
        </p:txBody>
      </p:sp>
      <p:sp>
        <p:nvSpPr>
          <p:cNvPr id="20" name="Text 18"/>
          <p:cNvSpPr/>
          <p:nvPr/>
        </p:nvSpPr>
        <p:spPr>
          <a:xfrm>
            <a:off x="594360" y="3474720"/>
            <a:ext cx="2286000" cy="1097280"/>
          </a:xfrm>
          <a:prstGeom prst="rect">
            <a:avLst/>
          </a:prstGeom>
          <a:noFill/>
          <a:ln/>
        </p:spPr>
        <p:txBody>
          <a:bodyPr wrap="square" lIns="0" tIns="0" rIns="0" bIns="0" rtlCol="0" anchor="t"/>
          <a:lstStyle/>
          <a:p>
            <a:pPr algn="ctr" indent="0" marL="0">
              <a:buNone/>
            </a:pPr>
            <a:r>
              <a:rPr lang="en-US" sz="900" dirty="0">
                <a:solidFill>
                  <a:srgbClr val="E2E8F0"/>
                </a:solidFill>
                <a:latin typeface="Calibri" pitchFamily="34" charset="0"/>
                <a:ea typeface="Calibri" pitchFamily="34" charset="-122"/>
                <a:cs typeface="Calibri" pitchFamily="34" charset="-120"/>
              </a:rPr>
              <a:t>Tiling + recomputation. Tiles Q,K,V into SRAM blocks, computes attention per-block, never materializes full n×n attention matrix in HBM. Uses online softmax trick.</a:t>
            </a:r>
            <a:endParaRPr lang="en-US" sz="900" dirty="0"/>
          </a:p>
        </p:txBody>
      </p:sp>
      <p:sp>
        <p:nvSpPr>
          <p:cNvPr id="21" name="Shape 19"/>
          <p:cNvSpPr/>
          <p:nvPr/>
        </p:nvSpPr>
        <p:spPr>
          <a:xfrm>
            <a:off x="3291840" y="3017520"/>
            <a:ext cx="2560320" cy="173736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22" name="Shape 20"/>
          <p:cNvSpPr/>
          <p:nvPr/>
        </p:nvSpPr>
        <p:spPr>
          <a:xfrm>
            <a:off x="3291840" y="3017520"/>
            <a:ext cx="2560320" cy="36576"/>
          </a:xfrm>
          <a:prstGeom prst="rect">
            <a:avLst/>
          </a:prstGeom>
          <a:solidFill>
            <a:srgbClr val="3B82F6"/>
          </a:solidFill>
          <a:ln/>
        </p:spPr>
      </p:sp>
      <p:sp>
        <p:nvSpPr>
          <p:cNvPr id="23" name="Text 21"/>
          <p:cNvSpPr/>
          <p:nvPr/>
        </p:nvSpPr>
        <p:spPr>
          <a:xfrm>
            <a:off x="3429000" y="3154680"/>
            <a:ext cx="2286000" cy="256032"/>
          </a:xfrm>
          <a:prstGeom prst="rect">
            <a:avLst/>
          </a:prstGeom>
          <a:noFill/>
          <a:ln/>
        </p:spPr>
        <p:txBody>
          <a:bodyPr wrap="square" lIns="0" tIns="0" rIns="0" bIns="0" rtlCol="0" anchor="ctr"/>
          <a:lstStyle/>
          <a:p>
            <a:pPr algn="ctr" indent="0" marL="0">
              <a:buNone/>
            </a:pPr>
            <a:r>
              <a:rPr lang="en-US" sz="1200" b="1" dirty="0">
                <a:solidFill>
                  <a:srgbClr val="3B82F6"/>
                </a:solidFill>
                <a:latin typeface="Trebuchet MS" pitchFamily="34" charset="0"/>
                <a:ea typeface="Trebuchet MS" pitchFamily="34" charset="-122"/>
                <a:cs typeface="Trebuchet MS" pitchFamily="34" charset="-120"/>
              </a:rPr>
              <a:t>Flash Attention v2</a:t>
            </a:r>
            <a:endParaRPr lang="en-US" sz="1200" dirty="0"/>
          </a:p>
        </p:txBody>
      </p:sp>
      <p:sp>
        <p:nvSpPr>
          <p:cNvPr id="24" name="Text 22"/>
          <p:cNvSpPr/>
          <p:nvPr/>
        </p:nvSpPr>
        <p:spPr>
          <a:xfrm>
            <a:off x="3429000" y="3474720"/>
            <a:ext cx="2286000" cy="1097280"/>
          </a:xfrm>
          <a:prstGeom prst="rect">
            <a:avLst/>
          </a:prstGeom>
          <a:noFill/>
          <a:ln/>
        </p:spPr>
        <p:txBody>
          <a:bodyPr wrap="square" lIns="0" tIns="0" rIns="0" bIns="0" rtlCol="0" anchor="t"/>
          <a:lstStyle/>
          <a:p>
            <a:pPr algn="ctr" indent="0" marL="0">
              <a:buNone/>
            </a:pPr>
            <a:r>
              <a:rPr lang="en-US" sz="900" dirty="0">
                <a:solidFill>
                  <a:srgbClr val="E2E8F0"/>
                </a:solidFill>
                <a:latin typeface="Calibri" pitchFamily="34" charset="0"/>
                <a:ea typeface="Calibri" pitchFamily="34" charset="-122"/>
                <a:cs typeface="Calibri" pitchFamily="34" charset="-120"/>
              </a:rPr>
              <a:t>Better parallelism across sequence length. Reduced non-matmul FLOPs. ~2x faster than v1. Supports multi-query and grouped-query attention natively.</a:t>
            </a:r>
            <a:endParaRPr lang="en-US" sz="900" dirty="0"/>
          </a:p>
        </p:txBody>
      </p:sp>
      <p:sp>
        <p:nvSpPr>
          <p:cNvPr id="25" name="Shape 23"/>
          <p:cNvSpPr/>
          <p:nvPr/>
        </p:nvSpPr>
        <p:spPr>
          <a:xfrm>
            <a:off x="6126480" y="3017520"/>
            <a:ext cx="2560320" cy="173736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26" name="Shape 24"/>
          <p:cNvSpPr/>
          <p:nvPr/>
        </p:nvSpPr>
        <p:spPr>
          <a:xfrm>
            <a:off x="6126480" y="3017520"/>
            <a:ext cx="2560320" cy="36576"/>
          </a:xfrm>
          <a:prstGeom prst="rect">
            <a:avLst/>
          </a:prstGeom>
          <a:solidFill>
            <a:srgbClr val="14B8A6"/>
          </a:solidFill>
          <a:ln/>
        </p:spPr>
      </p:sp>
      <p:sp>
        <p:nvSpPr>
          <p:cNvPr id="27" name="Text 25"/>
          <p:cNvSpPr/>
          <p:nvPr/>
        </p:nvSpPr>
        <p:spPr>
          <a:xfrm>
            <a:off x="6263640" y="3154680"/>
            <a:ext cx="2286000" cy="256032"/>
          </a:xfrm>
          <a:prstGeom prst="rect">
            <a:avLst/>
          </a:prstGeom>
          <a:noFill/>
          <a:ln/>
        </p:spPr>
        <p:txBody>
          <a:bodyPr wrap="square" lIns="0" tIns="0" rIns="0" bIns="0" rtlCol="0" anchor="ctr"/>
          <a:lstStyle/>
          <a:p>
            <a:pPr algn="ctr" indent="0" marL="0">
              <a:buNone/>
            </a:pPr>
            <a:r>
              <a:rPr lang="en-US" sz="1200" b="1" dirty="0">
                <a:solidFill>
                  <a:srgbClr val="14B8A6"/>
                </a:solidFill>
                <a:latin typeface="Trebuchet MS" pitchFamily="34" charset="0"/>
                <a:ea typeface="Trebuchet MS" pitchFamily="34" charset="-122"/>
                <a:cs typeface="Trebuchet MS" pitchFamily="34" charset="-120"/>
              </a:rPr>
              <a:t>Flash Attention v3</a:t>
            </a:r>
            <a:endParaRPr lang="en-US" sz="1200" dirty="0"/>
          </a:p>
        </p:txBody>
      </p:sp>
      <p:sp>
        <p:nvSpPr>
          <p:cNvPr id="28" name="Text 26"/>
          <p:cNvSpPr/>
          <p:nvPr/>
        </p:nvSpPr>
        <p:spPr>
          <a:xfrm>
            <a:off x="6263640" y="3474720"/>
            <a:ext cx="2286000" cy="1097280"/>
          </a:xfrm>
          <a:prstGeom prst="rect">
            <a:avLst/>
          </a:prstGeom>
          <a:noFill/>
          <a:ln/>
        </p:spPr>
        <p:txBody>
          <a:bodyPr wrap="square" lIns="0" tIns="0" rIns="0" bIns="0" rtlCol="0" anchor="t"/>
          <a:lstStyle/>
          <a:p>
            <a:pPr algn="ctr" indent="0" marL="0">
              <a:buNone/>
            </a:pPr>
            <a:r>
              <a:rPr lang="en-US" sz="900" dirty="0">
                <a:solidFill>
                  <a:srgbClr val="E2E8F0"/>
                </a:solidFill>
                <a:latin typeface="Calibri" pitchFamily="34" charset="0"/>
                <a:ea typeface="Calibri" pitchFamily="34" charset="-122"/>
                <a:cs typeface="Calibri" pitchFamily="34" charset="-120"/>
              </a:rPr>
              <a:t>Hopper GPU optimization (H100). Exploits FP8 tensor cores and TMA (Tensor Memory Accelerator). Asynchronous softmax. Approaching hardware FLOP utilization ceiling.</a:t>
            </a:r>
            <a:endParaRPr lang="en-US" sz="900" dirty="0"/>
          </a:p>
        </p:txBody>
      </p:sp>
      <p:sp>
        <p:nvSpPr>
          <p:cNvPr id="29" name="Text 2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14 / 30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457200" y="228600"/>
            <a:ext cx="2286000" cy="274320"/>
          </a:xfrm>
          <a:prstGeom prst="rect">
            <a:avLst/>
          </a:prstGeom>
          <a:noFill/>
          <a:ln/>
        </p:spPr>
        <p:txBody>
          <a:bodyPr wrap="square" lIns="0" tIns="0" rIns="0" bIns="0" rtlCol="0" anchor="ctr"/>
          <a:lstStyle/>
          <a:p>
            <a:pPr indent="0" marL="0">
              <a:buNone/>
            </a:pPr>
            <a:r>
              <a:rPr lang="en-US" sz="800" b="1" spc="400" kern="0" dirty="0">
                <a:solidFill>
                  <a:srgbClr val="6366F1"/>
                </a:solidFill>
                <a:latin typeface="Calibri" pitchFamily="34" charset="0"/>
                <a:ea typeface="Calibri" pitchFamily="34" charset="-122"/>
                <a:cs typeface="Calibri" pitchFamily="34" charset="-120"/>
              </a:rPr>
              <a:t>ATTENTION</a:t>
            </a:r>
            <a:endParaRPr lang="en-US" sz="8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Attention Mechanisms — Comparison Matrix</a:t>
            </a:r>
            <a:endParaRPr lang="en-US" sz="2400" dirty="0"/>
          </a:p>
        </p:txBody>
      </p:sp>
      <p:sp>
        <p:nvSpPr>
          <p:cNvPr id="4" name="Shape 2"/>
          <p:cNvSpPr/>
          <p:nvPr/>
        </p:nvSpPr>
        <p:spPr>
          <a:xfrm>
            <a:off x="457200" y="1097280"/>
            <a:ext cx="2011680" cy="347472"/>
          </a:xfrm>
          <a:prstGeom prst="rect">
            <a:avLst/>
          </a:prstGeom>
          <a:solidFill>
            <a:srgbClr val="6366F1">
              <a:alpha val="50000"/>
            </a:srgbClr>
          </a:solidFill>
          <a:ln/>
        </p:spPr>
      </p:sp>
      <p:sp>
        <p:nvSpPr>
          <p:cNvPr id="5" name="Text 3"/>
          <p:cNvSpPr/>
          <p:nvPr/>
        </p:nvSpPr>
        <p:spPr>
          <a:xfrm>
            <a:off x="457200" y="1097280"/>
            <a:ext cx="201168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Mechanism</a:t>
            </a:r>
            <a:endParaRPr lang="en-US" sz="1000" dirty="0"/>
          </a:p>
        </p:txBody>
      </p:sp>
      <p:sp>
        <p:nvSpPr>
          <p:cNvPr id="6" name="Shape 4"/>
          <p:cNvSpPr/>
          <p:nvPr/>
        </p:nvSpPr>
        <p:spPr>
          <a:xfrm>
            <a:off x="2468880" y="1097280"/>
            <a:ext cx="1188720" cy="347472"/>
          </a:xfrm>
          <a:prstGeom prst="rect">
            <a:avLst/>
          </a:prstGeom>
          <a:solidFill>
            <a:srgbClr val="6366F1">
              <a:alpha val="50000"/>
            </a:srgbClr>
          </a:solidFill>
          <a:ln/>
        </p:spPr>
      </p:sp>
      <p:sp>
        <p:nvSpPr>
          <p:cNvPr id="7" name="Text 5"/>
          <p:cNvSpPr/>
          <p:nvPr/>
        </p:nvSpPr>
        <p:spPr>
          <a:xfrm>
            <a:off x="2468880" y="1097280"/>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Complexity</a:t>
            </a:r>
            <a:endParaRPr lang="en-US" sz="1000" dirty="0"/>
          </a:p>
        </p:txBody>
      </p:sp>
      <p:sp>
        <p:nvSpPr>
          <p:cNvPr id="8" name="Shape 6"/>
          <p:cNvSpPr/>
          <p:nvPr/>
        </p:nvSpPr>
        <p:spPr>
          <a:xfrm>
            <a:off x="3657600" y="1097280"/>
            <a:ext cx="1188720" cy="347472"/>
          </a:xfrm>
          <a:prstGeom prst="rect">
            <a:avLst/>
          </a:prstGeom>
          <a:solidFill>
            <a:srgbClr val="6366F1">
              <a:alpha val="50000"/>
            </a:srgbClr>
          </a:solidFill>
          <a:ln/>
        </p:spPr>
      </p:sp>
      <p:sp>
        <p:nvSpPr>
          <p:cNvPr id="9" name="Text 7"/>
          <p:cNvSpPr/>
          <p:nvPr/>
        </p:nvSpPr>
        <p:spPr>
          <a:xfrm>
            <a:off x="3657600" y="1097280"/>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KV Cache</a:t>
            </a:r>
            <a:endParaRPr lang="en-US" sz="1000" dirty="0"/>
          </a:p>
        </p:txBody>
      </p:sp>
      <p:sp>
        <p:nvSpPr>
          <p:cNvPr id="10" name="Shape 8"/>
          <p:cNvSpPr/>
          <p:nvPr/>
        </p:nvSpPr>
        <p:spPr>
          <a:xfrm>
            <a:off x="4846320" y="1097280"/>
            <a:ext cx="1005840" cy="347472"/>
          </a:xfrm>
          <a:prstGeom prst="rect">
            <a:avLst/>
          </a:prstGeom>
          <a:solidFill>
            <a:srgbClr val="6366F1">
              <a:alpha val="50000"/>
            </a:srgbClr>
          </a:solidFill>
          <a:ln/>
        </p:spPr>
      </p:sp>
      <p:sp>
        <p:nvSpPr>
          <p:cNvPr id="11" name="Text 9"/>
          <p:cNvSpPr/>
          <p:nvPr/>
        </p:nvSpPr>
        <p:spPr>
          <a:xfrm>
            <a:off x="4846320" y="1097280"/>
            <a:ext cx="10058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Quality</a:t>
            </a:r>
            <a:endParaRPr lang="en-US" sz="1000" dirty="0"/>
          </a:p>
        </p:txBody>
      </p:sp>
      <p:sp>
        <p:nvSpPr>
          <p:cNvPr id="12" name="Shape 10"/>
          <p:cNvSpPr/>
          <p:nvPr/>
        </p:nvSpPr>
        <p:spPr>
          <a:xfrm>
            <a:off x="5852160" y="1097280"/>
            <a:ext cx="2834640" cy="347472"/>
          </a:xfrm>
          <a:prstGeom prst="rect">
            <a:avLst/>
          </a:prstGeom>
          <a:solidFill>
            <a:srgbClr val="6366F1">
              <a:alpha val="50000"/>
            </a:srgbClr>
          </a:solidFill>
          <a:ln/>
        </p:spPr>
      </p:sp>
      <p:sp>
        <p:nvSpPr>
          <p:cNvPr id="13" name="Text 11"/>
          <p:cNvSpPr/>
          <p:nvPr/>
        </p:nvSpPr>
        <p:spPr>
          <a:xfrm>
            <a:off x="5852160" y="1097280"/>
            <a:ext cx="28346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Used In</a:t>
            </a:r>
            <a:endParaRPr lang="en-US" sz="1000" dirty="0"/>
          </a:p>
        </p:txBody>
      </p:sp>
      <p:sp>
        <p:nvSpPr>
          <p:cNvPr id="14" name="Shape 12"/>
          <p:cNvSpPr/>
          <p:nvPr/>
        </p:nvSpPr>
        <p:spPr>
          <a:xfrm>
            <a:off x="457200" y="1481328"/>
            <a:ext cx="2011680" cy="347472"/>
          </a:xfrm>
          <a:prstGeom prst="rect">
            <a:avLst/>
          </a:prstGeom>
          <a:solidFill>
            <a:srgbClr val="161B2E"/>
          </a:solidFill>
          <a:ln/>
        </p:spPr>
      </p:sp>
      <p:sp>
        <p:nvSpPr>
          <p:cNvPr id="15" name="Text 13"/>
          <p:cNvSpPr/>
          <p:nvPr/>
        </p:nvSpPr>
        <p:spPr>
          <a:xfrm>
            <a:off x="530352" y="1481328"/>
            <a:ext cx="1865376" cy="34747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Full Self-Attention</a:t>
            </a:r>
            <a:endParaRPr lang="en-US" sz="900" dirty="0"/>
          </a:p>
        </p:txBody>
      </p:sp>
      <p:sp>
        <p:nvSpPr>
          <p:cNvPr id="16" name="Shape 14"/>
          <p:cNvSpPr/>
          <p:nvPr/>
        </p:nvSpPr>
        <p:spPr>
          <a:xfrm>
            <a:off x="2468880" y="1481328"/>
            <a:ext cx="1188720" cy="347472"/>
          </a:xfrm>
          <a:prstGeom prst="rect">
            <a:avLst/>
          </a:prstGeom>
          <a:solidFill>
            <a:srgbClr val="161B2E"/>
          </a:solidFill>
          <a:ln/>
        </p:spPr>
      </p:sp>
      <p:sp>
        <p:nvSpPr>
          <p:cNvPr id="17" name="Text 15"/>
          <p:cNvSpPr/>
          <p:nvPr/>
        </p:nvSpPr>
        <p:spPr>
          <a:xfrm>
            <a:off x="2542032" y="1481328"/>
            <a:ext cx="1042416" cy="347472"/>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O(n²d)</a:t>
            </a:r>
            <a:endParaRPr lang="en-US" sz="900" dirty="0"/>
          </a:p>
        </p:txBody>
      </p:sp>
      <p:sp>
        <p:nvSpPr>
          <p:cNvPr id="18" name="Shape 16"/>
          <p:cNvSpPr/>
          <p:nvPr/>
        </p:nvSpPr>
        <p:spPr>
          <a:xfrm>
            <a:off x="3657600" y="1481328"/>
            <a:ext cx="1188720" cy="347472"/>
          </a:xfrm>
          <a:prstGeom prst="rect">
            <a:avLst/>
          </a:prstGeom>
          <a:solidFill>
            <a:srgbClr val="161B2E"/>
          </a:solidFill>
          <a:ln/>
        </p:spPr>
      </p:sp>
      <p:sp>
        <p:nvSpPr>
          <p:cNvPr id="19" name="Text 17"/>
          <p:cNvSpPr/>
          <p:nvPr/>
        </p:nvSpPr>
        <p:spPr>
          <a:xfrm>
            <a:off x="3730752" y="1481328"/>
            <a:ext cx="1042416" cy="347472"/>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O(n·h·d_k)</a:t>
            </a:r>
            <a:endParaRPr lang="en-US" sz="900" dirty="0"/>
          </a:p>
        </p:txBody>
      </p:sp>
      <p:sp>
        <p:nvSpPr>
          <p:cNvPr id="20" name="Shape 18"/>
          <p:cNvSpPr/>
          <p:nvPr/>
        </p:nvSpPr>
        <p:spPr>
          <a:xfrm>
            <a:off x="4846320" y="1481328"/>
            <a:ext cx="1005840" cy="347472"/>
          </a:xfrm>
          <a:prstGeom prst="rect">
            <a:avLst/>
          </a:prstGeom>
          <a:solidFill>
            <a:srgbClr val="161B2E"/>
          </a:solidFill>
          <a:ln/>
        </p:spPr>
      </p:sp>
      <p:sp>
        <p:nvSpPr>
          <p:cNvPr id="21" name="Text 19"/>
          <p:cNvSpPr/>
          <p:nvPr/>
        </p:nvSpPr>
        <p:spPr>
          <a:xfrm>
            <a:off x="4919472" y="1481328"/>
            <a:ext cx="859536" cy="347472"/>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Highest</a:t>
            </a:r>
            <a:endParaRPr lang="en-US" sz="900" dirty="0"/>
          </a:p>
        </p:txBody>
      </p:sp>
      <p:sp>
        <p:nvSpPr>
          <p:cNvPr id="22" name="Shape 20"/>
          <p:cNvSpPr/>
          <p:nvPr/>
        </p:nvSpPr>
        <p:spPr>
          <a:xfrm>
            <a:off x="5852160" y="1481328"/>
            <a:ext cx="2834640" cy="347472"/>
          </a:xfrm>
          <a:prstGeom prst="rect">
            <a:avLst/>
          </a:prstGeom>
          <a:solidFill>
            <a:srgbClr val="161B2E"/>
          </a:solidFill>
          <a:ln/>
        </p:spPr>
      </p:sp>
      <p:sp>
        <p:nvSpPr>
          <p:cNvPr id="23" name="Text 21"/>
          <p:cNvSpPr/>
          <p:nvPr/>
        </p:nvSpPr>
        <p:spPr>
          <a:xfrm>
            <a:off x="5925312" y="1481328"/>
            <a:ext cx="2688336" cy="347472"/>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BERT, GPT-2/3, ViT</a:t>
            </a:r>
            <a:endParaRPr lang="en-US" sz="900" dirty="0"/>
          </a:p>
        </p:txBody>
      </p:sp>
      <p:sp>
        <p:nvSpPr>
          <p:cNvPr id="24" name="Shape 22"/>
          <p:cNvSpPr/>
          <p:nvPr/>
        </p:nvSpPr>
        <p:spPr>
          <a:xfrm>
            <a:off x="457200" y="1865376"/>
            <a:ext cx="2011680" cy="347472"/>
          </a:xfrm>
          <a:prstGeom prst="rect">
            <a:avLst/>
          </a:prstGeom>
          <a:solidFill>
            <a:srgbClr val="1C2240"/>
          </a:solidFill>
          <a:ln/>
        </p:spPr>
      </p:sp>
      <p:sp>
        <p:nvSpPr>
          <p:cNvPr id="25" name="Text 23"/>
          <p:cNvSpPr/>
          <p:nvPr/>
        </p:nvSpPr>
        <p:spPr>
          <a:xfrm>
            <a:off x="530352" y="1865376"/>
            <a:ext cx="1865376" cy="34747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Multi-Query (MQA)</a:t>
            </a:r>
            <a:endParaRPr lang="en-US" sz="900" dirty="0"/>
          </a:p>
        </p:txBody>
      </p:sp>
      <p:sp>
        <p:nvSpPr>
          <p:cNvPr id="26" name="Shape 24"/>
          <p:cNvSpPr/>
          <p:nvPr/>
        </p:nvSpPr>
        <p:spPr>
          <a:xfrm>
            <a:off x="2468880" y="1865376"/>
            <a:ext cx="1188720" cy="347472"/>
          </a:xfrm>
          <a:prstGeom prst="rect">
            <a:avLst/>
          </a:prstGeom>
          <a:solidFill>
            <a:srgbClr val="1C2240"/>
          </a:solidFill>
          <a:ln/>
        </p:spPr>
      </p:sp>
      <p:sp>
        <p:nvSpPr>
          <p:cNvPr id="27" name="Text 25"/>
          <p:cNvSpPr/>
          <p:nvPr/>
        </p:nvSpPr>
        <p:spPr>
          <a:xfrm>
            <a:off x="2542032" y="1865376"/>
            <a:ext cx="1042416" cy="347472"/>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O(n²d)</a:t>
            </a:r>
            <a:endParaRPr lang="en-US" sz="900" dirty="0"/>
          </a:p>
        </p:txBody>
      </p:sp>
      <p:sp>
        <p:nvSpPr>
          <p:cNvPr id="28" name="Shape 26"/>
          <p:cNvSpPr/>
          <p:nvPr/>
        </p:nvSpPr>
        <p:spPr>
          <a:xfrm>
            <a:off x="3657600" y="1865376"/>
            <a:ext cx="1188720" cy="347472"/>
          </a:xfrm>
          <a:prstGeom prst="rect">
            <a:avLst/>
          </a:prstGeom>
          <a:solidFill>
            <a:srgbClr val="1C2240"/>
          </a:solidFill>
          <a:ln/>
        </p:spPr>
      </p:sp>
      <p:sp>
        <p:nvSpPr>
          <p:cNvPr id="29" name="Text 27"/>
          <p:cNvSpPr/>
          <p:nvPr/>
        </p:nvSpPr>
        <p:spPr>
          <a:xfrm>
            <a:off x="3730752" y="1865376"/>
            <a:ext cx="1042416" cy="347472"/>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O(n·d_k)</a:t>
            </a:r>
            <a:endParaRPr lang="en-US" sz="900" dirty="0"/>
          </a:p>
        </p:txBody>
      </p:sp>
      <p:sp>
        <p:nvSpPr>
          <p:cNvPr id="30" name="Shape 28"/>
          <p:cNvSpPr/>
          <p:nvPr/>
        </p:nvSpPr>
        <p:spPr>
          <a:xfrm>
            <a:off x="4846320" y="1865376"/>
            <a:ext cx="1005840" cy="347472"/>
          </a:xfrm>
          <a:prstGeom prst="rect">
            <a:avLst/>
          </a:prstGeom>
          <a:solidFill>
            <a:srgbClr val="1C2240"/>
          </a:solidFill>
          <a:ln/>
        </p:spPr>
      </p:sp>
      <p:sp>
        <p:nvSpPr>
          <p:cNvPr id="31" name="Text 29"/>
          <p:cNvSpPr/>
          <p:nvPr/>
        </p:nvSpPr>
        <p:spPr>
          <a:xfrm>
            <a:off x="4919472" y="1865376"/>
            <a:ext cx="859536" cy="347472"/>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Slight ↓</a:t>
            </a:r>
            <a:endParaRPr lang="en-US" sz="900" dirty="0"/>
          </a:p>
        </p:txBody>
      </p:sp>
      <p:sp>
        <p:nvSpPr>
          <p:cNvPr id="32" name="Shape 30"/>
          <p:cNvSpPr/>
          <p:nvPr/>
        </p:nvSpPr>
        <p:spPr>
          <a:xfrm>
            <a:off x="5852160" y="1865376"/>
            <a:ext cx="2834640" cy="347472"/>
          </a:xfrm>
          <a:prstGeom prst="rect">
            <a:avLst/>
          </a:prstGeom>
          <a:solidFill>
            <a:srgbClr val="1C2240"/>
          </a:solidFill>
          <a:ln/>
        </p:spPr>
      </p:sp>
      <p:sp>
        <p:nvSpPr>
          <p:cNvPr id="33" name="Text 31"/>
          <p:cNvSpPr/>
          <p:nvPr/>
        </p:nvSpPr>
        <p:spPr>
          <a:xfrm>
            <a:off x="5925312" y="1865376"/>
            <a:ext cx="2688336" cy="347472"/>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PaLM, Falcon, Gemini</a:t>
            </a:r>
            <a:endParaRPr lang="en-US" sz="900" dirty="0"/>
          </a:p>
        </p:txBody>
      </p:sp>
      <p:sp>
        <p:nvSpPr>
          <p:cNvPr id="34" name="Shape 32"/>
          <p:cNvSpPr/>
          <p:nvPr/>
        </p:nvSpPr>
        <p:spPr>
          <a:xfrm>
            <a:off x="457200" y="2249424"/>
            <a:ext cx="2011680" cy="347472"/>
          </a:xfrm>
          <a:prstGeom prst="rect">
            <a:avLst/>
          </a:prstGeom>
          <a:solidFill>
            <a:srgbClr val="161B2E"/>
          </a:solidFill>
          <a:ln/>
        </p:spPr>
      </p:sp>
      <p:sp>
        <p:nvSpPr>
          <p:cNvPr id="35" name="Text 33"/>
          <p:cNvSpPr/>
          <p:nvPr/>
        </p:nvSpPr>
        <p:spPr>
          <a:xfrm>
            <a:off x="530352" y="2249424"/>
            <a:ext cx="1865376" cy="34747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Grouped-Query (GQA)</a:t>
            </a:r>
            <a:endParaRPr lang="en-US" sz="900" dirty="0"/>
          </a:p>
        </p:txBody>
      </p:sp>
      <p:sp>
        <p:nvSpPr>
          <p:cNvPr id="36" name="Shape 34"/>
          <p:cNvSpPr/>
          <p:nvPr/>
        </p:nvSpPr>
        <p:spPr>
          <a:xfrm>
            <a:off x="2468880" y="2249424"/>
            <a:ext cx="1188720" cy="347472"/>
          </a:xfrm>
          <a:prstGeom prst="rect">
            <a:avLst/>
          </a:prstGeom>
          <a:solidFill>
            <a:srgbClr val="161B2E"/>
          </a:solidFill>
          <a:ln/>
        </p:spPr>
      </p:sp>
      <p:sp>
        <p:nvSpPr>
          <p:cNvPr id="37" name="Text 35"/>
          <p:cNvSpPr/>
          <p:nvPr/>
        </p:nvSpPr>
        <p:spPr>
          <a:xfrm>
            <a:off x="2542032" y="2249424"/>
            <a:ext cx="1042416" cy="347472"/>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O(n²d)</a:t>
            </a:r>
            <a:endParaRPr lang="en-US" sz="900" dirty="0"/>
          </a:p>
        </p:txBody>
      </p:sp>
      <p:sp>
        <p:nvSpPr>
          <p:cNvPr id="38" name="Shape 36"/>
          <p:cNvSpPr/>
          <p:nvPr/>
        </p:nvSpPr>
        <p:spPr>
          <a:xfrm>
            <a:off x="3657600" y="2249424"/>
            <a:ext cx="1188720" cy="347472"/>
          </a:xfrm>
          <a:prstGeom prst="rect">
            <a:avLst/>
          </a:prstGeom>
          <a:solidFill>
            <a:srgbClr val="161B2E"/>
          </a:solidFill>
          <a:ln/>
        </p:spPr>
      </p:sp>
      <p:sp>
        <p:nvSpPr>
          <p:cNvPr id="39" name="Text 37"/>
          <p:cNvSpPr/>
          <p:nvPr/>
        </p:nvSpPr>
        <p:spPr>
          <a:xfrm>
            <a:off x="3730752" y="2249424"/>
            <a:ext cx="1042416" cy="347472"/>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O(n·g·d_k)</a:t>
            </a:r>
            <a:endParaRPr lang="en-US" sz="900" dirty="0"/>
          </a:p>
        </p:txBody>
      </p:sp>
      <p:sp>
        <p:nvSpPr>
          <p:cNvPr id="40" name="Shape 38"/>
          <p:cNvSpPr/>
          <p:nvPr/>
        </p:nvSpPr>
        <p:spPr>
          <a:xfrm>
            <a:off x="4846320" y="2249424"/>
            <a:ext cx="1005840" cy="347472"/>
          </a:xfrm>
          <a:prstGeom prst="rect">
            <a:avLst/>
          </a:prstGeom>
          <a:solidFill>
            <a:srgbClr val="161B2E"/>
          </a:solidFill>
          <a:ln/>
        </p:spPr>
      </p:sp>
      <p:sp>
        <p:nvSpPr>
          <p:cNvPr id="41" name="Text 39"/>
          <p:cNvSpPr/>
          <p:nvPr/>
        </p:nvSpPr>
        <p:spPr>
          <a:xfrm>
            <a:off x="4919472" y="2249424"/>
            <a:ext cx="859536" cy="347472"/>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 MHA</a:t>
            </a:r>
            <a:endParaRPr lang="en-US" sz="900" dirty="0"/>
          </a:p>
        </p:txBody>
      </p:sp>
      <p:sp>
        <p:nvSpPr>
          <p:cNvPr id="42" name="Shape 40"/>
          <p:cNvSpPr/>
          <p:nvPr/>
        </p:nvSpPr>
        <p:spPr>
          <a:xfrm>
            <a:off x="5852160" y="2249424"/>
            <a:ext cx="2834640" cy="347472"/>
          </a:xfrm>
          <a:prstGeom prst="rect">
            <a:avLst/>
          </a:prstGeom>
          <a:solidFill>
            <a:srgbClr val="161B2E"/>
          </a:solidFill>
          <a:ln/>
        </p:spPr>
      </p:sp>
      <p:sp>
        <p:nvSpPr>
          <p:cNvPr id="43" name="Text 41"/>
          <p:cNvSpPr/>
          <p:nvPr/>
        </p:nvSpPr>
        <p:spPr>
          <a:xfrm>
            <a:off x="5925312" y="2249424"/>
            <a:ext cx="2688336" cy="347472"/>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LLaMA 2/3, Mistral</a:t>
            </a:r>
            <a:endParaRPr lang="en-US" sz="900" dirty="0"/>
          </a:p>
        </p:txBody>
      </p:sp>
      <p:sp>
        <p:nvSpPr>
          <p:cNvPr id="44" name="Shape 42"/>
          <p:cNvSpPr/>
          <p:nvPr/>
        </p:nvSpPr>
        <p:spPr>
          <a:xfrm>
            <a:off x="457200" y="2633472"/>
            <a:ext cx="2011680" cy="347472"/>
          </a:xfrm>
          <a:prstGeom prst="rect">
            <a:avLst/>
          </a:prstGeom>
          <a:solidFill>
            <a:srgbClr val="1C2240"/>
          </a:solidFill>
          <a:ln/>
        </p:spPr>
      </p:sp>
      <p:sp>
        <p:nvSpPr>
          <p:cNvPr id="45" name="Text 43"/>
          <p:cNvSpPr/>
          <p:nvPr/>
        </p:nvSpPr>
        <p:spPr>
          <a:xfrm>
            <a:off x="530352" y="2633472"/>
            <a:ext cx="1865376" cy="34747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Sliding Window</a:t>
            </a:r>
            <a:endParaRPr lang="en-US" sz="900" dirty="0"/>
          </a:p>
        </p:txBody>
      </p:sp>
      <p:sp>
        <p:nvSpPr>
          <p:cNvPr id="46" name="Shape 44"/>
          <p:cNvSpPr/>
          <p:nvPr/>
        </p:nvSpPr>
        <p:spPr>
          <a:xfrm>
            <a:off x="2468880" y="2633472"/>
            <a:ext cx="1188720" cy="347472"/>
          </a:xfrm>
          <a:prstGeom prst="rect">
            <a:avLst/>
          </a:prstGeom>
          <a:solidFill>
            <a:srgbClr val="1C2240"/>
          </a:solidFill>
          <a:ln/>
        </p:spPr>
      </p:sp>
      <p:sp>
        <p:nvSpPr>
          <p:cNvPr id="47" name="Text 45"/>
          <p:cNvSpPr/>
          <p:nvPr/>
        </p:nvSpPr>
        <p:spPr>
          <a:xfrm>
            <a:off x="2542032" y="2633472"/>
            <a:ext cx="1042416" cy="347472"/>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O(n·w·d)</a:t>
            </a:r>
            <a:endParaRPr lang="en-US" sz="900" dirty="0"/>
          </a:p>
        </p:txBody>
      </p:sp>
      <p:sp>
        <p:nvSpPr>
          <p:cNvPr id="48" name="Shape 46"/>
          <p:cNvSpPr/>
          <p:nvPr/>
        </p:nvSpPr>
        <p:spPr>
          <a:xfrm>
            <a:off x="3657600" y="2633472"/>
            <a:ext cx="1188720" cy="347472"/>
          </a:xfrm>
          <a:prstGeom prst="rect">
            <a:avLst/>
          </a:prstGeom>
          <a:solidFill>
            <a:srgbClr val="1C2240"/>
          </a:solidFill>
          <a:ln/>
        </p:spPr>
      </p:sp>
      <p:sp>
        <p:nvSpPr>
          <p:cNvPr id="49" name="Text 47"/>
          <p:cNvSpPr/>
          <p:nvPr/>
        </p:nvSpPr>
        <p:spPr>
          <a:xfrm>
            <a:off x="3730752" y="2633472"/>
            <a:ext cx="1042416" cy="347472"/>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O(w·h·d_k)</a:t>
            </a:r>
            <a:endParaRPr lang="en-US" sz="900" dirty="0"/>
          </a:p>
        </p:txBody>
      </p:sp>
      <p:sp>
        <p:nvSpPr>
          <p:cNvPr id="50" name="Shape 48"/>
          <p:cNvSpPr/>
          <p:nvPr/>
        </p:nvSpPr>
        <p:spPr>
          <a:xfrm>
            <a:off x="4846320" y="2633472"/>
            <a:ext cx="1005840" cy="347472"/>
          </a:xfrm>
          <a:prstGeom prst="rect">
            <a:avLst/>
          </a:prstGeom>
          <a:solidFill>
            <a:srgbClr val="1C2240"/>
          </a:solidFill>
          <a:ln/>
        </p:spPr>
      </p:sp>
      <p:sp>
        <p:nvSpPr>
          <p:cNvPr id="51" name="Text 49"/>
          <p:cNvSpPr/>
          <p:nvPr/>
        </p:nvSpPr>
        <p:spPr>
          <a:xfrm>
            <a:off x="4919472" y="2633472"/>
            <a:ext cx="859536" cy="347472"/>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Good</a:t>
            </a:r>
            <a:endParaRPr lang="en-US" sz="900" dirty="0"/>
          </a:p>
        </p:txBody>
      </p:sp>
      <p:sp>
        <p:nvSpPr>
          <p:cNvPr id="52" name="Shape 50"/>
          <p:cNvSpPr/>
          <p:nvPr/>
        </p:nvSpPr>
        <p:spPr>
          <a:xfrm>
            <a:off x="5852160" y="2633472"/>
            <a:ext cx="2834640" cy="347472"/>
          </a:xfrm>
          <a:prstGeom prst="rect">
            <a:avLst/>
          </a:prstGeom>
          <a:solidFill>
            <a:srgbClr val="1C2240"/>
          </a:solidFill>
          <a:ln/>
        </p:spPr>
      </p:sp>
      <p:sp>
        <p:nvSpPr>
          <p:cNvPr id="53" name="Text 51"/>
          <p:cNvSpPr/>
          <p:nvPr/>
        </p:nvSpPr>
        <p:spPr>
          <a:xfrm>
            <a:off x="5925312" y="2633472"/>
            <a:ext cx="2688336" cy="347472"/>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Mistral, Longformer</a:t>
            </a:r>
            <a:endParaRPr lang="en-US" sz="900" dirty="0"/>
          </a:p>
        </p:txBody>
      </p:sp>
      <p:sp>
        <p:nvSpPr>
          <p:cNvPr id="54" name="Shape 52"/>
          <p:cNvSpPr/>
          <p:nvPr/>
        </p:nvSpPr>
        <p:spPr>
          <a:xfrm>
            <a:off x="457200" y="3017520"/>
            <a:ext cx="2011680" cy="347472"/>
          </a:xfrm>
          <a:prstGeom prst="rect">
            <a:avLst/>
          </a:prstGeom>
          <a:solidFill>
            <a:srgbClr val="161B2E"/>
          </a:solidFill>
          <a:ln/>
        </p:spPr>
      </p:sp>
      <p:sp>
        <p:nvSpPr>
          <p:cNvPr id="55" name="Text 53"/>
          <p:cNvSpPr/>
          <p:nvPr/>
        </p:nvSpPr>
        <p:spPr>
          <a:xfrm>
            <a:off x="530352" y="3017520"/>
            <a:ext cx="1865376" cy="34747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Flash Attention</a:t>
            </a:r>
            <a:endParaRPr lang="en-US" sz="900" dirty="0"/>
          </a:p>
        </p:txBody>
      </p:sp>
      <p:sp>
        <p:nvSpPr>
          <p:cNvPr id="56" name="Shape 54"/>
          <p:cNvSpPr/>
          <p:nvPr/>
        </p:nvSpPr>
        <p:spPr>
          <a:xfrm>
            <a:off x="2468880" y="3017520"/>
            <a:ext cx="1188720" cy="347472"/>
          </a:xfrm>
          <a:prstGeom prst="rect">
            <a:avLst/>
          </a:prstGeom>
          <a:solidFill>
            <a:srgbClr val="161B2E"/>
          </a:solidFill>
          <a:ln/>
        </p:spPr>
      </p:sp>
      <p:sp>
        <p:nvSpPr>
          <p:cNvPr id="57" name="Text 55"/>
          <p:cNvSpPr/>
          <p:nvPr/>
        </p:nvSpPr>
        <p:spPr>
          <a:xfrm>
            <a:off x="2542032" y="3017520"/>
            <a:ext cx="1042416" cy="347472"/>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O(n²d)</a:t>
            </a:r>
            <a:endParaRPr lang="en-US" sz="900" dirty="0"/>
          </a:p>
        </p:txBody>
      </p:sp>
      <p:sp>
        <p:nvSpPr>
          <p:cNvPr id="58" name="Shape 56"/>
          <p:cNvSpPr/>
          <p:nvPr/>
        </p:nvSpPr>
        <p:spPr>
          <a:xfrm>
            <a:off x="3657600" y="3017520"/>
            <a:ext cx="1188720" cy="347472"/>
          </a:xfrm>
          <a:prstGeom prst="rect">
            <a:avLst/>
          </a:prstGeom>
          <a:solidFill>
            <a:srgbClr val="161B2E"/>
          </a:solidFill>
          <a:ln/>
        </p:spPr>
      </p:sp>
      <p:sp>
        <p:nvSpPr>
          <p:cNvPr id="59" name="Text 57"/>
          <p:cNvSpPr/>
          <p:nvPr/>
        </p:nvSpPr>
        <p:spPr>
          <a:xfrm>
            <a:off x="3730752" y="3017520"/>
            <a:ext cx="1042416" cy="347472"/>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O(n)</a:t>
            </a:r>
            <a:endParaRPr lang="en-US" sz="900" dirty="0"/>
          </a:p>
        </p:txBody>
      </p:sp>
      <p:sp>
        <p:nvSpPr>
          <p:cNvPr id="60" name="Shape 58"/>
          <p:cNvSpPr/>
          <p:nvPr/>
        </p:nvSpPr>
        <p:spPr>
          <a:xfrm>
            <a:off x="4846320" y="3017520"/>
            <a:ext cx="1005840" cy="347472"/>
          </a:xfrm>
          <a:prstGeom prst="rect">
            <a:avLst/>
          </a:prstGeom>
          <a:solidFill>
            <a:srgbClr val="161B2E"/>
          </a:solidFill>
          <a:ln/>
        </p:spPr>
      </p:sp>
      <p:sp>
        <p:nvSpPr>
          <p:cNvPr id="61" name="Text 59"/>
          <p:cNvSpPr/>
          <p:nvPr/>
        </p:nvSpPr>
        <p:spPr>
          <a:xfrm>
            <a:off x="4919472" y="3017520"/>
            <a:ext cx="859536" cy="347472"/>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Exact</a:t>
            </a:r>
            <a:endParaRPr lang="en-US" sz="900" dirty="0"/>
          </a:p>
        </p:txBody>
      </p:sp>
      <p:sp>
        <p:nvSpPr>
          <p:cNvPr id="62" name="Shape 60"/>
          <p:cNvSpPr/>
          <p:nvPr/>
        </p:nvSpPr>
        <p:spPr>
          <a:xfrm>
            <a:off x="5852160" y="3017520"/>
            <a:ext cx="2834640" cy="347472"/>
          </a:xfrm>
          <a:prstGeom prst="rect">
            <a:avLst/>
          </a:prstGeom>
          <a:solidFill>
            <a:srgbClr val="161B2E"/>
          </a:solidFill>
          <a:ln/>
        </p:spPr>
      </p:sp>
      <p:sp>
        <p:nvSpPr>
          <p:cNvPr id="63" name="Text 61"/>
          <p:cNvSpPr/>
          <p:nvPr/>
        </p:nvSpPr>
        <p:spPr>
          <a:xfrm>
            <a:off x="5925312" y="3017520"/>
            <a:ext cx="2688336" cy="347472"/>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Nearly all modern LLMs</a:t>
            </a:r>
            <a:endParaRPr lang="en-US" sz="900" dirty="0"/>
          </a:p>
        </p:txBody>
      </p:sp>
      <p:sp>
        <p:nvSpPr>
          <p:cNvPr id="64" name="Shape 62"/>
          <p:cNvSpPr/>
          <p:nvPr/>
        </p:nvSpPr>
        <p:spPr>
          <a:xfrm>
            <a:off x="457200" y="3401568"/>
            <a:ext cx="2011680" cy="347472"/>
          </a:xfrm>
          <a:prstGeom prst="rect">
            <a:avLst/>
          </a:prstGeom>
          <a:solidFill>
            <a:srgbClr val="1C2240"/>
          </a:solidFill>
          <a:ln/>
        </p:spPr>
      </p:sp>
      <p:sp>
        <p:nvSpPr>
          <p:cNvPr id="65" name="Text 63"/>
          <p:cNvSpPr/>
          <p:nvPr/>
        </p:nvSpPr>
        <p:spPr>
          <a:xfrm>
            <a:off x="530352" y="3401568"/>
            <a:ext cx="1865376" cy="34747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Linear Attention</a:t>
            </a:r>
            <a:endParaRPr lang="en-US" sz="900" dirty="0"/>
          </a:p>
        </p:txBody>
      </p:sp>
      <p:sp>
        <p:nvSpPr>
          <p:cNvPr id="66" name="Shape 64"/>
          <p:cNvSpPr/>
          <p:nvPr/>
        </p:nvSpPr>
        <p:spPr>
          <a:xfrm>
            <a:off x="2468880" y="3401568"/>
            <a:ext cx="1188720" cy="347472"/>
          </a:xfrm>
          <a:prstGeom prst="rect">
            <a:avLst/>
          </a:prstGeom>
          <a:solidFill>
            <a:srgbClr val="1C2240"/>
          </a:solidFill>
          <a:ln/>
        </p:spPr>
      </p:sp>
      <p:sp>
        <p:nvSpPr>
          <p:cNvPr id="67" name="Text 65"/>
          <p:cNvSpPr/>
          <p:nvPr/>
        </p:nvSpPr>
        <p:spPr>
          <a:xfrm>
            <a:off x="2542032" y="3401568"/>
            <a:ext cx="1042416" cy="347472"/>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O(n·d²)</a:t>
            </a:r>
            <a:endParaRPr lang="en-US" sz="900" dirty="0"/>
          </a:p>
        </p:txBody>
      </p:sp>
      <p:sp>
        <p:nvSpPr>
          <p:cNvPr id="68" name="Shape 66"/>
          <p:cNvSpPr/>
          <p:nvPr/>
        </p:nvSpPr>
        <p:spPr>
          <a:xfrm>
            <a:off x="3657600" y="3401568"/>
            <a:ext cx="1188720" cy="347472"/>
          </a:xfrm>
          <a:prstGeom prst="rect">
            <a:avLst/>
          </a:prstGeom>
          <a:solidFill>
            <a:srgbClr val="1C2240"/>
          </a:solidFill>
          <a:ln/>
        </p:spPr>
      </p:sp>
      <p:sp>
        <p:nvSpPr>
          <p:cNvPr id="69" name="Text 67"/>
          <p:cNvSpPr/>
          <p:nvPr/>
        </p:nvSpPr>
        <p:spPr>
          <a:xfrm>
            <a:off x="3730752" y="3401568"/>
            <a:ext cx="1042416" cy="347472"/>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O(d²)</a:t>
            </a:r>
            <a:endParaRPr lang="en-US" sz="900" dirty="0"/>
          </a:p>
        </p:txBody>
      </p:sp>
      <p:sp>
        <p:nvSpPr>
          <p:cNvPr id="70" name="Shape 68"/>
          <p:cNvSpPr/>
          <p:nvPr/>
        </p:nvSpPr>
        <p:spPr>
          <a:xfrm>
            <a:off x="4846320" y="3401568"/>
            <a:ext cx="1005840" cy="347472"/>
          </a:xfrm>
          <a:prstGeom prst="rect">
            <a:avLst/>
          </a:prstGeom>
          <a:solidFill>
            <a:srgbClr val="1C2240"/>
          </a:solidFill>
          <a:ln/>
        </p:spPr>
      </p:sp>
      <p:sp>
        <p:nvSpPr>
          <p:cNvPr id="71" name="Text 69"/>
          <p:cNvSpPr/>
          <p:nvPr/>
        </p:nvSpPr>
        <p:spPr>
          <a:xfrm>
            <a:off x="4919472" y="3401568"/>
            <a:ext cx="859536" cy="347472"/>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Lower</a:t>
            </a:r>
            <a:endParaRPr lang="en-US" sz="900" dirty="0"/>
          </a:p>
        </p:txBody>
      </p:sp>
      <p:sp>
        <p:nvSpPr>
          <p:cNvPr id="72" name="Shape 70"/>
          <p:cNvSpPr/>
          <p:nvPr/>
        </p:nvSpPr>
        <p:spPr>
          <a:xfrm>
            <a:off x="5852160" y="3401568"/>
            <a:ext cx="2834640" cy="347472"/>
          </a:xfrm>
          <a:prstGeom prst="rect">
            <a:avLst/>
          </a:prstGeom>
          <a:solidFill>
            <a:srgbClr val="1C2240"/>
          </a:solidFill>
          <a:ln/>
        </p:spPr>
      </p:sp>
      <p:sp>
        <p:nvSpPr>
          <p:cNvPr id="73" name="Text 71"/>
          <p:cNvSpPr/>
          <p:nvPr/>
        </p:nvSpPr>
        <p:spPr>
          <a:xfrm>
            <a:off x="5925312" y="3401568"/>
            <a:ext cx="2688336" cy="347472"/>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RWKV, RetNet, Mamba*</a:t>
            </a:r>
            <a:endParaRPr lang="en-US" sz="900" dirty="0"/>
          </a:p>
        </p:txBody>
      </p:sp>
      <p:sp>
        <p:nvSpPr>
          <p:cNvPr id="74" name="Shape 72"/>
          <p:cNvSpPr/>
          <p:nvPr/>
        </p:nvSpPr>
        <p:spPr>
          <a:xfrm>
            <a:off x="457200" y="3785616"/>
            <a:ext cx="2011680" cy="347472"/>
          </a:xfrm>
          <a:prstGeom prst="rect">
            <a:avLst/>
          </a:prstGeom>
          <a:solidFill>
            <a:srgbClr val="161B2E"/>
          </a:solidFill>
          <a:ln/>
        </p:spPr>
      </p:sp>
      <p:sp>
        <p:nvSpPr>
          <p:cNvPr id="75" name="Text 73"/>
          <p:cNvSpPr/>
          <p:nvPr/>
        </p:nvSpPr>
        <p:spPr>
          <a:xfrm>
            <a:off x="530352" y="3785616"/>
            <a:ext cx="1865376" cy="34747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Sparse (BigBird)</a:t>
            </a:r>
            <a:endParaRPr lang="en-US" sz="900" dirty="0"/>
          </a:p>
        </p:txBody>
      </p:sp>
      <p:sp>
        <p:nvSpPr>
          <p:cNvPr id="76" name="Shape 74"/>
          <p:cNvSpPr/>
          <p:nvPr/>
        </p:nvSpPr>
        <p:spPr>
          <a:xfrm>
            <a:off x="2468880" y="3785616"/>
            <a:ext cx="1188720" cy="347472"/>
          </a:xfrm>
          <a:prstGeom prst="rect">
            <a:avLst/>
          </a:prstGeom>
          <a:solidFill>
            <a:srgbClr val="161B2E"/>
          </a:solidFill>
          <a:ln/>
        </p:spPr>
      </p:sp>
      <p:sp>
        <p:nvSpPr>
          <p:cNvPr id="77" name="Text 75"/>
          <p:cNvSpPr/>
          <p:nvPr/>
        </p:nvSpPr>
        <p:spPr>
          <a:xfrm>
            <a:off x="2542032" y="3785616"/>
            <a:ext cx="1042416" cy="347472"/>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O(n·√n·d)</a:t>
            </a:r>
            <a:endParaRPr lang="en-US" sz="900" dirty="0"/>
          </a:p>
        </p:txBody>
      </p:sp>
      <p:sp>
        <p:nvSpPr>
          <p:cNvPr id="78" name="Shape 76"/>
          <p:cNvSpPr/>
          <p:nvPr/>
        </p:nvSpPr>
        <p:spPr>
          <a:xfrm>
            <a:off x="3657600" y="3785616"/>
            <a:ext cx="1188720" cy="347472"/>
          </a:xfrm>
          <a:prstGeom prst="rect">
            <a:avLst/>
          </a:prstGeom>
          <a:solidFill>
            <a:srgbClr val="161B2E"/>
          </a:solidFill>
          <a:ln/>
        </p:spPr>
      </p:sp>
      <p:sp>
        <p:nvSpPr>
          <p:cNvPr id="79" name="Text 77"/>
          <p:cNvSpPr/>
          <p:nvPr/>
        </p:nvSpPr>
        <p:spPr>
          <a:xfrm>
            <a:off x="3730752" y="3785616"/>
            <a:ext cx="1042416" cy="347472"/>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Variable</a:t>
            </a:r>
            <a:endParaRPr lang="en-US" sz="900" dirty="0"/>
          </a:p>
        </p:txBody>
      </p:sp>
      <p:sp>
        <p:nvSpPr>
          <p:cNvPr id="80" name="Shape 78"/>
          <p:cNvSpPr/>
          <p:nvPr/>
        </p:nvSpPr>
        <p:spPr>
          <a:xfrm>
            <a:off x="4846320" y="3785616"/>
            <a:ext cx="1005840" cy="347472"/>
          </a:xfrm>
          <a:prstGeom prst="rect">
            <a:avLst/>
          </a:prstGeom>
          <a:solidFill>
            <a:srgbClr val="161B2E"/>
          </a:solidFill>
          <a:ln/>
        </p:spPr>
      </p:sp>
      <p:sp>
        <p:nvSpPr>
          <p:cNvPr id="81" name="Text 79"/>
          <p:cNvSpPr/>
          <p:nvPr/>
        </p:nvSpPr>
        <p:spPr>
          <a:xfrm>
            <a:off x="4919472" y="3785616"/>
            <a:ext cx="859536" cy="347472"/>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Good</a:t>
            </a:r>
            <a:endParaRPr lang="en-US" sz="900" dirty="0"/>
          </a:p>
        </p:txBody>
      </p:sp>
      <p:sp>
        <p:nvSpPr>
          <p:cNvPr id="82" name="Shape 80"/>
          <p:cNvSpPr/>
          <p:nvPr/>
        </p:nvSpPr>
        <p:spPr>
          <a:xfrm>
            <a:off x="5852160" y="3785616"/>
            <a:ext cx="2834640" cy="347472"/>
          </a:xfrm>
          <a:prstGeom prst="rect">
            <a:avLst/>
          </a:prstGeom>
          <a:solidFill>
            <a:srgbClr val="161B2E"/>
          </a:solidFill>
          <a:ln/>
        </p:spPr>
      </p:sp>
      <p:sp>
        <p:nvSpPr>
          <p:cNvPr id="83" name="Text 81"/>
          <p:cNvSpPr/>
          <p:nvPr/>
        </p:nvSpPr>
        <p:spPr>
          <a:xfrm>
            <a:off x="5925312" y="3785616"/>
            <a:ext cx="2688336" cy="347472"/>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BigBird, Longformer</a:t>
            </a:r>
            <a:endParaRPr lang="en-US" sz="900" dirty="0"/>
          </a:p>
        </p:txBody>
      </p:sp>
      <p:sp>
        <p:nvSpPr>
          <p:cNvPr id="84" name="Shape 82"/>
          <p:cNvSpPr/>
          <p:nvPr/>
        </p:nvSpPr>
        <p:spPr>
          <a:xfrm>
            <a:off x="457200" y="4169664"/>
            <a:ext cx="2011680" cy="347472"/>
          </a:xfrm>
          <a:prstGeom prst="rect">
            <a:avLst/>
          </a:prstGeom>
          <a:solidFill>
            <a:srgbClr val="1C2240"/>
          </a:solidFill>
          <a:ln/>
        </p:spPr>
      </p:sp>
      <p:sp>
        <p:nvSpPr>
          <p:cNvPr id="85" name="Text 83"/>
          <p:cNvSpPr/>
          <p:nvPr/>
        </p:nvSpPr>
        <p:spPr>
          <a:xfrm>
            <a:off x="530352" y="4169664"/>
            <a:ext cx="1865376" cy="34747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Ring Attention</a:t>
            </a:r>
            <a:endParaRPr lang="en-US" sz="900" dirty="0"/>
          </a:p>
        </p:txBody>
      </p:sp>
      <p:sp>
        <p:nvSpPr>
          <p:cNvPr id="86" name="Shape 84"/>
          <p:cNvSpPr/>
          <p:nvPr/>
        </p:nvSpPr>
        <p:spPr>
          <a:xfrm>
            <a:off x="2468880" y="4169664"/>
            <a:ext cx="1188720" cy="347472"/>
          </a:xfrm>
          <a:prstGeom prst="rect">
            <a:avLst/>
          </a:prstGeom>
          <a:solidFill>
            <a:srgbClr val="1C2240"/>
          </a:solidFill>
          <a:ln/>
        </p:spPr>
      </p:sp>
      <p:sp>
        <p:nvSpPr>
          <p:cNvPr id="87" name="Text 85"/>
          <p:cNvSpPr/>
          <p:nvPr/>
        </p:nvSpPr>
        <p:spPr>
          <a:xfrm>
            <a:off x="2542032" y="4169664"/>
            <a:ext cx="1042416" cy="347472"/>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O(n²d/P)</a:t>
            </a:r>
            <a:endParaRPr lang="en-US" sz="900" dirty="0"/>
          </a:p>
        </p:txBody>
      </p:sp>
      <p:sp>
        <p:nvSpPr>
          <p:cNvPr id="88" name="Shape 86"/>
          <p:cNvSpPr/>
          <p:nvPr/>
        </p:nvSpPr>
        <p:spPr>
          <a:xfrm>
            <a:off x="3657600" y="4169664"/>
            <a:ext cx="1188720" cy="347472"/>
          </a:xfrm>
          <a:prstGeom prst="rect">
            <a:avLst/>
          </a:prstGeom>
          <a:solidFill>
            <a:srgbClr val="1C2240"/>
          </a:solidFill>
          <a:ln/>
        </p:spPr>
      </p:sp>
      <p:sp>
        <p:nvSpPr>
          <p:cNvPr id="89" name="Text 87"/>
          <p:cNvSpPr/>
          <p:nvPr/>
        </p:nvSpPr>
        <p:spPr>
          <a:xfrm>
            <a:off x="3730752" y="4169664"/>
            <a:ext cx="1042416" cy="347472"/>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Distributed</a:t>
            </a:r>
            <a:endParaRPr lang="en-US" sz="900" dirty="0"/>
          </a:p>
        </p:txBody>
      </p:sp>
      <p:sp>
        <p:nvSpPr>
          <p:cNvPr id="90" name="Shape 88"/>
          <p:cNvSpPr/>
          <p:nvPr/>
        </p:nvSpPr>
        <p:spPr>
          <a:xfrm>
            <a:off x="4846320" y="4169664"/>
            <a:ext cx="1005840" cy="347472"/>
          </a:xfrm>
          <a:prstGeom prst="rect">
            <a:avLst/>
          </a:prstGeom>
          <a:solidFill>
            <a:srgbClr val="1C2240"/>
          </a:solidFill>
          <a:ln/>
        </p:spPr>
      </p:sp>
      <p:sp>
        <p:nvSpPr>
          <p:cNvPr id="91" name="Text 89"/>
          <p:cNvSpPr/>
          <p:nvPr/>
        </p:nvSpPr>
        <p:spPr>
          <a:xfrm>
            <a:off x="4919472" y="4169664"/>
            <a:ext cx="859536" cy="347472"/>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Exact</a:t>
            </a:r>
            <a:endParaRPr lang="en-US" sz="900" dirty="0"/>
          </a:p>
        </p:txBody>
      </p:sp>
      <p:sp>
        <p:nvSpPr>
          <p:cNvPr id="92" name="Shape 90"/>
          <p:cNvSpPr/>
          <p:nvPr/>
        </p:nvSpPr>
        <p:spPr>
          <a:xfrm>
            <a:off x="5852160" y="4169664"/>
            <a:ext cx="2834640" cy="347472"/>
          </a:xfrm>
          <a:prstGeom prst="rect">
            <a:avLst/>
          </a:prstGeom>
          <a:solidFill>
            <a:srgbClr val="1C2240"/>
          </a:solidFill>
          <a:ln/>
        </p:spPr>
      </p:sp>
      <p:sp>
        <p:nvSpPr>
          <p:cNvPr id="93" name="Text 91"/>
          <p:cNvSpPr/>
          <p:nvPr/>
        </p:nvSpPr>
        <p:spPr>
          <a:xfrm>
            <a:off x="5925312" y="4169664"/>
            <a:ext cx="2688336" cy="347472"/>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Long-context LLMs</a:t>
            </a:r>
            <a:endParaRPr lang="en-US" sz="900" dirty="0"/>
          </a:p>
        </p:txBody>
      </p:sp>
      <p:sp>
        <p:nvSpPr>
          <p:cNvPr id="94" name="Text 92"/>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15 / 30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3B82F6">
              <a:alpha val="8000"/>
            </a:srgbClr>
          </a:solidFill>
          <a:ln/>
        </p:spPr>
      </p:sp>
      <p:sp>
        <p:nvSpPr>
          <p:cNvPr id="3" name="Shape 1"/>
          <p:cNvSpPr/>
          <p:nvPr/>
        </p:nvSpPr>
        <p:spPr>
          <a:xfrm>
            <a:off x="0" y="2103120"/>
            <a:ext cx="9144000" cy="3658"/>
          </a:xfrm>
          <a:prstGeom prst="rect">
            <a:avLst/>
          </a:prstGeom>
          <a:solidFill>
            <a:srgbClr val="3B82F6">
              <a:alpha val="50000"/>
            </a:srgbClr>
          </a:solidFill>
          <a:ln/>
        </p:spPr>
      </p:sp>
      <p:sp>
        <p:nvSpPr>
          <p:cNvPr id="4" name="Text 2"/>
          <p:cNvSpPr/>
          <p:nvPr/>
        </p:nvSpPr>
        <p:spPr>
          <a:xfrm>
            <a:off x="457200" y="1371600"/>
            <a:ext cx="8229600" cy="320040"/>
          </a:xfrm>
          <a:prstGeom prst="rect">
            <a:avLst/>
          </a:prstGeom>
          <a:noFill/>
          <a:ln/>
        </p:spPr>
        <p:txBody>
          <a:bodyPr wrap="square" lIns="0" tIns="0" rIns="0" bIns="0" rtlCol="0" anchor="ctr"/>
          <a:lstStyle/>
          <a:p>
            <a:pPr algn="ctr" indent="0" marL="0">
              <a:buNone/>
            </a:pPr>
            <a:r>
              <a:rPr lang="en-US" sz="1200" spc="600" kern="0" dirty="0">
                <a:solidFill>
                  <a:srgbClr val="3B82F6"/>
                </a:solidFill>
                <a:latin typeface="Calibri" pitchFamily="34" charset="0"/>
                <a:ea typeface="Calibri" pitchFamily="34" charset="-122"/>
                <a:cs typeface="Calibri" pitchFamily="34" charset="-120"/>
              </a:rPr>
              <a:t>SECTION 03</a:t>
            </a:r>
            <a:endParaRPr lang="en-US" sz="1200" dirty="0"/>
          </a:p>
        </p:txBody>
      </p:sp>
      <p:sp>
        <p:nvSpPr>
          <p:cNvPr id="5" name="Text 3"/>
          <p:cNvSpPr/>
          <p:nvPr/>
        </p:nvSpPr>
        <p:spPr>
          <a:xfrm>
            <a:off x="457200" y="1828800"/>
            <a:ext cx="8229600" cy="822960"/>
          </a:xfrm>
          <a:prstGeom prst="rect">
            <a:avLst/>
          </a:prstGeom>
          <a:noFill/>
          <a:ln/>
        </p:spPr>
        <p:txBody>
          <a:bodyPr wrap="square" lIns="0" tIns="0" rIns="0" bIns="0" rtlCol="0" anchor="ctr"/>
          <a:lstStyle/>
          <a:p>
            <a:pPr algn="ctr" indent="0" marL="0">
              <a:buNone/>
            </a:pPr>
            <a:r>
              <a:rPr lang="en-US" sz="3600" b="1" dirty="0">
                <a:solidFill>
                  <a:srgbClr val="FFFFFF"/>
                </a:solidFill>
                <a:latin typeface="Trebuchet MS" pitchFamily="34" charset="0"/>
                <a:ea typeface="Trebuchet MS" pitchFamily="34" charset="-122"/>
                <a:cs typeface="Trebuchet MS" pitchFamily="34" charset="-120"/>
              </a:rPr>
              <a:t>Encoder-Only Transformers</a:t>
            </a:r>
            <a:endParaRPr lang="en-US" sz="3600" dirty="0"/>
          </a:p>
        </p:txBody>
      </p:sp>
      <p:sp>
        <p:nvSpPr>
          <p:cNvPr id="6" name="Text 4"/>
          <p:cNvSpPr/>
          <p:nvPr/>
        </p:nvSpPr>
        <p:spPr>
          <a:xfrm>
            <a:off x="457200" y="2606040"/>
            <a:ext cx="8229600" cy="457200"/>
          </a:xfrm>
          <a:prstGeom prst="rect">
            <a:avLst/>
          </a:prstGeom>
          <a:noFill/>
          <a:ln/>
        </p:spPr>
        <p:txBody>
          <a:bodyPr wrap="square" lIns="0" tIns="0" rIns="0" bIns="0" rtlCol="0" anchor="ctr"/>
          <a:lstStyle/>
          <a:p>
            <a:pPr algn="ctr" indent="0" marL="0">
              <a:buNone/>
            </a:pPr>
            <a:r>
              <a:rPr lang="en-US" sz="1400" dirty="0">
                <a:solidFill>
                  <a:srgbClr val="3B82F6"/>
                </a:solidFill>
                <a:latin typeface="Calibri" pitchFamily="34" charset="0"/>
                <a:ea typeface="Calibri" pitchFamily="34" charset="-122"/>
                <a:cs typeface="Calibri" pitchFamily="34" charset="-120"/>
              </a:rPr>
              <a:t>BERT, RoBERTa, DeBERTa, ELECTRA, ALBERT</a:t>
            </a:r>
            <a:endParaRPr lang="en-US" sz="1400" dirty="0"/>
          </a:p>
        </p:txBody>
      </p:sp>
      <p:pic>
        <p:nvPicPr>
          <p:cNvPr id="7" name="Image 0" descr="preencoded.png">    </p:cNvPr>
          <p:cNvPicPr>
            <a:picLocks noChangeAspect="1"/>
          </p:cNvPicPr>
          <p:nvPr/>
        </p:nvPicPr>
        <p:blipFill>
          <a:blip r:embed="rId1"/>
          <a:stretch>
            <a:fillRect/>
          </a:stretch>
        </p:blipFill>
        <p:spPr>
          <a:xfrm>
            <a:off x="4160520" y="3200400"/>
            <a:ext cx="777240" cy="777240"/>
          </a:xfrm>
          <a:prstGeom prst="rect">
            <a:avLst/>
          </a:prstGeom>
        </p:spPr>
      </p:pic>
      <p:sp>
        <p:nvSpPr>
          <p:cNvPr id="8" name="Text 5"/>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16 / 30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457200" y="228600"/>
            <a:ext cx="2286000" cy="274320"/>
          </a:xfrm>
          <a:prstGeom prst="rect">
            <a:avLst/>
          </a:prstGeom>
          <a:noFill/>
          <a:ln/>
        </p:spPr>
        <p:txBody>
          <a:bodyPr wrap="square" lIns="0" tIns="0" rIns="0" bIns="0" rtlCol="0" anchor="ctr"/>
          <a:lstStyle/>
          <a:p>
            <a:pPr indent="0" marL="0">
              <a:buNone/>
            </a:pPr>
            <a:r>
              <a:rPr lang="en-US" sz="800" b="1" spc="400" kern="0" dirty="0">
                <a:solidFill>
                  <a:srgbClr val="3B82F6"/>
                </a:solidFill>
                <a:latin typeface="Calibri" pitchFamily="34" charset="0"/>
                <a:ea typeface="Calibri" pitchFamily="34" charset="-122"/>
                <a:cs typeface="Calibri" pitchFamily="34" charset="-120"/>
              </a:rPr>
              <a:t>ENCODER-ONLY</a:t>
            </a:r>
            <a:endParaRPr lang="en-US" sz="8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BERT &amp; Encoder-Only Architecture</a:t>
            </a:r>
            <a:endParaRPr lang="en-US" sz="2600" dirty="0"/>
          </a:p>
        </p:txBody>
      </p:sp>
      <p:sp>
        <p:nvSpPr>
          <p:cNvPr id="4" name="Text 2"/>
          <p:cNvSpPr/>
          <p:nvPr/>
        </p:nvSpPr>
        <p:spPr>
          <a:xfrm>
            <a:off x="457200" y="1051560"/>
            <a:ext cx="8229600" cy="502920"/>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Encoder-only transformers use bidirectional self-attention (no causal mask). Pre-trained with Masked Language Modeling (MLM) — randomly mask 15% of tokens and predict them. Produces rich contextual embeddings for downstream tasks.</a:t>
            </a:r>
            <a:endParaRPr lang="en-US" sz="1100" dirty="0"/>
          </a:p>
        </p:txBody>
      </p:sp>
      <p:sp>
        <p:nvSpPr>
          <p:cNvPr id="5" name="Shape 3"/>
          <p:cNvSpPr/>
          <p:nvPr/>
        </p:nvSpPr>
        <p:spPr>
          <a:xfrm>
            <a:off x="457200" y="1691640"/>
            <a:ext cx="4023360" cy="914400"/>
          </a:xfrm>
          <a:prstGeom prst="rect">
            <a:avLst/>
          </a:prstGeom>
          <a:solidFill>
            <a:srgbClr val="161B2E"/>
          </a:solidFill>
          <a:ln/>
        </p:spPr>
      </p:sp>
      <p:sp>
        <p:nvSpPr>
          <p:cNvPr id="6" name="Shape 4"/>
          <p:cNvSpPr/>
          <p:nvPr/>
        </p:nvSpPr>
        <p:spPr>
          <a:xfrm>
            <a:off x="457200" y="1691640"/>
            <a:ext cx="45720" cy="914400"/>
          </a:xfrm>
          <a:prstGeom prst="rect">
            <a:avLst/>
          </a:prstGeom>
          <a:solidFill>
            <a:srgbClr val="3B82F6"/>
          </a:solidFill>
          <a:ln/>
        </p:spPr>
      </p:sp>
      <p:sp>
        <p:nvSpPr>
          <p:cNvPr id="7" name="Text 5"/>
          <p:cNvSpPr/>
          <p:nvPr/>
        </p:nvSpPr>
        <p:spPr>
          <a:xfrm>
            <a:off x="640080" y="1746504"/>
            <a:ext cx="1828800" cy="228600"/>
          </a:xfrm>
          <a:prstGeom prst="rect">
            <a:avLst/>
          </a:prstGeom>
          <a:noFill/>
          <a:ln/>
        </p:spPr>
        <p:txBody>
          <a:bodyPr wrap="square" lIns="0" tIns="0" rIns="0" bIns="0" rtlCol="0" anchor="ctr"/>
          <a:lstStyle/>
          <a:p>
            <a:pPr indent="0" marL="0">
              <a:buNone/>
            </a:pPr>
            <a:r>
              <a:rPr lang="en-US" sz="1300" b="1" dirty="0">
                <a:solidFill>
                  <a:srgbClr val="3B82F6"/>
                </a:solidFill>
                <a:latin typeface="Trebuchet MS" pitchFamily="34" charset="0"/>
                <a:ea typeface="Trebuchet MS" pitchFamily="34" charset="-122"/>
                <a:cs typeface="Trebuchet MS" pitchFamily="34" charset="-120"/>
              </a:rPr>
              <a:t>BERT</a:t>
            </a:r>
            <a:endParaRPr lang="en-US" sz="1300" dirty="0"/>
          </a:p>
        </p:txBody>
      </p:sp>
      <p:sp>
        <p:nvSpPr>
          <p:cNvPr id="8" name="Text 6"/>
          <p:cNvSpPr/>
          <p:nvPr/>
        </p:nvSpPr>
        <p:spPr>
          <a:xfrm>
            <a:off x="640080" y="2011680"/>
            <a:ext cx="3657600" cy="502920"/>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Google 2018. 12/24 layers, 110M/340M params. MLM + Next Sentence Prediction. Learned absolute PE. Max 512 tokens. Revolutionized NLU benchmarks.</a:t>
            </a:r>
            <a:endParaRPr lang="en-US" sz="900" dirty="0"/>
          </a:p>
        </p:txBody>
      </p:sp>
      <p:sp>
        <p:nvSpPr>
          <p:cNvPr id="9" name="Shape 7"/>
          <p:cNvSpPr/>
          <p:nvPr/>
        </p:nvSpPr>
        <p:spPr>
          <a:xfrm>
            <a:off x="457200" y="2743200"/>
            <a:ext cx="4023360" cy="914400"/>
          </a:xfrm>
          <a:prstGeom prst="rect">
            <a:avLst/>
          </a:prstGeom>
          <a:solidFill>
            <a:srgbClr val="161B2E"/>
          </a:solidFill>
          <a:ln/>
        </p:spPr>
      </p:sp>
      <p:sp>
        <p:nvSpPr>
          <p:cNvPr id="10" name="Shape 8"/>
          <p:cNvSpPr/>
          <p:nvPr/>
        </p:nvSpPr>
        <p:spPr>
          <a:xfrm>
            <a:off x="457200" y="2743200"/>
            <a:ext cx="45720" cy="914400"/>
          </a:xfrm>
          <a:prstGeom prst="rect">
            <a:avLst/>
          </a:prstGeom>
          <a:solidFill>
            <a:srgbClr val="7C3AED"/>
          </a:solidFill>
          <a:ln/>
        </p:spPr>
      </p:sp>
      <p:sp>
        <p:nvSpPr>
          <p:cNvPr id="11" name="Text 9"/>
          <p:cNvSpPr/>
          <p:nvPr/>
        </p:nvSpPr>
        <p:spPr>
          <a:xfrm>
            <a:off x="640080" y="2798064"/>
            <a:ext cx="1828800" cy="228600"/>
          </a:xfrm>
          <a:prstGeom prst="rect">
            <a:avLst/>
          </a:prstGeom>
          <a:noFill/>
          <a:ln/>
        </p:spPr>
        <p:txBody>
          <a:bodyPr wrap="square" lIns="0" tIns="0" rIns="0" bIns="0" rtlCol="0" anchor="ctr"/>
          <a:lstStyle/>
          <a:p>
            <a:pPr indent="0" marL="0">
              <a:buNone/>
            </a:pPr>
            <a:r>
              <a:rPr lang="en-US" sz="1300" b="1" dirty="0">
                <a:solidFill>
                  <a:srgbClr val="7C3AED"/>
                </a:solidFill>
                <a:latin typeface="Trebuchet MS" pitchFamily="34" charset="0"/>
                <a:ea typeface="Trebuchet MS" pitchFamily="34" charset="-122"/>
                <a:cs typeface="Trebuchet MS" pitchFamily="34" charset="-120"/>
              </a:rPr>
              <a:t>RoBERTa</a:t>
            </a:r>
            <a:endParaRPr lang="en-US" sz="1300" dirty="0"/>
          </a:p>
        </p:txBody>
      </p:sp>
      <p:sp>
        <p:nvSpPr>
          <p:cNvPr id="12" name="Text 10"/>
          <p:cNvSpPr/>
          <p:nvPr/>
        </p:nvSpPr>
        <p:spPr>
          <a:xfrm>
            <a:off x="640080" y="3063240"/>
            <a:ext cx="3657600" cy="502920"/>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Meta 2019. BERT trained better — removed NSP, dynamic masking, larger batches, more data (160GB). 10B tokens training. Significant gains across all tasks.</a:t>
            </a:r>
            <a:endParaRPr lang="en-US" sz="900" dirty="0"/>
          </a:p>
        </p:txBody>
      </p:sp>
      <p:sp>
        <p:nvSpPr>
          <p:cNvPr id="13" name="Shape 11"/>
          <p:cNvSpPr/>
          <p:nvPr/>
        </p:nvSpPr>
        <p:spPr>
          <a:xfrm>
            <a:off x="457200" y="3794760"/>
            <a:ext cx="4023360" cy="914400"/>
          </a:xfrm>
          <a:prstGeom prst="rect">
            <a:avLst/>
          </a:prstGeom>
          <a:solidFill>
            <a:srgbClr val="161B2E"/>
          </a:solidFill>
          <a:ln/>
        </p:spPr>
      </p:sp>
      <p:sp>
        <p:nvSpPr>
          <p:cNvPr id="14" name="Shape 12"/>
          <p:cNvSpPr/>
          <p:nvPr/>
        </p:nvSpPr>
        <p:spPr>
          <a:xfrm>
            <a:off x="457200" y="3794760"/>
            <a:ext cx="45720" cy="914400"/>
          </a:xfrm>
          <a:prstGeom prst="rect">
            <a:avLst/>
          </a:prstGeom>
          <a:solidFill>
            <a:srgbClr val="14B8A6"/>
          </a:solidFill>
          <a:ln/>
        </p:spPr>
      </p:sp>
      <p:sp>
        <p:nvSpPr>
          <p:cNvPr id="15" name="Text 13"/>
          <p:cNvSpPr/>
          <p:nvPr/>
        </p:nvSpPr>
        <p:spPr>
          <a:xfrm>
            <a:off x="640080" y="3849624"/>
            <a:ext cx="1828800" cy="228600"/>
          </a:xfrm>
          <a:prstGeom prst="rect">
            <a:avLst/>
          </a:prstGeom>
          <a:noFill/>
          <a:ln/>
        </p:spPr>
        <p:txBody>
          <a:bodyPr wrap="square" lIns="0" tIns="0" rIns="0" bIns="0" rtlCol="0" anchor="ctr"/>
          <a:lstStyle/>
          <a:p>
            <a:pPr indent="0" marL="0">
              <a:buNone/>
            </a:pPr>
            <a:r>
              <a:rPr lang="en-US" sz="1300" b="1" dirty="0">
                <a:solidFill>
                  <a:srgbClr val="14B8A6"/>
                </a:solidFill>
                <a:latin typeface="Trebuchet MS" pitchFamily="34" charset="0"/>
                <a:ea typeface="Trebuchet MS" pitchFamily="34" charset="-122"/>
                <a:cs typeface="Trebuchet MS" pitchFamily="34" charset="-120"/>
              </a:rPr>
              <a:t>ALBERT</a:t>
            </a:r>
            <a:endParaRPr lang="en-US" sz="1300" dirty="0"/>
          </a:p>
        </p:txBody>
      </p:sp>
      <p:sp>
        <p:nvSpPr>
          <p:cNvPr id="16" name="Text 14"/>
          <p:cNvSpPr/>
          <p:nvPr/>
        </p:nvSpPr>
        <p:spPr>
          <a:xfrm>
            <a:off x="640080" y="4114800"/>
            <a:ext cx="3657600" cy="502920"/>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Google 2019. Parameter-efficient: factorized embedding (E &lt; H), cross-layer parameter sharing. 18× fewer params than BERT-large with comparable performance.</a:t>
            </a:r>
            <a:endParaRPr lang="en-US" sz="900" dirty="0"/>
          </a:p>
        </p:txBody>
      </p:sp>
      <p:sp>
        <p:nvSpPr>
          <p:cNvPr id="17" name="Shape 15"/>
          <p:cNvSpPr/>
          <p:nvPr/>
        </p:nvSpPr>
        <p:spPr>
          <a:xfrm>
            <a:off x="4754880" y="1691640"/>
            <a:ext cx="4023360" cy="914400"/>
          </a:xfrm>
          <a:prstGeom prst="rect">
            <a:avLst/>
          </a:prstGeom>
          <a:solidFill>
            <a:srgbClr val="161B2E"/>
          </a:solidFill>
          <a:ln/>
        </p:spPr>
      </p:sp>
      <p:sp>
        <p:nvSpPr>
          <p:cNvPr id="18" name="Shape 16"/>
          <p:cNvSpPr/>
          <p:nvPr/>
        </p:nvSpPr>
        <p:spPr>
          <a:xfrm>
            <a:off x="4754880" y="1691640"/>
            <a:ext cx="45720" cy="914400"/>
          </a:xfrm>
          <a:prstGeom prst="rect">
            <a:avLst/>
          </a:prstGeom>
          <a:solidFill>
            <a:srgbClr val="10B981"/>
          </a:solidFill>
          <a:ln/>
        </p:spPr>
      </p:sp>
      <p:sp>
        <p:nvSpPr>
          <p:cNvPr id="19" name="Text 17"/>
          <p:cNvSpPr/>
          <p:nvPr/>
        </p:nvSpPr>
        <p:spPr>
          <a:xfrm>
            <a:off x="4937760" y="1746504"/>
            <a:ext cx="1828800" cy="228600"/>
          </a:xfrm>
          <a:prstGeom prst="rect">
            <a:avLst/>
          </a:prstGeom>
          <a:noFill/>
          <a:ln/>
        </p:spPr>
        <p:txBody>
          <a:bodyPr wrap="square" lIns="0" tIns="0" rIns="0" bIns="0" rtlCol="0" anchor="ctr"/>
          <a:lstStyle/>
          <a:p>
            <a:pPr indent="0" marL="0">
              <a:buNone/>
            </a:pPr>
            <a:r>
              <a:rPr lang="en-US" sz="1300" b="1" dirty="0">
                <a:solidFill>
                  <a:srgbClr val="10B981"/>
                </a:solidFill>
                <a:latin typeface="Trebuchet MS" pitchFamily="34" charset="0"/>
                <a:ea typeface="Trebuchet MS" pitchFamily="34" charset="-122"/>
                <a:cs typeface="Trebuchet MS" pitchFamily="34" charset="-120"/>
              </a:rPr>
              <a:t>DeBERTa</a:t>
            </a:r>
            <a:endParaRPr lang="en-US" sz="1300" dirty="0"/>
          </a:p>
        </p:txBody>
      </p:sp>
      <p:sp>
        <p:nvSpPr>
          <p:cNvPr id="20" name="Text 18"/>
          <p:cNvSpPr/>
          <p:nvPr/>
        </p:nvSpPr>
        <p:spPr>
          <a:xfrm>
            <a:off x="4937760" y="2011680"/>
            <a:ext cx="3657600" cy="502920"/>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Microsoft 2020. Disentangled Attention — separate content and position embeddings with two attention matrices. Enhanced Mask Decoder. Surpassed human on SuperGLUE.</a:t>
            </a:r>
            <a:endParaRPr lang="en-US" sz="900" dirty="0"/>
          </a:p>
        </p:txBody>
      </p:sp>
      <p:sp>
        <p:nvSpPr>
          <p:cNvPr id="21" name="Shape 19"/>
          <p:cNvSpPr/>
          <p:nvPr/>
        </p:nvSpPr>
        <p:spPr>
          <a:xfrm>
            <a:off x="4754880" y="2743200"/>
            <a:ext cx="4023360" cy="914400"/>
          </a:xfrm>
          <a:prstGeom prst="rect">
            <a:avLst/>
          </a:prstGeom>
          <a:solidFill>
            <a:srgbClr val="161B2E"/>
          </a:solidFill>
          <a:ln/>
        </p:spPr>
      </p:sp>
      <p:sp>
        <p:nvSpPr>
          <p:cNvPr id="22" name="Shape 20"/>
          <p:cNvSpPr/>
          <p:nvPr/>
        </p:nvSpPr>
        <p:spPr>
          <a:xfrm>
            <a:off x="4754880" y="2743200"/>
            <a:ext cx="45720" cy="914400"/>
          </a:xfrm>
          <a:prstGeom prst="rect">
            <a:avLst/>
          </a:prstGeom>
          <a:solidFill>
            <a:srgbClr val="F59E0B"/>
          </a:solidFill>
          <a:ln/>
        </p:spPr>
      </p:sp>
      <p:sp>
        <p:nvSpPr>
          <p:cNvPr id="23" name="Text 21"/>
          <p:cNvSpPr/>
          <p:nvPr/>
        </p:nvSpPr>
        <p:spPr>
          <a:xfrm>
            <a:off x="4937760" y="2798064"/>
            <a:ext cx="1828800" cy="228600"/>
          </a:xfrm>
          <a:prstGeom prst="rect">
            <a:avLst/>
          </a:prstGeom>
          <a:noFill/>
          <a:ln/>
        </p:spPr>
        <p:txBody>
          <a:bodyPr wrap="square" lIns="0" tIns="0" rIns="0" bIns="0" rtlCol="0" anchor="ctr"/>
          <a:lstStyle/>
          <a:p>
            <a:pPr indent="0" marL="0">
              <a:buNone/>
            </a:pPr>
            <a:r>
              <a:rPr lang="en-US" sz="1300" b="1" dirty="0">
                <a:solidFill>
                  <a:srgbClr val="F59E0B"/>
                </a:solidFill>
                <a:latin typeface="Trebuchet MS" pitchFamily="34" charset="0"/>
                <a:ea typeface="Trebuchet MS" pitchFamily="34" charset="-122"/>
                <a:cs typeface="Trebuchet MS" pitchFamily="34" charset="-120"/>
              </a:rPr>
              <a:t>ELECTRA</a:t>
            </a:r>
            <a:endParaRPr lang="en-US" sz="1300" dirty="0"/>
          </a:p>
        </p:txBody>
      </p:sp>
      <p:sp>
        <p:nvSpPr>
          <p:cNvPr id="24" name="Text 22"/>
          <p:cNvSpPr/>
          <p:nvPr/>
        </p:nvSpPr>
        <p:spPr>
          <a:xfrm>
            <a:off x="4937760" y="3063240"/>
            <a:ext cx="3657600" cy="502920"/>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Google 2020. Replaced Token Detection instead of MLM. Generator creates fakes, discriminator detects them (GAN-style). 4× more sample efficient than BERT.</a:t>
            </a:r>
            <a:endParaRPr lang="en-US" sz="900" dirty="0"/>
          </a:p>
        </p:txBody>
      </p:sp>
      <p:sp>
        <p:nvSpPr>
          <p:cNvPr id="25" name="Shape 23"/>
          <p:cNvSpPr/>
          <p:nvPr/>
        </p:nvSpPr>
        <p:spPr>
          <a:xfrm>
            <a:off x="4754880" y="3794760"/>
            <a:ext cx="4023360" cy="914400"/>
          </a:xfrm>
          <a:prstGeom prst="rect">
            <a:avLst/>
          </a:prstGeom>
          <a:solidFill>
            <a:srgbClr val="161B2E"/>
          </a:solidFill>
          <a:ln/>
        </p:spPr>
      </p:sp>
      <p:sp>
        <p:nvSpPr>
          <p:cNvPr id="26" name="Shape 24"/>
          <p:cNvSpPr/>
          <p:nvPr/>
        </p:nvSpPr>
        <p:spPr>
          <a:xfrm>
            <a:off x="4754880" y="3794760"/>
            <a:ext cx="45720" cy="914400"/>
          </a:xfrm>
          <a:prstGeom prst="rect">
            <a:avLst/>
          </a:prstGeom>
          <a:solidFill>
            <a:srgbClr val="F43F5E"/>
          </a:solidFill>
          <a:ln/>
        </p:spPr>
      </p:sp>
      <p:sp>
        <p:nvSpPr>
          <p:cNvPr id="27" name="Text 25"/>
          <p:cNvSpPr/>
          <p:nvPr/>
        </p:nvSpPr>
        <p:spPr>
          <a:xfrm>
            <a:off x="4937760" y="3849624"/>
            <a:ext cx="1828800" cy="228600"/>
          </a:xfrm>
          <a:prstGeom prst="rect">
            <a:avLst/>
          </a:prstGeom>
          <a:noFill/>
          <a:ln/>
        </p:spPr>
        <p:txBody>
          <a:bodyPr wrap="square" lIns="0" tIns="0" rIns="0" bIns="0" rtlCol="0" anchor="ctr"/>
          <a:lstStyle/>
          <a:p>
            <a:pPr indent="0" marL="0">
              <a:buNone/>
            </a:pPr>
            <a:r>
              <a:rPr lang="en-US" sz="1300" b="1" dirty="0">
                <a:solidFill>
                  <a:srgbClr val="F43F5E"/>
                </a:solidFill>
                <a:latin typeface="Trebuchet MS" pitchFamily="34" charset="0"/>
                <a:ea typeface="Trebuchet MS" pitchFamily="34" charset="-122"/>
                <a:cs typeface="Trebuchet MS" pitchFamily="34" charset="-120"/>
              </a:rPr>
              <a:t>ModernBERT</a:t>
            </a:r>
            <a:endParaRPr lang="en-US" sz="1300" dirty="0"/>
          </a:p>
        </p:txBody>
      </p:sp>
      <p:sp>
        <p:nvSpPr>
          <p:cNvPr id="28" name="Text 26"/>
          <p:cNvSpPr/>
          <p:nvPr/>
        </p:nvSpPr>
        <p:spPr>
          <a:xfrm>
            <a:off x="4937760" y="4114800"/>
            <a:ext cx="3657600" cy="502920"/>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2024. Applies modern tricks to BERT: RoPE, Flash Attention 2, GeGLU activations, unpadding, alternating attention. 8192 token context. State-of-art encoder.</a:t>
            </a:r>
            <a:endParaRPr lang="en-US" sz="900" dirty="0"/>
          </a:p>
        </p:txBody>
      </p:sp>
      <p:sp>
        <p:nvSpPr>
          <p:cNvPr id="29" name="Text 2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17 / 30</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6B6D4">
              <a:alpha val="8000"/>
            </a:srgbClr>
          </a:solidFill>
          <a:ln/>
        </p:spPr>
      </p:sp>
      <p:sp>
        <p:nvSpPr>
          <p:cNvPr id="3" name="Shape 1"/>
          <p:cNvSpPr/>
          <p:nvPr/>
        </p:nvSpPr>
        <p:spPr>
          <a:xfrm>
            <a:off x="0" y="2103120"/>
            <a:ext cx="9144000" cy="3658"/>
          </a:xfrm>
          <a:prstGeom prst="rect">
            <a:avLst/>
          </a:prstGeom>
          <a:solidFill>
            <a:srgbClr val="06B6D4">
              <a:alpha val="50000"/>
            </a:srgbClr>
          </a:solidFill>
          <a:ln/>
        </p:spPr>
      </p:sp>
      <p:sp>
        <p:nvSpPr>
          <p:cNvPr id="4" name="Text 2"/>
          <p:cNvSpPr/>
          <p:nvPr/>
        </p:nvSpPr>
        <p:spPr>
          <a:xfrm>
            <a:off x="457200" y="1371600"/>
            <a:ext cx="8229600" cy="320040"/>
          </a:xfrm>
          <a:prstGeom prst="rect">
            <a:avLst/>
          </a:prstGeom>
          <a:noFill/>
          <a:ln/>
        </p:spPr>
        <p:txBody>
          <a:bodyPr wrap="square" lIns="0" tIns="0" rIns="0" bIns="0" rtlCol="0" anchor="ctr"/>
          <a:lstStyle/>
          <a:p>
            <a:pPr algn="ctr" indent="0" marL="0">
              <a:buNone/>
            </a:pPr>
            <a:r>
              <a:rPr lang="en-US" sz="1200" spc="600" kern="0" dirty="0">
                <a:solidFill>
                  <a:srgbClr val="06B6D4"/>
                </a:solidFill>
                <a:latin typeface="Calibri" pitchFamily="34" charset="0"/>
                <a:ea typeface="Calibri" pitchFamily="34" charset="-122"/>
                <a:cs typeface="Calibri" pitchFamily="34" charset="-120"/>
              </a:rPr>
              <a:t>SECTION 04</a:t>
            </a:r>
            <a:endParaRPr lang="en-US" sz="1200" dirty="0"/>
          </a:p>
        </p:txBody>
      </p:sp>
      <p:sp>
        <p:nvSpPr>
          <p:cNvPr id="5" name="Text 3"/>
          <p:cNvSpPr/>
          <p:nvPr/>
        </p:nvSpPr>
        <p:spPr>
          <a:xfrm>
            <a:off x="457200" y="1828800"/>
            <a:ext cx="8229600" cy="822960"/>
          </a:xfrm>
          <a:prstGeom prst="rect">
            <a:avLst/>
          </a:prstGeom>
          <a:noFill/>
          <a:ln/>
        </p:spPr>
        <p:txBody>
          <a:bodyPr wrap="square" lIns="0" tIns="0" rIns="0" bIns="0" rtlCol="0" anchor="ctr"/>
          <a:lstStyle/>
          <a:p>
            <a:pPr algn="ctr" indent="0" marL="0">
              <a:buNone/>
            </a:pPr>
            <a:r>
              <a:rPr lang="en-US" sz="3600" b="1" dirty="0">
                <a:solidFill>
                  <a:srgbClr val="FFFFFF"/>
                </a:solidFill>
                <a:latin typeface="Trebuchet MS" pitchFamily="34" charset="0"/>
                <a:ea typeface="Trebuchet MS" pitchFamily="34" charset="-122"/>
                <a:cs typeface="Trebuchet MS" pitchFamily="34" charset="-120"/>
              </a:rPr>
              <a:t>Decoder-Only Transformers</a:t>
            </a:r>
            <a:endParaRPr lang="en-US" sz="3600" dirty="0"/>
          </a:p>
        </p:txBody>
      </p:sp>
      <p:sp>
        <p:nvSpPr>
          <p:cNvPr id="6" name="Text 4"/>
          <p:cNvSpPr/>
          <p:nvPr/>
        </p:nvSpPr>
        <p:spPr>
          <a:xfrm>
            <a:off x="457200" y="2606040"/>
            <a:ext cx="8229600" cy="457200"/>
          </a:xfrm>
          <a:prstGeom prst="rect">
            <a:avLst/>
          </a:prstGeom>
          <a:noFill/>
          <a:ln/>
        </p:spPr>
        <p:txBody>
          <a:bodyPr wrap="square" lIns="0" tIns="0" rIns="0" bIns="0" rtlCol="0" anchor="ctr"/>
          <a:lstStyle/>
          <a:p>
            <a:pPr algn="ctr" indent="0" marL="0">
              <a:buNone/>
            </a:pPr>
            <a:r>
              <a:rPr lang="en-US" sz="1400" dirty="0">
                <a:solidFill>
                  <a:srgbClr val="06B6D4"/>
                </a:solidFill>
                <a:latin typeface="Calibri" pitchFamily="34" charset="0"/>
                <a:ea typeface="Calibri" pitchFamily="34" charset="-122"/>
                <a:cs typeface="Calibri" pitchFamily="34" charset="-120"/>
              </a:rPr>
              <a:t>GPT, LLaMA, Mistral, Claude &amp; Modern LLMs</a:t>
            </a:r>
            <a:endParaRPr lang="en-US" sz="1400" dirty="0"/>
          </a:p>
        </p:txBody>
      </p:sp>
      <p:pic>
        <p:nvPicPr>
          <p:cNvPr id="7" name="Image 0" descr="preencoded.png">    </p:cNvPr>
          <p:cNvPicPr>
            <a:picLocks noChangeAspect="1"/>
          </p:cNvPicPr>
          <p:nvPr/>
        </p:nvPicPr>
        <p:blipFill>
          <a:blip r:embed="rId1"/>
          <a:stretch>
            <a:fillRect/>
          </a:stretch>
        </p:blipFill>
        <p:spPr>
          <a:xfrm>
            <a:off x="4160520" y="3200400"/>
            <a:ext cx="777240" cy="777240"/>
          </a:xfrm>
          <a:prstGeom prst="rect">
            <a:avLst/>
          </a:prstGeom>
        </p:spPr>
      </p:pic>
      <p:sp>
        <p:nvSpPr>
          <p:cNvPr id="8" name="Text 5"/>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18 / 30</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457200" y="228600"/>
            <a:ext cx="2286000" cy="274320"/>
          </a:xfrm>
          <a:prstGeom prst="rect">
            <a:avLst/>
          </a:prstGeom>
          <a:noFill/>
          <a:ln/>
        </p:spPr>
        <p:txBody>
          <a:bodyPr wrap="square" lIns="0" tIns="0" rIns="0" bIns="0" rtlCol="0" anchor="ctr"/>
          <a:lstStyle/>
          <a:p>
            <a:pPr indent="0" marL="0">
              <a:buNone/>
            </a:pPr>
            <a:r>
              <a:rPr lang="en-US" sz="800" b="1" spc="400" kern="0" dirty="0">
                <a:solidFill>
                  <a:srgbClr val="06B6D4"/>
                </a:solidFill>
                <a:latin typeface="Calibri" pitchFamily="34" charset="0"/>
                <a:ea typeface="Calibri" pitchFamily="34" charset="-122"/>
                <a:cs typeface="Calibri" pitchFamily="34" charset="-120"/>
              </a:rPr>
              <a:t>DECODER-ONLY</a:t>
            </a:r>
            <a:endParaRPr lang="en-US" sz="8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GPT Family — Decoder-Only Architecture</a:t>
            </a:r>
            <a:endParaRPr lang="en-US" sz="2600" dirty="0"/>
          </a:p>
        </p:txBody>
      </p:sp>
      <p:sp>
        <p:nvSpPr>
          <p:cNvPr id="4" name="Text 2"/>
          <p:cNvSpPr/>
          <p:nvPr/>
        </p:nvSpPr>
        <p:spPr>
          <a:xfrm>
            <a:off x="457200" y="1051560"/>
            <a:ext cx="8229600" cy="457200"/>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Decoder-only models use causal (masked) self-attention — each token can only attend to itself and prior tokens. Pre-trained with next-token prediction on massive corpora. The dominant architecture for generative AI.</a:t>
            </a:r>
            <a:endParaRPr lang="en-US" sz="1100" dirty="0"/>
          </a:p>
        </p:txBody>
      </p:sp>
      <p:sp>
        <p:nvSpPr>
          <p:cNvPr id="5" name="Shape 3"/>
          <p:cNvSpPr/>
          <p:nvPr/>
        </p:nvSpPr>
        <p:spPr>
          <a:xfrm>
            <a:off x="594360" y="1764792"/>
            <a:ext cx="365760" cy="365760"/>
          </a:xfrm>
          <a:prstGeom prst="ellipse">
            <a:avLst/>
          </a:prstGeom>
          <a:solidFill>
            <a:srgbClr val="475569">
              <a:alpha val="40000"/>
            </a:srgbClr>
          </a:solidFill>
          <a:ln w="15240">
            <a:solidFill>
              <a:srgbClr val="475569"/>
            </a:solidFill>
            <a:prstDash val="solid"/>
          </a:ln>
        </p:spPr>
      </p:sp>
      <p:sp>
        <p:nvSpPr>
          <p:cNvPr id="6" name="Text 4"/>
          <p:cNvSpPr/>
          <p:nvPr/>
        </p:nvSpPr>
        <p:spPr>
          <a:xfrm>
            <a:off x="594360" y="1764792"/>
            <a:ext cx="365760" cy="365760"/>
          </a:xfrm>
          <a:prstGeom prst="rect">
            <a:avLst/>
          </a:prstGeom>
          <a:noFill/>
          <a:ln/>
        </p:spPr>
        <p:txBody>
          <a:bodyPr wrap="square" lIns="0" tIns="0" rIns="0" bIns="0" rtlCol="0" anchor="ctr"/>
          <a:lstStyle/>
          <a:p>
            <a:pPr algn="ctr" indent="0" marL="0">
              <a:buNone/>
            </a:pPr>
            <a:r>
              <a:rPr lang="en-US" sz="800" b="1" dirty="0">
                <a:solidFill>
                  <a:srgbClr val="475569"/>
                </a:solidFill>
                <a:latin typeface="Calibri" pitchFamily="34" charset="0"/>
                <a:ea typeface="Calibri" pitchFamily="34" charset="-122"/>
                <a:cs typeface="Calibri" pitchFamily="34" charset="-120"/>
              </a:rPr>
              <a:t>2018</a:t>
            </a:r>
            <a:endParaRPr lang="en-US" sz="800" dirty="0"/>
          </a:p>
        </p:txBody>
      </p:sp>
      <p:sp>
        <p:nvSpPr>
          <p:cNvPr id="7" name="Shape 5"/>
          <p:cNvSpPr/>
          <p:nvPr/>
        </p:nvSpPr>
        <p:spPr>
          <a:xfrm>
            <a:off x="777240" y="2130552"/>
            <a:ext cx="0" cy="201168"/>
          </a:xfrm>
          <a:prstGeom prst="line">
            <a:avLst/>
          </a:prstGeom>
          <a:noFill/>
          <a:ln w="12700">
            <a:solidFill>
              <a:srgbClr val="475569"/>
            </a:solidFill>
            <a:prstDash val="dash"/>
          </a:ln>
        </p:spPr>
      </p:sp>
      <p:sp>
        <p:nvSpPr>
          <p:cNvPr id="8" name="Text 6"/>
          <p:cNvSpPr/>
          <p:nvPr/>
        </p:nvSpPr>
        <p:spPr>
          <a:xfrm>
            <a:off x="1188720" y="1709928"/>
            <a:ext cx="1371600" cy="22860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GPT-1</a:t>
            </a:r>
            <a:endParaRPr lang="en-US" sz="1400" dirty="0"/>
          </a:p>
        </p:txBody>
      </p:sp>
      <p:sp>
        <p:nvSpPr>
          <p:cNvPr id="9" name="Text 7"/>
          <p:cNvSpPr/>
          <p:nvPr/>
        </p:nvSpPr>
        <p:spPr>
          <a:xfrm>
            <a:off x="2560320" y="1728216"/>
            <a:ext cx="1371600" cy="18288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117M params</a:t>
            </a:r>
            <a:endParaRPr lang="en-US" sz="900" dirty="0"/>
          </a:p>
        </p:txBody>
      </p:sp>
      <p:sp>
        <p:nvSpPr>
          <p:cNvPr id="10" name="Text 8"/>
          <p:cNvSpPr/>
          <p:nvPr/>
        </p:nvSpPr>
        <p:spPr>
          <a:xfrm>
            <a:off x="1188720" y="1965960"/>
            <a:ext cx="7315200" cy="2286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12 layers, 768 dim. Proved unsupervised pre-training + fine-tuning paradigm.</a:t>
            </a:r>
            <a:endParaRPr lang="en-US" sz="950" dirty="0"/>
          </a:p>
        </p:txBody>
      </p:sp>
      <p:sp>
        <p:nvSpPr>
          <p:cNvPr id="11" name="Shape 9"/>
          <p:cNvSpPr/>
          <p:nvPr/>
        </p:nvSpPr>
        <p:spPr>
          <a:xfrm>
            <a:off x="594360" y="2386584"/>
            <a:ext cx="365760" cy="365760"/>
          </a:xfrm>
          <a:prstGeom prst="ellipse">
            <a:avLst/>
          </a:prstGeom>
          <a:solidFill>
            <a:srgbClr val="06B6D4">
              <a:alpha val="40000"/>
            </a:srgbClr>
          </a:solidFill>
          <a:ln w="15240">
            <a:solidFill>
              <a:srgbClr val="06B6D4"/>
            </a:solidFill>
            <a:prstDash val="solid"/>
          </a:ln>
        </p:spPr>
      </p:sp>
      <p:sp>
        <p:nvSpPr>
          <p:cNvPr id="12" name="Text 10"/>
          <p:cNvSpPr/>
          <p:nvPr/>
        </p:nvSpPr>
        <p:spPr>
          <a:xfrm>
            <a:off x="594360" y="2386584"/>
            <a:ext cx="365760" cy="365760"/>
          </a:xfrm>
          <a:prstGeom prst="rect">
            <a:avLst/>
          </a:prstGeom>
          <a:noFill/>
          <a:ln/>
        </p:spPr>
        <p:txBody>
          <a:bodyPr wrap="square" lIns="0" tIns="0" rIns="0" bIns="0" rtlCol="0" anchor="ctr"/>
          <a:lstStyle/>
          <a:p>
            <a:pPr algn="ctr" indent="0" marL="0">
              <a:buNone/>
            </a:pPr>
            <a:r>
              <a:rPr lang="en-US" sz="800" b="1" dirty="0">
                <a:solidFill>
                  <a:srgbClr val="06B6D4"/>
                </a:solidFill>
                <a:latin typeface="Calibri" pitchFamily="34" charset="0"/>
                <a:ea typeface="Calibri" pitchFamily="34" charset="-122"/>
                <a:cs typeface="Calibri" pitchFamily="34" charset="-120"/>
              </a:rPr>
              <a:t>2019</a:t>
            </a:r>
            <a:endParaRPr lang="en-US" sz="800" dirty="0"/>
          </a:p>
        </p:txBody>
      </p:sp>
      <p:sp>
        <p:nvSpPr>
          <p:cNvPr id="13" name="Shape 11"/>
          <p:cNvSpPr/>
          <p:nvPr/>
        </p:nvSpPr>
        <p:spPr>
          <a:xfrm>
            <a:off x="777240" y="2752344"/>
            <a:ext cx="0" cy="201168"/>
          </a:xfrm>
          <a:prstGeom prst="line">
            <a:avLst/>
          </a:prstGeom>
          <a:noFill/>
          <a:ln w="12700">
            <a:solidFill>
              <a:srgbClr val="475569"/>
            </a:solidFill>
            <a:prstDash val="dash"/>
          </a:ln>
        </p:spPr>
      </p:sp>
      <p:sp>
        <p:nvSpPr>
          <p:cNvPr id="14" name="Text 12"/>
          <p:cNvSpPr/>
          <p:nvPr/>
        </p:nvSpPr>
        <p:spPr>
          <a:xfrm>
            <a:off x="1188720" y="2331720"/>
            <a:ext cx="1371600" cy="22860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GPT-2</a:t>
            </a:r>
            <a:endParaRPr lang="en-US" sz="1400" dirty="0"/>
          </a:p>
        </p:txBody>
      </p:sp>
      <p:sp>
        <p:nvSpPr>
          <p:cNvPr id="15" name="Text 13"/>
          <p:cNvSpPr/>
          <p:nvPr/>
        </p:nvSpPr>
        <p:spPr>
          <a:xfrm>
            <a:off x="2560320" y="2350008"/>
            <a:ext cx="1371600" cy="182880"/>
          </a:xfrm>
          <a:prstGeom prst="rect">
            <a:avLst/>
          </a:prstGeom>
          <a:noFill/>
          <a:ln/>
        </p:spPr>
        <p:txBody>
          <a:bodyPr wrap="square" lIns="0" tIns="0" rIns="0" bIns="0" rtlCol="0" anchor="ctr"/>
          <a:lstStyle/>
          <a:p>
            <a:pPr indent="0" marL="0">
              <a:buNone/>
            </a:pPr>
            <a:r>
              <a:rPr lang="en-US" sz="900" dirty="0">
                <a:solidFill>
                  <a:srgbClr val="06B6D4"/>
                </a:solidFill>
                <a:latin typeface="Calibri" pitchFamily="34" charset="0"/>
                <a:ea typeface="Calibri" pitchFamily="34" charset="-122"/>
                <a:cs typeface="Calibri" pitchFamily="34" charset="-120"/>
              </a:rPr>
              <a:t>1.5B params</a:t>
            </a:r>
            <a:endParaRPr lang="en-US" sz="900" dirty="0"/>
          </a:p>
        </p:txBody>
      </p:sp>
      <p:sp>
        <p:nvSpPr>
          <p:cNvPr id="16" name="Text 14"/>
          <p:cNvSpPr/>
          <p:nvPr/>
        </p:nvSpPr>
        <p:spPr>
          <a:xfrm>
            <a:off x="1188720" y="2587752"/>
            <a:ext cx="7315200" cy="2286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48 layers, 1600 dim. Zero-shot task transfer. "Too dangerous to release."</a:t>
            </a:r>
            <a:endParaRPr lang="en-US" sz="950" dirty="0"/>
          </a:p>
        </p:txBody>
      </p:sp>
      <p:sp>
        <p:nvSpPr>
          <p:cNvPr id="17" name="Shape 15"/>
          <p:cNvSpPr/>
          <p:nvPr/>
        </p:nvSpPr>
        <p:spPr>
          <a:xfrm>
            <a:off x="594360" y="3008376"/>
            <a:ext cx="365760" cy="365760"/>
          </a:xfrm>
          <a:prstGeom prst="ellipse">
            <a:avLst/>
          </a:prstGeom>
          <a:solidFill>
            <a:srgbClr val="3B82F6">
              <a:alpha val="40000"/>
            </a:srgbClr>
          </a:solidFill>
          <a:ln w="15240">
            <a:solidFill>
              <a:srgbClr val="3B82F6"/>
            </a:solidFill>
            <a:prstDash val="solid"/>
          </a:ln>
        </p:spPr>
      </p:sp>
      <p:sp>
        <p:nvSpPr>
          <p:cNvPr id="18" name="Text 16"/>
          <p:cNvSpPr/>
          <p:nvPr/>
        </p:nvSpPr>
        <p:spPr>
          <a:xfrm>
            <a:off x="594360" y="3008376"/>
            <a:ext cx="365760" cy="365760"/>
          </a:xfrm>
          <a:prstGeom prst="rect">
            <a:avLst/>
          </a:prstGeom>
          <a:noFill/>
          <a:ln/>
        </p:spPr>
        <p:txBody>
          <a:bodyPr wrap="square" lIns="0" tIns="0" rIns="0" bIns="0" rtlCol="0" anchor="ctr"/>
          <a:lstStyle/>
          <a:p>
            <a:pPr algn="ctr" indent="0" marL="0">
              <a:buNone/>
            </a:pPr>
            <a:r>
              <a:rPr lang="en-US" sz="800" b="1" dirty="0">
                <a:solidFill>
                  <a:srgbClr val="3B82F6"/>
                </a:solidFill>
                <a:latin typeface="Calibri" pitchFamily="34" charset="0"/>
                <a:ea typeface="Calibri" pitchFamily="34" charset="-122"/>
                <a:cs typeface="Calibri" pitchFamily="34" charset="-120"/>
              </a:rPr>
              <a:t>2020</a:t>
            </a:r>
            <a:endParaRPr lang="en-US" sz="800" dirty="0"/>
          </a:p>
        </p:txBody>
      </p:sp>
      <p:sp>
        <p:nvSpPr>
          <p:cNvPr id="19" name="Shape 17"/>
          <p:cNvSpPr/>
          <p:nvPr/>
        </p:nvSpPr>
        <p:spPr>
          <a:xfrm>
            <a:off x="777240" y="3374136"/>
            <a:ext cx="0" cy="201168"/>
          </a:xfrm>
          <a:prstGeom prst="line">
            <a:avLst/>
          </a:prstGeom>
          <a:noFill/>
          <a:ln w="12700">
            <a:solidFill>
              <a:srgbClr val="475569"/>
            </a:solidFill>
            <a:prstDash val="dash"/>
          </a:ln>
        </p:spPr>
      </p:sp>
      <p:sp>
        <p:nvSpPr>
          <p:cNvPr id="20" name="Text 18"/>
          <p:cNvSpPr/>
          <p:nvPr/>
        </p:nvSpPr>
        <p:spPr>
          <a:xfrm>
            <a:off x="1188720" y="2953512"/>
            <a:ext cx="1371600" cy="22860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GPT-3</a:t>
            </a:r>
            <a:endParaRPr lang="en-US" sz="1400" dirty="0"/>
          </a:p>
        </p:txBody>
      </p:sp>
      <p:sp>
        <p:nvSpPr>
          <p:cNvPr id="21" name="Text 19"/>
          <p:cNvSpPr/>
          <p:nvPr/>
        </p:nvSpPr>
        <p:spPr>
          <a:xfrm>
            <a:off x="2560320" y="2971800"/>
            <a:ext cx="1371600" cy="182880"/>
          </a:xfrm>
          <a:prstGeom prst="rect">
            <a:avLst/>
          </a:prstGeom>
          <a:noFill/>
          <a:ln/>
        </p:spPr>
        <p:txBody>
          <a:bodyPr wrap="square" lIns="0" tIns="0" rIns="0" bIns="0" rtlCol="0" anchor="ctr"/>
          <a:lstStyle/>
          <a:p>
            <a:pPr indent="0" marL="0">
              <a:buNone/>
            </a:pPr>
            <a:r>
              <a:rPr lang="en-US" sz="900" dirty="0">
                <a:solidFill>
                  <a:srgbClr val="3B82F6"/>
                </a:solidFill>
                <a:latin typeface="Calibri" pitchFamily="34" charset="0"/>
                <a:ea typeface="Calibri" pitchFamily="34" charset="-122"/>
                <a:cs typeface="Calibri" pitchFamily="34" charset="-120"/>
              </a:rPr>
              <a:t>175B params</a:t>
            </a:r>
            <a:endParaRPr lang="en-US" sz="900" dirty="0"/>
          </a:p>
        </p:txBody>
      </p:sp>
      <p:sp>
        <p:nvSpPr>
          <p:cNvPr id="22" name="Text 20"/>
          <p:cNvSpPr/>
          <p:nvPr/>
        </p:nvSpPr>
        <p:spPr>
          <a:xfrm>
            <a:off x="1188720" y="3209544"/>
            <a:ext cx="7315200" cy="2286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96 layers, 12288 dim. In-context learning. Few-shot prompting. Sparse attention.</a:t>
            </a:r>
            <a:endParaRPr lang="en-US" sz="950" dirty="0"/>
          </a:p>
        </p:txBody>
      </p:sp>
      <p:sp>
        <p:nvSpPr>
          <p:cNvPr id="23" name="Shape 21"/>
          <p:cNvSpPr/>
          <p:nvPr/>
        </p:nvSpPr>
        <p:spPr>
          <a:xfrm>
            <a:off x="594360" y="3630168"/>
            <a:ext cx="365760" cy="365760"/>
          </a:xfrm>
          <a:prstGeom prst="ellipse">
            <a:avLst/>
          </a:prstGeom>
          <a:solidFill>
            <a:srgbClr val="7C3AED">
              <a:alpha val="40000"/>
            </a:srgbClr>
          </a:solidFill>
          <a:ln w="15240">
            <a:solidFill>
              <a:srgbClr val="7C3AED"/>
            </a:solidFill>
            <a:prstDash val="solid"/>
          </a:ln>
        </p:spPr>
      </p:sp>
      <p:sp>
        <p:nvSpPr>
          <p:cNvPr id="24" name="Text 22"/>
          <p:cNvSpPr/>
          <p:nvPr/>
        </p:nvSpPr>
        <p:spPr>
          <a:xfrm>
            <a:off x="594360" y="3630168"/>
            <a:ext cx="365760" cy="365760"/>
          </a:xfrm>
          <a:prstGeom prst="rect">
            <a:avLst/>
          </a:prstGeom>
          <a:noFill/>
          <a:ln/>
        </p:spPr>
        <p:txBody>
          <a:bodyPr wrap="square" lIns="0" tIns="0" rIns="0" bIns="0" rtlCol="0" anchor="ctr"/>
          <a:lstStyle/>
          <a:p>
            <a:pPr algn="ctr" indent="0" marL="0">
              <a:buNone/>
            </a:pPr>
            <a:r>
              <a:rPr lang="en-US" sz="800" b="1" dirty="0">
                <a:solidFill>
                  <a:srgbClr val="7C3AED"/>
                </a:solidFill>
                <a:latin typeface="Calibri" pitchFamily="34" charset="0"/>
                <a:ea typeface="Calibri" pitchFamily="34" charset="-122"/>
                <a:cs typeface="Calibri" pitchFamily="34" charset="-120"/>
              </a:rPr>
              <a:t>2023</a:t>
            </a:r>
            <a:endParaRPr lang="en-US" sz="800" dirty="0"/>
          </a:p>
        </p:txBody>
      </p:sp>
      <p:sp>
        <p:nvSpPr>
          <p:cNvPr id="25" name="Shape 23"/>
          <p:cNvSpPr/>
          <p:nvPr/>
        </p:nvSpPr>
        <p:spPr>
          <a:xfrm>
            <a:off x="777240" y="3995928"/>
            <a:ext cx="0" cy="201168"/>
          </a:xfrm>
          <a:prstGeom prst="line">
            <a:avLst/>
          </a:prstGeom>
          <a:noFill/>
          <a:ln w="12700">
            <a:solidFill>
              <a:srgbClr val="475569"/>
            </a:solidFill>
            <a:prstDash val="dash"/>
          </a:ln>
        </p:spPr>
      </p:sp>
      <p:sp>
        <p:nvSpPr>
          <p:cNvPr id="26" name="Text 24"/>
          <p:cNvSpPr/>
          <p:nvPr/>
        </p:nvSpPr>
        <p:spPr>
          <a:xfrm>
            <a:off x="1188720" y="3575304"/>
            <a:ext cx="1371600" cy="22860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GPT-4</a:t>
            </a:r>
            <a:endParaRPr lang="en-US" sz="1400" dirty="0"/>
          </a:p>
        </p:txBody>
      </p:sp>
      <p:sp>
        <p:nvSpPr>
          <p:cNvPr id="27" name="Text 25"/>
          <p:cNvSpPr/>
          <p:nvPr/>
        </p:nvSpPr>
        <p:spPr>
          <a:xfrm>
            <a:off x="2560320" y="3593592"/>
            <a:ext cx="1371600" cy="182880"/>
          </a:xfrm>
          <a:prstGeom prst="rect">
            <a:avLst/>
          </a:prstGeom>
          <a:noFill/>
          <a:ln/>
        </p:spPr>
        <p:txBody>
          <a:bodyPr wrap="square" lIns="0" tIns="0" rIns="0" bIns="0" rtlCol="0" anchor="ctr"/>
          <a:lstStyle/>
          <a:p>
            <a:pPr indent="0" marL="0">
              <a:buNone/>
            </a:pPr>
            <a:r>
              <a:rPr lang="en-US" sz="900" dirty="0">
                <a:solidFill>
                  <a:srgbClr val="7C3AED"/>
                </a:solidFill>
                <a:latin typeface="Calibri" pitchFamily="34" charset="0"/>
                <a:ea typeface="Calibri" pitchFamily="34" charset="-122"/>
                <a:cs typeface="Calibri" pitchFamily="34" charset="-120"/>
              </a:rPr>
              <a:t>~1.8T* params</a:t>
            </a:r>
            <a:endParaRPr lang="en-US" sz="900" dirty="0"/>
          </a:p>
        </p:txBody>
      </p:sp>
      <p:sp>
        <p:nvSpPr>
          <p:cNvPr id="28" name="Text 26"/>
          <p:cNvSpPr/>
          <p:nvPr/>
        </p:nvSpPr>
        <p:spPr>
          <a:xfrm>
            <a:off x="1188720" y="3831336"/>
            <a:ext cx="7315200" cy="2286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Rumored MoE with 16 experts. Multimodal (vision+text). RLHF alignment.</a:t>
            </a:r>
            <a:endParaRPr lang="en-US" sz="950" dirty="0"/>
          </a:p>
        </p:txBody>
      </p:sp>
      <p:sp>
        <p:nvSpPr>
          <p:cNvPr id="29" name="Shape 27"/>
          <p:cNvSpPr/>
          <p:nvPr/>
        </p:nvSpPr>
        <p:spPr>
          <a:xfrm>
            <a:off x="594360" y="4251960"/>
            <a:ext cx="365760" cy="365760"/>
          </a:xfrm>
          <a:prstGeom prst="ellipse">
            <a:avLst/>
          </a:prstGeom>
          <a:solidFill>
            <a:srgbClr val="F43F5E">
              <a:alpha val="40000"/>
            </a:srgbClr>
          </a:solidFill>
          <a:ln w="15240">
            <a:solidFill>
              <a:srgbClr val="F43F5E"/>
            </a:solidFill>
            <a:prstDash val="solid"/>
          </a:ln>
        </p:spPr>
      </p:sp>
      <p:sp>
        <p:nvSpPr>
          <p:cNvPr id="30" name="Text 28"/>
          <p:cNvSpPr/>
          <p:nvPr/>
        </p:nvSpPr>
        <p:spPr>
          <a:xfrm>
            <a:off x="594360" y="4251960"/>
            <a:ext cx="365760" cy="365760"/>
          </a:xfrm>
          <a:prstGeom prst="rect">
            <a:avLst/>
          </a:prstGeom>
          <a:noFill/>
          <a:ln/>
        </p:spPr>
        <p:txBody>
          <a:bodyPr wrap="square" lIns="0" tIns="0" rIns="0" bIns="0" rtlCol="0" anchor="ctr"/>
          <a:lstStyle/>
          <a:p>
            <a:pPr algn="ctr" indent="0" marL="0">
              <a:buNone/>
            </a:pPr>
            <a:r>
              <a:rPr lang="en-US" sz="800" b="1" dirty="0">
                <a:solidFill>
                  <a:srgbClr val="F43F5E"/>
                </a:solidFill>
                <a:latin typeface="Calibri" pitchFamily="34" charset="0"/>
                <a:ea typeface="Calibri" pitchFamily="34" charset="-122"/>
                <a:cs typeface="Calibri" pitchFamily="34" charset="-120"/>
              </a:rPr>
              <a:t>2024</a:t>
            </a:r>
            <a:endParaRPr lang="en-US" sz="800" dirty="0"/>
          </a:p>
        </p:txBody>
      </p:sp>
      <p:sp>
        <p:nvSpPr>
          <p:cNvPr id="31" name="Text 29"/>
          <p:cNvSpPr/>
          <p:nvPr/>
        </p:nvSpPr>
        <p:spPr>
          <a:xfrm>
            <a:off x="1188720" y="4197096"/>
            <a:ext cx="1371600" cy="22860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GPT-4o</a:t>
            </a:r>
            <a:endParaRPr lang="en-US" sz="1400" dirty="0"/>
          </a:p>
        </p:txBody>
      </p:sp>
      <p:sp>
        <p:nvSpPr>
          <p:cNvPr id="32" name="Text 30"/>
          <p:cNvSpPr/>
          <p:nvPr/>
        </p:nvSpPr>
        <p:spPr>
          <a:xfrm>
            <a:off x="2560320" y="4215384"/>
            <a:ext cx="1371600" cy="182880"/>
          </a:xfrm>
          <a:prstGeom prst="rect">
            <a:avLst/>
          </a:prstGeom>
          <a:noFill/>
          <a:ln/>
        </p:spPr>
        <p:txBody>
          <a:bodyPr wrap="square" lIns="0" tIns="0" rIns="0" bIns="0" rtlCol="0" anchor="ctr"/>
          <a:lstStyle/>
          <a:p>
            <a:pPr indent="0" marL="0">
              <a:buNone/>
            </a:pPr>
            <a:r>
              <a:rPr lang="en-US" sz="900" dirty="0">
                <a:solidFill>
                  <a:srgbClr val="F43F5E"/>
                </a:solidFill>
                <a:latin typeface="Calibri" pitchFamily="34" charset="0"/>
                <a:ea typeface="Calibri" pitchFamily="34" charset="-122"/>
                <a:cs typeface="Calibri" pitchFamily="34" charset="-120"/>
              </a:rPr>
              <a:t>Undisclosed params</a:t>
            </a:r>
            <a:endParaRPr lang="en-US" sz="900" dirty="0"/>
          </a:p>
        </p:txBody>
      </p:sp>
      <p:sp>
        <p:nvSpPr>
          <p:cNvPr id="33" name="Text 31"/>
          <p:cNvSpPr/>
          <p:nvPr/>
        </p:nvSpPr>
        <p:spPr>
          <a:xfrm>
            <a:off x="1188720" y="4453128"/>
            <a:ext cx="7315200" cy="2286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Omni-modal: native audio, vision, text. Faster inference. Real-time voice.</a:t>
            </a:r>
            <a:endParaRPr lang="en-US" sz="950" dirty="0"/>
          </a:p>
        </p:txBody>
      </p:sp>
      <p:sp>
        <p:nvSpPr>
          <p:cNvPr id="34" name="Text 32"/>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19 / 30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457200" y="228600"/>
            <a:ext cx="2286000" cy="274320"/>
          </a:xfrm>
          <a:prstGeom prst="rect">
            <a:avLst/>
          </a:prstGeom>
          <a:noFill/>
          <a:ln/>
        </p:spPr>
        <p:txBody>
          <a:bodyPr wrap="square" lIns="0" tIns="0" rIns="0" bIns="0" rtlCol="0" anchor="ctr"/>
          <a:lstStyle/>
          <a:p>
            <a:pPr indent="0" marL="0">
              <a:buNone/>
            </a:pPr>
            <a:r>
              <a:rPr lang="en-US" sz="800" b="1" spc="400" kern="0" dirty="0">
                <a:solidFill>
                  <a:srgbClr val="06B6D4"/>
                </a:solidFill>
                <a:latin typeface="Calibri" pitchFamily="34" charset="0"/>
                <a:ea typeface="Calibri" pitchFamily="34" charset="-122"/>
                <a:cs typeface="Calibri" pitchFamily="34" charset="-120"/>
              </a:rPr>
              <a:t>DECODER-ONLY</a:t>
            </a:r>
            <a:endParaRPr lang="en-US" sz="8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Open-Source Decoder-Only LLMs</a:t>
            </a:r>
            <a:endParaRPr lang="en-US" sz="2600" dirty="0"/>
          </a:p>
        </p:txBody>
      </p:sp>
      <p:sp>
        <p:nvSpPr>
          <p:cNvPr id="4" name="Shape 2"/>
          <p:cNvSpPr/>
          <p:nvPr/>
        </p:nvSpPr>
        <p:spPr>
          <a:xfrm>
            <a:off x="457200" y="1143000"/>
            <a:ext cx="4023360" cy="1051560"/>
          </a:xfrm>
          <a:prstGeom prst="rect">
            <a:avLst/>
          </a:prstGeom>
          <a:solidFill>
            <a:srgbClr val="161B2E"/>
          </a:solidFill>
          <a:ln/>
        </p:spPr>
      </p:sp>
      <p:sp>
        <p:nvSpPr>
          <p:cNvPr id="5" name="Shape 3"/>
          <p:cNvSpPr/>
          <p:nvPr/>
        </p:nvSpPr>
        <p:spPr>
          <a:xfrm>
            <a:off x="457200" y="1143000"/>
            <a:ext cx="45720" cy="1051560"/>
          </a:xfrm>
          <a:prstGeom prst="rect">
            <a:avLst/>
          </a:prstGeom>
          <a:solidFill>
            <a:srgbClr val="3B82F6"/>
          </a:solidFill>
          <a:ln/>
        </p:spPr>
      </p:sp>
      <p:sp>
        <p:nvSpPr>
          <p:cNvPr id="6" name="Text 4"/>
          <p:cNvSpPr/>
          <p:nvPr/>
        </p:nvSpPr>
        <p:spPr>
          <a:xfrm>
            <a:off x="640080" y="1197864"/>
            <a:ext cx="3657600" cy="228600"/>
          </a:xfrm>
          <a:prstGeom prst="rect">
            <a:avLst/>
          </a:prstGeom>
          <a:noFill/>
          <a:ln/>
        </p:spPr>
        <p:txBody>
          <a:bodyPr wrap="square" lIns="0" tIns="0" rIns="0" bIns="0" rtlCol="0" anchor="ctr"/>
          <a:lstStyle/>
          <a:p>
            <a:pPr indent="0" marL="0">
              <a:buNone/>
            </a:pPr>
            <a:r>
              <a:rPr lang="en-US" sz="1200" b="1" dirty="0">
                <a:solidFill>
                  <a:srgbClr val="3B82F6"/>
                </a:solidFill>
                <a:latin typeface="Trebuchet MS" pitchFamily="34" charset="0"/>
                <a:ea typeface="Trebuchet MS" pitchFamily="34" charset="-122"/>
                <a:cs typeface="Trebuchet MS" pitchFamily="34" charset="-120"/>
              </a:rPr>
              <a:t>LLaMA 3.1 (Meta)</a:t>
            </a:r>
            <a:endParaRPr lang="en-US" sz="1200" dirty="0"/>
          </a:p>
        </p:txBody>
      </p:sp>
      <p:sp>
        <p:nvSpPr>
          <p:cNvPr id="7" name="Text 5"/>
          <p:cNvSpPr/>
          <p:nvPr/>
        </p:nvSpPr>
        <p:spPr>
          <a:xfrm>
            <a:off x="640080" y="1463040"/>
            <a:ext cx="3657600" cy="640080"/>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8B/70B/405B params. GQA (8 KV heads), RoPE, SwiGLU FFN, RMSNorm. 128K context. Trained on 15T+ tokens.</a:t>
            </a:r>
            <a:endParaRPr lang="en-US" sz="900" dirty="0"/>
          </a:p>
        </p:txBody>
      </p:sp>
      <p:sp>
        <p:nvSpPr>
          <p:cNvPr id="8" name="Shape 6"/>
          <p:cNvSpPr/>
          <p:nvPr/>
        </p:nvSpPr>
        <p:spPr>
          <a:xfrm>
            <a:off x="457200" y="2377440"/>
            <a:ext cx="4023360" cy="1051560"/>
          </a:xfrm>
          <a:prstGeom prst="rect">
            <a:avLst/>
          </a:prstGeom>
          <a:solidFill>
            <a:srgbClr val="161B2E"/>
          </a:solidFill>
          <a:ln/>
        </p:spPr>
      </p:sp>
      <p:sp>
        <p:nvSpPr>
          <p:cNvPr id="9" name="Shape 7"/>
          <p:cNvSpPr/>
          <p:nvPr/>
        </p:nvSpPr>
        <p:spPr>
          <a:xfrm>
            <a:off x="457200" y="2377440"/>
            <a:ext cx="45720" cy="1051560"/>
          </a:xfrm>
          <a:prstGeom prst="rect">
            <a:avLst/>
          </a:prstGeom>
          <a:solidFill>
            <a:srgbClr val="7C3AED"/>
          </a:solidFill>
          <a:ln/>
        </p:spPr>
      </p:sp>
      <p:sp>
        <p:nvSpPr>
          <p:cNvPr id="10" name="Text 8"/>
          <p:cNvSpPr/>
          <p:nvPr/>
        </p:nvSpPr>
        <p:spPr>
          <a:xfrm>
            <a:off x="640080" y="2432304"/>
            <a:ext cx="3657600" cy="228600"/>
          </a:xfrm>
          <a:prstGeom prst="rect">
            <a:avLst/>
          </a:prstGeom>
          <a:noFill/>
          <a:ln/>
        </p:spPr>
        <p:txBody>
          <a:bodyPr wrap="square" lIns="0" tIns="0" rIns="0" bIns="0" rtlCol="0" anchor="ctr"/>
          <a:lstStyle/>
          <a:p>
            <a:pPr indent="0" marL="0">
              <a:buNone/>
            </a:pPr>
            <a:r>
              <a:rPr lang="en-US" sz="1200" b="1" dirty="0">
                <a:solidFill>
                  <a:srgbClr val="7C3AED"/>
                </a:solidFill>
                <a:latin typeface="Trebuchet MS" pitchFamily="34" charset="0"/>
                <a:ea typeface="Trebuchet MS" pitchFamily="34" charset="-122"/>
                <a:cs typeface="Trebuchet MS" pitchFamily="34" charset="-120"/>
              </a:rPr>
              <a:t>Mistral / Mixtral</a:t>
            </a:r>
            <a:endParaRPr lang="en-US" sz="1200" dirty="0"/>
          </a:p>
        </p:txBody>
      </p:sp>
      <p:sp>
        <p:nvSpPr>
          <p:cNvPr id="11" name="Text 9"/>
          <p:cNvSpPr/>
          <p:nvPr/>
        </p:nvSpPr>
        <p:spPr>
          <a:xfrm>
            <a:off x="640080" y="2697480"/>
            <a:ext cx="3657600" cy="640080"/>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7B dense / 8×7B MoE. Sliding Window Attention (4096), GQA, RoPE. Mixtral: 2 active experts per token, 12.9B active params of 46.7B total.</a:t>
            </a:r>
            <a:endParaRPr lang="en-US" sz="900" dirty="0"/>
          </a:p>
        </p:txBody>
      </p:sp>
      <p:sp>
        <p:nvSpPr>
          <p:cNvPr id="12" name="Shape 10"/>
          <p:cNvSpPr/>
          <p:nvPr/>
        </p:nvSpPr>
        <p:spPr>
          <a:xfrm>
            <a:off x="457200" y="3611880"/>
            <a:ext cx="4023360" cy="1051560"/>
          </a:xfrm>
          <a:prstGeom prst="rect">
            <a:avLst/>
          </a:prstGeom>
          <a:solidFill>
            <a:srgbClr val="161B2E"/>
          </a:solidFill>
          <a:ln/>
        </p:spPr>
      </p:sp>
      <p:sp>
        <p:nvSpPr>
          <p:cNvPr id="13" name="Shape 11"/>
          <p:cNvSpPr/>
          <p:nvPr/>
        </p:nvSpPr>
        <p:spPr>
          <a:xfrm>
            <a:off x="457200" y="3611880"/>
            <a:ext cx="45720" cy="1051560"/>
          </a:xfrm>
          <a:prstGeom prst="rect">
            <a:avLst/>
          </a:prstGeom>
          <a:solidFill>
            <a:srgbClr val="14B8A6"/>
          </a:solidFill>
          <a:ln/>
        </p:spPr>
      </p:sp>
      <p:sp>
        <p:nvSpPr>
          <p:cNvPr id="14" name="Text 12"/>
          <p:cNvSpPr/>
          <p:nvPr/>
        </p:nvSpPr>
        <p:spPr>
          <a:xfrm>
            <a:off x="640080" y="3666744"/>
            <a:ext cx="3657600" cy="228600"/>
          </a:xfrm>
          <a:prstGeom prst="rect">
            <a:avLst/>
          </a:prstGeom>
          <a:noFill/>
          <a:ln/>
        </p:spPr>
        <p:txBody>
          <a:bodyPr wrap="square" lIns="0" tIns="0" rIns="0" bIns="0" rtlCol="0" anchor="ctr"/>
          <a:lstStyle/>
          <a:p>
            <a:pPr indent="0" marL="0">
              <a:buNone/>
            </a:pPr>
            <a:r>
              <a:rPr lang="en-US" sz="1200" b="1" dirty="0">
                <a:solidFill>
                  <a:srgbClr val="14B8A6"/>
                </a:solidFill>
                <a:latin typeface="Trebuchet MS" pitchFamily="34" charset="0"/>
                <a:ea typeface="Trebuchet MS" pitchFamily="34" charset="-122"/>
                <a:cs typeface="Trebuchet MS" pitchFamily="34" charset="-120"/>
              </a:rPr>
              <a:t>Gemma 2 (Google)</a:t>
            </a:r>
            <a:endParaRPr lang="en-US" sz="1200" dirty="0"/>
          </a:p>
        </p:txBody>
      </p:sp>
      <p:sp>
        <p:nvSpPr>
          <p:cNvPr id="15" name="Text 13"/>
          <p:cNvSpPr/>
          <p:nvPr/>
        </p:nvSpPr>
        <p:spPr>
          <a:xfrm>
            <a:off x="640080" y="3931920"/>
            <a:ext cx="3657600" cy="640080"/>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2B/9B/27B. Alternating local-global attention layers. Logit soft-capping. Group-query attention. Knowledge distillation training.</a:t>
            </a:r>
            <a:endParaRPr lang="en-US" sz="900" dirty="0"/>
          </a:p>
        </p:txBody>
      </p:sp>
      <p:sp>
        <p:nvSpPr>
          <p:cNvPr id="16" name="Shape 14"/>
          <p:cNvSpPr/>
          <p:nvPr/>
        </p:nvSpPr>
        <p:spPr>
          <a:xfrm>
            <a:off x="4754880" y="1143000"/>
            <a:ext cx="4023360" cy="1051560"/>
          </a:xfrm>
          <a:prstGeom prst="rect">
            <a:avLst/>
          </a:prstGeom>
          <a:solidFill>
            <a:srgbClr val="161B2E"/>
          </a:solidFill>
          <a:ln/>
        </p:spPr>
      </p:sp>
      <p:sp>
        <p:nvSpPr>
          <p:cNvPr id="17" name="Shape 15"/>
          <p:cNvSpPr/>
          <p:nvPr/>
        </p:nvSpPr>
        <p:spPr>
          <a:xfrm>
            <a:off x="4754880" y="1143000"/>
            <a:ext cx="45720" cy="1051560"/>
          </a:xfrm>
          <a:prstGeom prst="rect">
            <a:avLst/>
          </a:prstGeom>
          <a:solidFill>
            <a:srgbClr val="10B981"/>
          </a:solidFill>
          <a:ln/>
        </p:spPr>
      </p:sp>
      <p:sp>
        <p:nvSpPr>
          <p:cNvPr id="18" name="Text 16"/>
          <p:cNvSpPr/>
          <p:nvPr/>
        </p:nvSpPr>
        <p:spPr>
          <a:xfrm>
            <a:off x="4937760" y="1197864"/>
            <a:ext cx="3657600" cy="228600"/>
          </a:xfrm>
          <a:prstGeom prst="rect">
            <a:avLst/>
          </a:prstGeom>
          <a:noFill/>
          <a:ln/>
        </p:spPr>
        <p:txBody>
          <a:bodyPr wrap="square" lIns="0" tIns="0" rIns="0" bIns="0" rtlCol="0" anchor="ctr"/>
          <a:lstStyle/>
          <a:p>
            <a:pPr indent="0" marL="0">
              <a:buNone/>
            </a:pPr>
            <a:r>
              <a:rPr lang="en-US" sz="1200" b="1" dirty="0">
                <a:solidFill>
                  <a:srgbClr val="10B981"/>
                </a:solidFill>
                <a:latin typeface="Trebuchet MS" pitchFamily="34" charset="0"/>
                <a:ea typeface="Trebuchet MS" pitchFamily="34" charset="-122"/>
                <a:cs typeface="Trebuchet MS" pitchFamily="34" charset="-120"/>
              </a:rPr>
              <a:t>Phi-3/4 (Microsoft)</a:t>
            </a:r>
            <a:endParaRPr lang="en-US" sz="1200" dirty="0"/>
          </a:p>
        </p:txBody>
      </p:sp>
      <p:sp>
        <p:nvSpPr>
          <p:cNvPr id="19" name="Text 17"/>
          <p:cNvSpPr/>
          <p:nvPr/>
        </p:nvSpPr>
        <p:spPr>
          <a:xfrm>
            <a:off x="4937760" y="1463040"/>
            <a:ext cx="3657600" cy="640080"/>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3.8B/14B. Trained on "textbook-quality" synthetic data. Flash Attention 2, RoPE, GQA. Surprisingly strong for size.</a:t>
            </a:r>
            <a:endParaRPr lang="en-US" sz="900" dirty="0"/>
          </a:p>
        </p:txBody>
      </p:sp>
      <p:sp>
        <p:nvSpPr>
          <p:cNvPr id="20" name="Shape 18"/>
          <p:cNvSpPr/>
          <p:nvPr/>
        </p:nvSpPr>
        <p:spPr>
          <a:xfrm>
            <a:off x="4754880" y="2377440"/>
            <a:ext cx="4023360" cy="1051560"/>
          </a:xfrm>
          <a:prstGeom prst="rect">
            <a:avLst/>
          </a:prstGeom>
          <a:solidFill>
            <a:srgbClr val="161B2E"/>
          </a:solidFill>
          <a:ln/>
        </p:spPr>
      </p:sp>
      <p:sp>
        <p:nvSpPr>
          <p:cNvPr id="21" name="Shape 19"/>
          <p:cNvSpPr/>
          <p:nvPr/>
        </p:nvSpPr>
        <p:spPr>
          <a:xfrm>
            <a:off x="4754880" y="2377440"/>
            <a:ext cx="45720" cy="1051560"/>
          </a:xfrm>
          <a:prstGeom prst="rect">
            <a:avLst/>
          </a:prstGeom>
          <a:solidFill>
            <a:srgbClr val="F59E0B"/>
          </a:solidFill>
          <a:ln/>
        </p:spPr>
      </p:sp>
      <p:sp>
        <p:nvSpPr>
          <p:cNvPr id="22" name="Text 20"/>
          <p:cNvSpPr/>
          <p:nvPr/>
        </p:nvSpPr>
        <p:spPr>
          <a:xfrm>
            <a:off x="4937760" y="2432304"/>
            <a:ext cx="3657600" cy="228600"/>
          </a:xfrm>
          <a:prstGeom prst="rect">
            <a:avLst/>
          </a:prstGeom>
          <a:noFill/>
          <a:ln/>
        </p:spPr>
        <p:txBody>
          <a:bodyPr wrap="square" lIns="0" tIns="0" rIns="0" bIns="0" rtlCol="0" anchor="ctr"/>
          <a:lstStyle/>
          <a:p>
            <a:pPr indent="0" marL="0">
              <a:buNone/>
            </a:pPr>
            <a:r>
              <a:rPr lang="en-US" sz="1200" b="1" dirty="0">
                <a:solidFill>
                  <a:srgbClr val="F59E0B"/>
                </a:solidFill>
                <a:latin typeface="Trebuchet MS" pitchFamily="34" charset="0"/>
                <a:ea typeface="Trebuchet MS" pitchFamily="34" charset="-122"/>
                <a:cs typeface="Trebuchet MS" pitchFamily="34" charset="-120"/>
              </a:rPr>
              <a:t>Qwen 2.5 (Alibaba)</a:t>
            </a:r>
            <a:endParaRPr lang="en-US" sz="1200" dirty="0"/>
          </a:p>
        </p:txBody>
      </p:sp>
      <p:sp>
        <p:nvSpPr>
          <p:cNvPr id="23" name="Text 21"/>
          <p:cNvSpPr/>
          <p:nvPr/>
        </p:nvSpPr>
        <p:spPr>
          <a:xfrm>
            <a:off x="4937760" y="2697480"/>
            <a:ext cx="3657600" cy="640080"/>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0.5B to 72B range. GQA, SwiGLU, RoPE with YaRN extension for 128K context. Dual-chunk attention for long sequences.</a:t>
            </a:r>
            <a:endParaRPr lang="en-US" sz="900" dirty="0"/>
          </a:p>
        </p:txBody>
      </p:sp>
      <p:sp>
        <p:nvSpPr>
          <p:cNvPr id="24" name="Shape 22"/>
          <p:cNvSpPr/>
          <p:nvPr/>
        </p:nvSpPr>
        <p:spPr>
          <a:xfrm>
            <a:off x="4754880" y="3611880"/>
            <a:ext cx="4023360" cy="1051560"/>
          </a:xfrm>
          <a:prstGeom prst="rect">
            <a:avLst/>
          </a:prstGeom>
          <a:solidFill>
            <a:srgbClr val="161B2E"/>
          </a:solidFill>
          <a:ln/>
        </p:spPr>
      </p:sp>
      <p:sp>
        <p:nvSpPr>
          <p:cNvPr id="25" name="Shape 23"/>
          <p:cNvSpPr/>
          <p:nvPr/>
        </p:nvSpPr>
        <p:spPr>
          <a:xfrm>
            <a:off x="4754880" y="3611880"/>
            <a:ext cx="45720" cy="1051560"/>
          </a:xfrm>
          <a:prstGeom prst="rect">
            <a:avLst/>
          </a:prstGeom>
          <a:solidFill>
            <a:srgbClr val="F43F5E"/>
          </a:solidFill>
          <a:ln/>
        </p:spPr>
      </p:sp>
      <p:sp>
        <p:nvSpPr>
          <p:cNvPr id="26" name="Text 24"/>
          <p:cNvSpPr/>
          <p:nvPr/>
        </p:nvSpPr>
        <p:spPr>
          <a:xfrm>
            <a:off x="4937760" y="3666744"/>
            <a:ext cx="3657600" cy="228600"/>
          </a:xfrm>
          <a:prstGeom prst="rect">
            <a:avLst/>
          </a:prstGeom>
          <a:noFill/>
          <a:ln/>
        </p:spPr>
        <p:txBody>
          <a:bodyPr wrap="square" lIns="0" tIns="0" rIns="0" bIns="0" rtlCol="0" anchor="ctr"/>
          <a:lstStyle/>
          <a:p>
            <a:pPr indent="0" marL="0">
              <a:buNone/>
            </a:pPr>
            <a:r>
              <a:rPr lang="en-US" sz="1200" b="1" dirty="0">
                <a:solidFill>
                  <a:srgbClr val="F43F5E"/>
                </a:solidFill>
                <a:latin typeface="Trebuchet MS" pitchFamily="34" charset="0"/>
                <a:ea typeface="Trebuchet MS" pitchFamily="34" charset="-122"/>
                <a:cs typeface="Trebuchet MS" pitchFamily="34" charset="-120"/>
              </a:rPr>
              <a:t>DeepSeek-V3</a:t>
            </a:r>
            <a:endParaRPr lang="en-US" sz="1200" dirty="0"/>
          </a:p>
        </p:txBody>
      </p:sp>
      <p:sp>
        <p:nvSpPr>
          <p:cNvPr id="27" name="Text 25"/>
          <p:cNvSpPr/>
          <p:nvPr/>
        </p:nvSpPr>
        <p:spPr>
          <a:xfrm>
            <a:off x="4937760" y="3931920"/>
            <a:ext cx="3657600" cy="640080"/>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671B MoE (37B active). Multi-head Latent Attention (MLA) — compresses KV cache via low-rank projection. FP8 training. Multi-Token Prediction.</a:t>
            </a:r>
            <a:endParaRPr lang="en-US" sz="900" dirty="0"/>
          </a:p>
        </p:txBody>
      </p:sp>
      <p:sp>
        <p:nvSpPr>
          <p:cNvPr id="28" name="Text 26"/>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20 / 30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457200" y="228600"/>
            <a:ext cx="2286000" cy="274320"/>
          </a:xfrm>
          <a:prstGeom prst="rect">
            <a:avLst/>
          </a:prstGeom>
          <a:noFill/>
          <a:ln/>
        </p:spPr>
        <p:txBody>
          <a:bodyPr wrap="square" lIns="0" tIns="0" rIns="0" bIns="0" rtlCol="0" anchor="ctr"/>
          <a:lstStyle/>
          <a:p>
            <a:pPr indent="0" marL="0">
              <a:buNone/>
            </a:pPr>
            <a:r>
              <a:rPr lang="en-US" sz="800" b="1" spc="400" kern="0" dirty="0">
                <a:solidFill>
                  <a:srgbClr val="06B6D4"/>
                </a:solidFill>
                <a:latin typeface="Calibri" pitchFamily="34" charset="0"/>
                <a:ea typeface="Calibri" pitchFamily="34" charset="-122"/>
                <a:cs typeface="Calibri" pitchFamily="34" charset="-120"/>
              </a:rPr>
              <a:t>DECODER-ONLY</a:t>
            </a:r>
            <a:endParaRPr lang="en-US" sz="8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Modern Decoder Architectural Innovations</a:t>
            </a:r>
            <a:endParaRPr lang="en-US" sz="2600" dirty="0"/>
          </a:p>
        </p:txBody>
      </p:sp>
      <p:sp>
        <p:nvSpPr>
          <p:cNvPr id="4" name="Shape 2"/>
          <p:cNvSpPr/>
          <p:nvPr/>
        </p:nvSpPr>
        <p:spPr>
          <a:xfrm>
            <a:off x="457200" y="1143000"/>
            <a:ext cx="4023360" cy="1051560"/>
          </a:xfrm>
          <a:prstGeom prst="rect">
            <a:avLst/>
          </a:prstGeom>
          <a:solidFill>
            <a:srgbClr val="161B2E"/>
          </a:solidFill>
          <a:ln/>
        </p:spPr>
      </p:sp>
      <p:sp>
        <p:nvSpPr>
          <p:cNvPr id="5" name="Shape 3"/>
          <p:cNvSpPr/>
          <p:nvPr/>
        </p:nvSpPr>
        <p:spPr>
          <a:xfrm>
            <a:off x="457200" y="1143000"/>
            <a:ext cx="45720" cy="1051560"/>
          </a:xfrm>
          <a:prstGeom prst="rect">
            <a:avLst/>
          </a:prstGeom>
          <a:solidFill>
            <a:srgbClr val="7C3AED"/>
          </a:solidFill>
          <a:ln/>
        </p:spPr>
      </p:sp>
      <p:sp>
        <p:nvSpPr>
          <p:cNvPr id="6" name="Text 4"/>
          <p:cNvSpPr/>
          <p:nvPr/>
        </p:nvSpPr>
        <p:spPr>
          <a:xfrm>
            <a:off x="640080" y="1197864"/>
            <a:ext cx="3657600" cy="228600"/>
          </a:xfrm>
          <a:prstGeom prst="rect">
            <a:avLst/>
          </a:prstGeom>
          <a:noFill/>
          <a:ln/>
        </p:spPr>
        <p:txBody>
          <a:bodyPr wrap="square" lIns="0" tIns="0" rIns="0" bIns="0" rtlCol="0" anchor="ctr"/>
          <a:lstStyle/>
          <a:p>
            <a:pPr indent="0" marL="0">
              <a:buNone/>
            </a:pPr>
            <a:r>
              <a:rPr lang="en-US" sz="1200" b="1" dirty="0">
                <a:solidFill>
                  <a:srgbClr val="7C3AED"/>
                </a:solidFill>
                <a:latin typeface="Trebuchet MS" pitchFamily="34" charset="0"/>
                <a:ea typeface="Trebuchet MS" pitchFamily="34" charset="-122"/>
                <a:cs typeface="Trebuchet MS" pitchFamily="34" charset="-120"/>
              </a:rPr>
              <a:t>Pre-Norm vs Post-Norm</a:t>
            </a:r>
            <a:endParaRPr lang="en-US" sz="1200" dirty="0"/>
          </a:p>
        </p:txBody>
      </p:sp>
      <p:sp>
        <p:nvSpPr>
          <p:cNvPr id="7" name="Text 5"/>
          <p:cNvSpPr/>
          <p:nvPr/>
        </p:nvSpPr>
        <p:spPr>
          <a:xfrm>
            <a:off x="640080" y="1463040"/>
            <a:ext cx="3657600" cy="640080"/>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Original: LayerNorm after residual (post-norm). Modern: LayerNorm before attention/FFN (pre-norm). Pre-norm stabilizes training for deep networks, eliminates warmup dependency.</a:t>
            </a:r>
            <a:endParaRPr lang="en-US" sz="900" dirty="0"/>
          </a:p>
        </p:txBody>
      </p:sp>
      <p:sp>
        <p:nvSpPr>
          <p:cNvPr id="8" name="Shape 6"/>
          <p:cNvSpPr/>
          <p:nvPr/>
        </p:nvSpPr>
        <p:spPr>
          <a:xfrm>
            <a:off x="457200" y="2377440"/>
            <a:ext cx="4023360" cy="1051560"/>
          </a:xfrm>
          <a:prstGeom prst="rect">
            <a:avLst/>
          </a:prstGeom>
          <a:solidFill>
            <a:srgbClr val="161B2E"/>
          </a:solidFill>
          <a:ln/>
        </p:spPr>
      </p:sp>
      <p:sp>
        <p:nvSpPr>
          <p:cNvPr id="9" name="Shape 7"/>
          <p:cNvSpPr/>
          <p:nvPr/>
        </p:nvSpPr>
        <p:spPr>
          <a:xfrm>
            <a:off x="457200" y="2377440"/>
            <a:ext cx="45720" cy="1051560"/>
          </a:xfrm>
          <a:prstGeom prst="rect">
            <a:avLst/>
          </a:prstGeom>
          <a:solidFill>
            <a:srgbClr val="3B82F6"/>
          </a:solidFill>
          <a:ln/>
        </p:spPr>
      </p:sp>
      <p:sp>
        <p:nvSpPr>
          <p:cNvPr id="10" name="Text 8"/>
          <p:cNvSpPr/>
          <p:nvPr/>
        </p:nvSpPr>
        <p:spPr>
          <a:xfrm>
            <a:off x="640080" y="2432304"/>
            <a:ext cx="3657600" cy="228600"/>
          </a:xfrm>
          <a:prstGeom prst="rect">
            <a:avLst/>
          </a:prstGeom>
          <a:noFill/>
          <a:ln/>
        </p:spPr>
        <p:txBody>
          <a:bodyPr wrap="square" lIns="0" tIns="0" rIns="0" bIns="0" rtlCol="0" anchor="ctr"/>
          <a:lstStyle/>
          <a:p>
            <a:pPr indent="0" marL="0">
              <a:buNone/>
            </a:pPr>
            <a:r>
              <a:rPr lang="en-US" sz="1200" b="1" dirty="0">
                <a:solidFill>
                  <a:srgbClr val="3B82F6"/>
                </a:solidFill>
                <a:latin typeface="Trebuchet MS" pitchFamily="34" charset="0"/>
                <a:ea typeface="Trebuchet MS" pitchFamily="34" charset="-122"/>
                <a:cs typeface="Trebuchet MS" pitchFamily="34" charset="-120"/>
              </a:rPr>
              <a:t>RMSNorm</a:t>
            </a:r>
            <a:endParaRPr lang="en-US" sz="1200" dirty="0"/>
          </a:p>
        </p:txBody>
      </p:sp>
      <p:sp>
        <p:nvSpPr>
          <p:cNvPr id="11" name="Text 9"/>
          <p:cNvSpPr/>
          <p:nvPr/>
        </p:nvSpPr>
        <p:spPr>
          <a:xfrm>
            <a:off x="640080" y="2697480"/>
            <a:ext cx="3657600" cy="640080"/>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Root Mean Square normalization — removes mean-centering from LayerNorm. RMSNorm(x) = x / RMS(x) · γ. ~15% faster than LayerNorm with equivalent quality. Used in LLaMA, Mistral.</a:t>
            </a:r>
            <a:endParaRPr lang="en-US" sz="900" dirty="0"/>
          </a:p>
        </p:txBody>
      </p:sp>
      <p:sp>
        <p:nvSpPr>
          <p:cNvPr id="12" name="Shape 10"/>
          <p:cNvSpPr/>
          <p:nvPr/>
        </p:nvSpPr>
        <p:spPr>
          <a:xfrm>
            <a:off x="457200" y="3611880"/>
            <a:ext cx="4023360" cy="1051560"/>
          </a:xfrm>
          <a:prstGeom prst="rect">
            <a:avLst/>
          </a:prstGeom>
          <a:solidFill>
            <a:srgbClr val="161B2E"/>
          </a:solidFill>
          <a:ln/>
        </p:spPr>
      </p:sp>
      <p:sp>
        <p:nvSpPr>
          <p:cNvPr id="13" name="Shape 11"/>
          <p:cNvSpPr/>
          <p:nvPr/>
        </p:nvSpPr>
        <p:spPr>
          <a:xfrm>
            <a:off x="457200" y="3611880"/>
            <a:ext cx="45720" cy="1051560"/>
          </a:xfrm>
          <a:prstGeom prst="rect">
            <a:avLst/>
          </a:prstGeom>
          <a:solidFill>
            <a:srgbClr val="06B6D4"/>
          </a:solidFill>
          <a:ln/>
        </p:spPr>
      </p:sp>
      <p:sp>
        <p:nvSpPr>
          <p:cNvPr id="14" name="Text 12"/>
          <p:cNvSpPr/>
          <p:nvPr/>
        </p:nvSpPr>
        <p:spPr>
          <a:xfrm>
            <a:off x="640080" y="3666744"/>
            <a:ext cx="3657600" cy="228600"/>
          </a:xfrm>
          <a:prstGeom prst="rect">
            <a:avLst/>
          </a:prstGeom>
          <a:noFill/>
          <a:ln/>
        </p:spPr>
        <p:txBody>
          <a:bodyPr wrap="square" lIns="0" tIns="0" rIns="0" bIns="0" rtlCol="0" anchor="ctr"/>
          <a:lstStyle/>
          <a:p>
            <a:pPr indent="0" marL="0">
              <a:buNone/>
            </a:pPr>
            <a:r>
              <a:rPr lang="en-US" sz="1200" b="1" dirty="0">
                <a:solidFill>
                  <a:srgbClr val="06B6D4"/>
                </a:solidFill>
                <a:latin typeface="Trebuchet MS" pitchFamily="34" charset="0"/>
                <a:ea typeface="Trebuchet MS" pitchFamily="34" charset="-122"/>
                <a:cs typeface="Trebuchet MS" pitchFamily="34" charset="-120"/>
              </a:rPr>
              <a:t>SwiGLU / GeGLU FFN</a:t>
            </a:r>
            <a:endParaRPr lang="en-US" sz="1200" dirty="0"/>
          </a:p>
        </p:txBody>
      </p:sp>
      <p:sp>
        <p:nvSpPr>
          <p:cNvPr id="15" name="Text 13"/>
          <p:cNvSpPr/>
          <p:nvPr/>
        </p:nvSpPr>
        <p:spPr>
          <a:xfrm>
            <a:off x="640080" y="3931920"/>
            <a:ext cx="3657600" cy="640080"/>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Replaces standard FFN (ReLU) with gated variants: SwiGLU(x) = Swish(xW₁) ⊙ (xW₂). Better gradient flow and performance. Used in PaLM, LLaMA, Mistral. Requires 3 weight matrices instead of 2.</a:t>
            </a:r>
            <a:endParaRPr lang="en-US" sz="900" dirty="0"/>
          </a:p>
        </p:txBody>
      </p:sp>
      <p:sp>
        <p:nvSpPr>
          <p:cNvPr id="16" name="Shape 14"/>
          <p:cNvSpPr/>
          <p:nvPr/>
        </p:nvSpPr>
        <p:spPr>
          <a:xfrm>
            <a:off x="4754880" y="1143000"/>
            <a:ext cx="4023360" cy="1051560"/>
          </a:xfrm>
          <a:prstGeom prst="rect">
            <a:avLst/>
          </a:prstGeom>
          <a:solidFill>
            <a:srgbClr val="161B2E"/>
          </a:solidFill>
          <a:ln/>
        </p:spPr>
      </p:sp>
      <p:sp>
        <p:nvSpPr>
          <p:cNvPr id="17" name="Shape 15"/>
          <p:cNvSpPr/>
          <p:nvPr/>
        </p:nvSpPr>
        <p:spPr>
          <a:xfrm>
            <a:off x="4754880" y="1143000"/>
            <a:ext cx="45720" cy="1051560"/>
          </a:xfrm>
          <a:prstGeom prst="rect">
            <a:avLst/>
          </a:prstGeom>
          <a:solidFill>
            <a:srgbClr val="14B8A6"/>
          </a:solidFill>
          <a:ln/>
        </p:spPr>
      </p:sp>
      <p:sp>
        <p:nvSpPr>
          <p:cNvPr id="18" name="Text 16"/>
          <p:cNvSpPr/>
          <p:nvPr/>
        </p:nvSpPr>
        <p:spPr>
          <a:xfrm>
            <a:off x="4937760" y="1197864"/>
            <a:ext cx="3657600" cy="228600"/>
          </a:xfrm>
          <a:prstGeom prst="rect">
            <a:avLst/>
          </a:prstGeom>
          <a:noFill/>
          <a:ln/>
        </p:spPr>
        <p:txBody>
          <a:bodyPr wrap="square" lIns="0" tIns="0" rIns="0" bIns="0" rtlCol="0" anchor="ctr"/>
          <a:lstStyle/>
          <a:p>
            <a:pPr indent="0" marL="0">
              <a:buNone/>
            </a:pPr>
            <a:r>
              <a:rPr lang="en-US" sz="1200" b="1" dirty="0">
                <a:solidFill>
                  <a:srgbClr val="14B8A6"/>
                </a:solidFill>
                <a:latin typeface="Trebuchet MS" pitchFamily="34" charset="0"/>
                <a:ea typeface="Trebuchet MS" pitchFamily="34" charset="-122"/>
                <a:cs typeface="Trebuchet MS" pitchFamily="34" charset="-120"/>
              </a:rPr>
              <a:t>KV-Cache Optimization</a:t>
            </a:r>
            <a:endParaRPr lang="en-US" sz="1200" dirty="0"/>
          </a:p>
        </p:txBody>
      </p:sp>
      <p:sp>
        <p:nvSpPr>
          <p:cNvPr id="19" name="Text 17"/>
          <p:cNvSpPr/>
          <p:nvPr/>
        </p:nvSpPr>
        <p:spPr>
          <a:xfrm>
            <a:off x="4937760" y="1463040"/>
            <a:ext cx="3657600" cy="640080"/>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During autoregressive generation, cache K,V for all previous tokens. Only compute new token's Q. Reduces per-token cost from O(n·d) to O(d). GQA/MQA reduce cache size by sharing K,V.</a:t>
            </a:r>
            <a:endParaRPr lang="en-US" sz="900" dirty="0"/>
          </a:p>
        </p:txBody>
      </p:sp>
      <p:sp>
        <p:nvSpPr>
          <p:cNvPr id="20" name="Shape 18"/>
          <p:cNvSpPr/>
          <p:nvPr/>
        </p:nvSpPr>
        <p:spPr>
          <a:xfrm>
            <a:off x="4754880" y="2377440"/>
            <a:ext cx="4023360" cy="1051560"/>
          </a:xfrm>
          <a:prstGeom prst="rect">
            <a:avLst/>
          </a:prstGeom>
          <a:solidFill>
            <a:srgbClr val="161B2E"/>
          </a:solidFill>
          <a:ln/>
        </p:spPr>
      </p:sp>
      <p:sp>
        <p:nvSpPr>
          <p:cNvPr id="21" name="Shape 19"/>
          <p:cNvSpPr/>
          <p:nvPr/>
        </p:nvSpPr>
        <p:spPr>
          <a:xfrm>
            <a:off x="4754880" y="2377440"/>
            <a:ext cx="45720" cy="1051560"/>
          </a:xfrm>
          <a:prstGeom prst="rect">
            <a:avLst/>
          </a:prstGeom>
          <a:solidFill>
            <a:srgbClr val="10B981"/>
          </a:solidFill>
          <a:ln/>
        </p:spPr>
      </p:sp>
      <p:sp>
        <p:nvSpPr>
          <p:cNvPr id="22" name="Text 20"/>
          <p:cNvSpPr/>
          <p:nvPr/>
        </p:nvSpPr>
        <p:spPr>
          <a:xfrm>
            <a:off x="4937760" y="2432304"/>
            <a:ext cx="3657600" cy="228600"/>
          </a:xfrm>
          <a:prstGeom prst="rect">
            <a:avLst/>
          </a:prstGeom>
          <a:noFill/>
          <a:ln/>
        </p:spPr>
        <p:txBody>
          <a:bodyPr wrap="square" lIns="0" tIns="0" rIns="0" bIns="0" rtlCol="0" anchor="ctr"/>
          <a:lstStyle/>
          <a:p>
            <a:pPr indent="0" marL="0">
              <a:buNone/>
            </a:pPr>
            <a:r>
              <a:rPr lang="en-US" sz="1200" b="1" dirty="0">
                <a:solidFill>
                  <a:srgbClr val="10B981"/>
                </a:solidFill>
                <a:latin typeface="Trebuchet MS" pitchFamily="34" charset="0"/>
                <a:ea typeface="Trebuchet MS" pitchFamily="34" charset="-122"/>
                <a:cs typeface="Trebuchet MS" pitchFamily="34" charset="-120"/>
              </a:rPr>
              <a:t>Parallel Attention + FFN</a:t>
            </a:r>
            <a:endParaRPr lang="en-US" sz="1200" dirty="0"/>
          </a:p>
        </p:txBody>
      </p:sp>
      <p:sp>
        <p:nvSpPr>
          <p:cNvPr id="23" name="Text 21"/>
          <p:cNvSpPr/>
          <p:nvPr/>
        </p:nvSpPr>
        <p:spPr>
          <a:xfrm>
            <a:off x="4937760" y="2697480"/>
            <a:ext cx="3657600" cy="640080"/>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GPT-J, PaLM style: compute attention and FFN in parallel (not sequential). x + Attention(x) + FFN(x) instead of x + FFN(x + Attention(x)). Saves one sequential step per layer.</a:t>
            </a:r>
            <a:endParaRPr lang="en-US" sz="900" dirty="0"/>
          </a:p>
        </p:txBody>
      </p:sp>
      <p:sp>
        <p:nvSpPr>
          <p:cNvPr id="24" name="Shape 22"/>
          <p:cNvSpPr/>
          <p:nvPr/>
        </p:nvSpPr>
        <p:spPr>
          <a:xfrm>
            <a:off x="4754880" y="3611880"/>
            <a:ext cx="4023360" cy="1051560"/>
          </a:xfrm>
          <a:prstGeom prst="rect">
            <a:avLst/>
          </a:prstGeom>
          <a:solidFill>
            <a:srgbClr val="161B2E"/>
          </a:solidFill>
          <a:ln/>
        </p:spPr>
      </p:sp>
      <p:sp>
        <p:nvSpPr>
          <p:cNvPr id="25" name="Shape 23"/>
          <p:cNvSpPr/>
          <p:nvPr/>
        </p:nvSpPr>
        <p:spPr>
          <a:xfrm>
            <a:off x="4754880" y="3611880"/>
            <a:ext cx="45720" cy="1051560"/>
          </a:xfrm>
          <a:prstGeom prst="rect">
            <a:avLst/>
          </a:prstGeom>
          <a:solidFill>
            <a:srgbClr val="F59E0B"/>
          </a:solidFill>
          <a:ln/>
        </p:spPr>
      </p:sp>
      <p:sp>
        <p:nvSpPr>
          <p:cNvPr id="26" name="Text 24"/>
          <p:cNvSpPr/>
          <p:nvPr/>
        </p:nvSpPr>
        <p:spPr>
          <a:xfrm>
            <a:off x="4937760" y="3666744"/>
            <a:ext cx="3657600" cy="228600"/>
          </a:xfrm>
          <a:prstGeom prst="rect">
            <a:avLst/>
          </a:prstGeom>
          <a:noFill/>
          <a:ln/>
        </p:spPr>
        <p:txBody>
          <a:bodyPr wrap="square" lIns="0" tIns="0" rIns="0" bIns="0" rtlCol="0" anchor="ctr"/>
          <a:lstStyle/>
          <a:p>
            <a:pPr indent="0" marL="0">
              <a:buNone/>
            </a:pPr>
            <a:r>
              <a:rPr lang="en-US" sz="1200" b="1" dirty="0">
                <a:solidFill>
                  <a:srgbClr val="F59E0B"/>
                </a:solidFill>
                <a:latin typeface="Trebuchet MS" pitchFamily="34" charset="0"/>
                <a:ea typeface="Trebuchet MS" pitchFamily="34" charset="-122"/>
                <a:cs typeface="Trebuchet MS" pitchFamily="34" charset="-120"/>
              </a:rPr>
              <a:t>Mixture-of-Depths</a:t>
            </a:r>
            <a:endParaRPr lang="en-US" sz="1200" dirty="0"/>
          </a:p>
        </p:txBody>
      </p:sp>
      <p:sp>
        <p:nvSpPr>
          <p:cNvPr id="27" name="Text 25"/>
          <p:cNvSpPr/>
          <p:nvPr/>
        </p:nvSpPr>
        <p:spPr>
          <a:xfrm>
            <a:off x="4937760" y="3931920"/>
            <a:ext cx="3657600" cy="640080"/>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Not all tokens need all layers. Route tokens to skip layers based on learned routing. Reduces effective compute per token while maintaining quality. Complementary to MoE.</a:t>
            </a:r>
            <a:endParaRPr lang="en-US" sz="900" dirty="0"/>
          </a:p>
        </p:txBody>
      </p:sp>
      <p:sp>
        <p:nvSpPr>
          <p:cNvPr id="28" name="Text 26"/>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21 / 30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4B8A6">
              <a:alpha val="8000"/>
            </a:srgbClr>
          </a:solidFill>
          <a:ln/>
        </p:spPr>
      </p:sp>
      <p:sp>
        <p:nvSpPr>
          <p:cNvPr id="3" name="Shape 1"/>
          <p:cNvSpPr/>
          <p:nvPr/>
        </p:nvSpPr>
        <p:spPr>
          <a:xfrm>
            <a:off x="0" y="2103120"/>
            <a:ext cx="9144000" cy="3658"/>
          </a:xfrm>
          <a:prstGeom prst="rect">
            <a:avLst/>
          </a:prstGeom>
          <a:solidFill>
            <a:srgbClr val="14B8A6">
              <a:alpha val="50000"/>
            </a:srgbClr>
          </a:solidFill>
          <a:ln/>
        </p:spPr>
      </p:sp>
      <p:sp>
        <p:nvSpPr>
          <p:cNvPr id="4" name="Text 2"/>
          <p:cNvSpPr/>
          <p:nvPr/>
        </p:nvSpPr>
        <p:spPr>
          <a:xfrm>
            <a:off x="457200" y="1371600"/>
            <a:ext cx="8229600" cy="320040"/>
          </a:xfrm>
          <a:prstGeom prst="rect">
            <a:avLst/>
          </a:prstGeom>
          <a:noFill/>
          <a:ln/>
        </p:spPr>
        <p:txBody>
          <a:bodyPr wrap="square" lIns="0" tIns="0" rIns="0" bIns="0" rtlCol="0" anchor="ctr"/>
          <a:lstStyle/>
          <a:p>
            <a:pPr algn="ctr" indent="0" marL="0">
              <a:buNone/>
            </a:pPr>
            <a:r>
              <a:rPr lang="en-US" sz="1200" spc="600" kern="0" dirty="0">
                <a:solidFill>
                  <a:srgbClr val="14B8A6"/>
                </a:solidFill>
                <a:latin typeface="Calibri" pitchFamily="34" charset="0"/>
                <a:ea typeface="Calibri" pitchFamily="34" charset="-122"/>
                <a:cs typeface="Calibri" pitchFamily="34" charset="-120"/>
              </a:rPr>
              <a:t>SECTION 05</a:t>
            </a:r>
            <a:endParaRPr lang="en-US" sz="1200" dirty="0"/>
          </a:p>
        </p:txBody>
      </p:sp>
      <p:sp>
        <p:nvSpPr>
          <p:cNvPr id="5" name="Text 3"/>
          <p:cNvSpPr/>
          <p:nvPr/>
        </p:nvSpPr>
        <p:spPr>
          <a:xfrm>
            <a:off x="457200" y="1828800"/>
            <a:ext cx="8229600" cy="822960"/>
          </a:xfrm>
          <a:prstGeom prst="rect">
            <a:avLst/>
          </a:prstGeom>
          <a:noFill/>
          <a:ln/>
        </p:spPr>
        <p:txBody>
          <a:bodyPr wrap="square" lIns="0" tIns="0" rIns="0" bIns="0" rtlCol="0" anchor="ctr"/>
          <a:lstStyle/>
          <a:p>
            <a:pPr algn="ctr" indent="0" marL="0">
              <a:buNone/>
            </a:pPr>
            <a:r>
              <a:rPr lang="en-US" sz="3600" b="1" dirty="0">
                <a:solidFill>
                  <a:srgbClr val="FFFFFF"/>
                </a:solidFill>
                <a:latin typeface="Trebuchet MS" pitchFamily="34" charset="0"/>
                <a:ea typeface="Trebuchet MS" pitchFamily="34" charset="-122"/>
                <a:cs typeface="Trebuchet MS" pitchFamily="34" charset="-120"/>
              </a:rPr>
              <a:t>Encoder-Decoder &amp; Advanced</a:t>
            </a:r>
            <a:endParaRPr lang="en-US" sz="3600" dirty="0"/>
          </a:p>
        </p:txBody>
      </p:sp>
      <p:sp>
        <p:nvSpPr>
          <p:cNvPr id="6" name="Text 4"/>
          <p:cNvSpPr/>
          <p:nvPr/>
        </p:nvSpPr>
        <p:spPr>
          <a:xfrm>
            <a:off x="457200" y="2606040"/>
            <a:ext cx="8229600" cy="457200"/>
          </a:xfrm>
          <a:prstGeom prst="rect">
            <a:avLst/>
          </a:prstGeom>
          <a:noFill/>
          <a:ln/>
        </p:spPr>
        <p:txBody>
          <a:bodyPr wrap="square" lIns="0" tIns="0" rIns="0" bIns="0" rtlCol="0" anchor="ctr"/>
          <a:lstStyle/>
          <a:p>
            <a:pPr algn="ctr" indent="0" marL="0">
              <a:buNone/>
            </a:pPr>
            <a:r>
              <a:rPr lang="en-US" sz="1400" dirty="0">
                <a:solidFill>
                  <a:srgbClr val="14B8A6"/>
                </a:solidFill>
                <a:latin typeface="Calibri" pitchFamily="34" charset="0"/>
                <a:ea typeface="Calibri" pitchFamily="34" charset="-122"/>
                <a:cs typeface="Calibri" pitchFamily="34" charset="-120"/>
              </a:rPr>
              <a:t>T5, BART, MoE, Vision Transformers, State-Space Models</a:t>
            </a:r>
            <a:endParaRPr lang="en-US" sz="1400" dirty="0"/>
          </a:p>
        </p:txBody>
      </p:sp>
      <p:pic>
        <p:nvPicPr>
          <p:cNvPr id="7" name="Image 0" descr="preencoded.png">    </p:cNvPr>
          <p:cNvPicPr>
            <a:picLocks noChangeAspect="1"/>
          </p:cNvPicPr>
          <p:nvPr/>
        </p:nvPicPr>
        <p:blipFill>
          <a:blip r:embed="rId1"/>
          <a:stretch>
            <a:fillRect/>
          </a:stretch>
        </p:blipFill>
        <p:spPr>
          <a:xfrm>
            <a:off x="4160520" y="3200400"/>
            <a:ext cx="777240" cy="777240"/>
          </a:xfrm>
          <a:prstGeom prst="rect">
            <a:avLst/>
          </a:prstGeom>
        </p:spPr>
      </p:pic>
      <p:sp>
        <p:nvSpPr>
          <p:cNvPr id="8" name="Text 5"/>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22 / 30</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457200" y="228600"/>
            <a:ext cx="2286000" cy="274320"/>
          </a:xfrm>
          <a:prstGeom prst="rect">
            <a:avLst/>
          </a:prstGeom>
          <a:noFill/>
          <a:ln/>
        </p:spPr>
        <p:txBody>
          <a:bodyPr wrap="square" lIns="0" tIns="0" rIns="0" bIns="0" rtlCol="0" anchor="ctr"/>
          <a:lstStyle/>
          <a:p>
            <a:pPr indent="0" marL="0">
              <a:buNone/>
            </a:pPr>
            <a:r>
              <a:rPr lang="en-US" sz="800" b="1" spc="400" kern="0" dirty="0">
                <a:solidFill>
                  <a:srgbClr val="14B8A6"/>
                </a:solidFill>
                <a:latin typeface="Calibri" pitchFamily="34" charset="0"/>
                <a:ea typeface="Calibri" pitchFamily="34" charset="-122"/>
                <a:cs typeface="Calibri" pitchFamily="34" charset="-120"/>
              </a:rPr>
              <a:t>ENC-DEC &amp; ADVANCED</a:t>
            </a:r>
            <a:endParaRPr lang="en-US" sz="8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Encoder-Decoder Transformers</a:t>
            </a:r>
            <a:endParaRPr lang="en-US" sz="2600" dirty="0"/>
          </a:p>
        </p:txBody>
      </p:sp>
      <p:sp>
        <p:nvSpPr>
          <p:cNvPr id="4" name="Text 2"/>
          <p:cNvSpPr/>
          <p:nvPr/>
        </p:nvSpPr>
        <p:spPr>
          <a:xfrm>
            <a:off x="457200" y="1051560"/>
            <a:ext cx="8229600" cy="457200"/>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The original transformer design. Encoder processes input with bidirectional attention; decoder generates output autoregressively with cross-attention to encoder outputs. Best for conditional generation tasks.</a:t>
            </a:r>
            <a:endParaRPr lang="en-US" sz="1100" dirty="0"/>
          </a:p>
        </p:txBody>
      </p:sp>
      <p:sp>
        <p:nvSpPr>
          <p:cNvPr id="5" name="Shape 3"/>
          <p:cNvSpPr/>
          <p:nvPr/>
        </p:nvSpPr>
        <p:spPr>
          <a:xfrm>
            <a:off x="457200" y="1691640"/>
            <a:ext cx="4023360" cy="137160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6" name="Shape 4"/>
          <p:cNvSpPr/>
          <p:nvPr/>
        </p:nvSpPr>
        <p:spPr>
          <a:xfrm>
            <a:off x="457200" y="1691640"/>
            <a:ext cx="54864" cy="1371600"/>
          </a:xfrm>
          <a:prstGeom prst="rect">
            <a:avLst/>
          </a:prstGeom>
          <a:solidFill>
            <a:srgbClr val="14B8A6"/>
          </a:solidFill>
          <a:ln/>
        </p:spPr>
      </p:sp>
      <p:pic>
        <p:nvPicPr>
          <p:cNvPr id="7" name="Image 0" descr="preencoded.png">    </p:cNvPr>
          <p:cNvPicPr>
            <a:picLocks noChangeAspect="1"/>
          </p:cNvPicPr>
          <p:nvPr/>
        </p:nvPicPr>
        <p:blipFill>
          <a:blip r:embed="rId1"/>
          <a:stretch>
            <a:fillRect/>
          </a:stretch>
        </p:blipFill>
        <p:spPr>
          <a:xfrm>
            <a:off x="640080" y="1828800"/>
            <a:ext cx="292608" cy="292608"/>
          </a:xfrm>
          <a:prstGeom prst="rect">
            <a:avLst/>
          </a:prstGeom>
        </p:spPr>
      </p:pic>
      <p:sp>
        <p:nvSpPr>
          <p:cNvPr id="8" name="Text 5"/>
          <p:cNvSpPr/>
          <p:nvPr/>
        </p:nvSpPr>
        <p:spPr>
          <a:xfrm>
            <a:off x="1051560" y="1801368"/>
            <a:ext cx="3246120" cy="27432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T5 (Text-to-Text Transfer)</a:t>
            </a:r>
            <a:endParaRPr lang="en-US" sz="1200" dirty="0"/>
          </a:p>
        </p:txBody>
      </p:sp>
      <p:sp>
        <p:nvSpPr>
          <p:cNvPr id="9" name="Text 6"/>
          <p:cNvSpPr/>
          <p:nvPr/>
        </p:nvSpPr>
        <p:spPr>
          <a:xfrm>
            <a:off x="640080" y="2130552"/>
            <a:ext cx="3657600" cy="841248"/>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Google 2019. Everything is text-to-text: classification, translation, QA, summarization all framed as "input → output" text generation. Prefix-based task specification. 60M to 11B params. Span corruption pre-training.</a:t>
            </a:r>
            <a:endParaRPr lang="en-US" sz="950" dirty="0"/>
          </a:p>
        </p:txBody>
      </p:sp>
      <p:sp>
        <p:nvSpPr>
          <p:cNvPr id="10" name="Shape 7"/>
          <p:cNvSpPr/>
          <p:nvPr/>
        </p:nvSpPr>
        <p:spPr>
          <a:xfrm>
            <a:off x="457200" y="3246120"/>
            <a:ext cx="4023360" cy="137160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11" name="Shape 8"/>
          <p:cNvSpPr/>
          <p:nvPr/>
        </p:nvSpPr>
        <p:spPr>
          <a:xfrm>
            <a:off x="457200" y="3246120"/>
            <a:ext cx="54864" cy="1371600"/>
          </a:xfrm>
          <a:prstGeom prst="rect">
            <a:avLst/>
          </a:prstGeom>
          <a:solidFill>
            <a:srgbClr val="3B82F6"/>
          </a:solidFill>
          <a:ln/>
        </p:spPr>
      </p:sp>
      <p:pic>
        <p:nvPicPr>
          <p:cNvPr id="12" name="Image 1" descr="preencoded.png">    </p:cNvPr>
          <p:cNvPicPr>
            <a:picLocks noChangeAspect="1"/>
          </p:cNvPicPr>
          <p:nvPr/>
        </p:nvPicPr>
        <p:blipFill>
          <a:blip r:embed="rId2"/>
          <a:stretch>
            <a:fillRect/>
          </a:stretch>
        </p:blipFill>
        <p:spPr>
          <a:xfrm>
            <a:off x="640080" y="3383280"/>
            <a:ext cx="292608" cy="292608"/>
          </a:xfrm>
          <a:prstGeom prst="rect">
            <a:avLst/>
          </a:prstGeom>
        </p:spPr>
      </p:pic>
      <p:sp>
        <p:nvSpPr>
          <p:cNvPr id="13" name="Text 9"/>
          <p:cNvSpPr/>
          <p:nvPr/>
        </p:nvSpPr>
        <p:spPr>
          <a:xfrm>
            <a:off x="1051560" y="3355848"/>
            <a:ext cx="3246120" cy="27432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BART</a:t>
            </a:r>
            <a:endParaRPr lang="en-US" sz="1200" dirty="0"/>
          </a:p>
        </p:txBody>
      </p:sp>
      <p:sp>
        <p:nvSpPr>
          <p:cNvPr id="14" name="Text 10"/>
          <p:cNvSpPr/>
          <p:nvPr/>
        </p:nvSpPr>
        <p:spPr>
          <a:xfrm>
            <a:off x="640080" y="3685032"/>
            <a:ext cx="3657600" cy="841248"/>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Meta 2019. Denoising autoencoder: corrupt input (mask, delete, shuffle, rotate) → reconstruct. Combines BERT's bidirectional encoder with GPT's autoregressive decoder. Strong on summarization, dialogue.</a:t>
            </a:r>
            <a:endParaRPr lang="en-US" sz="950" dirty="0"/>
          </a:p>
        </p:txBody>
      </p:sp>
      <p:sp>
        <p:nvSpPr>
          <p:cNvPr id="15" name="Shape 11"/>
          <p:cNvSpPr/>
          <p:nvPr/>
        </p:nvSpPr>
        <p:spPr>
          <a:xfrm>
            <a:off x="4754880" y="1691640"/>
            <a:ext cx="4023360" cy="137160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16" name="Shape 12"/>
          <p:cNvSpPr/>
          <p:nvPr/>
        </p:nvSpPr>
        <p:spPr>
          <a:xfrm>
            <a:off x="4754880" y="1691640"/>
            <a:ext cx="54864" cy="1371600"/>
          </a:xfrm>
          <a:prstGeom prst="rect">
            <a:avLst/>
          </a:prstGeom>
          <a:solidFill>
            <a:srgbClr val="7C3AED"/>
          </a:solidFill>
          <a:ln/>
        </p:spPr>
      </p:sp>
      <p:pic>
        <p:nvPicPr>
          <p:cNvPr id="17" name="Image 2" descr="preencoded.png">    </p:cNvPr>
          <p:cNvPicPr>
            <a:picLocks noChangeAspect="1"/>
          </p:cNvPicPr>
          <p:nvPr/>
        </p:nvPicPr>
        <p:blipFill>
          <a:blip r:embed="rId3"/>
          <a:stretch>
            <a:fillRect/>
          </a:stretch>
        </p:blipFill>
        <p:spPr>
          <a:xfrm>
            <a:off x="4937760" y="1828800"/>
            <a:ext cx="292608" cy="292608"/>
          </a:xfrm>
          <a:prstGeom prst="rect">
            <a:avLst/>
          </a:prstGeom>
        </p:spPr>
      </p:pic>
      <p:sp>
        <p:nvSpPr>
          <p:cNvPr id="18" name="Text 13"/>
          <p:cNvSpPr/>
          <p:nvPr/>
        </p:nvSpPr>
        <p:spPr>
          <a:xfrm>
            <a:off x="5349240" y="1801368"/>
            <a:ext cx="3246120" cy="27432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mT5 / mBART</a:t>
            </a:r>
            <a:endParaRPr lang="en-US" sz="1200" dirty="0"/>
          </a:p>
        </p:txBody>
      </p:sp>
      <p:sp>
        <p:nvSpPr>
          <p:cNvPr id="19" name="Text 14"/>
          <p:cNvSpPr/>
          <p:nvPr/>
        </p:nvSpPr>
        <p:spPr>
          <a:xfrm>
            <a:off x="4937760" y="2130552"/>
            <a:ext cx="3657600" cy="841248"/>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Multilingual variants trained on 101 languages (mC4 corpus). Enable cross-lingual transfer: fine-tune on English task data, evaluate on other languages zero-shot.</a:t>
            </a:r>
            <a:endParaRPr lang="en-US" sz="950" dirty="0"/>
          </a:p>
        </p:txBody>
      </p:sp>
      <p:sp>
        <p:nvSpPr>
          <p:cNvPr id="20" name="Shape 15"/>
          <p:cNvSpPr/>
          <p:nvPr/>
        </p:nvSpPr>
        <p:spPr>
          <a:xfrm>
            <a:off x="4754880" y="3246120"/>
            <a:ext cx="4023360" cy="137160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21" name="Shape 16"/>
          <p:cNvSpPr/>
          <p:nvPr/>
        </p:nvSpPr>
        <p:spPr>
          <a:xfrm>
            <a:off x="4754880" y="3246120"/>
            <a:ext cx="54864" cy="1371600"/>
          </a:xfrm>
          <a:prstGeom prst="rect">
            <a:avLst/>
          </a:prstGeom>
          <a:solidFill>
            <a:srgbClr val="10B981"/>
          </a:solidFill>
          <a:ln/>
        </p:spPr>
      </p:sp>
      <p:pic>
        <p:nvPicPr>
          <p:cNvPr id="22" name="Image 3" descr="preencoded.png">    </p:cNvPr>
          <p:cNvPicPr>
            <a:picLocks noChangeAspect="1"/>
          </p:cNvPicPr>
          <p:nvPr/>
        </p:nvPicPr>
        <p:blipFill>
          <a:blip r:embed="rId4"/>
          <a:stretch>
            <a:fillRect/>
          </a:stretch>
        </p:blipFill>
        <p:spPr>
          <a:xfrm>
            <a:off x="4937760" y="3383280"/>
            <a:ext cx="292608" cy="292608"/>
          </a:xfrm>
          <a:prstGeom prst="rect">
            <a:avLst/>
          </a:prstGeom>
        </p:spPr>
      </p:pic>
      <p:sp>
        <p:nvSpPr>
          <p:cNvPr id="23" name="Text 17"/>
          <p:cNvSpPr/>
          <p:nvPr/>
        </p:nvSpPr>
        <p:spPr>
          <a:xfrm>
            <a:off x="5349240" y="3355848"/>
            <a:ext cx="3246120" cy="27432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Flan-T5 / UL2</a:t>
            </a:r>
            <a:endParaRPr lang="en-US" sz="1200" dirty="0"/>
          </a:p>
        </p:txBody>
      </p:sp>
      <p:sp>
        <p:nvSpPr>
          <p:cNvPr id="24" name="Text 18"/>
          <p:cNvSpPr/>
          <p:nvPr/>
        </p:nvSpPr>
        <p:spPr>
          <a:xfrm>
            <a:off x="4937760" y="3685032"/>
            <a:ext cx="3657600" cy="841248"/>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Instruction-tuned encoder-decoder. Flan-T5: T5 fine-tuned on 1800+ tasks with instructions. UL2: Mixture of denoising objectives (R, S, X-denoisers) during pre-training.</a:t>
            </a:r>
            <a:endParaRPr lang="en-US" sz="950" dirty="0"/>
          </a:p>
        </p:txBody>
      </p:sp>
      <p:sp>
        <p:nvSpPr>
          <p:cNvPr id="25" name="Text 19"/>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23 / 30</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457200" y="228600"/>
            <a:ext cx="2286000" cy="274320"/>
          </a:xfrm>
          <a:prstGeom prst="rect">
            <a:avLst/>
          </a:prstGeom>
          <a:noFill/>
          <a:ln/>
        </p:spPr>
        <p:txBody>
          <a:bodyPr wrap="square" lIns="0" tIns="0" rIns="0" bIns="0" rtlCol="0" anchor="ctr"/>
          <a:lstStyle/>
          <a:p>
            <a:pPr indent="0" marL="0">
              <a:buNone/>
            </a:pPr>
            <a:r>
              <a:rPr lang="en-US" sz="800" b="1" spc="400" kern="0" dirty="0">
                <a:solidFill>
                  <a:srgbClr val="14B8A6"/>
                </a:solidFill>
                <a:latin typeface="Calibri" pitchFamily="34" charset="0"/>
                <a:ea typeface="Calibri" pitchFamily="34" charset="-122"/>
                <a:cs typeface="Calibri" pitchFamily="34" charset="-120"/>
              </a:rPr>
              <a:t>ENC-DEC &amp; ADVANCED</a:t>
            </a:r>
            <a:endParaRPr lang="en-US" sz="8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Mixture-of-Experts (MoE) Transformers</a:t>
            </a:r>
            <a:endParaRPr lang="en-US" sz="2600" dirty="0"/>
          </a:p>
        </p:txBody>
      </p:sp>
      <p:sp>
        <p:nvSpPr>
          <p:cNvPr id="4" name="Text 2"/>
          <p:cNvSpPr/>
          <p:nvPr/>
        </p:nvSpPr>
        <p:spPr>
          <a:xfrm>
            <a:off x="457200" y="1051560"/>
            <a:ext cx="8229600" cy="502920"/>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MoE replaces the dense FFN layer with multiple "expert" FFN sub-networks plus a learned gating/router network. Only top-k experts (typically k=1 or k=2) are activated per token, providing more capacity with less compute.</a:t>
            </a:r>
            <a:endParaRPr lang="en-US" sz="1100" dirty="0"/>
          </a:p>
        </p:txBody>
      </p:sp>
      <p:sp>
        <p:nvSpPr>
          <p:cNvPr id="5" name="Shape 3"/>
          <p:cNvSpPr/>
          <p:nvPr/>
        </p:nvSpPr>
        <p:spPr>
          <a:xfrm>
            <a:off x="457200" y="1645920"/>
            <a:ext cx="8229600" cy="411480"/>
          </a:xfrm>
          <a:prstGeom prst="rect">
            <a:avLst/>
          </a:prstGeom>
          <a:solidFill>
            <a:srgbClr val="1C2240"/>
          </a:solidFill>
          <a:ln w="10160">
            <a:solidFill>
              <a:srgbClr val="14B8A6"/>
            </a:solidFill>
            <a:prstDash val="solid"/>
          </a:ln>
        </p:spPr>
      </p:sp>
      <p:sp>
        <p:nvSpPr>
          <p:cNvPr id="6" name="Text 4"/>
          <p:cNvSpPr/>
          <p:nvPr/>
        </p:nvSpPr>
        <p:spPr>
          <a:xfrm>
            <a:off x="640080" y="1645920"/>
            <a:ext cx="7863840" cy="411480"/>
          </a:xfrm>
          <a:prstGeom prst="rect">
            <a:avLst/>
          </a:prstGeom>
          <a:noFill/>
          <a:ln/>
        </p:spPr>
        <p:txBody>
          <a:bodyPr wrap="square" lIns="0" tIns="0" rIns="0" bIns="0" rtlCol="0" anchor="ctr"/>
          <a:lstStyle/>
          <a:p>
            <a:pPr indent="0" marL="0">
              <a:buNone/>
            </a:pPr>
            <a:r>
              <a:rPr lang="en-US" sz="1100" dirty="0">
                <a:solidFill>
                  <a:srgbClr val="14B8A6"/>
                </a:solidFill>
                <a:latin typeface="Consolas" pitchFamily="34" charset="0"/>
                <a:ea typeface="Consolas" pitchFamily="34" charset="-122"/>
                <a:cs typeface="Consolas" pitchFamily="34" charset="-120"/>
              </a:rPr>
              <a:t>MoE(x) = Σᵢ G(x)ᵢ · Expertᵢ(x)    where G(x) = TopK(softmax(x · W_gate))</a:t>
            </a:r>
            <a:endParaRPr lang="en-US" sz="1100" dirty="0"/>
          </a:p>
        </p:txBody>
      </p:sp>
      <p:sp>
        <p:nvSpPr>
          <p:cNvPr id="7" name="Shape 5"/>
          <p:cNvSpPr/>
          <p:nvPr/>
        </p:nvSpPr>
        <p:spPr>
          <a:xfrm>
            <a:off x="457200" y="2286000"/>
            <a:ext cx="4023360" cy="1097280"/>
          </a:xfrm>
          <a:prstGeom prst="rect">
            <a:avLst/>
          </a:prstGeom>
          <a:solidFill>
            <a:srgbClr val="161B2E"/>
          </a:solidFill>
          <a:ln/>
        </p:spPr>
      </p:sp>
      <p:sp>
        <p:nvSpPr>
          <p:cNvPr id="8" name="Shape 6"/>
          <p:cNvSpPr/>
          <p:nvPr/>
        </p:nvSpPr>
        <p:spPr>
          <a:xfrm>
            <a:off x="457200" y="2286000"/>
            <a:ext cx="45720" cy="1097280"/>
          </a:xfrm>
          <a:prstGeom prst="rect">
            <a:avLst/>
          </a:prstGeom>
          <a:solidFill>
            <a:srgbClr val="14B8A6"/>
          </a:solidFill>
          <a:ln/>
        </p:spPr>
      </p:sp>
      <p:sp>
        <p:nvSpPr>
          <p:cNvPr id="9" name="Text 7"/>
          <p:cNvSpPr/>
          <p:nvPr/>
        </p:nvSpPr>
        <p:spPr>
          <a:xfrm>
            <a:off x="640080" y="2340864"/>
            <a:ext cx="3657600" cy="228600"/>
          </a:xfrm>
          <a:prstGeom prst="rect">
            <a:avLst/>
          </a:prstGeom>
          <a:noFill/>
          <a:ln/>
        </p:spPr>
        <p:txBody>
          <a:bodyPr wrap="square" lIns="0" tIns="0" rIns="0" bIns="0" rtlCol="0" anchor="ctr"/>
          <a:lstStyle/>
          <a:p>
            <a:pPr indent="0" marL="0">
              <a:buNone/>
            </a:pPr>
            <a:r>
              <a:rPr lang="en-US" sz="1200" b="1" dirty="0">
                <a:solidFill>
                  <a:srgbClr val="14B8A6"/>
                </a:solidFill>
                <a:latin typeface="Trebuchet MS" pitchFamily="34" charset="0"/>
                <a:ea typeface="Trebuchet MS" pitchFamily="34" charset="-122"/>
                <a:cs typeface="Trebuchet MS" pitchFamily="34" charset="-120"/>
              </a:rPr>
              <a:t>Switch Transformer</a:t>
            </a:r>
            <a:endParaRPr lang="en-US" sz="1200" dirty="0"/>
          </a:p>
        </p:txBody>
      </p:sp>
      <p:sp>
        <p:nvSpPr>
          <p:cNvPr id="10" name="Text 8"/>
          <p:cNvSpPr/>
          <p:nvPr/>
        </p:nvSpPr>
        <p:spPr>
          <a:xfrm>
            <a:off x="640080" y="2606040"/>
            <a:ext cx="3657600" cy="640080"/>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Google 2022. Top-1 routing (single expert per token). Simplified gating. 1.6T params with 2048 experts. Expert parallelism across devices.</a:t>
            </a:r>
            <a:endParaRPr lang="en-US" sz="900" dirty="0"/>
          </a:p>
        </p:txBody>
      </p:sp>
      <p:sp>
        <p:nvSpPr>
          <p:cNvPr id="11" name="Shape 9"/>
          <p:cNvSpPr/>
          <p:nvPr/>
        </p:nvSpPr>
        <p:spPr>
          <a:xfrm>
            <a:off x="457200" y="3566160"/>
            <a:ext cx="4023360" cy="1097280"/>
          </a:xfrm>
          <a:prstGeom prst="rect">
            <a:avLst/>
          </a:prstGeom>
          <a:solidFill>
            <a:srgbClr val="161B2E"/>
          </a:solidFill>
          <a:ln/>
        </p:spPr>
      </p:sp>
      <p:sp>
        <p:nvSpPr>
          <p:cNvPr id="12" name="Shape 10"/>
          <p:cNvSpPr/>
          <p:nvPr/>
        </p:nvSpPr>
        <p:spPr>
          <a:xfrm>
            <a:off x="457200" y="3566160"/>
            <a:ext cx="45720" cy="1097280"/>
          </a:xfrm>
          <a:prstGeom prst="rect">
            <a:avLst/>
          </a:prstGeom>
          <a:solidFill>
            <a:srgbClr val="7C3AED"/>
          </a:solidFill>
          <a:ln/>
        </p:spPr>
      </p:sp>
      <p:sp>
        <p:nvSpPr>
          <p:cNvPr id="13" name="Text 11"/>
          <p:cNvSpPr/>
          <p:nvPr/>
        </p:nvSpPr>
        <p:spPr>
          <a:xfrm>
            <a:off x="640080" y="3621024"/>
            <a:ext cx="3657600" cy="228600"/>
          </a:xfrm>
          <a:prstGeom prst="rect">
            <a:avLst/>
          </a:prstGeom>
          <a:noFill/>
          <a:ln/>
        </p:spPr>
        <p:txBody>
          <a:bodyPr wrap="square" lIns="0" tIns="0" rIns="0" bIns="0" rtlCol="0" anchor="ctr"/>
          <a:lstStyle/>
          <a:p>
            <a:pPr indent="0" marL="0">
              <a:buNone/>
            </a:pPr>
            <a:r>
              <a:rPr lang="en-US" sz="1200" b="1" dirty="0">
                <a:solidFill>
                  <a:srgbClr val="7C3AED"/>
                </a:solidFill>
                <a:latin typeface="Trebuchet MS" pitchFamily="34" charset="0"/>
                <a:ea typeface="Trebuchet MS" pitchFamily="34" charset="-122"/>
                <a:cs typeface="Trebuchet MS" pitchFamily="34" charset="-120"/>
              </a:rPr>
              <a:t>Mixtral 8×7B</a:t>
            </a:r>
            <a:endParaRPr lang="en-US" sz="1200" dirty="0"/>
          </a:p>
        </p:txBody>
      </p:sp>
      <p:sp>
        <p:nvSpPr>
          <p:cNvPr id="14" name="Text 12"/>
          <p:cNvSpPr/>
          <p:nvPr/>
        </p:nvSpPr>
        <p:spPr>
          <a:xfrm>
            <a:off x="640080" y="3886200"/>
            <a:ext cx="3657600" cy="640080"/>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Mistral. 8 experts, top-2 routing. 46.7B total params, 12.9B active per token. Matches GPT-3.5 quality at fraction of inference cost.</a:t>
            </a:r>
            <a:endParaRPr lang="en-US" sz="900" dirty="0"/>
          </a:p>
        </p:txBody>
      </p:sp>
      <p:sp>
        <p:nvSpPr>
          <p:cNvPr id="15" name="Shape 13"/>
          <p:cNvSpPr/>
          <p:nvPr/>
        </p:nvSpPr>
        <p:spPr>
          <a:xfrm>
            <a:off x="4754880" y="2286000"/>
            <a:ext cx="4023360" cy="1097280"/>
          </a:xfrm>
          <a:prstGeom prst="rect">
            <a:avLst/>
          </a:prstGeom>
          <a:solidFill>
            <a:srgbClr val="161B2E"/>
          </a:solidFill>
          <a:ln/>
        </p:spPr>
      </p:sp>
      <p:sp>
        <p:nvSpPr>
          <p:cNvPr id="16" name="Shape 14"/>
          <p:cNvSpPr/>
          <p:nvPr/>
        </p:nvSpPr>
        <p:spPr>
          <a:xfrm>
            <a:off x="4754880" y="2286000"/>
            <a:ext cx="45720" cy="1097280"/>
          </a:xfrm>
          <a:prstGeom prst="rect">
            <a:avLst/>
          </a:prstGeom>
          <a:solidFill>
            <a:srgbClr val="F43F5E"/>
          </a:solidFill>
          <a:ln/>
        </p:spPr>
      </p:sp>
      <p:sp>
        <p:nvSpPr>
          <p:cNvPr id="17" name="Text 15"/>
          <p:cNvSpPr/>
          <p:nvPr/>
        </p:nvSpPr>
        <p:spPr>
          <a:xfrm>
            <a:off x="4937760" y="2340864"/>
            <a:ext cx="3657600" cy="228600"/>
          </a:xfrm>
          <a:prstGeom prst="rect">
            <a:avLst/>
          </a:prstGeom>
          <a:noFill/>
          <a:ln/>
        </p:spPr>
        <p:txBody>
          <a:bodyPr wrap="square" lIns="0" tIns="0" rIns="0" bIns="0" rtlCol="0" anchor="ctr"/>
          <a:lstStyle/>
          <a:p>
            <a:pPr indent="0" marL="0">
              <a:buNone/>
            </a:pPr>
            <a:r>
              <a:rPr lang="en-US" sz="1200" b="1" dirty="0">
                <a:solidFill>
                  <a:srgbClr val="F43F5E"/>
                </a:solidFill>
                <a:latin typeface="Trebuchet MS" pitchFamily="34" charset="0"/>
                <a:ea typeface="Trebuchet MS" pitchFamily="34" charset="-122"/>
                <a:cs typeface="Trebuchet MS" pitchFamily="34" charset="-120"/>
              </a:rPr>
              <a:t>DeepSeek-V3 MoE</a:t>
            </a:r>
            <a:endParaRPr lang="en-US" sz="1200" dirty="0"/>
          </a:p>
        </p:txBody>
      </p:sp>
      <p:sp>
        <p:nvSpPr>
          <p:cNvPr id="18" name="Text 16"/>
          <p:cNvSpPr/>
          <p:nvPr/>
        </p:nvSpPr>
        <p:spPr>
          <a:xfrm>
            <a:off x="4937760" y="2606040"/>
            <a:ext cx="3657600" cy="640080"/>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256 experts + 1 shared expert. Top-8 routing. 671B total, 37B active. Device-limited auxiliary-loss-free load balancing.</a:t>
            </a:r>
            <a:endParaRPr lang="en-US" sz="900" dirty="0"/>
          </a:p>
        </p:txBody>
      </p:sp>
      <p:sp>
        <p:nvSpPr>
          <p:cNvPr id="19" name="Shape 17"/>
          <p:cNvSpPr/>
          <p:nvPr/>
        </p:nvSpPr>
        <p:spPr>
          <a:xfrm>
            <a:off x="4754880" y="3566160"/>
            <a:ext cx="4023360" cy="1097280"/>
          </a:xfrm>
          <a:prstGeom prst="rect">
            <a:avLst/>
          </a:prstGeom>
          <a:solidFill>
            <a:srgbClr val="161B2E"/>
          </a:solidFill>
          <a:ln/>
        </p:spPr>
      </p:sp>
      <p:sp>
        <p:nvSpPr>
          <p:cNvPr id="20" name="Shape 18"/>
          <p:cNvSpPr/>
          <p:nvPr/>
        </p:nvSpPr>
        <p:spPr>
          <a:xfrm>
            <a:off x="4754880" y="3566160"/>
            <a:ext cx="45720" cy="1097280"/>
          </a:xfrm>
          <a:prstGeom prst="rect">
            <a:avLst/>
          </a:prstGeom>
          <a:solidFill>
            <a:srgbClr val="F59E0B"/>
          </a:solidFill>
          <a:ln/>
        </p:spPr>
      </p:sp>
      <p:sp>
        <p:nvSpPr>
          <p:cNvPr id="21" name="Text 19"/>
          <p:cNvSpPr/>
          <p:nvPr/>
        </p:nvSpPr>
        <p:spPr>
          <a:xfrm>
            <a:off x="4937760" y="3621024"/>
            <a:ext cx="3657600" cy="228600"/>
          </a:xfrm>
          <a:prstGeom prst="rect">
            <a:avLst/>
          </a:prstGeom>
          <a:noFill/>
          <a:ln/>
        </p:spPr>
        <p:txBody>
          <a:bodyPr wrap="square" lIns="0" tIns="0" rIns="0" bIns="0" rtlCol="0" anchor="ctr"/>
          <a:lstStyle/>
          <a:p>
            <a:pPr indent="0" marL="0">
              <a:buNone/>
            </a:pPr>
            <a:r>
              <a:rPr lang="en-US" sz="1200" b="1" dirty="0">
                <a:solidFill>
                  <a:srgbClr val="F59E0B"/>
                </a:solidFill>
                <a:latin typeface="Trebuchet MS" pitchFamily="34" charset="0"/>
                <a:ea typeface="Trebuchet MS" pitchFamily="34" charset="-122"/>
                <a:cs typeface="Trebuchet MS" pitchFamily="34" charset="-120"/>
              </a:rPr>
              <a:t>Grok / DBRX</a:t>
            </a:r>
            <a:endParaRPr lang="en-US" sz="1200" dirty="0"/>
          </a:p>
        </p:txBody>
      </p:sp>
      <p:sp>
        <p:nvSpPr>
          <p:cNvPr id="22" name="Text 20"/>
          <p:cNvSpPr/>
          <p:nvPr/>
        </p:nvSpPr>
        <p:spPr>
          <a:xfrm>
            <a:off x="4937760" y="3886200"/>
            <a:ext cx="3657600" cy="640080"/>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Fine-grained MoE — more smaller experts (16 active of 36 in DBRX). Better load balancing, more uniform expert utilization.</a:t>
            </a:r>
            <a:endParaRPr lang="en-US" sz="900" dirty="0"/>
          </a:p>
        </p:txBody>
      </p:sp>
      <p:sp>
        <p:nvSpPr>
          <p:cNvPr id="23" name="Text 21"/>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24 / 30</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457200" y="228600"/>
            <a:ext cx="2286000" cy="274320"/>
          </a:xfrm>
          <a:prstGeom prst="rect">
            <a:avLst/>
          </a:prstGeom>
          <a:noFill/>
          <a:ln/>
        </p:spPr>
        <p:txBody>
          <a:bodyPr wrap="square" lIns="0" tIns="0" rIns="0" bIns="0" rtlCol="0" anchor="ctr"/>
          <a:lstStyle/>
          <a:p>
            <a:pPr indent="0" marL="0">
              <a:buNone/>
            </a:pPr>
            <a:r>
              <a:rPr lang="en-US" sz="800" b="1" spc="400" kern="0" dirty="0">
                <a:solidFill>
                  <a:srgbClr val="14B8A6"/>
                </a:solidFill>
                <a:latin typeface="Calibri" pitchFamily="34" charset="0"/>
                <a:ea typeface="Calibri" pitchFamily="34" charset="-122"/>
                <a:cs typeface="Calibri" pitchFamily="34" charset="-120"/>
              </a:rPr>
              <a:t>ENC-DEC &amp; ADVANCED</a:t>
            </a:r>
            <a:endParaRPr lang="en-US" sz="8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Vision Transformers (ViT) &amp; Beyond</a:t>
            </a:r>
            <a:endParaRPr lang="en-US" sz="2600" dirty="0"/>
          </a:p>
        </p:txBody>
      </p:sp>
      <p:sp>
        <p:nvSpPr>
          <p:cNvPr id="4" name="Text 2"/>
          <p:cNvSpPr/>
          <p:nvPr/>
        </p:nvSpPr>
        <p:spPr>
          <a:xfrm>
            <a:off x="457200" y="1051560"/>
            <a:ext cx="8229600" cy="457200"/>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ViT proved that transformers work on images by splitting images into fixed-size patches (e.g., 16×16), linearly embedding each patch, and processing the sequence of patch embeddings with a standard transformer encoder.</a:t>
            </a:r>
            <a:endParaRPr lang="en-US" sz="1100" dirty="0"/>
          </a:p>
        </p:txBody>
      </p:sp>
      <p:sp>
        <p:nvSpPr>
          <p:cNvPr id="5" name="Shape 3"/>
          <p:cNvSpPr/>
          <p:nvPr/>
        </p:nvSpPr>
        <p:spPr>
          <a:xfrm>
            <a:off x="457200" y="1645920"/>
            <a:ext cx="4023360" cy="914400"/>
          </a:xfrm>
          <a:prstGeom prst="rect">
            <a:avLst/>
          </a:prstGeom>
          <a:solidFill>
            <a:srgbClr val="161B2E"/>
          </a:solidFill>
          <a:ln/>
        </p:spPr>
      </p:sp>
      <p:sp>
        <p:nvSpPr>
          <p:cNvPr id="6" name="Shape 4"/>
          <p:cNvSpPr/>
          <p:nvPr/>
        </p:nvSpPr>
        <p:spPr>
          <a:xfrm>
            <a:off x="457200" y="1645920"/>
            <a:ext cx="45720" cy="914400"/>
          </a:xfrm>
          <a:prstGeom prst="rect">
            <a:avLst/>
          </a:prstGeom>
          <a:solidFill>
            <a:srgbClr val="3B82F6"/>
          </a:solidFill>
          <a:ln/>
        </p:spPr>
      </p:sp>
      <p:sp>
        <p:nvSpPr>
          <p:cNvPr id="7" name="Text 5"/>
          <p:cNvSpPr/>
          <p:nvPr/>
        </p:nvSpPr>
        <p:spPr>
          <a:xfrm>
            <a:off x="640080" y="1700784"/>
            <a:ext cx="2743200" cy="201168"/>
          </a:xfrm>
          <a:prstGeom prst="rect">
            <a:avLst/>
          </a:prstGeom>
          <a:noFill/>
          <a:ln/>
        </p:spPr>
        <p:txBody>
          <a:bodyPr wrap="square" lIns="0" tIns="0" rIns="0" bIns="0" rtlCol="0" anchor="ctr"/>
          <a:lstStyle/>
          <a:p>
            <a:pPr indent="0" marL="0">
              <a:buNone/>
            </a:pPr>
            <a:r>
              <a:rPr lang="en-US" sz="1200" b="1" dirty="0">
                <a:solidFill>
                  <a:srgbClr val="3B82F6"/>
                </a:solidFill>
                <a:latin typeface="Trebuchet MS" pitchFamily="34" charset="0"/>
                <a:ea typeface="Trebuchet MS" pitchFamily="34" charset="-122"/>
                <a:cs typeface="Trebuchet MS" pitchFamily="34" charset="-120"/>
              </a:rPr>
              <a:t>ViT (Original)</a:t>
            </a:r>
            <a:endParaRPr lang="en-US" sz="1200" dirty="0"/>
          </a:p>
        </p:txBody>
      </p:sp>
      <p:sp>
        <p:nvSpPr>
          <p:cNvPr id="8" name="Text 6"/>
          <p:cNvSpPr/>
          <p:nvPr/>
        </p:nvSpPr>
        <p:spPr>
          <a:xfrm>
            <a:off x="640080" y="1938528"/>
            <a:ext cx="3657600" cy="530352"/>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Dosovitskiy 2020. 16×16 patches + [CLS] token. Needs large-scale pre-training (JFT-300M). Position embeddings learned. ViT-B/16: 86M params.</a:t>
            </a:r>
            <a:endParaRPr lang="en-US" sz="900" dirty="0"/>
          </a:p>
        </p:txBody>
      </p:sp>
      <p:sp>
        <p:nvSpPr>
          <p:cNvPr id="9" name="Shape 7"/>
          <p:cNvSpPr/>
          <p:nvPr/>
        </p:nvSpPr>
        <p:spPr>
          <a:xfrm>
            <a:off x="457200" y="2697480"/>
            <a:ext cx="4023360" cy="914400"/>
          </a:xfrm>
          <a:prstGeom prst="rect">
            <a:avLst/>
          </a:prstGeom>
          <a:solidFill>
            <a:srgbClr val="161B2E"/>
          </a:solidFill>
          <a:ln/>
        </p:spPr>
      </p:sp>
      <p:sp>
        <p:nvSpPr>
          <p:cNvPr id="10" name="Shape 8"/>
          <p:cNvSpPr/>
          <p:nvPr/>
        </p:nvSpPr>
        <p:spPr>
          <a:xfrm>
            <a:off x="457200" y="2697480"/>
            <a:ext cx="45720" cy="914400"/>
          </a:xfrm>
          <a:prstGeom prst="rect">
            <a:avLst/>
          </a:prstGeom>
          <a:solidFill>
            <a:srgbClr val="7C3AED"/>
          </a:solidFill>
          <a:ln/>
        </p:spPr>
      </p:sp>
      <p:sp>
        <p:nvSpPr>
          <p:cNvPr id="11" name="Text 9"/>
          <p:cNvSpPr/>
          <p:nvPr/>
        </p:nvSpPr>
        <p:spPr>
          <a:xfrm>
            <a:off x="640080" y="2752344"/>
            <a:ext cx="2743200" cy="201168"/>
          </a:xfrm>
          <a:prstGeom prst="rect">
            <a:avLst/>
          </a:prstGeom>
          <a:noFill/>
          <a:ln/>
        </p:spPr>
        <p:txBody>
          <a:bodyPr wrap="square" lIns="0" tIns="0" rIns="0" bIns="0" rtlCol="0" anchor="ctr"/>
          <a:lstStyle/>
          <a:p>
            <a:pPr indent="0" marL="0">
              <a:buNone/>
            </a:pPr>
            <a:r>
              <a:rPr lang="en-US" sz="1200" b="1" dirty="0">
                <a:solidFill>
                  <a:srgbClr val="7C3AED"/>
                </a:solidFill>
                <a:latin typeface="Trebuchet MS" pitchFamily="34" charset="0"/>
                <a:ea typeface="Trebuchet MS" pitchFamily="34" charset="-122"/>
                <a:cs typeface="Trebuchet MS" pitchFamily="34" charset="-120"/>
              </a:rPr>
              <a:t>DeiT</a:t>
            </a:r>
            <a:endParaRPr lang="en-US" sz="1200" dirty="0"/>
          </a:p>
        </p:txBody>
      </p:sp>
      <p:sp>
        <p:nvSpPr>
          <p:cNvPr id="12" name="Text 10"/>
          <p:cNvSpPr/>
          <p:nvPr/>
        </p:nvSpPr>
        <p:spPr>
          <a:xfrm>
            <a:off x="640080" y="2990088"/>
            <a:ext cx="3657600" cy="530352"/>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Data-efficient Image Transformers. Training improvements: distillation token, strong augmentation. Makes ViT competitive with ImageNet-only training.</a:t>
            </a:r>
            <a:endParaRPr lang="en-US" sz="900" dirty="0"/>
          </a:p>
        </p:txBody>
      </p:sp>
      <p:sp>
        <p:nvSpPr>
          <p:cNvPr id="13" name="Shape 11"/>
          <p:cNvSpPr/>
          <p:nvPr/>
        </p:nvSpPr>
        <p:spPr>
          <a:xfrm>
            <a:off x="457200" y="3749040"/>
            <a:ext cx="4023360" cy="914400"/>
          </a:xfrm>
          <a:prstGeom prst="rect">
            <a:avLst/>
          </a:prstGeom>
          <a:solidFill>
            <a:srgbClr val="161B2E"/>
          </a:solidFill>
          <a:ln/>
        </p:spPr>
      </p:sp>
      <p:sp>
        <p:nvSpPr>
          <p:cNvPr id="14" name="Shape 12"/>
          <p:cNvSpPr/>
          <p:nvPr/>
        </p:nvSpPr>
        <p:spPr>
          <a:xfrm>
            <a:off x="457200" y="3749040"/>
            <a:ext cx="45720" cy="914400"/>
          </a:xfrm>
          <a:prstGeom prst="rect">
            <a:avLst/>
          </a:prstGeom>
          <a:solidFill>
            <a:srgbClr val="14B8A6"/>
          </a:solidFill>
          <a:ln/>
        </p:spPr>
      </p:sp>
      <p:sp>
        <p:nvSpPr>
          <p:cNvPr id="15" name="Text 13"/>
          <p:cNvSpPr/>
          <p:nvPr/>
        </p:nvSpPr>
        <p:spPr>
          <a:xfrm>
            <a:off x="640080" y="3803904"/>
            <a:ext cx="2743200" cy="201168"/>
          </a:xfrm>
          <a:prstGeom prst="rect">
            <a:avLst/>
          </a:prstGeom>
          <a:noFill/>
          <a:ln/>
        </p:spPr>
        <p:txBody>
          <a:bodyPr wrap="square" lIns="0" tIns="0" rIns="0" bIns="0" rtlCol="0" anchor="ctr"/>
          <a:lstStyle/>
          <a:p>
            <a:pPr indent="0" marL="0">
              <a:buNone/>
            </a:pPr>
            <a:r>
              <a:rPr lang="en-US" sz="1200" b="1" dirty="0">
                <a:solidFill>
                  <a:srgbClr val="14B8A6"/>
                </a:solidFill>
                <a:latin typeface="Trebuchet MS" pitchFamily="34" charset="0"/>
                <a:ea typeface="Trebuchet MS" pitchFamily="34" charset="-122"/>
                <a:cs typeface="Trebuchet MS" pitchFamily="34" charset="-120"/>
              </a:rPr>
              <a:t>Swin Transformer</a:t>
            </a:r>
            <a:endParaRPr lang="en-US" sz="1200" dirty="0"/>
          </a:p>
        </p:txBody>
      </p:sp>
      <p:sp>
        <p:nvSpPr>
          <p:cNvPr id="16" name="Text 14"/>
          <p:cNvSpPr/>
          <p:nvPr/>
        </p:nvSpPr>
        <p:spPr>
          <a:xfrm>
            <a:off x="640080" y="4041648"/>
            <a:ext cx="3657600" cy="530352"/>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Shifted window attention — attention within local windows, shift windows between layers for cross-window connectivity. Hierarchical feature maps. O(n) complexity.</a:t>
            </a:r>
            <a:endParaRPr lang="en-US" sz="900" dirty="0"/>
          </a:p>
        </p:txBody>
      </p:sp>
      <p:sp>
        <p:nvSpPr>
          <p:cNvPr id="17" name="Shape 15"/>
          <p:cNvSpPr/>
          <p:nvPr/>
        </p:nvSpPr>
        <p:spPr>
          <a:xfrm>
            <a:off x="4754880" y="1645920"/>
            <a:ext cx="4023360" cy="914400"/>
          </a:xfrm>
          <a:prstGeom prst="rect">
            <a:avLst/>
          </a:prstGeom>
          <a:solidFill>
            <a:srgbClr val="161B2E"/>
          </a:solidFill>
          <a:ln/>
        </p:spPr>
      </p:sp>
      <p:sp>
        <p:nvSpPr>
          <p:cNvPr id="18" name="Shape 16"/>
          <p:cNvSpPr/>
          <p:nvPr/>
        </p:nvSpPr>
        <p:spPr>
          <a:xfrm>
            <a:off x="4754880" y="1645920"/>
            <a:ext cx="45720" cy="914400"/>
          </a:xfrm>
          <a:prstGeom prst="rect">
            <a:avLst/>
          </a:prstGeom>
          <a:solidFill>
            <a:srgbClr val="10B981"/>
          </a:solidFill>
          <a:ln/>
        </p:spPr>
      </p:sp>
      <p:sp>
        <p:nvSpPr>
          <p:cNvPr id="19" name="Text 17"/>
          <p:cNvSpPr/>
          <p:nvPr/>
        </p:nvSpPr>
        <p:spPr>
          <a:xfrm>
            <a:off x="4937760" y="1700784"/>
            <a:ext cx="2743200" cy="201168"/>
          </a:xfrm>
          <a:prstGeom prst="rect">
            <a:avLst/>
          </a:prstGeom>
          <a:noFill/>
          <a:ln/>
        </p:spPr>
        <p:txBody>
          <a:bodyPr wrap="square" lIns="0" tIns="0" rIns="0" bIns="0" rtlCol="0" anchor="ctr"/>
          <a:lstStyle/>
          <a:p>
            <a:pPr indent="0" marL="0">
              <a:buNone/>
            </a:pPr>
            <a:r>
              <a:rPr lang="en-US" sz="1200" b="1" dirty="0">
                <a:solidFill>
                  <a:srgbClr val="10B981"/>
                </a:solidFill>
                <a:latin typeface="Trebuchet MS" pitchFamily="34" charset="0"/>
                <a:ea typeface="Trebuchet MS" pitchFamily="34" charset="-122"/>
                <a:cs typeface="Trebuchet MS" pitchFamily="34" charset="-120"/>
              </a:rPr>
              <a:t>DINO / DINOv2</a:t>
            </a:r>
            <a:endParaRPr lang="en-US" sz="1200" dirty="0"/>
          </a:p>
        </p:txBody>
      </p:sp>
      <p:sp>
        <p:nvSpPr>
          <p:cNvPr id="20" name="Text 18"/>
          <p:cNvSpPr/>
          <p:nvPr/>
        </p:nvSpPr>
        <p:spPr>
          <a:xfrm>
            <a:off x="4937760" y="1938528"/>
            <a:ext cx="3657600" cy="530352"/>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Self-supervised ViT training via self-distillation. Student and teacher networks with EMA. Learns rich visual features without labels. State-of-art feature extractor.</a:t>
            </a:r>
            <a:endParaRPr lang="en-US" sz="900" dirty="0"/>
          </a:p>
        </p:txBody>
      </p:sp>
      <p:sp>
        <p:nvSpPr>
          <p:cNvPr id="21" name="Shape 19"/>
          <p:cNvSpPr/>
          <p:nvPr/>
        </p:nvSpPr>
        <p:spPr>
          <a:xfrm>
            <a:off x="4754880" y="2697480"/>
            <a:ext cx="4023360" cy="914400"/>
          </a:xfrm>
          <a:prstGeom prst="rect">
            <a:avLst/>
          </a:prstGeom>
          <a:solidFill>
            <a:srgbClr val="161B2E"/>
          </a:solidFill>
          <a:ln/>
        </p:spPr>
      </p:sp>
      <p:sp>
        <p:nvSpPr>
          <p:cNvPr id="22" name="Shape 20"/>
          <p:cNvSpPr/>
          <p:nvPr/>
        </p:nvSpPr>
        <p:spPr>
          <a:xfrm>
            <a:off x="4754880" y="2697480"/>
            <a:ext cx="45720" cy="914400"/>
          </a:xfrm>
          <a:prstGeom prst="rect">
            <a:avLst/>
          </a:prstGeom>
          <a:solidFill>
            <a:srgbClr val="F59E0B"/>
          </a:solidFill>
          <a:ln/>
        </p:spPr>
      </p:sp>
      <p:sp>
        <p:nvSpPr>
          <p:cNvPr id="23" name="Text 21"/>
          <p:cNvSpPr/>
          <p:nvPr/>
        </p:nvSpPr>
        <p:spPr>
          <a:xfrm>
            <a:off x="4937760" y="2752344"/>
            <a:ext cx="2743200" cy="201168"/>
          </a:xfrm>
          <a:prstGeom prst="rect">
            <a:avLst/>
          </a:prstGeom>
          <a:noFill/>
          <a:ln/>
        </p:spPr>
        <p:txBody>
          <a:bodyPr wrap="square" lIns="0" tIns="0" rIns="0" bIns="0" rtlCol="0" anchor="ctr"/>
          <a:lstStyle/>
          <a:p>
            <a:pPr indent="0" marL="0">
              <a:buNone/>
            </a:pPr>
            <a:r>
              <a:rPr lang="en-US" sz="1200" b="1" dirty="0">
                <a:solidFill>
                  <a:srgbClr val="F59E0B"/>
                </a:solidFill>
                <a:latin typeface="Trebuchet MS" pitchFamily="34" charset="0"/>
                <a:ea typeface="Trebuchet MS" pitchFamily="34" charset="-122"/>
                <a:cs typeface="Trebuchet MS" pitchFamily="34" charset="-120"/>
              </a:rPr>
              <a:t>CLIP / SigLIP</a:t>
            </a:r>
            <a:endParaRPr lang="en-US" sz="1200" dirty="0"/>
          </a:p>
        </p:txBody>
      </p:sp>
      <p:sp>
        <p:nvSpPr>
          <p:cNvPr id="24" name="Text 22"/>
          <p:cNvSpPr/>
          <p:nvPr/>
        </p:nvSpPr>
        <p:spPr>
          <a:xfrm>
            <a:off x="4937760" y="2990088"/>
            <a:ext cx="3657600" cy="530352"/>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Contrastive Language-Image Pre-training. Dual encoder (ViT + text transformer). Aligns vision and language in shared embedding space. Zero-shot image classification.</a:t>
            </a:r>
            <a:endParaRPr lang="en-US" sz="900" dirty="0"/>
          </a:p>
        </p:txBody>
      </p:sp>
      <p:sp>
        <p:nvSpPr>
          <p:cNvPr id="25" name="Shape 23"/>
          <p:cNvSpPr/>
          <p:nvPr/>
        </p:nvSpPr>
        <p:spPr>
          <a:xfrm>
            <a:off x="4754880" y="3749040"/>
            <a:ext cx="4023360" cy="914400"/>
          </a:xfrm>
          <a:prstGeom prst="rect">
            <a:avLst/>
          </a:prstGeom>
          <a:solidFill>
            <a:srgbClr val="161B2E"/>
          </a:solidFill>
          <a:ln/>
        </p:spPr>
      </p:sp>
      <p:sp>
        <p:nvSpPr>
          <p:cNvPr id="26" name="Shape 24"/>
          <p:cNvSpPr/>
          <p:nvPr/>
        </p:nvSpPr>
        <p:spPr>
          <a:xfrm>
            <a:off x="4754880" y="3749040"/>
            <a:ext cx="45720" cy="914400"/>
          </a:xfrm>
          <a:prstGeom prst="rect">
            <a:avLst/>
          </a:prstGeom>
          <a:solidFill>
            <a:srgbClr val="F43F5E"/>
          </a:solidFill>
          <a:ln/>
        </p:spPr>
      </p:sp>
      <p:sp>
        <p:nvSpPr>
          <p:cNvPr id="27" name="Text 25"/>
          <p:cNvSpPr/>
          <p:nvPr/>
        </p:nvSpPr>
        <p:spPr>
          <a:xfrm>
            <a:off x="4937760" y="3803904"/>
            <a:ext cx="2743200" cy="201168"/>
          </a:xfrm>
          <a:prstGeom prst="rect">
            <a:avLst/>
          </a:prstGeom>
          <a:noFill/>
          <a:ln/>
        </p:spPr>
        <p:txBody>
          <a:bodyPr wrap="square" lIns="0" tIns="0" rIns="0" bIns="0" rtlCol="0" anchor="ctr"/>
          <a:lstStyle/>
          <a:p>
            <a:pPr indent="0" marL="0">
              <a:buNone/>
            </a:pPr>
            <a:r>
              <a:rPr lang="en-US" sz="1200" b="1" dirty="0">
                <a:solidFill>
                  <a:srgbClr val="F43F5E"/>
                </a:solidFill>
                <a:latin typeface="Trebuchet MS" pitchFamily="34" charset="0"/>
                <a:ea typeface="Trebuchet MS" pitchFamily="34" charset="-122"/>
                <a:cs typeface="Trebuchet MS" pitchFamily="34" charset="-120"/>
              </a:rPr>
              <a:t>Florence / PaLI</a:t>
            </a:r>
            <a:endParaRPr lang="en-US" sz="1200" dirty="0"/>
          </a:p>
        </p:txBody>
      </p:sp>
      <p:sp>
        <p:nvSpPr>
          <p:cNvPr id="28" name="Text 26"/>
          <p:cNvSpPr/>
          <p:nvPr/>
        </p:nvSpPr>
        <p:spPr>
          <a:xfrm>
            <a:off x="4937760" y="4041648"/>
            <a:ext cx="3657600" cy="530352"/>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Foundation vision-language models. PaLI: ViT-22B encoder. Florence-2: unified vision backbone for detection, segmentation, captioning via sequence-to-sequence.</a:t>
            </a:r>
            <a:endParaRPr lang="en-US" sz="900" dirty="0"/>
          </a:p>
        </p:txBody>
      </p:sp>
      <p:sp>
        <p:nvSpPr>
          <p:cNvPr id="29" name="Text 2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25 / 30</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457200" y="228600"/>
            <a:ext cx="2286000" cy="274320"/>
          </a:xfrm>
          <a:prstGeom prst="rect">
            <a:avLst/>
          </a:prstGeom>
          <a:noFill/>
          <a:ln/>
        </p:spPr>
        <p:txBody>
          <a:bodyPr wrap="square" lIns="0" tIns="0" rIns="0" bIns="0" rtlCol="0" anchor="ctr"/>
          <a:lstStyle/>
          <a:p>
            <a:pPr indent="0" marL="0">
              <a:buNone/>
            </a:pPr>
            <a:r>
              <a:rPr lang="en-US" sz="800" b="1" spc="400" kern="0" dirty="0">
                <a:solidFill>
                  <a:srgbClr val="14B8A6"/>
                </a:solidFill>
                <a:latin typeface="Calibri" pitchFamily="34" charset="0"/>
                <a:ea typeface="Calibri" pitchFamily="34" charset="-122"/>
                <a:cs typeface="Calibri" pitchFamily="34" charset="-120"/>
              </a:rPr>
              <a:t>ENC-DEC &amp; ADVANCED</a:t>
            </a:r>
            <a:endParaRPr lang="en-US" sz="8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State-Space Models &amp; Transformer Alternatives</a:t>
            </a:r>
            <a:endParaRPr lang="en-US" sz="2600" dirty="0"/>
          </a:p>
        </p:txBody>
      </p:sp>
      <p:sp>
        <p:nvSpPr>
          <p:cNvPr id="4" name="Text 2"/>
          <p:cNvSpPr/>
          <p:nvPr/>
        </p:nvSpPr>
        <p:spPr>
          <a:xfrm>
            <a:off x="457200" y="1051560"/>
            <a:ext cx="8229600" cy="457200"/>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A new family of sequence models that achieve O(n) complexity with O(1) per-step inference by replacing attention with structured state-space operations or selective gating mechanisms.</a:t>
            </a:r>
            <a:endParaRPr lang="en-US" sz="1100" dirty="0"/>
          </a:p>
        </p:txBody>
      </p:sp>
      <p:sp>
        <p:nvSpPr>
          <p:cNvPr id="5" name="Shape 3"/>
          <p:cNvSpPr/>
          <p:nvPr/>
        </p:nvSpPr>
        <p:spPr>
          <a:xfrm>
            <a:off x="457200" y="1645920"/>
            <a:ext cx="4023360" cy="914400"/>
          </a:xfrm>
          <a:prstGeom prst="rect">
            <a:avLst/>
          </a:prstGeom>
          <a:solidFill>
            <a:srgbClr val="161B2E"/>
          </a:solidFill>
          <a:ln/>
        </p:spPr>
      </p:sp>
      <p:sp>
        <p:nvSpPr>
          <p:cNvPr id="6" name="Shape 4"/>
          <p:cNvSpPr/>
          <p:nvPr/>
        </p:nvSpPr>
        <p:spPr>
          <a:xfrm>
            <a:off x="457200" y="1645920"/>
            <a:ext cx="45720" cy="914400"/>
          </a:xfrm>
          <a:prstGeom prst="rect">
            <a:avLst/>
          </a:prstGeom>
          <a:solidFill>
            <a:srgbClr val="14B8A6"/>
          </a:solidFill>
          <a:ln/>
        </p:spPr>
      </p:sp>
      <p:pic>
        <p:nvPicPr>
          <p:cNvPr id="7" name="Image 0" descr="preencoded.png">    </p:cNvPr>
          <p:cNvPicPr>
            <a:picLocks noChangeAspect="1"/>
          </p:cNvPicPr>
          <p:nvPr/>
        </p:nvPicPr>
        <p:blipFill>
          <a:blip r:embed="rId1"/>
          <a:stretch>
            <a:fillRect/>
          </a:stretch>
        </p:blipFill>
        <p:spPr>
          <a:xfrm>
            <a:off x="640080" y="1700784"/>
            <a:ext cx="228600" cy="228600"/>
          </a:xfrm>
          <a:prstGeom prst="rect">
            <a:avLst/>
          </a:prstGeom>
        </p:spPr>
      </p:pic>
      <p:sp>
        <p:nvSpPr>
          <p:cNvPr id="8" name="Text 5"/>
          <p:cNvSpPr/>
          <p:nvPr/>
        </p:nvSpPr>
        <p:spPr>
          <a:xfrm>
            <a:off x="960120" y="1700784"/>
            <a:ext cx="3200400" cy="228600"/>
          </a:xfrm>
          <a:prstGeom prst="rect">
            <a:avLst/>
          </a:prstGeom>
          <a:noFill/>
          <a:ln/>
        </p:spPr>
        <p:txBody>
          <a:bodyPr wrap="square" lIns="0" tIns="0" rIns="0" bIns="0" rtlCol="0" anchor="ctr"/>
          <a:lstStyle/>
          <a:p>
            <a:pPr indent="0" marL="0">
              <a:buNone/>
            </a:pPr>
            <a:r>
              <a:rPr lang="en-US" sz="1100" b="1" dirty="0">
                <a:solidFill>
                  <a:srgbClr val="14B8A6"/>
                </a:solidFill>
                <a:latin typeface="Trebuchet MS" pitchFamily="34" charset="0"/>
                <a:ea typeface="Trebuchet MS" pitchFamily="34" charset="-122"/>
                <a:cs typeface="Trebuchet MS" pitchFamily="34" charset="-120"/>
              </a:rPr>
              <a:t>S4 (Structured State Space)</a:t>
            </a:r>
            <a:endParaRPr lang="en-US" sz="1100" dirty="0"/>
          </a:p>
        </p:txBody>
      </p:sp>
      <p:sp>
        <p:nvSpPr>
          <p:cNvPr id="9" name="Text 6"/>
          <p:cNvSpPr/>
          <p:nvPr/>
        </p:nvSpPr>
        <p:spPr>
          <a:xfrm>
            <a:off x="640080" y="1965960"/>
            <a:ext cx="3657600" cy="502920"/>
          </a:xfrm>
          <a:prstGeom prst="rect">
            <a:avLst/>
          </a:prstGeom>
          <a:noFill/>
          <a:ln/>
        </p:spPr>
        <p:txBody>
          <a:bodyPr wrap="square" lIns="0" tIns="0" rIns="0" bIns="0" rtlCol="0" anchor="t"/>
          <a:lstStyle/>
          <a:p>
            <a:pPr indent="0" marL="0">
              <a:buNone/>
            </a:pPr>
            <a:r>
              <a:rPr lang="en-US" sz="850" dirty="0">
                <a:solidFill>
                  <a:srgbClr val="E2E8F0"/>
                </a:solidFill>
                <a:latin typeface="Calibri" pitchFamily="34" charset="0"/>
                <a:ea typeface="Calibri" pitchFamily="34" charset="-122"/>
                <a:cs typeface="Calibri" pitchFamily="34" charset="-120"/>
              </a:rPr>
              <a:t>Gu et al. 2021. Continuous-time state space: h'(t) = Ah(t) + Bx(t), y(t) = Ch(t). HiPPO initialization for long-range memory. Parallel via convolution during training, recurrent for inference.</a:t>
            </a:r>
            <a:endParaRPr lang="en-US" sz="850" dirty="0"/>
          </a:p>
        </p:txBody>
      </p:sp>
      <p:sp>
        <p:nvSpPr>
          <p:cNvPr id="10" name="Shape 7"/>
          <p:cNvSpPr/>
          <p:nvPr/>
        </p:nvSpPr>
        <p:spPr>
          <a:xfrm>
            <a:off x="457200" y="2697480"/>
            <a:ext cx="4023360" cy="914400"/>
          </a:xfrm>
          <a:prstGeom prst="rect">
            <a:avLst/>
          </a:prstGeom>
          <a:solidFill>
            <a:srgbClr val="161B2E"/>
          </a:solidFill>
          <a:ln/>
        </p:spPr>
      </p:sp>
      <p:sp>
        <p:nvSpPr>
          <p:cNvPr id="11" name="Shape 8"/>
          <p:cNvSpPr/>
          <p:nvPr/>
        </p:nvSpPr>
        <p:spPr>
          <a:xfrm>
            <a:off x="457200" y="2697480"/>
            <a:ext cx="45720" cy="914400"/>
          </a:xfrm>
          <a:prstGeom prst="rect">
            <a:avLst/>
          </a:prstGeom>
          <a:solidFill>
            <a:srgbClr val="7C3AED"/>
          </a:solidFill>
          <a:ln/>
        </p:spPr>
      </p:sp>
      <p:pic>
        <p:nvPicPr>
          <p:cNvPr id="12" name="Image 1" descr="preencoded.png">    </p:cNvPr>
          <p:cNvPicPr>
            <a:picLocks noChangeAspect="1"/>
          </p:cNvPicPr>
          <p:nvPr/>
        </p:nvPicPr>
        <p:blipFill>
          <a:blip r:embed="rId2"/>
          <a:stretch>
            <a:fillRect/>
          </a:stretch>
        </p:blipFill>
        <p:spPr>
          <a:xfrm>
            <a:off x="640080" y="2752344"/>
            <a:ext cx="228600" cy="228600"/>
          </a:xfrm>
          <a:prstGeom prst="rect">
            <a:avLst/>
          </a:prstGeom>
        </p:spPr>
      </p:pic>
      <p:sp>
        <p:nvSpPr>
          <p:cNvPr id="13" name="Text 9"/>
          <p:cNvSpPr/>
          <p:nvPr/>
        </p:nvSpPr>
        <p:spPr>
          <a:xfrm>
            <a:off x="960120" y="2752344"/>
            <a:ext cx="3200400" cy="228600"/>
          </a:xfrm>
          <a:prstGeom prst="rect">
            <a:avLst/>
          </a:prstGeom>
          <a:noFill/>
          <a:ln/>
        </p:spPr>
        <p:txBody>
          <a:bodyPr wrap="square" lIns="0" tIns="0" rIns="0" bIns="0" rtlCol="0" anchor="ctr"/>
          <a:lstStyle/>
          <a:p>
            <a:pPr indent="0" marL="0">
              <a:buNone/>
            </a:pPr>
            <a:r>
              <a:rPr lang="en-US" sz="1100" b="1" dirty="0">
                <a:solidFill>
                  <a:srgbClr val="7C3AED"/>
                </a:solidFill>
                <a:latin typeface="Trebuchet MS" pitchFamily="34" charset="0"/>
                <a:ea typeface="Trebuchet MS" pitchFamily="34" charset="-122"/>
                <a:cs typeface="Trebuchet MS" pitchFamily="34" charset="-120"/>
              </a:rPr>
              <a:t>Mamba (S6)</a:t>
            </a:r>
            <a:endParaRPr lang="en-US" sz="1100" dirty="0"/>
          </a:p>
        </p:txBody>
      </p:sp>
      <p:sp>
        <p:nvSpPr>
          <p:cNvPr id="14" name="Text 10"/>
          <p:cNvSpPr/>
          <p:nvPr/>
        </p:nvSpPr>
        <p:spPr>
          <a:xfrm>
            <a:off x="640080" y="3017520"/>
            <a:ext cx="3657600" cy="502920"/>
          </a:xfrm>
          <a:prstGeom prst="rect">
            <a:avLst/>
          </a:prstGeom>
          <a:noFill/>
          <a:ln/>
        </p:spPr>
        <p:txBody>
          <a:bodyPr wrap="square" lIns="0" tIns="0" rIns="0" bIns="0" rtlCol="0" anchor="t"/>
          <a:lstStyle/>
          <a:p>
            <a:pPr indent="0" marL="0">
              <a:buNone/>
            </a:pPr>
            <a:r>
              <a:rPr lang="en-US" sz="850" dirty="0">
                <a:solidFill>
                  <a:srgbClr val="E2E8F0"/>
                </a:solidFill>
                <a:latin typeface="Calibri" pitchFamily="34" charset="0"/>
                <a:ea typeface="Calibri" pitchFamily="34" charset="-122"/>
                <a:cs typeface="Calibri" pitchFamily="34" charset="-120"/>
              </a:rPr>
              <a:t>Gu &amp; Dao 2023. Selective State Space — input-dependent A, B, C matrices (content-aware filtering). Hardware-aware scan algorithm. O(n) training, O(1) per-step inference. Rivals transformer quality at 1-7B scale.</a:t>
            </a:r>
            <a:endParaRPr lang="en-US" sz="850" dirty="0"/>
          </a:p>
        </p:txBody>
      </p:sp>
      <p:sp>
        <p:nvSpPr>
          <p:cNvPr id="15" name="Shape 11"/>
          <p:cNvSpPr/>
          <p:nvPr/>
        </p:nvSpPr>
        <p:spPr>
          <a:xfrm>
            <a:off x="457200" y="3749040"/>
            <a:ext cx="4023360" cy="914400"/>
          </a:xfrm>
          <a:prstGeom prst="rect">
            <a:avLst/>
          </a:prstGeom>
          <a:solidFill>
            <a:srgbClr val="161B2E"/>
          </a:solidFill>
          <a:ln/>
        </p:spPr>
      </p:sp>
      <p:sp>
        <p:nvSpPr>
          <p:cNvPr id="16" name="Shape 12"/>
          <p:cNvSpPr/>
          <p:nvPr/>
        </p:nvSpPr>
        <p:spPr>
          <a:xfrm>
            <a:off x="457200" y="3749040"/>
            <a:ext cx="45720" cy="914400"/>
          </a:xfrm>
          <a:prstGeom prst="rect">
            <a:avLst/>
          </a:prstGeom>
          <a:solidFill>
            <a:srgbClr val="3B82F6"/>
          </a:solidFill>
          <a:ln/>
        </p:spPr>
      </p:sp>
      <p:pic>
        <p:nvPicPr>
          <p:cNvPr id="17" name="Image 2" descr="preencoded.png">    </p:cNvPr>
          <p:cNvPicPr>
            <a:picLocks noChangeAspect="1"/>
          </p:cNvPicPr>
          <p:nvPr/>
        </p:nvPicPr>
        <p:blipFill>
          <a:blip r:embed="rId3"/>
          <a:stretch>
            <a:fillRect/>
          </a:stretch>
        </p:blipFill>
        <p:spPr>
          <a:xfrm>
            <a:off x="640080" y="3803904"/>
            <a:ext cx="228600" cy="228600"/>
          </a:xfrm>
          <a:prstGeom prst="rect">
            <a:avLst/>
          </a:prstGeom>
        </p:spPr>
      </p:pic>
      <p:sp>
        <p:nvSpPr>
          <p:cNvPr id="18" name="Text 13"/>
          <p:cNvSpPr/>
          <p:nvPr/>
        </p:nvSpPr>
        <p:spPr>
          <a:xfrm>
            <a:off x="960120" y="3803904"/>
            <a:ext cx="3200400" cy="228600"/>
          </a:xfrm>
          <a:prstGeom prst="rect">
            <a:avLst/>
          </a:prstGeom>
          <a:noFill/>
          <a:ln/>
        </p:spPr>
        <p:txBody>
          <a:bodyPr wrap="square" lIns="0" tIns="0" rIns="0" bIns="0" rtlCol="0" anchor="ctr"/>
          <a:lstStyle/>
          <a:p>
            <a:pPr indent="0" marL="0">
              <a:buNone/>
            </a:pPr>
            <a:r>
              <a:rPr lang="en-US" sz="1100" b="1" dirty="0">
                <a:solidFill>
                  <a:srgbClr val="3B82F6"/>
                </a:solidFill>
                <a:latin typeface="Trebuchet MS" pitchFamily="34" charset="0"/>
                <a:ea typeface="Trebuchet MS" pitchFamily="34" charset="-122"/>
                <a:cs typeface="Trebuchet MS" pitchFamily="34" charset="-120"/>
              </a:rPr>
              <a:t>Mamba-2</a:t>
            </a:r>
            <a:endParaRPr lang="en-US" sz="1100" dirty="0"/>
          </a:p>
        </p:txBody>
      </p:sp>
      <p:sp>
        <p:nvSpPr>
          <p:cNvPr id="19" name="Text 14"/>
          <p:cNvSpPr/>
          <p:nvPr/>
        </p:nvSpPr>
        <p:spPr>
          <a:xfrm>
            <a:off x="640080" y="4069080"/>
            <a:ext cx="3657600" cy="502920"/>
          </a:xfrm>
          <a:prstGeom prst="rect">
            <a:avLst/>
          </a:prstGeom>
          <a:noFill/>
          <a:ln/>
        </p:spPr>
        <p:txBody>
          <a:bodyPr wrap="square" lIns="0" tIns="0" rIns="0" bIns="0" rtlCol="0" anchor="t"/>
          <a:lstStyle/>
          <a:p>
            <a:pPr indent="0" marL="0">
              <a:buNone/>
            </a:pPr>
            <a:r>
              <a:rPr lang="en-US" sz="850" dirty="0">
                <a:solidFill>
                  <a:srgbClr val="E2E8F0"/>
                </a:solidFill>
                <a:latin typeface="Calibri" pitchFamily="34" charset="0"/>
                <a:ea typeface="Calibri" pitchFamily="34" charset="-122"/>
                <a:cs typeface="Calibri" pitchFamily="34" charset="-120"/>
              </a:rPr>
              <a:t>Connects SSMs to structured masked attention (SMA). Shows Mamba is equivalent to a specific attention pattern. 2-8x faster than Mamba-1. Better hardware utilization via matrix operations.</a:t>
            </a:r>
            <a:endParaRPr lang="en-US" sz="850" dirty="0"/>
          </a:p>
        </p:txBody>
      </p:sp>
      <p:sp>
        <p:nvSpPr>
          <p:cNvPr id="20" name="Shape 15"/>
          <p:cNvSpPr/>
          <p:nvPr/>
        </p:nvSpPr>
        <p:spPr>
          <a:xfrm>
            <a:off x="4754880" y="1645920"/>
            <a:ext cx="4023360" cy="914400"/>
          </a:xfrm>
          <a:prstGeom prst="rect">
            <a:avLst/>
          </a:prstGeom>
          <a:solidFill>
            <a:srgbClr val="161B2E"/>
          </a:solidFill>
          <a:ln/>
        </p:spPr>
      </p:sp>
      <p:sp>
        <p:nvSpPr>
          <p:cNvPr id="21" name="Shape 16"/>
          <p:cNvSpPr/>
          <p:nvPr/>
        </p:nvSpPr>
        <p:spPr>
          <a:xfrm>
            <a:off x="4754880" y="1645920"/>
            <a:ext cx="45720" cy="914400"/>
          </a:xfrm>
          <a:prstGeom prst="rect">
            <a:avLst/>
          </a:prstGeom>
          <a:solidFill>
            <a:srgbClr val="10B981"/>
          </a:solidFill>
          <a:ln/>
        </p:spPr>
      </p:sp>
      <p:pic>
        <p:nvPicPr>
          <p:cNvPr id="22" name="Image 3" descr="preencoded.png">    </p:cNvPr>
          <p:cNvPicPr>
            <a:picLocks noChangeAspect="1"/>
          </p:cNvPicPr>
          <p:nvPr/>
        </p:nvPicPr>
        <p:blipFill>
          <a:blip r:embed="rId4"/>
          <a:stretch>
            <a:fillRect/>
          </a:stretch>
        </p:blipFill>
        <p:spPr>
          <a:xfrm>
            <a:off x="4937760" y="1700784"/>
            <a:ext cx="228600" cy="228600"/>
          </a:xfrm>
          <a:prstGeom prst="rect">
            <a:avLst/>
          </a:prstGeom>
        </p:spPr>
      </p:pic>
      <p:sp>
        <p:nvSpPr>
          <p:cNvPr id="23" name="Text 17"/>
          <p:cNvSpPr/>
          <p:nvPr/>
        </p:nvSpPr>
        <p:spPr>
          <a:xfrm>
            <a:off x="5257800" y="1700784"/>
            <a:ext cx="3200400" cy="228600"/>
          </a:xfrm>
          <a:prstGeom prst="rect">
            <a:avLst/>
          </a:prstGeom>
          <a:noFill/>
          <a:ln/>
        </p:spPr>
        <p:txBody>
          <a:bodyPr wrap="square" lIns="0" tIns="0" rIns="0" bIns="0" rtlCol="0" anchor="ctr"/>
          <a:lstStyle/>
          <a:p>
            <a:pPr indent="0" marL="0">
              <a:buNone/>
            </a:pPr>
            <a:r>
              <a:rPr lang="en-US" sz="1100" b="1" dirty="0">
                <a:solidFill>
                  <a:srgbClr val="10B981"/>
                </a:solidFill>
                <a:latin typeface="Trebuchet MS" pitchFamily="34" charset="0"/>
                <a:ea typeface="Trebuchet MS" pitchFamily="34" charset="-122"/>
                <a:cs typeface="Trebuchet MS" pitchFamily="34" charset="-120"/>
              </a:rPr>
              <a:t>RWKV (Receptance Weighted Key Value)</a:t>
            </a:r>
            <a:endParaRPr lang="en-US" sz="1100" dirty="0"/>
          </a:p>
        </p:txBody>
      </p:sp>
      <p:sp>
        <p:nvSpPr>
          <p:cNvPr id="24" name="Text 18"/>
          <p:cNvSpPr/>
          <p:nvPr/>
        </p:nvSpPr>
        <p:spPr>
          <a:xfrm>
            <a:off x="4937760" y="1965960"/>
            <a:ext cx="3657600" cy="502920"/>
          </a:xfrm>
          <a:prstGeom prst="rect">
            <a:avLst/>
          </a:prstGeom>
          <a:noFill/>
          <a:ln/>
        </p:spPr>
        <p:txBody>
          <a:bodyPr wrap="square" lIns="0" tIns="0" rIns="0" bIns="0" rtlCol="0" anchor="t"/>
          <a:lstStyle/>
          <a:p>
            <a:pPr indent="0" marL="0">
              <a:buNone/>
            </a:pPr>
            <a:r>
              <a:rPr lang="en-US" sz="850" dirty="0">
                <a:solidFill>
                  <a:srgbClr val="E2E8F0"/>
                </a:solidFill>
                <a:latin typeface="Calibri" pitchFamily="34" charset="0"/>
                <a:ea typeface="Calibri" pitchFamily="34" charset="-122"/>
                <a:cs typeface="Calibri" pitchFamily="34" charset="-120"/>
              </a:rPr>
              <a:t>Combines transformer-level parallelism with RNN-level inference. Linear attention formulation with time-decay factors. 100% parallel training, O(1) inference per token. RWKV-6 at 14B params.</a:t>
            </a:r>
            <a:endParaRPr lang="en-US" sz="850" dirty="0"/>
          </a:p>
        </p:txBody>
      </p:sp>
      <p:sp>
        <p:nvSpPr>
          <p:cNvPr id="25" name="Shape 19"/>
          <p:cNvSpPr/>
          <p:nvPr/>
        </p:nvSpPr>
        <p:spPr>
          <a:xfrm>
            <a:off x="4754880" y="2697480"/>
            <a:ext cx="4023360" cy="914400"/>
          </a:xfrm>
          <a:prstGeom prst="rect">
            <a:avLst/>
          </a:prstGeom>
          <a:solidFill>
            <a:srgbClr val="161B2E"/>
          </a:solidFill>
          <a:ln/>
        </p:spPr>
      </p:sp>
      <p:sp>
        <p:nvSpPr>
          <p:cNvPr id="26" name="Shape 20"/>
          <p:cNvSpPr/>
          <p:nvPr/>
        </p:nvSpPr>
        <p:spPr>
          <a:xfrm>
            <a:off x="4754880" y="2697480"/>
            <a:ext cx="45720" cy="914400"/>
          </a:xfrm>
          <a:prstGeom prst="rect">
            <a:avLst/>
          </a:prstGeom>
          <a:solidFill>
            <a:srgbClr val="F59E0B"/>
          </a:solidFill>
          <a:ln/>
        </p:spPr>
      </p:sp>
      <p:pic>
        <p:nvPicPr>
          <p:cNvPr id="27" name="Image 4" descr="preencoded.png">    </p:cNvPr>
          <p:cNvPicPr>
            <a:picLocks noChangeAspect="1"/>
          </p:cNvPicPr>
          <p:nvPr/>
        </p:nvPicPr>
        <p:blipFill>
          <a:blip r:embed="rId5"/>
          <a:stretch>
            <a:fillRect/>
          </a:stretch>
        </p:blipFill>
        <p:spPr>
          <a:xfrm>
            <a:off x="4937760" y="2752344"/>
            <a:ext cx="228600" cy="228600"/>
          </a:xfrm>
          <a:prstGeom prst="rect">
            <a:avLst/>
          </a:prstGeom>
        </p:spPr>
      </p:pic>
      <p:sp>
        <p:nvSpPr>
          <p:cNvPr id="28" name="Text 21"/>
          <p:cNvSpPr/>
          <p:nvPr/>
        </p:nvSpPr>
        <p:spPr>
          <a:xfrm>
            <a:off x="5257800" y="2752344"/>
            <a:ext cx="3200400" cy="228600"/>
          </a:xfrm>
          <a:prstGeom prst="rect">
            <a:avLst/>
          </a:prstGeom>
          <a:noFill/>
          <a:ln/>
        </p:spPr>
        <p:txBody>
          <a:bodyPr wrap="square" lIns="0" tIns="0" rIns="0" bIns="0" rtlCol="0" anchor="ctr"/>
          <a:lstStyle/>
          <a:p>
            <a:pPr indent="0" marL="0">
              <a:buNone/>
            </a:pPr>
            <a:r>
              <a:rPr lang="en-US" sz="1100" b="1" dirty="0">
                <a:solidFill>
                  <a:srgbClr val="F59E0B"/>
                </a:solidFill>
                <a:latin typeface="Trebuchet MS" pitchFamily="34" charset="0"/>
                <a:ea typeface="Trebuchet MS" pitchFamily="34" charset="-122"/>
                <a:cs typeface="Trebuchet MS" pitchFamily="34" charset="-120"/>
              </a:rPr>
              <a:t>Jamba (AI21)</a:t>
            </a:r>
            <a:endParaRPr lang="en-US" sz="1100" dirty="0"/>
          </a:p>
        </p:txBody>
      </p:sp>
      <p:sp>
        <p:nvSpPr>
          <p:cNvPr id="29" name="Text 22"/>
          <p:cNvSpPr/>
          <p:nvPr/>
        </p:nvSpPr>
        <p:spPr>
          <a:xfrm>
            <a:off x="4937760" y="3017520"/>
            <a:ext cx="3657600" cy="502920"/>
          </a:xfrm>
          <a:prstGeom prst="rect">
            <a:avLst/>
          </a:prstGeom>
          <a:noFill/>
          <a:ln/>
        </p:spPr>
        <p:txBody>
          <a:bodyPr wrap="square" lIns="0" tIns="0" rIns="0" bIns="0" rtlCol="0" anchor="t"/>
          <a:lstStyle/>
          <a:p>
            <a:pPr indent="0" marL="0">
              <a:buNone/>
            </a:pPr>
            <a:r>
              <a:rPr lang="en-US" sz="850" dirty="0">
                <a:solidFill>
                  <a:srgbClr val="E2E8F0"/>
                </a:solidFill>
                <a:latin typeface="Calibri" pitchFamily="34" charset="0"/>
                <a:ea typeface="Calibri" pitchFamily="34" charset="-122"/>
                <a:cs typeface="Calibri" pitchFamily="34" charset="-120"/>
              </a:rPr>
              <a:t>Hybrid Mamba-Transformer. Alternates Mamba layers and attention layers. Gets the best of both: Mamba's O(n) efficiency + attention's in-context learning. 52B MoE (12B active).</a:t>
            </a:r>
            <a:endParaRPr lang="en-US" sz="850" dirty="0"/>
          </a:p>
        </p:txBody>
      </p:sp>
      <p:sp>
        <p:nvSpPr>
          <p:cNvPr id="30" name="Shape 23"/>
          <p:cNvSpPr/>
          <p:nvPr/>
        </p:nvSpPr>
        <p:spPr>
          <a:xfrm>
            <a:off x="4754880" y="3749040"/>
            <a:ext cx="4023360" cy="914400"/>
          </a:xfrm>
          <a:prstGeom prst="rect">
            <a:avLst/>
          </a:prstGeom>
          <a:solidFill>
            <a:srgbClr val="161B2E"/>
          </a:solidFill>
          <a:ln/>
        </p:spPr>
      </p:sp>
      <p:sp>
        <p:nvSpPr>
          <p:cNvPr id="31" name="Shape 24"/>
          <p:cNvSpPr/>
          <p:nvPr/>
        </p:nvSpPr>
        <p:spPr>
          <a:xfrm>
            <a:off x="4754880" y="3749040"/>
            <a:ext cx="45720" cy="914400"/>
          </a:xfrm>
          <a:prstGeom prst="rect">
            <a:avLst/>
          </a:prstGeom>
          <a:solidFill>
            <a:srgbClr val="F43F5E"/>
          </a:solidFill>
          <a:ln/>
        </p:spPr>
      </p:sp>
      <p:pic>
        <p:nvPicPr>
          <p:cNvPr id="32" name="Image 5" descr="preencoded.png">    </p:cNvPr>
          <p:cNvPicPr>
            <a:picLocks noChangeAspect="1"/>
          </p:cNvPicPr>
          <p:nvPr/>
        </p:nvPicPr>
        <p:blipFill>
          <a:blip r:embed="rId6"/>
          <a:stretch>
            <a:fillRect/>
          </a:stretch>
        </p:blipFill>
        <p:spPr>
          <a:xfrm>
            <a:off x="4937760" y="3803904"/>
            <a:ext cx="228600" cy="228600"/>
          </a:xfrm>
          <a:prstGeom prst="rect">
            <a:avLst/>
          </a:prstGeom>
        </p:spPr>
      </p:pic>
      <p:sp>
        <p:nvSpPr>
          <p:cNvPr id="33" name="Text 25"/>
          <p:cNvSpPr/>
          <p:nvPr/>
        </p:nvSpPr>
        <p:spPr>
          <a:xfrm>
            <a:off x="5257800" y="3803904"/>
            <a:ext cx="3200400" cy="228600"/>
          </a:xfrm>
          <a:prstGeom prst="rect">
            <a:avLst/>
          </a:prstGeom>
          <a:noFill/>
          <a:ln/>
        </p:spPr>
        <p:txBody>
          <a:bodyPr wrap="square" lIns="0" tIns="0" rIns="0" bIns="0" rtlCol="0" anchor="ctr"/>
          <a:lstStyle/>
          <a:p>
            <a:pPr indent="0" marL="0">
              <a:buNone/>
            </a:pPr>
            <a:r>
              <a:rPr lang="en-US" sz="1100" b="1" dirty="0">
                <a:solidFill>
                  <a:srgbClr val="F43F5E"/>
                </a:solidFill>
                <a:latin typeface="Trebuchet MS" pitchFamily="34" charset="0"/>
                <a:ea typeface="Trebuchet MS" pitchFamily="34" charset="-122"/>
                <a:cs typeface="Trebuchet MS" pitchFamily="34" charset="-120"/>
              </a:rPr>
              <a:t>Griffin / Hawk (Google)</a:t>
            </a:r>
            <a:endParaRPr lang="en-US" sz="1100" dirty="0"/>
          </a:p>
        </p:txBody>
      </p:sp>
      <p:sp>
        <p:nvSpPr>
          <p:cNvPr id="34" name="Text 26"/>
          <p:cNvSpPr/>
          <p:nvPr/>
        </p:nvSpPr>
        <p:spPr>
          <a:xfrm>
            <a:off x="4937760" y="4069080"/>
            <a:ext cx="3657600" cy="502920"/>
          </a:xfrm>
          <a:prstGeom prst="rect">
            <a:avLst/>
          </a:prstGeom>
          <a:noFill/>
          <a:ln/>
        </p:spPr>
        <p:txBody>
          <a:bodyPr wrap="square" lIns="0" tIns="0" rIns="0" bIns="0" rtlCol="0" anchor="t"/>
          <a:lstStyle/>
          <a:p>
            <a:pPr indent="0" marL="0">
              <a:buNone/>
            </a:pPr>
            <a:r>
              <a:rPr lang="en-US" sz="850" dirty="0">
                <a:solidFill>
                  <a:srgbClr val="E2E8F0"/>
                </a:solidFill>
                <a:latin typeface="Calibri" pitchFamily="34" charset="0"/>
                <a:ea typeface="Calibri" pitchFamily="34" charset="-122"/>
                <a:cs typeface="Calibri" pitchFamily="34" charset="-120"/>
              </a:rPr>
              <a:t>Recurrent models with gated linear recurrences + local attention. Griffin uses both; Hawk is pure recurrent. Match transformer quality on language at 7B with better inference throughput.</a:t>
            </a:r>
            <a:endParaRPr lang="en-US" sz="850" dirty="0"/>
          </a:p>
        </p:txBody>
      </p:sp>
      <p:sp>
        <p:nvSpPr>
          <p:cNvPr id="35" name="Text 2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26 / 30</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B981">
              <a:alpha val="8000"/>
            </a:srgbClr>
          </a:solidFill>
          <a:ln/>
        </p:spPr>
      </p:sp>
      <p:sp>
        <p:nvSpPr>
          <p:cNvPr id="3" name="Shape 1"/>
          <p:cNvSpPr/>
          <p:nvPr/>
        </p:nvSpPr>
        <p:spPr>
          <a:xfrm>
            <a:off x="0" y="2103120"/>
            <a:ext cx="9144000" cy="3658"/>
          </a:xfrm>
          <a:prstGeom prst="rect">
            <a:avLst/>
          </a:prstGeom>
          <a:solidFill>
            <a:srgbClr val="10B981">
              <a:alpha val="50000"/>
            </a:srgbClr>
          </a:solidFill>
          <a:ln/>
        </p:spPr>
      </p:sp>
      <p:sp>
        <p:nvSpPr>
          <p:cNvPr id="4" name="Text 2"/>
          <p:cNvSpPr/>
          <p:nvPr/>
        </p:nvSpPr>
        <p:spPr>
          <a:xfrm>
            <a:off x="457200" y="1371600"/>
            <a:ext cx="8229600" cy="320040"/>
          </a:xfrm>
          <a:prstGeom prst="rect">
            <a:avLst/>
          </a:prstGeom>
          <a:noFill/>
          <a:ln/>
        </p:spPr>
        <p:txBody>
          <a:bodyPr wrap="square" lIns="0" tIns="0" rIns="0" bIns="0" rtlCol="0" anchor="ctr"/>
          <a:lstStyle/>
          <a:p>
            <a:pPr algn="ctr" indent="0" marL="0">
              <a:buNone/>
            </a:pPr>
            <a:r>
              <a:rPr lang="en-US" sz="1200" spc="600" kern="0" dirty="0">
                <a:solidFill>
                  <a:srgbClr val="10B981"/>
                </a:solidFill>
                <a:latin typeface="Calibri" pitchFamily="34" charset="0"/>
                <a:ea typeface="Calibri" pitchFamily="34" charset="-122"/>
                <a:cs typeface="Calibri" pitchFamily="34" charset="-120"/>
              </a:rPr>
              <a:t>SECTION 06</a:t>
            </a:r>
            <a:endParaRPr lang="en-US" sz="1200" dirty="0"/>
          </a:p>
        </p:txBody>
      </p:sp>
      <p:sp>
        <p:nvSpPr>
          <p:cNvPr id="5" name="Text 3"/>
          <p:cNvSpPr/>
          <p:nvPr/>
        </p:nvSpPr>
        <p:spPr>
          <a:xfrm>
            <a:off x="457200" y="1828800"/>
            <a:ext cx="8229600" cy="822960"/>
          </a:xfrm>
          <a:prstGeom prst="rect">
            <a:avLst/>
          </a:prstGeom>
          <a:noFill/>
          <a:ln/>
        </p:spPr>
        <p:txBody>
          <a:bodyPr wrap="square" lIns="0" tIns="0" rIns="0" bIns="0" rtlCol="0" anchor="ctr"/>
          <a:lstStyle/>
          <a:p>
            <a:pPr algn="ctr" indent="0" marL="0">
              <a:buNone/>
            </a:pPr>
            <a:r>
              <a:rPr lang="en-US" sz="3600" b="1" dirty="0">
                <a:solidFill>
                  <a:srgbClr val="FFFFFF"/>
                </a:solidFill>
                <a:latin typeface="Trebuchet MS" pitchFamily="34" charset="0"/>
                <a:ea typeface="Trebuchet MS" pitchFamily="34" charset="-122"/>
                <a:cs typeface="Trebuchet MS" pitchFamily="34" charset="-120"/>
              </a:rPr>
              <a:t>Efficiency &amp; Future Frontiers</a:t>
            </a:r>
            <a:endParaRPr lang="en-US" sz="3600" dirty="0"/>
          </a:p>
        </p:txBody>
      </p:sp>
      <p:sp>
        <p:nvSpPr>
          <p:cNvPr id="6" name="Text 4"/>
          <p:cNvSpPr/>
          <p:nvPr/>
        </p:nvSpPr>
        <p:spPr>
          <a:xfrm>
            <a:off x="457200" y="2606040"/>
            <a:ext cx="8229600" cy="457200"/>
          </a:xfrm>
          <a:prstGeom prst="rect">
            <a:avLst/>
          </a:prstGeom>
          <a:noFill/>
          <a:ln/>
        </p:spPr>
        <p:txBody>
          <a:bodyPr wrap="square" lIns="0" tIns="0" rIns="0" bIns="0" rtlCol="0" anchor="ctr"/>
          <a:lstStyle/>
          <a:p>
            <a:pPr algn="ctr" indent="0" marL="0">
              <a:buNone/>
            </a:pPr>
            <a:r>
              <a:rPr lang="en-US" sz="1400" dirty="0">
                <a:solidFill>
                  <a:srgbClr val="10B981"/>
                </a:solidFill>
                <a:latin typeface="Calibri" pitchFamily="34" charset="0"/>
                <a:ea typeface="Calibri" pitchFamily="34" charset="-122"/>
                <a:cs typeface="Calibri" pitchFamily="34" charset="-120"/>
              </a:rPr>
              <a:t>KV-Cache, Speculative Decoding, Long Context, Scaling</a:t>
            </a:r>
            <a:endParaRPr lang="en-US" sz="1400" dirty="0"/>
          </a:p>
        </p:txBody>
      </p:sp>
      <p:pic>
        <p:nvPicPr>
          <p:cNvPr id="7" name="Image 0" descr="preencoded.png">    </p:cNvPr>
          <p:cNvPicPr>
            <a:picLocks noChangeAspect="1"/>
          </p:cNvPicPr>
          <p:nvPr/>
        </p:nvPicPr>
        <p:blipFill>
          <a:blip r:embed="rId1"/>
          <a:stretch>
            <a:fillRect/>
          </a:stretch>
        </p:blipFill>
        <p:spPr>
          <a:xfrm>
            <a:off x="4160520" y="3200400"/>
            <a:ext cx="777240" cy="777240"/>
          </a:xfrm>
          <a:prstGeom prst="rect">
            <a:avLst/>
          </a:prstGeom>
        </p:spPr>
      </p:pic>
      <p:sp>
        <p:nvSpPr>
          <p:cNvPr id="8" name="Text 5"/>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27 / 30</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457200" y="228600"/>
            <a:ext cx="2286000" cy="274320"/>
          </a:xfrm>
          <a:prstGeom prst="rect">
            <a:avLst/>
          </a:prstGeom>
          <a:noFill/>
          <a:ln/>
        </p:spPr>
        <p:txBody>
          <a:bodyPr wrap="square" lIns="0" tIns="0" rIns="0" bIns="0" rtlCol="0" anchor="ctr"/>
          <a:lstStyle/>
          <a:p>
            <a:pPr indent="0" marL="0">
              <a:buNone/>
            </a:pPr>
            <a:r>
              <a:rPr lang="en-US" sz="800" b="1" spc="400" kern="0" dirty="0">
                <a:solidFill>
                  <a:srgbClr val="10B981"/>
                </a:solidFill>
                <a:latin typeface="Calibri" pitchFamily="34" charset="0"/>
                <a:ea typeface="Calibri" pitchFamily="34" charset="-122"/>
                <a:cs typeface="Calibri" pitchFamily="34" charset="-120"/>
              </a:rPr>
              <a:t>EFFICIENCY</a:t>
            </a:r>
            <a:endParaRPr lang="en-US" sz="8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Inference Optimization Techniques</a:t>
            </a:r>
            <a:endParaRPr lang="en-US" sz="2600" dirty="0"/>
          </a:p>
        </p:txBody>
      </p:sp>
      <p:sp>
        <p:nvSpPr>
          <p:cNvPr id="4" name="Shape 2"/>
          <p:cNvSpPr/>
          <p:nvPr/>
        </p:nvSpPr>
        <p:spPr>
          <a:xfrm>
            <a:off x="457200" y="1097280"/>
            <a:ext cx="4023360" cy="109728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5" name="Shape 3"/>
          <p:cNvSpPr/>
          <p:nvPr/>
        </p:nvSpPr>
        <p:spPr>
          <a:xfrm>
            <a:off x="457200" y="1097280"/>
            <a:ext cx="54864" cy="1097280"/>
          </a:xfrm>
          <a:prstGeom prst="rect">
            <a:avLst/>
          </a:prstGeom>
          <a:solidFill>
            <a:srgbClr val="10B981"/>
          </a:solidFill>
          <a:ln/>
        </p:spPr>
      </p:sp>
      <p:pic>
        <p:nvPicPr>
          <p:cNvPr id="6" name="Image 0" descr="preencoded.png">    </p:cNvPr>
          <p:cNvPicPr>
            <a:picLocks noChangeAspect="1"/>
          </p:cNvPicPr>
          <p:nvPr/>
        </p:nvPicPr>
        <p:blipFill>
          <a:blip r:embed="rId1"/>
          <a:stretch>
            <a:fillRect/>
          </a:stretch>
        </p:blipFill>
        <p:spPr>
          <a:xfrm>
            <a:off x="640080" y="1234440"/>
            <a:ext cx="292608" cy="292608"/>
          </a:xfrm>
          <a:prstGeom prst="rect">
            <a:avLst/>
          </a:prstGeom>
        </p:spPr>
      </p:pic>
      <p:sp>
        <p:nvSpPr>
          <p:cNvPr id="7" name="Text 4"/>
          <p:cNvSpPr/>
          <p:nvPr/>
        </p:nvSpPr>
        <p:spPr>
          <a:xfrm>
            <a:off x="1051560" y="1207008"/>
            <a:ext cx="3246120" cy="27432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KV-Cache Management</a:t>
            </a:r>
            <a:endParaRPr lang="en-US" sz="1200" dirty="0"/>
          </a:p>
        </p:txBody>
      </p:sp>
      <p:sp>
        <p:nvSpPr>
          <p:cNvPr id="8" name="Text 5"/>
          <p:cNvSpPr/>
          <p:nvPr/>
        </p:nvSpPr>
        <p:spPr>
          <a:xfrm>
            <a:off x="640080" y="1536192"/>
            <a:ext cx="3657600" cy="566928"/>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Cache Key/Value tensors for past tokens during autoregressive generation. PagedAttention (vLLM): virtual memory paging for KV-cache, eliminating fragmentation. Prefix caching: reuse KV-cache for shared prompt prefixes.</a:t>
            </a:r>
            <a:endParaRPr lang="en-US" sz="950" dirty="0"/>
          </a:p>
        </p:txBody>
      </p:sp>
      <p:sp>
        <p:nvSpPr>
          <p:cNvPr id="9" name="Shape 6"/>
          <p:cNvSpPr/>
          <p:nvPr/>
        </p:nvSpPr>
        <p:spPr>
          <a:xfrm>
            <a:off x="457200" y="2377440"/>
            <a:ext cx="4023360" cy="109728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10" name="Shape 7"/>
          <p:cNvSpPr/>
          <p:nvPr/>
        </p:nvSpPr>
        <p:spPr>
          <a:xfrm>
            <a:off x="457200" y="2377440"/>
            <a:ext cx="54864" cy="1097280"/>
          </a:xfrm>
          <a:prstGeom prst="rect">
            <a:avLst/>
          </a:prstGeom>
          <a:solidFill>
            <a:srgbClr val="7C3AED"/>
          </a:solidFill>
          <a:ln/>
        </p:spPr>
      </p:sp>
      <p:pic>
        <p:nvPicPr>
          <p:cNvPr id="11" name="Image 1" descr="preencoded.png">    </p:cNvPr>
          <p:cNvPicPr>
            <a:picLocks noChangeAspect="1"/>
          </p:cNvPicPr>
          <p:nvPr/>
        </p:nvPicPr>
        <p:blipFill>
          <a:blip r:embed="rId2"/>
          <a:stretch>
            <a:fillRect/>
          </a:stretch>
        </p:blipFill>
        <p:spPr>
          <a:xfrm>
            <a:off x="640080" y="2514600"/>
            <a:ext cx="292608" cy="292608"/>
          </a:xfrm>
          <a:prstGeom prst="rect">
            <a:avLst/>
          </a:prstGeom>
        </p:spPr>
      </p:pic>
      <p:sp>
        <p:nvSpPr>
          <p:cNvPr id="12" name="Text 8"/>
          <p:cNvSpPr/>
          <p:nvPr/>
        </p:nvSpPr>
        <p:spPr>
          <a:xfrm>
            <a:off x="1051560" y="2487168"/>
            <a:ext cx="3246120" cy="27432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Speculative Decoding</a:t>
            </a:r>
            <a:endParaRPr lang="en-US" sz="1200" dirty="0"/>
          </a:p>
        </p:txBody>
      </p:sp>
      <p:sp>
        <p:nvSpPr>
          <p:cNvPr id="13" name="Text 9"/>
          <p:cNvSpPr/>
          <p:nvPr/>
        </p:nvSpPr>
        <p:spPr>
          <a:xfrm>
            <a:off x="640080" y="2816352"/>
            <a:ext cx="3657600" cy="566928"/>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Use a small "draft" model to generate candidate tokens quickly. Large "verifier" model validates multiple tokens in parallel. 2-3x speedup with identical output distribution. Medusa: parallel draft heads on single model.</a:t>
            </a:r>
            <a:endParaRPr lang="en-US" sz="950" dirty="0"/>
          </a:p>
        </p:txBody>
      </p:sp>
      <p:sp>
        <p:nvSpPr>
          <p:cNvPr id="14" name="Shape 10"/>
          <p:cNvSpPr/>
          <p:nvPr/>
        </p:nvSpPr>
        <p:spPr>
          <a:xfrm>
            <a:off x="457200" y="3657600"/>
            <a:ext cx="4023360" cy="109728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15" name="Shape 11"/>
          <p:cNvSpPr/>
          <p:nvPr/>
        </p:nvSpPr>
        <p:spPr>
          <a:xfrm>
            <a:off x="457200" y="3657600"/>
            <a:ext cx="54864" cy="1097280"/>
          </a:xfrm>
          <a:prstGeom prst="rect">
            <a:avLst/>
          </a:prstGeom>
          <a:solidFill>
            <a:srgbClr val="3B82F6"/>
          </a:solidFill>
          <a:ln/>
        </p:spPr>
      </p:sp>
      <p:pic>
        <p:nvPicPr>
          <p:cNvPr id="16" name="Image 2" descr="preencoded.png">    </p:cNvPr>
          <p:cNvPicPr>
            <a:picLocks noChangeAspect="1"/>
          </p:cNvPicPr>
          <p:nvPr/>
        </p:nvPicPr>
        <p:blipFill>
          <a:blip r:embed="rId3"/>
          <a:stretch>
            <a:fillRect/>
          </a:stretch>
        </p:blipFill>
        <p:spPr>
          <a:xfrm>
            <a:off x="640080" y="3794760"/>
            <a:ext cx="292608" cy="292608"/>
          </a:xfrm>
          <a:prstGeom prst="rect">
            <a:avLst/>
          </a:prstGeom>
        </p:spPr>
      </p:pic>
      <p:sp>
        <p:nvSpPr>
          <p:cNvPr id="17" name="Text 12"/>
          <p:cNvSpPr/>
          <p:nvPr/>
        </p:nvSpPr>
        <p:spPr>
          <a:xfrm>
            <a:off x="1051560" y="3767328"/>
            <a:ext cx="3246120" cy="27432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Quantization</a:t>
            </a:r>
            <a:endParaRPr lang="en-US" sz="1200" dirty="0"/>
          </a:p>
        </p:txBody>
      </p:sp>
      <p:sp>
        <p:nvSpPr>
          <p:cNvPr id="18" name="Text 13"/>
          <p:cNvSpPr/>
          <p:nvPr/>
        </p:nvSpPr>
        <p:spPr>
          <a:xfrm>
            <a:off x="640080" y="4096512"/>
            <a:ext cx="3657600" cy="566928"/>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Reduce weight/activation precision: FP16 → INT8 → INT4. GPTQ, AWQ, GGUF formats. FP8 native on H100. 2-4x memory reduction with minimal quality loss. QLoRA: quantized base + LoRA adapters.</a:t>
            </a:r>
            <a:endParaRPr lang="en-US" sz="950" dirty="0"/>
          </a:p>
        </p:txBody>
      </p:sp>
      <p:sp>
        <p:nvSpPr>
          <p:cNvPr id="19" name="Shape 14"/>
          <p:cNvSpPr/>
          <p:nvPr/>
        </p:nvSpPr>
        <p:spPr>
          <a:xfrm>
            <a:off x="4754880" y="1097280"/>
            <a:ext cx="4023360" cy="109728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20" name="Shape 15"/>
          <p:cNvSpPr/>
          <p:nvPr/>
        </p:nvSpPr>
        <p:spPr>
          <a:xfrm>
            <a:off x="4754880" y="1097280"/>
            <a:ext cx="54864" cy="1097280"/>
          </a:xfrm>
          <a:prstGeom prst="rect">
            <a:avLst/>
          </a:prstGeom>
          <a:solidFill>
            <a:srgbClr val="06B6D4"/>
          </a:solidFill>
          <a:ln/>
        </p:spPr>
      </p:sp>
      <p:pic>
        <p:nvPicPr>
          <p:cNvPr id="21" name="Image 3" descr="preencoded.png">    </p:cNvPr>
          <p:cNvPicPr>
            <a:picLocks noChangeAspect="1"/>
          </p:cNvPicPr>
          <p:nvPr/>
        </p:nvPicPr>
        <p:blipFill>
          <a:blip r:embed="rId4"/>
          <a:stretch>
            <a:fillRect/>
          </a:stretch>
        </p:blipFill>
        <p:spPr>
          <a:xfrm>
            <a:off x="4937760" y="1234440"/>
            <a:ext cx="292608" cy="292608"/>
          </a:xfrm>
          <a:prstGeom prst="rect">
            <a:avLst/>
          </a:prstGeom>
        </p:spPr>
      </p:pic>
      <p:sp>
        <p:nvSpPr>
          <p:cNvPr id="22" name="Text 16"/>
          <p:cNvSpPr/>
          <p:nvPr/>
        </p:nvSpPr>
        <p:spPr>
          <a:xfrm>
            <a:off x="5349240" y="1207008"/>
            <a:ext cx="3246120" cy="27432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Continuous Batching</a:t>
            </a:r>
            <a:endParaRPr lang="en-US" sz="1200" dirty="0"/>
          </a:p>
        </p:txBody>
      </p:sp>
      <p:sp>
        <p:nvSpPr>
          <p:cNvPr id="23" name="Text 17"/>
          <p:cNvSpPr/>
          <p:nvPr/>
        </p:nvSpPr>
        <p:spPr>
          <a:xfrm>
            <a:off x="4937760" y="1536192"/>
            <a:ext cx="3657600" cy="566928"/>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Dynamically add/remove requests from a batch as they complete. Eliminates padding waste from static batching. Key enabler for high-throughput serving (vLLM, TGI, SGLang).</a:t>
            </a:r>
            <a:endParaRPr lang="en-US" sz="950" dirty="0"/>
          </a:p>
        </p:txBody>
      </p:sp>
      <p:sp>
        <p:nvSpPr>
          <p:cNvPr id="24" name="Shape 18"/>
          <p:cNvSpPr/>
          <p:nvPr/>
        </p:nvSpPr>
        <p:spPr>
          <a:xfrm>
            <a:off x="4754880" y="2377440"/>
            <a:ext cx="4023360" cy="109728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25" name="Shape 19"/>
          <p:cNvSpPr/>
          <p:nvPr/>
        </p:nvSpPr>
        <p:spPr>
          <a:xfrm>
            <a:off x="4754880" y="2377440"/>
            <a:ext cx="54864" cy="1097280"/>
          </a:xfrm>
          <a:prstGeom prst="rect">
            <a:avLst/>
          </a:prstGeom>
          <a:solidFill>
            <a:srgbClr val="F59E0B"/>
          </a:solidFill>
          <a:ln/>
        </p:spPr>
      </p:sp>
      <p:pic>
        <p:nvPicPr>
          <p:cNvPr id="26" name="Image 4" descr="preencoded.png">    </p:cNvPr>
          <p:cNvPicPr>
            <a:picLocks noChangeAspect="1"/>
          </p:cNvPicPr>
          <p:nvPr/>
        </p:nvPicPr>
        <p:blipFill>
          <a:blip r:embed="rId5"/>
          <a:stretch>
            <a:fillRect/>
          </a:stretch>
        </p:blipFill>
        <p:spPr>
          <a:xfrm>
            <a:off x="4937760" y="2514600"/>
            <a:ext cx="292608" cy="292608"/>
          </a:xfrm>
          <a:prstGeom prst="rect">
            <a:avLst/>
          </a:prstGeom>
        </p:spPr>
      </p:pic>
      <p:sp>
        <p:nvSpPr>
          <p:cNvPr id="27" name="Text 20"/>
          <p:cNvSpPr/>
          <p:nvPr/>
        </p:nvSpPr>
        <p:spPr>
          <a:xfrm>
            <a:off x="5349240" y="2487168"/>
            <a:ext cx="3246120" cy="27432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Ring Attention</a:t>
            </a:r>
            <a:endParaRPr lang="en-US" sz="1200" dirty="0"/>
          </a:p>
        </p:txBody>
      </p:sp>
      <p:sp>
        <p:nvSpPr>
          <p:cNvPr id="28" name="Text 21"/>
          <p:cNvSpPr/>
          <p:nvPr/>
        </p:nvSpPr>
        <p:spPr>
          <a:xfrm>
            <a:off x="4937760" y="2816352"/>
            <a:ext cx="3657600" cy="566928"/>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Distribute sequence across devices in a ring topology. Each device holds a block of Q and passes K,V around the ring. Enables arbitrary context length limited only by total GPU count, not per-GPU memory.</a:t>
            </a:r>
            <a:endParaRPr lang="en-US" sz="950" dirty="0"/>
          </a:p>
        </p:txBody>
      </p:sp>
      <p:sp>
        <p:nvSpPr>
          <p:cNvPr id="29" name="Shape 22"/>
          <p:cNvSpPr/>
          <p:nvPr/>
        </p:nvSpPr>
        <p:spPr>
          <a:xfrm>
            <a:off x="4754880" y="3657600"/>
            <a:ext cx="4023360" cy="1097280"/>
          </a:xfrm>
          <a:prstGeom prst="rect">
            <a:avLst/>
          </a:prstGeom>
          <a:solidFill>
            <a:srgbClr val="161B2E"/>
          </a:solidFill>
          <a:ln/>
          <a:effectLst>
            <a:outerShdw sx="100000" sy="100000" kx="0" ky="0" algn="bl" rotWithShape="0" blurRad="76200" dist="25400" dir="8100000">
              <a:srgbClr val="000000">
                <a:alpha val="20000"/>
              </a:srgbClr>
            </a:outerShdw>
          </a:effectLst>
        </p:spPr>
      </p:sp>
      <p:sp>
        <p:nvSpPr>
          <p:cNvPr id="30" name="Shape 23"/>
          <p:cNvSpPr/>
          <p:nvPr/>
        </p:nvSpPr>
        <p:spPr>
          <a:xfrm>
            <a:off x="4754880" y="3657600"/>
            <a:ext cx="54864" cy="1097280"/>
          </a:xfrm>
          <a:prstGeom prst="rect">
            <a:avLst/>
          </a:prstGeom>
          <a:solidFill>
            <a:srgbClr val="F43F5E"/>
          </a:solidFill>
          <a:ln/>
        </p:spPr>
      </p:sp>
      <p:pic>
        <p:nvPicPr>
          <p:cNvPr id="31" name="Image 5" descr="preencoded.png">    </p:cNvPr>
          <p:cNvPicPr>
            <a:picLocks noChangeAspect="1"/>
          </p:cNvPicPr>
          <p:nvPr/>
        </p:nvPicPr>
        <p:blipFill>
          <a:blip r:embed="rId6"/>
          <a:stretch>
            <a:fillRect/>
          </a:stretch>
        </p:blipFill>
        <p:spPr>
          <a:xfrm>
            <a:off x="4937760" y="3794760"/>
            <a:ext cx="292608" cy="292608"/>
          </a:xfrm>
          <a:prstGeom prst="rect">
            <a:avLst/>
          </a:prstGeom>
        </p:spPr>
      </p:pic>
      <p:sp>
        <p:nvSpPr>
          <p:cNvPr id="32" name="Text 24"/>
          <p:cNvSpPr/>
          <p:nvPr/>
        </p:nvSpPr>
        <p:spPr>
          <a:xfrm>
            <a:off x="5349240" y="3767328"/>
            <a:ext cx="3246120" cy="27432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Multi-Token Prediction</a:t>
            </a:r>
            <a:endParaRPr lang="en-US" sz="1200" dirty="0"/>
          </a:p>
        </p:txBody>
      </p:sp>
      <p:sp>
        <p:nvSpPr>
          <p:cNvPr id="33" name="Text 25"/>
          <p:cNvSpPr/>
          <p:nvPr/>
        </p:nvSpPr>
        <p:spPr>
          <a:xfrm>
            <a:off x="4937760" y="4096512"/>
            <a:ext cx="3657600" cy="566928"/>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Predict multiple future tokens simultaneously instead of one-at-a-time. DeepSeek-V3: 1 main + multi-token heads. Improves training efficiency and enables tree-based speculative decoding at inference.</a:t>
            </a:r>
            <a:endParaRPr lang="en-US" sz="950" dirty="0"/>
          </a:p>
        </p:txBody>
      </p:sp>
      <p:sp>
        <p:nvSpPr>
          <p:cNvPr id="34" name="Text 26"/>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28 / 30</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457200" y="228600"/>
            <a:ext cx="2286000" cy="274320"/>
          </a:xfrm>
          <a:prstGeom prst="rect">
            <a:avLst/>
          </a:prstGeom>
          <a:noFill/>
          <a:ln/>
        </p:spPr>
        <p:txBody>
          <a:bodyPr wrap="square" lIns="0" tIns="0" rIns="0" bIns="0" rtlCol="0" anchor="ctr"/>
          <a:lstStyle/>
          <a:p>
            <a:pPr indent="0" marL="0">
              <a:buNone/>
            </a:pPr>
            <a:r>
              <a:rPr lang="en-US" sz="800" b="1" spc="400" kern="0" dirty="0">
                <a:solidFill>
                  <a:srgbClr val="10B981"/>
                </a:solidFill>
                <a:latin typeface="Calibri" pitchFamily="34" charset="0"/>
                <a:ea typeface="Calibri" pitchFamily="34" charset="-122"/>
                <a:cs typeface="Calibri" pitchFamily="34" charset="-120"/>
              </a:rPr>
              <a:t>EFFICIENCY</a:t>
            </a:r>
            <a:endParaRPr lang="en-US" sz="8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Training &amp; Fine-Tuning Efficiency</a:t>
            </a:r>
            <a:endParaRPr lang="en-US" sz="2600" dirty="0"/>
          </a:p>
        </p:txBody>
      </p:sp>
      <p:sp>
        <p:nvSpPr>
          <p:cNvPr id="4" name="Shape 2"/>
          <p:cNvSpPr/>
          <p:nvPr/>
        </p:nvSpPr>
        <p:spPr>
          <a:xfrm>
            <a:off x="457200" y="1097280"/>
            <a:ext cx="4023360" cy="1051560"/>
          </a:xfrm>
          <a:prstGeom prst="rect">
            <a:avLst/>
          </a:prstGeom>
          <a:solidFill>
            <a:srgbClr val="161B2E"/>
          </a:solidFill>
          <a:ln/>
        </p:spPr>
      </p:sp>
      <p:sp>
        <p:nvSpPr>
          <p:cNvPr id="5" name="Shape 3"/>
          <p:cNvSpPr/>
          <p:nvPr/>
        </p:nvSpPr>
        <p:spPr>
          <a:xfrm>
            <a:off x="457200" y="1097280"/>
            <a:ext cx="45720" cy="1051560"/>
          </a:xfrm>
          <a:prstGeom prst="rect">
            <a:avLst/>
          </a:prstGeom>
          <a:solidFill>
            <a:srgbClr val="7C3AED"/>
          </a:solidFill>
          <a:ln/>
        </p:spPr>
      </p:sp>
      <p:sp>
        <p:nvSpPr>
          <p:cNvPr id="6" name="Text 4"/>
          <p:cNvSpPr/>
          <p:nvPr/>
        </p:nvSpPr>
        <p:spPr>
          <a:xfrm>
            <a:off x="640080" y="1152144"/>
            <a:ext cx="3657600" cy="228600"/>
          </a:xfrm>
          <a:prstGeom prst="rect">
            <a:avLst/>
          </a:prstGeom>
          <a:noFill/>
          <a:ln/>
        </p:spPr>
        <p:txBody>
          <a:bodyPr wrap="square" lIns="0" tIns="0" rIns="0" bIns="0" rtlCol="0" anchor="ctr"/>
          <a:lstStyle/>
          <a:p>
            <a:pPr indent="0" marL="0">
              <a:buNone/>
            </a:pPr>
            <a:r>
              <a:rPr lang="en-US" sz="1200" b="1" dirty="0">
                <a:solidFill>
                  <a:srgbClr val="7C3AED"/>
                </a:solidFill>
                <a:latin typeface="Trebuchet MS" pitchFamily="34" charset="0"/>
                <a:ea typeface="Trebuchet MS" pitchFamily="34" charset="-122"/>
                <a:cs typeface="Trebuchet MS" pitchFamily="34" charset="-120"/>
              </a:rPr>
              <a:t>PEFT / LoRA</a:t>
            </a:r>
            <a:endParaRPr lang="en-US" sz="1200" dirty="0"/>
          </a:p>
        </p:txBody>
      </p:sp>
      <p:sp>
        <p:nvSpPr>
          <p:cNvPr id="7" name="Text 5"/>
          <p:cNvSpPr/>
          <p:nvPr/>
        </p:nvSpPr>
        <p:spPr>
          <a:xfrm>
            <a:off x="640080" y="1417320"/>
            <a:ext cx="3657600" cy="640080"/>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Parameter-Efficient Fine-Tuning. LoRA: inject low-rank decomposition (A·B where A ∈ R^(d×r), B ∈ R^(r×d), r &lt;&lt; d) into attention weight matrices. Train only A,B (~0.1% of params). QLoRA: 4-bit base + LoRA.</a:t>
            </a:r>
            <a:endParaRPr lang="en-US" sz="900" dirty="0"/>
          </a:p>
        </p:txBody>
      </p:sp>
      <p:sp>
        <p:nvSpPr>
          <p:cNvPr id="8" name="Shape 6"/>
          <p:cNvSpPr/>
          <p:nvPr/>
        </p:nvSpPr>
        <p:spPr>
          <a:xfrm>
            <a:off x="457200" y="2331720"/>
            <a:ext cx="4023360" cy="1051560"/>
          </a:xfrm>
          <a:prstGeom prst="rect">
            <a:avLst/>
          </a:prstGeom>
          <a:solidFill>
            <a:srgbClr val="161B2E"/>
          </a:solidFill>
          <a:ln/>
        </p:spPr>
      </p:sp>
      <p:sp>
        <p:nvSpPr>
          <p:cNvPr id="9" name="Shape 7"/>
          <p:cNvSpPr/>
          <p:nvPr/>
        </p:nvSpPr>
        <p:spPr>
          <a:xfrm>
            <a:off x="457200" y="2331720"/>
            <a:ext cx="45720" cy="1051560"/>
          </a:xfrm>
          <a:prstGeom prst="rect">
            <a:avLst/>
          </a:prstGeom>
          <a:solidFill>
            <a:srgbClr val="3B82F6"/>
          </a:solidFill>
          <a:ln/>
        </p:spPr>
      </p:sp>
      <p:sp>
        <p:nvSpPr>
          <p:cNvPr id="10" name="Text 8"/>
          <p:cNvSpPr/>
          <p:nvPr/>
        </p:nvSpPr>
        <p:spPr>
          <a:xfrm>
            <a:off x="640080" y="2386584"/>
            <a:ext cx="3657600" cy="228600"/>
          </a:xfrm>
          <a:prstGeom prst="rect">
            <a:avLst/>
          </a:prstGeom>
          <a:noFill/>
          <a:ln/>
        </p:spPr>
        <p:txBody>
          <a:bodyPr wrap="square" lIns="0" tIns="0" rIns="0" bIns="0" rtlCol="0" anchor="ctr"/>
          <a:lstStyle/>
          <a:p>
            <a:pPr indent="0" marL="0">
              <a:buNone/>
            </a:pPr>
            <a:r>
              <a:rPr lang="en-US" sz="1200" b="1" dirty="0">
                <a:solidFill>
                  <a:srgbClr val="3B82F6"/>
                </a:solidFill>
                <a:latin typeface="Trebuchet MS" pitchFamily="34" charset="0"/>
                <a:ea typeface="Trebuchet MS" pitchFamily="34" charset="-122"/>
                <a:cs typeface="Trebuchet MS" pitchFamily="34" charset="-120"/>
              </a:rPr>
              <a:t>FSDP / DeepSpeed ZeRO</a:t>
            </a:r>
            <a:endParaRPr lang="en-US" sz="1200" dirty="0"/>
          </a:p>
        </p:txBody>
      </p:sp>
      <p:sp>
        <p:nvSpPr>
          <p:cNvPr id="11" name="Text 9"/>
          <p:cNvSpPr/>
          <p:nvPr/>
        </p:nvSpPr>
        <p:spPr>
          <a:xfrm>
            <a:off x="640080" y="2651760"/>
            <a:ext cx="3657600" cy="640080"/>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Fully Sharded Data Parallel: partition model weights, gradients, optimizer states across GPUs. ZeRO stages 1-3 progressively shard more. Enable training models larger than single-GPU memory.</a:t>
            </a:r>
            <a:endParaRPr lang="en-US" sz="900" dirty="0"/>
          </a:p>
        </p:txBody>
      </p:sp>
      <p:sp>
        <p:nvSpPr>
          <p:cNvPr id="12" name="Shape 10"/>
          <p:cNvSpPr/>
          <p:nvPr/>
        </p:nvSpPr>
        <p:spPr>
          <a:xfrm>
            <a:off x="457200" y="3566160"/>
            <a:ext cx="4023360" cy="1051560"/>
          </a:xfrm>
          <a:prstGeom prst="rect">
            <a:avLst/>
          </a:prstGeom>
          <a:solidFill>
            <a:srgbClr val="161B2E"/>
          </a:solidFill>
          <a:ln/>
        </p:spPr>
      </p:sp>
      <p:sp>
        <p:nvSpPr>
          <p:cNvPr id="13" name="Shape 11"/>
          <p:cNvSpPr/>
          <p:nvPr/>
        </p:nvSpPr>
        <p:spPr>
          <a:xfrm>
            <a:off x="457200" y="3566160"/>
            <a:ext cx="45720" cy="1051560"/>
          </a:xfrm>
          <a:prstGeom prst="rect">
            <a:avLst/>
          </a:prstGeom>
          <a:solidFill>
            <a:srgbClr val="06B6D4"/>
          </a:solidFill>
          <a:ln/>
        </p:spPr>
      </p:sp>
      <p:sp>
        <p:nvSpPr>
          <p:cNvPr id="14" name="Text 12"/>
          <p:cNvSpPr/>
          <p:nvPr/>
        </p:nvSpPr>
        <p:spPr>
          <a:xfrm>
            <a:off x="640080" y="3621024"/>
            <a:ext cx="3657600" cy="228600"/>
          </a:xfrm>
          <a:prstGeom prst="rect">
            <a:avLst/>
          </a:prstGeom>
          <a:noFill/>
          <a:ln/>
        </p:spPr>
        <p:txBody>
          <a:bodyPr wrap="square" lIns="0" tIns="0" rIns="0" bIns="0" rtlCol="0" anchor="ctr"/>
          <a:lstStyle/>
          <a:p>
            <a:pPr indent="0" marL="0">
              <a:buNone/>
            </a:pPr>
            <a:r>
              <a:rPr lang="en-US" sz="1200" b="1" dirty="0">
                <a:solidFill>
                  <a:srgbClr val="06B6D4"/>
                </a:solidFill>
                <a:latin typeface="Trebuchet MS" pitchFamily="34" charset="0"/>
                <a:ea typeface="Trebuchet MS" pitchFamily="34" charset="-122"/>
                <a:cs typeface="Trebuchet MS" pitchFamily="34" charset="-120"/>
              </a:rPr>
              <a:t>Gradient Checkpointing</a:t>
            </a:r>
            <a:endParaRPr lang="en-US" sz="1200" dirty="0"/>
          </a:p>
        </p:txBody>
      </p:sp>
      <p:sp>
        <p:nvSpPr>
          <p:cNvPr id="15" name="Text 13"/>
          <p:cNvSpPr/>
          <p:nvPr/>
        </p:nvSpPr>
        <p:spPr>
          <a:xfrm>
            <a:off x="640080" y="3886200"/>
            <a:ext cx="3657600" cy="640080"/>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Trade compute for memory: don't store all activations during forward pass. Recompute them during backward pass. Reduces memory from O(L) to O(√L) layers at ~33% compute overhead.</a:t>
            </a:r>
            <a:endParaRPr lang="en-US" sz="900" dirty="0"/>
          </a:p>
        </p:txBody>
      </p:sp>
      <p:sp>
        <p:nvSpPr>
          <p:cNvPr id="16" name="Shape 14"/>
          <p:cNvSpPr/>
          <p:nvPr/>
        </p:nvSpPr>
        <p:spPr>
          <a:xfrm>
            <a:off x="4754880" y="1097280"/>
            <a:ext cx="4023360" cy="1051560"/>
          </a:xfrm>
          <a:prstGeom prst="rect">
            <a:avLst/>
          </a:prstGeom>
          <a:solidFill>
            <a:srgbClr val="161B2E"/>
          </a:solidFill>
          <a:ln/>
        </p:spPr>
      </p:sp>
      <p:sp>
        <p:nvSpPr>
          <p:cNvPr id="17" name="Shape 15"/>
          <p:cNvSpPr/>
          <p:nvPr/>
        </p:nvSpPr>
        <p:spPr>
          <a:xfrm>
            <a:off x="4754880" y="1097280"/>
            <a:ext cx="45720" cy="1051560"/>
          </a:xfrm>
          <a:prstGeom prst="rect">
            <a:avLst/>
          </a:prstGeom>
          <a:solidFill>
            <a:srgbClr val="14B8A6"/>
          </a:solidFill>
          <a:ln/>
        </p:spPr>
      </p:sp>
      <p:sp>
        <p:nvSpPr>
          <p:cNvPr id="18" name="Text 16"/>
          <p:cNvSpPr/>
          <p:nvPr/>
        </p:nvSpPr>
        <p:spPr>
          <a:xfrm>
            <a:off x="4937760" y="1152144"/>
            <a:ext cx="3657600" cy="228600"/>
          </a:xfrm>
          <a:prstGeom prst="rect">
            <a:avLst/>
          </a:prstGeom>
          <a:noFill/>
          <a:ln/>
        </p:spPr>
        <p:txBody>
          <a:bodyPr wrap="square" lIns="0" tIns="0" rIns="0" bIns="0" rtlCol="0" anchor="ctr"/>
          <a:lstStyle/>
          <a:p>
            <a:pPr indent="0" marL="0">
              <a:buNone/>
            </a:pPr>
            <a:r>
              <a:rPr lang="en-US" sz="1200" b="1" dirty="0">
                <a:solidFill>
                  <a:srgbClr val="14B8A6"/>
                </a:solidFill>
                <a:latin typeface="Trebuchet MS" pitchFamily="34" charset="0"/>
                <a:ea typeface="Trebuchet MS" pitchFamily="34" charset="-122"/>
                <a:cs typeface="Trebuchet MS" pitchFamily="34" charset="-120"/>
              </a:rPr>
              <a:t>Mixed Precision (BF16/FP8)</a:t>
            </a:r>
            <a:endParaRPr lang="en-US" sz="1200" dirty="0"/>
          </a:p>
        </p:txBody>
      </p:sp>
      <p:sp>
        <p:nvSpPr>
          <p:cNvPr id="19" name="Text 17"/>
          <p:cNvSpPr/>
          <p:nvPr/>
        </p:nvSpPr>
        <p:spPr>
          <a:xfrm>
            <a:off x="4937760" y="1417320"/>
            <a:ext cx="3657600" cy="640080"/>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BFloat16: maintain dynamic range with reduced precision. FP8 (E4M3/E5M2): H100 native support, 2x throughput over BF16. Master weights in FP32, compute in low precision. Loss scaling for stability.</a:t>
            </a:r>
            <a:endParaRPr lang="en-US" sz="900" dirty="0"/>
          </a:p>
        </p:txBody>
      </p:sp>
      <p:sp>
        <p:nvSpPr>
          <p:cNvPr id="20" name="Shape 18"/>
          <p:cNvSpPr/>
          <p:nvPr/>
        </p:nvSpPr>
        <p:spPr>
          <a:xfrm>
            <a:off x="4754880" y="2331720"/>
            <a:ext cx="4023360" cy="1051560"/>
          </a:xfrm>
          <a:prstGeom prst="rect">
            <a:avLst/>
          </a:prstGeom>
          <a:solidFill>
            <a:srgbClr val="161B2E"/>
          </a:solidFill>
          <a:ln/>
        </p:spPr>
      </p:sp>
      <p:sp>
        <p:nvSpPr>
          <p:cNvPr id="21" name="Shape 19"/>
          <p:cNvSpPr/>
          <p:nvPr/>
        </p:nvSpPr>
        <p:spPr>
          <a:xfrm>
            <a:off x="4754880" y="2331720"/>
            <a:ext cx="45720" cy="1051560"/>
          </a:xfrm>
          <a:prstGeom prst="rect">
            <a:avLst/>
          </a:prstGeom>
          <a:solidFill>
            <a:srgbClr val="10B981"/>
          </a:solidFill>
          <a:ln/>
        </p:spPr>
      </p:sp>
      <p:sp>
        <p:nvSpPr>
          <p:cNvPr id="22" name="Text 20"/>
          <p:cNvSpPr/>
          <p:nvPr/>
        </p:nvSpPr>
        <p:spPr>
          <a:xfrm>
            <a:off x="4937760" y="2386584"/>
            <a:ext cx="3657600" cy="228600"/>
          </a:xfrm>
          <a:prstGeom prst="rect">
            <a:avLst/>
          </a:prstGeom>
          <a:noFill/>
          <a:ln/>
        </p:spPr>
        <p:txBody>
          <a:bodyPr wrap="square" lIns="0" tIns="0" rIns="0" bIns="0" rtlCol="0" anchor="ctr"/>
          <a:lstStyle/>
          <a:p>
            <a:pPr indent="0" marL="0">
              <a:buNone/>
            </a:pPr>
            <a:r>
              <a:rPr lang="en-US" sz="1200" b="1" dirty="0">
                <a:solidFill>
                  <a:srgbClr val="10B981"/>
                </a:solidFill>
                <a:latin typeface="Trebuchet MS" pitchFamily="34" charset="0"/>
                <a:ea typeface="Trebuchet MS" pitchFamily="34" charset="-122"/>
                <a:cs typeface="Trebuchet MS" pitchFamily="34" charset="-120"/>
              </a:rPr>
              <a:t>Sequence Parallelism</a:t>
            </a:r>
            <a:endParaRPr lang="en-US" sz="1200" dirty="0"/>
          </a:p>
        </p:txBody>
      </p:sp>
      <p:sp>
        <p:nvSpPr>
          <p:cNvPr id="23" name="Text 21"/>
          <p:cNvSpPr/>
          <p:nvPr/>
        </p:nvSpPr>
        <p:spPr>
          <a:xfrm>
            <a:off x="4937760" y="2651760"/>
            <a:ext cx="3657600" cy="640080"/>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Distribute sequence dimension across devices (complement to tensor parallelism). Ulysses: shard attention heads across sequence dim. DeepSpeed-Ulysses enables million-token training.</a:t>
            </a:r>
            <a:endParaRPr lang="en-US" sz="900" dirty="0"/>
          </a:p>
        </p:txBody>
      </p:sp>
      <p:sp>
        <p:nvSpPr>
          <p:cNvPr id="24" name="Shape 22"/>
          <p:cNvSpPr/>
          <p:nvPr/>
        </p:nvSpPr>
        <p:spPr>
          <a:xfrm>
            <a:off x="4754880" y="3566160"/>
            <a:ext cx="4023360" cy="1051560"/>
          </a:xfrm>
          <a:prstGeom prst="rect">
            <a:avLst/>
          </a:prstGeom>
          <a:solidFill>
            <a:srgbClr val="161B2E"/>
          </a:solidFill>
          <a:ln/>
        </p:spPr>
      </p:sp>
      <p:sp>
        <p:nvSpPr>
          <p:cNvPr id="25" name="Shape 23"/>
          <p:cNvSpPr/>
          <p:nvPr/>
        </p:nvSpPr>
        <p:spPr>
          <a:xfrm>
            <a:off x="4754880" y="3566160"/>
            <a:ext cx="45720" cy="1051560"/>
          </a:xfrm>
          <a:prstGeom prst="rect">
            <a:avLst/>
          </a:prstGeom>
          <a:solidFill>
            <a:srgbClr val="F59E0B"/>
          </a:solidFill>
          <a:ln/>
        </p:spPr>
      </p:sp>
      <p:sp>
        <p:nvSpPr>
          <p:cNvPr id="26" name="Text 24"/>
          <p:cNvSpPr/>
          <p:nvPr/>
        </p:nvSpPr>
        <p:spPr>
          <a:xfrm>
            <a:off x="4937760" y="3621024"/>
            <a:ext cx="3657600" cy="228600"/>
          </a:xfrm>
          <a:prstGeom prst="rect">
            <a:avLst/>
          </a:prstGeom>
          <a:noFill/>
          <a:ln/>
        </p:spPr>
        <p:txBody>
          <a:bodyPr wrap="square" lIns="0" tIns="0" rIns="0" bIns="0" rtlCol="0" anchor="ctr"/>
          <a:lstStyle/>
          <a:p>
            <a:pPr indent="0" marL="0">
              <a:buNone/>
            </a:pPr>
            <a:r>
              <a:rPr lang="en-US" sz="1200" b="1" dirty="0">
                <a:solidFill>
                  <a:srgbClr val="F59E0B"/>
                </a:solidFill>
                <a:latin typeface="Trebuchet MS" pitchFamily="34" charset="0"/>
                <a:ea typeface="Trebuchet MS" pitchFamily="34" charset="-122"/>
                <a:cs typeface="Trebuchet MS" pitchFamily="34" charset="-120"/>
              </a:rPr>
              <a:t>Curriculum &amp; Data Mixing</a:t>
            </a:r>
            <a:endParaRPr lang="en-US" sz="1200" dirty="0"/>
          </a:p>
        </p:txBody>
      </p:sp>
      <p:sp>
        <p:nvSpPr>
          <p:cNvPr id="27" name="Text 25"/>
          <p:cNvSpPr/>
          <p:nvPr/>
        </p:nvSpPr>
        <p:spPr>
          <a:xfrm>
            <a:off x="4937760" y="3886200"/>
            <a:ext cx="3657600" cy="640080"/>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Progressive training: start with short sequences, gradually increase length. Data mixing recipes: proportion of code, math, web, books matters enormously. Chinchilla scaling: 20 tokens per parameter optimal.</a:t>
            </a:r>
            <a:endParaRPr lang="en-US" sz="900" dirty="0"/>
          </a:p>
        </p:txBody>
      </p:sp>
      <p:sp>
        <p:nvSpPr>
          <p:cNvPr id="28" name="Text 26"/>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29 / 30</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7C3AED"/>
          </a:solidFill>
          <a:ln/>
        </p:spPr>
      </p:sp>
      <p:sp>
        <p:nvSpPr>
          <p:cNvPr id="3" name="Text 1"/>
          <p:cNvSpPr/>
          <p:nvPr/>
        </p:nvSpPr>
        <p:spPr>
          <a:xfrm>
            <a:off x="457200" y="274320"/>
            <a:ext cx="8229600" cy="50292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Key Takeaways</a:t>
            </a:r>
            <a:endParaRPr lang="en-US" sz="2800" dirty="0"/>
          </a:p>
        </p:txBody>
      </p:sp>
      <p:sp>
        <p:nvSpPr>
          <p:cNvPr id="4" name="Shape 2"/>
          <p:cNvSpPr/>
          <p:nvPr/>
        </p:nvSpPr>
        <p:spPr>
          <a:xfrm>
            <a:off x="457200" y="914400"/>
            <a:ext cx="8229600" cy="502920"/>
          </a:xfrm>
          <a:prstGeom prst="rect">
            <a:avLst/>
          </a:prstGeom>
          <a:solidFill>
            <a:srgbClr val="161B2E"/>
          </a:solidFill>
          <a:ln/>
        </p:spPr>
      </p:sp>
      <p:sp>
        <p:nvSpPr>
          <p:cNvPr id="5" name="Shape 3"/>
          <p:cNvSpPr/>
          <p:nvPr/>
        </p:nvSpPr>
        <p:spPr>
          <a:xfrm>
            <a:off x="457200" y="914400"/>
            <a:ext cx="45720" cy="502920"/>
          </a:xfrm>
          <a:prstGeom prst="rect">
            <a:avLst/>
          </a:prstGeom>
          <a:solidFill>
            <a:srgbClr val="7C3AED"/>
          </a:solidFill>
          <a:ln/>
        </p:spPr>
      </p:sp>
      <p:pic>
        <p:nvPicPr>
          <p:cNvPr id="6" name="Image 0" descr="preencoded.png">    </p:cNvPr>
          <p:cNvPicPr>
            <a:picLocks noChangeAspect="1"/>
          </p:cNvPicPr>
          <p:nvPr/>
        </p:nvPicPr>
        <p:blipFill>
          <a:blip r:embed="rId1"/>
          <a:stretch>
            <a:fillRect/>
          </a:stretch>
        </p:blipFill>
        <p:spPr>
          <a:xfrm>
            <a:off x="685800" y="1005840"/>
            <a:ext cx="274320" cy="274320"/>
          </a:xfrm>
          <a:prstGeom prst="rect">
            <a:avLst/>
          </a:prstGeom>
        </p:spPr>
      </p:pic>
      <p:sp>
        <p:nvSpPr>
          <p:cNvPr id="7" name="Text 4"/>
          <p:cNvSpPr/>
          <p:nvPr/>
        </p:nvSpPr>
        <p:spPr>
          <a:xfrm>
            <a:off x="1097280" y="941832"/>
            <a:ext cx="7315200" cy="438912"/>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Attention IS the transformer — self-attention, cross-attention, causal masking, and their efficient variants (GQA, Flash, Linear) are the mathematical core</a:t>
            </a:r>
            <a:endParaRPr lang="en-US" sz="1050" dirty="0"/>
          </a:p>
        </p:txBody>
      </p:sp>
      <p:sp>
        <p:nvSpPr>
          <p:cNvPr id="8" name="Shape 5"/>
          <p:cNvSpPr/>
          <p:nvPr/>
        </p:nvSpPr>
        <p:spPr>
          <a:xfrm>
            <a:off x="457200" y="1554480"/>
            <a:ext cx="8229600" cy="502920"/>
          </a:xfrm>
          <a:prstGeom prst="rect">
            <a:avLst/>
          </a:prstGeom>
          <a:solidFill>
            <a:srgbClr val="161B2E"/>
          </a:solidFill>
          <a:ln/>
        </p:spPr>
      </p:sp>
      <p:sp>
        <p:nvSpPr>
          <p:cNvPr id="9" name="Shape 6"/>
          <p:cNvSpPr/>
          <p:nvPr/>
        </p:nvSpPr>
        <p:spPr>
          <a:xfrm>
            <a:off x="457200" y="1554480"/>
            <a:ext cx="45720" cy="502920"/>
          </a:xfrm>
          <a:prstGeom prst="rect">
            <a:avLst/>
          </a:prstGeom>
          <a:solidFill>
            <a:srgbClr val="6366F1"/>
          </a:solidFill>
          <a:ln/>
        </p:spPr>
      </p:sp>
      <p:pic>
        <p:nvPicPr>
          <p:cNvPr id="10" name="Image 1" descr="preencoded.png">    </p:cNvPr>
          <p:cNvPicPr>
            <a:picLocks noChangeAspect="1"/>
          </p:cNvPicPr>
          <p:nvPr/>
        </p:nvPicPr>
        <p:blipFill>
          <a:blip r:embed="rId2"/>
          <a:stretch>
            <a:fillRect/>
          </a:stretch>
        </p:blipFill>
        <p:spPr>
          <a:xfrm>
            <a:off x="685800" y="1645920"/>
            <a:ext cx="274320" cy="274320"/>
          </a:xfrm>
          <a:prstGeom prst="rect">
            <a:avLst/>
          </a:prstGeom>
        </p:spPr>
      </p:pic>
      <p:sp>
        <p:nvSpPr>
          <p:cNvPr id="11" name="Text 7"/>
          <p:cNvSpPr/>
          <p:nvPr/>
        </p:nvSpPr>
        <p:spPr>
          <a:xfrm>
            <a:off x="1097280" y="1581912"/>
            <a:ext cx="7315200" cy="438912"/>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Architecture choice matters — encoder-only (BERT) for understanding, decoder-only (GPT/LLaMA) for generation, encoder-decoder (T5) for conditional generation</a:t>
            </a:r>
            <a:endParaRPr lang="en-US" sz="1050" dirty="0"/>
          </a:p>
        </p:txBody>
      </p:sp>
      <p:sp>
        <p:nvSpPr>
          <p:cNvPr id="12" name="Shape 8"/>
          <p:cNvSpPr/>
          <p:nvPr/>
        </p:nvSpPr>
        <p:spPr>
          <a:xfrm>
            <a:off x="457200" y="2194560"/>
            <a:ext cx="8229600" cy="502920"/>
          </a:xfrm>
          <a:prstGeom prst="rect">
            <a:avLst/>
          </a:prstGeom>
          <a:solidFill>
            <a:srgbClr val="161B2E"/>
          </a:solidFill>
          <a:ln/>
        </p:spPr>
      </p:sp>
      <p:sp>
        <p:nvSpPr>
          <p:cNvPr id="13" name="Shape 9"/>
          <p:cNvSpPr/>
          <p:nvPr/>
        </p:nvSpPr>
        <p:spPr>
          <a:xfrm>
            <a:off x="457200" y="2194560"/>
            <a:ext cx="45720" cy="502920"/>
          </a:xfrm>
          <a:prstGeom prst="rect">
            <a:avLst/>
          </a:prstGeom>
          <a:solidFill>
            <a:srgbClr val="3B82F6"/>
          </a:solidFill>
          <a:ln/>
        </p:spPr>
      </p:sp>
      <p:pic>
        <p:nvPicPr>
          <p:cNvPr id="14" name="Image 2" descr="preencoded.png">    </p:cNvPr>
          <p:cNvPicPr>
            <a:picLocks noChangeAspect="1"/>
          </p:cNvPicPr>
          <p:nvPr/>
        </p:nvPicPr>
        <p:blipFill>
          <a:blip r:embed="rId3"/>
          <a:stretch>
            <a:fillRect/>
          </a:stretch>
        </p:blipFill>
        <p:spPr>
          <a:xfrm>
            <a:off x="685800" y="2286000"/>
            <a:ext cx="274320" cy="274320"/>
          </a:xfrm>
          <a:prstGeom prst="rect">
            <a:avLst/>
          </a:prstGeom>
        </p:spPr>
      </p:pic>
      <p:sp>
        <p:nvSpPr>
          <p:cNvPr id="15" name="Text 10"/>
          <p:cNvSpPr/>
          <p:nvPr/>
        </p:nvSpPr>
        <p:spPr>
          <a:xfrm>
            <a:off x="1097280" y="2221992"/>
            <a:ext cx="7315200" cy="438912"/>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Efficiency innovations unlock scale — Flash Attention, GQA, KV-cache optimization, and MoE enable training and serving models with trillions of parameters</a:t>
            </a:r>
            <a:endParaRPr lang="en-US" sz="1050" dirty="0"/>
          </a:p>
        </p:txBody>
      </p:sp>
      <p:sp>
        <p:nvSpPr>
          <p:cNvPr id="16" name="Shape 11"/>
          <p:cNvSpPr/>
          <p:nvPr/>
        </p:nvSpPr>
        <p:spPr>
          <a:xfrm>
            <a:off x="457200" y="2834640"/>
            <a:ext cx="8229600" cy="502920"/>
          </a:xfrm>
          <a:prstGeom prst="rect">
            <a:avLst/>
          </a:prstGeom>
          <a:solidFill>
            <a:srgbClr val="161B2E"/>
          </a:solidFill>
          <a:ln/>
        </p:spPr>
      </p:sp>
      <p:sp>
        <p:nvSpPr>
          <p:cNvPr id="17" name="Shape 12"/>
          <p:cNvSpPr/>
          <p:nvPr/>
        </p:nvSpPr>
        <p:spPr>
          <a:xfrm>
            <a:off x="457200" y="2834640"/>
            <a:ext cx="45720" cy="502920"/>
          </a:xfrm>
          <a:prstGeom prst="rect">
            <a:avLst/>
          </a:prstGeom>
          <a:solidFill>
            <a:srgbClr val="06B6D4"/>
          </a:solidFill>
          <a:ln/>
        </p:spPr>
      </p:sp>
      <p:pic>
        <p:nvPicPr>
          <p:cNvPr id="18" name="Image 3" descr="preencoded.png">    </p:cNvPr>
          <p:cNvPicPr>
            <a:picLocks noChangeAspect="1"/>
          </p:cNvPicPr>
          <p:nvPr/>
        </p:nvPicPr>
        <p:blipFill>
          <a:blip r:embed="rId4"/>
          <a:stretch>
            <a:fillRect/>
          </a:stretch>
        </p:blipFill>
        <p:spPr>
          <a:xfrm>
            <a:off x="685800" y="2926080"/>
            <a:ext cx="274320" cy="274320"/>
          </a:xfrm>
          <a:prstGeom prst="rect">
            <a:avLst/>
          </a:prstGeom>
        </p:spPr>
      </p:pic>
      <p:sp>
        <p:nvSpPr>
          <p:cNvPr id="19" name="Text 13"/>
          <p:cNvSpPr/>
          <p:nvPr/>
        </p:nvSpPr>
        <p:spPr>
          <a:xfrm>
            <a:off x="1097280" y="2862072"/>
            <a:ext cx="7315200" cy="438912"/>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Positional encoding is a design choice — from fixed sinusoidal to learned absolute to RoPE to ALiBi, each has different length generalization properties</a:t>
            </a:r>
            <a:endParaRPr lang="en-US" sz="1050" dirty="0"/>
          </a:p>
        </p:txBody>
      </p:sp>
      <p:sp>
        <p:nvSpPr>
          <p:cNvPr id="20" name="Shape 14"/>
          <p:cNvSpPr/>
          <p:nvPr/>
        </p:nvSpPr>
        <p:spPr>
          <a:xfrm>
            <a:off x="457200" y="3474720"/>
            <a:ext cx="8229600" cy="502920"/>
          </a:xfrm>
          <a:prstGeom prst="rect">
            <a:avLst/>
          </a:prstGeom>
          <a:solidFill>
            <a:srgbClr val="161B2E"/>
          </a:solidFill>
          <a:ln/>
        </p:spPr>
      </p:sp>
      <p:sp>
        <p:nvSpPr>
          <p:cNvPr id="21" name="Shape 15"/>
          <p:cNvSpPr/>
          <p:nvPr/>
        </p:nvSpPr>
        <p:spPr>
          <a:xfrm>
            <a:off x="457200" y="3474720"/>
            <a:ext cx="45720" cy="502920"/>
          </a:xfrm>
          <a:prstGeom prst="rect">
            <a:avLst/>
          </a:prstGeom>
          <a:solidFill>
            <a:srgbClr val="14B8A6"/>
          </a:solidFill>
          <a:ln/>
        </p:spPr>
      </p:sp>
      <p:pic>
        <p:nvPicPr>
          <p:cNvPr id="22" name="Image 4" descr="preencoded.png">    </p:cNvPr>
          <p:cNvPicPr>
            <a:picLocks noChangeAspect="1"/>
          </p:cNvPicPr>
          <p:nvPr/>
        </p:nvPicPr>
        <p:blipFill>
          <a:blip r:embed="rId5"/>
          <a:stretch>
            <a:fillRect/>
          </a:stretch>
        </p:blipFill>
        <p:spPr>
          <a:xfrm>
            <a:off x="685800" y="3566160"/>
            <a:ext cx="274320" cy="274320"/>
          </a:xfrm>
          <a:prstGeom prst="rect">
            <a:avLst/>
          </a:prstGeom>
        </p:spPr>
      </p:pic>
      <p:sp>
        <p:nvSpPr>
          <p:cNvPr id="23" name="Text 16"/>
          <p:cNvSpPr/>
          <p:nvPr/>
        </p:nvSpPr>
        <p:spPr>
          <a:xfrm>
            <a:off x="1097280" y="3502152"/>
            <a:ext cx="7315200" cy="438912"/>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State-Space Models are viable alternatives — Mamba, RWKV, and hybrids (Jamba) offer O(n) training with O(1) inference, challenging attention's dominance</a:t>
            </a:r>
            <a:endParaRPr lang="en-US" sz="1050" dirty="0"/>
          </a:p>
        </p:txBody>
      </p:sp>
      <p:sp>
        <p:nvSpPr>
          <p:cNvPr id="24" name="Shape 17"/>
          <p:cNvSpPr/>
          <p:nvPr/>
        </p:nvSpPr>
        <p:spPr>
          <a:xfrm>
            <a:off x="457200" y="4114800"/>
            <a:ext cx="8229600" cy="502920"/>
          </a:xfrm>
          <a:prstGeom prst="rect">
            <a:avLst/>
          </a:prstGeom>
          <a:solidFill>
            <a:srgbClr val="161B2E"/>
          </a:solidFill>
          <a:ln/>
        </p:spPr>
      </p:sp>
      <p:sp>
        <p:nvSpPr>
          <p:cNvPr id="25" name="Shape 18"/>
          <p:cNvSpPr/>
          <p:nvPr/>
        </p:nvSpPr>
        <p:spPr>
          <a:xfrm>
            <a:off x="457200" y="4114800"/>
            <a:ext cx="45720" cy="502920"/>
          </a:xfrm>
          <a:prstGeom prst="rect">
            <a:avLst/>
          </a:prstGeom>
          <a:solidFill>
            <a:srgbClr val="10B981"/>
          </a:solidFill>
          <a:ln/>
        </p:spPr>
      </p:sp>
      <p:pic>
        <p:nvPicPr>
          <p:cNvPr id="26" name="Image 5" descr="preencoded.png">    </p:cNvPr>
          <p:cNvPicPr>
            <a:picLocks noChangeAspect="1"/>
          </p:cNvPicPr>
          <p:nvPr/>
        </p:nvPicPr>
        <p:blipFill>
          <a:blip r:embed="rId6"/>
          <a:stretch>
            <a:fillRect/>
          </a:stretch>
        </p:blipFill>
        <p:spPr>
          <a:xfrm>
            <a:off x="685800" y="4206240"/>
            <a:ext cx="274320" cy="274320"/>
          </a:xfrm>
          <a:prstGeom prst="rect">
            <a:avLst/>
          </a:prstGeom>
        </p:spPr>
      </p:pic>
      <p:sp>
        <p:nvSpPr>
          <p:cNvPr id="27" name="Text 19"/>
          <p:cNvSpPr/>
          <p:nvPr/>
        </p:nvSpPr>
        <p:spPr>
          <a:xfrm>
            <a:off x="1097280" y="4142232"/>
            <a:ext cx="7315200" cy="438912"/>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The field is converging — modern LLMs share a common recipe: RoPE + GQA + SwiGLU + RMSNorm + Flash Attention + Pre-Norm, differing mainly in scale and data</a:t>
            </a:r>
            <a:endParaRPr lang="en-US" sz="1050" dirty="0"/>
          </a:p>
        </p:txBody>
      </p:sp>
      <p:sp>
        <p:nvSpPr>
          <p:cNvPr id="28" name="Shape 20"/>
          <p:cNvSpPr/>
          <p:nvPr/>
        </p:nvSpPr>
        <p:spPr>
          <a:xfrm>
            <a:off x="2286000" y="4617720"/>
            <a:ext cx="4572000" cy="411480"/>
          </a:xfrm>
          <a:prstGeom prst="rect">
            <a:avLst/>
          </a:prstGeom>
          <a:solidFill>
            <a:srgbClr val="7C3AED">
              <a:alpha val="20000"/>
            </a:srgbClr>
          </a:solidFill>
          <a:ln w="12700">
            <a:solidFill>
              <a:srgbClr val="7C3AED"/>
            </a:solidFill>
            <a:prstDash val="solid"/>
          </a:ln>
        </p:spPr>
      </p:sp>
      <p:sp>
        <p:nvSpPr>
          <p:cNvPr id="29" name="Text 21"/>
          <p:cNvSpPr/>
          <p:nvPr/>
        </p:nvSpPr>
        <p:spPr>
          <a:xfrm>
            <a:off x="2286000" y="4617720"/>
            <a:ext cx="4572000" cy="411480"/>
          </a:xfrm>
          <a:prstGeom prst="rect">
            <a:avLst/>
          </a:prstGeom>
          <a:noFill/>
          <a:ln/>
        </p:spPr>
        <p:txBody>
          <a:bodyPr wrap="square" lIns="0" tIns="0" rIns="0" bIns="0" rtlCol="0" anchor="ctr"/>
          <a:lstStyle/>
          <a:p>
            <a:pPr algn="ctr" indent="0" marL="0">
              <a:buNone/>
            </a:pPr>
            <a:r>
              <a:rPr lang="en-US" sz="1200" b="1" dirty="0">
                <a:solidFill>
                  <a:srgbClr val="7C3AED"/>
                </a:solidFill>
                <a:latin typeface="Trebuchet MS" pitchFamily="34" charset="0"/>
                <a:ea typeface="Trebuchet MS" pitchFamily="34" charset="-122"/>
                <a:cs typeface="Trebuchet MS" pitchFamily="34" charset="-120"/>
              </a:rPr>
              <a:t>Attention is all you need — and all you need to optimize</a:t>
            </a:r>
            <a:endParaRPr lang="en-US" sz="1200" dirty="0"/>
          </a:p>
        </p:txBody>
      </p:sp>
      <p:sp>
        <p:nvSpPr>
          <p:cNvPr id="30" name="Text 22"/>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30 / 30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Transformers &amp; Attention Mechanisms — Complete Deep Dive</dc:title>
  <dc:subject>PptxGenJS Presentation</dc:subject>
  <dc:creator>Jitendra</dc:creator>
  <cp:lastModifiedBy>Jitendra</cp:lastModifiedBy>
  <cp:revision>1</cp:revision>
  <dcterms:created xsi:type="dcterms:W3CDTF">2026-04-18T09:32:51Z</dcterms:created>
  <dcterms:modified xsi:type="dcterms:W3CDTF">2026-04-18T09:32:51Z</dcterms:modified>
</cp:coreProperties>
</file>