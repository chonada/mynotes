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Latency</c:v>
                </c:pt>
              </c:strCache>
            </c:strRef>
          </c:tx>
          <c:spPr>
            <a:solidFill>
              <a:srgbClr val="00D4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Reflection</c:v>
                  </c:pt>
                  <c:pt idx="1">
                    <c:v>ReAct</c:v>
                  </c:pt>
                  <c:pt idx="2">
                    <c:v>REWOO</c:v>
                  </c:pt>
                  <c:pt idx="3">
                    <c:v>Plan&amp;Exec</c:v>
                  </c:pt>
                  <c:pt idx="4">
                    <c:v>Tool Use</c:v>
                  </c:pt>
                  <c:pt idx="5">
                    <c:v>Multi-Agent</c:v>
                  </c:pt>
                  <c:pt idx="6">
                    <c:v>LLMCompiler</c:v>
                  </c:pt>
                </c:lvl>
              </c:multiLvlStrCache>
            </c:multiLvlStrRef>
          </c:cat>
          <c:val>
            <c:numRef>
              <c:f>Sheet1!$B$2:$B$8</c:f>
              <c:numCache>
                <c:formatCode>General</c:formatCode>
                <c:ptCount val="7"/>
                <c:pt idx="0">
                  <c:v>7</c:v>
                </c:pt>
                <c:pt idx="1">
                  <c:v>8</c:v>
                </c:pt>
                <c:pt idx="2">
                  <c:v>3</c:v>
                </c:pt>
                <c:pt idx="3">
                  <c:v>5</c:v>
                </c:pt>
                <c:pt idx="4">
                  <c:v>2</c:v>
                </c:pt>
                <c:pt idx="5">
                  <c:v>6</c:v>
                </c:pt>
                <c:pt idx="6">
                  <c:v>4</c:v>
                </c:pt>
              </c:numCache>
            </c:numRef>
          </c:val>
        </c:ser>
        <c:ser>
          <c:idx val="1"/>
          <c:order val="1"/>
          <c:tx>
            <c:strRef>
              <c:f>Sheet1!$C$1</c:f>
              <c:strCache>
                <c:ptCount val="1"/>
                <c:pt idx="0">
                  <c:v>Token Cost</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Reflection</c:v>
                  </c:pt>
                  <c:pt idx="1">
                    <c:v>ReAct</c:v>
                  </c:pt>
                  <c:pt idx="2">
                    <c:v>REWOO</c:v>
                  </c:pt>
                  <c:pt idx="3">
                    <c:v>Plan&amp;Exec</c:v>
                  </c:pt>
                  <c:pt idx="4">
                    <c:v>Tool Use</c:v>
                  </c:pt>
                  <c:pt idx="5">
                    <c:v>Multi-Agent</c:v>
                  </c:pt>
                  <c:pt idx="6">
                    <c:v>LLMCompiler</c:v>
                  </c:pt>
                </c:lvl>
              </c:multiLvlStrCache>
            </c:multiLvlStrRef>
          </c:cat>
          <c:val>
            <c:numRef>
              <c:f>Sheet1!$C$2:$C$8</c:f>
              <c:numCache>
                <c:formatCode>General</c:formatCode>
                <c:ptCount val="7"/>
                <c:pt idx="0">
                  <c:v>8</c:v>
                </c:pt>
                <c:pt idx="1">
                  <c:v>7</c:v>
                </c:pt>
                <c:pt idx="2">
                  <c:v>3</c:v>
                </c:pt>
                <c:pt idx="3">
                  <c:v>5</c:v>
                </c:pt>
                <c:pt idx="4">
                  <c:v>1</c:v>
                </c:pt>
                <c:pt idx="5">
                  <c:v>7</c:v>
                </c:pt>
                <c:pt idx="6">
                  <c:v>4</c:v>
                </c:pt>
              </c:numCache>
            </c:numRef>
          </c:val>
        </c:ser>
        <c:ser>
          <c:idx val="2"/>
          <c:order val="2"/>
          <c:tx>
            <c:strRef>
              <c:f>Sheet1!$D$1</c:f>
              <c:strCache>
                <c:ptCount val="1"/>
                <c:pt idx="0">
                  <c:v>Complexity</c:v>
                </c:pt>
              </c:strCache>
            </c:strRef>
          </c:tx>
          <c:spPr>
            <a:solidFill>
              <a:srgbClr val="7C3AE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Reflection</c:v>
                  </c:pt>
                  <c:pt idx="1">
                    <c:v>ReAct</c:v>
                  </c:pt>
                  <c:pt idx="2">
                    <c:v>REWOO</c:v>
                  </c:pt>
                  <c:pt idx="3">
                    <c:v>Plan&amp;Exec</c:v>
                  </c:pt>
                  <c:pt idx="4">
                    <c:v>Tool Use</c:v>
                  </c:pt>
                  <c:pt idx="5">
                    <c:v>Multi-Agent</c:v>
                  </c:pt>
                  <c:pt idx="6">
                    <c:v>LLMCompiler</c:v>
                  </c:pt>
                </c:lvl>
              </c:multiLvlStrCache>
            </c:multiLvlStrRef>
          </c:cat>
          <c:val>
            <c:numRef>
              <c:f>Sheet1!$D$2:$D$8</c:f>
              <c:numCache>
                <c:formatCode>General</c:formatCode>
                <c:ptCount val="7"/>
                <c:pt idx="0">
                  <c:v>4</c:v>
                </c:pt>
                <c:pt idx="1">
                  <c:v>5</c:v>
                </c:pt>
                <c:pt idx="2">
                  <c:v>6</c:v>
                </c:pt>
                <c:pt idx="3">
                  <c:v>7</c:v>
                </c:pt>
                <c:pt idx="4">
                  <c:v>2</c:v>
                </c:pt>
                <c:pt idx="5">
                  <c:v>9</c:v>
                </c:pt>
                <c:pt idx="6">
                  <c:v>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pic>
        <p:nvPicPr>
          <p:cNvPr id="3" name="Image 0" descr="preencoded.png">    </p:cNvPr>
          <p:cNvPicPr>
            <a:picLocks noChangeAspect="1"/>
          </p:cNvPicPr>
          <p:nvPr/>
        </p:nvPicPr>
        <p:blipFill>
          <a:blip r:embed="rId1"/>
          <a:stretch>
            <a:fillRect/>
          </a:stretch>
        </p:blipFill>
        <p:spPr>
          <a:xfrm>
            <a:off x="3931920" y="640080"/>
            <a:ext cx="1280160" cy="1280160"/>
          </a:xfrm>
          <a:prstGeom prst="rect">
            <a:avLst/>
          </a:prstGeom>
        </p:spPr>
      </p:pic>
      <p:sp>
        <p:nvSpPr>
          <p:cNvPr id="4" name="Text 1"/>
          <p:cNvSpPr/>
          <p:nvPr/>
        </p:nvSpPr>
        <p:spPr>
          <a:xfrm>
            <a:off x="457200" y="2011680"/>
            <a:ext cx="822960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Agentic AI Design Patterns</a:t>
            </a:r>
            <a:endParaRPr lang="en-US" sz="3800" dirty="0"/>
          </a:p>
        </p:txBody>
      </p:sp>
      <p:sp>
        <p:nvSpPr>
          <p:cNvPr id="5" name="Text 2"/>
          <p:cNvSpPr/>
          <p:nvPr/>
        </p:nvSpPr>
        <p:spPr>
          <a:xfrm>
            <a:off x="914400" y="2788920"/>
            <a:ext cx="7315200" cy="457200"/>
          </a:xfrm>
          <a:prstGeom prst="rect">
            <a:avLst/>
          </a:prstGeom>
          <a:noFill/>
          <a:ln/>
        </p:spPr>
        <p:txBody>
          <a:bodyPr wrap="square" lIns="0" tIns="0" rIns="0" bIns="0" rtlCol="0" anchor="ctr"/>
          <a:lstStyle/>
          <a:p>
            <a:pPr algn="ctr" indent="0" marL="0">
              <a:buNone/>
            </a:pPr>
            <a:r>
              <a:rPr lang="en-US" sz="1600" dirty="0">
                <a:solidFill>
                  <a:srgbClr val="00D4FF"/>
                </a:solidFill>
                <a:latin typeface="Calibri" pitchFamily="34" charset="0"/>
                <a:ea typeface="Calibri" pitchFamily="34" charset="-122"/>
                <a:cs typeface="Calibri" pitchFamily="34" charset="-120"/>
              </a:rPr>
              <a:t>A Comprehensive Guide to Building Intelligent Agent Architectures</a:t>
            </a:r>
            <a:endParaRPr lang="en-US" sz="1600" dirty="0"/>
          </a:p>
        </p:txBody>
      </p:sp>
      <p:sp>
        <p:nvSpPr>
          <p:cNvPr id="6" name="Text 3"/>
          <p:cNvSpPr/>
          <p:nvPr/>
        </p:nvSpPr>
        <p:spPr>
          <a:xfrm>
            <a:off x="457200" y="3383280"/>
            <a:ext cx="8229600" cy="365760"/>
          </a:xfrm>
          <a:prstGeom prst="rect">
            <a:avLst/>
          </a:prstGeom>
          <a:noFill/>
          <a:ln/>
        </p:spPr>
        <p:txBody>
          <a:bodyPr wrap="square" rtlCol="0" anchor="ctr"/>
          <a:lstStyle/>
          <a:p>
            <a:pPr algn="ctr" indent="0" marL="0">
              <a:buNone/>
            </a:pPr>
            <a:r>
              <a:rPr lang="en-US" sz="1200" dirty="0">
                <a:solidFill>
                  <a:srgbClr val="6B83A0"/>
                </a:solidFill>
                <a:latin typeface="Calibri" pitchFamily="34" charset="0"/>
                <a:ea typeface="Calibri" pitchFamily="34" charset="-122"/>
                <a:cs typeface="Calibri" pitchFamily="34" charset="-120"/>
              </a:rPr>
              <a:t>Reflection  •  ReAct  •  REWOO  •  Plan-and-Execute  •  Tool Use  •  Multi-Agent  •  LLMCompiler</a:t>
            </a:r>
            <a:endParaRPr lang="en-US" sz="1200" dirty="0"/>
          </a:p>
        </p:txBody>
      </p:sp>
      <p:sp>
        <p:nvSpPr>
          <p:cNvPr id="7" name="Shape 4"/>
          <p:cNvSpPr/>
          <p:nvPr/>
        </p:nvSpPr>
        <p:spPr>
          <a:xfrm>
            <a:off x="3200400" y="3931920"/>
            <a:ext cx="2743200" cy="13716"/>
          </a:xfrm>
          <a:prstGeom prst="rect">
            <a:avLst/>
          </a:prstGeom>
          <a:solidFill>
            <a:srgbClr val="00D4FF">
              <a:alpha val="50000"/>
            </a:srgbClr>
          </a:solidFill>
          <a:ln/>
        </p:spPr>
      </p:sp>
      <p:sp>
        <p:nvSpPr>
          <p:cNvPr id="8" name="Text 5"/>
          <p:cNvSpPr/>
          <p:nvPr/>
        </p:nvSpPr>
        <p:spPr>
          <a:xfrm>
            <a:off x="914400" y="4160520"/>
            <a:ext cx="7315200" cy="365760"/>
          </a:xfrm>
          <a:prstGeom prst="rect">
            <a:avLst/>
          </a:prstGeom>
          <a:noFill/>
          <a:ln/>
        </p:spPr>
        <p:txBody>
          <a:bodyPr wrap="square" rtlCol="0" anchor="ctr"/>
          <a:lstStyle/>
          <a:p>
            <a:pPr algn="ctr" indent="0" marL="0">
              <a:buNone/>
            </a:pPr>
            <a:r>
              <a:rPr lang="en-US" sz="1200" dirty="0">
                <a:solidFill>
                  <a:srgbClr val="6B83A0"/>
                </a:solidFill>
                <a:latin typeface="Calibri" pitchFamily="34" charset="0"/>
                <a:ea typeface="Calibri" pitchFamily="34" charset="-122"/>
                <a:cs typeface="Calibri" pitchFamily="34" charset="-120"/>
              </a:rPr>
              <a:t>Jitendra  |  Senior AI Architect  |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FF"/>
          </a:solidFill>
          <a:ln/>
        </p:spPr>
      </p:sp>
      <p:sp>
        <p:nvSpPr>
          <p:cNvPr id="3" name="Text 1"/>
          <p:cNvSpPr/>
          <p:nvPr/>
        </p:nvSpPr>
        <p:spPr>
          <a:xfrm>
            <a:off x="548640" y="274320"/>
            <a:ext cx="45720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Agenda</a:t>
            </a:r>
            <a:endParaRPr lang="en-US" sz="3200" dirty="0"/>
          </a:p>
        </p:txBody>
      </p:sp>
      <p:sp>
        <p:nvSpPr>
          <p:cNvPr id="4" name="Text 2"/>
          <p:cNvSpPr/>
          <p:nvPr/>
        </p:nvSpPr>
        <p:spPr>
          <a:xfrm>
            <a:off x="640080" y="109728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01</a:t>
            </a:r>
            <a:endParaRPr lang="en-US" sz="1300" dirty="0"/>
          </a:p>
        </p:txBody>
      </p:sp>
      <p:sp>
        <p:nvSpPr>
          <p:cNvPr id="5" name="Text 3"/>
          <p:cNvSpPr/>
          <p:nvPr/>
        </p:nvSpPr>
        <p:spPr>
          <a:xfrm>
            <a:off x="1188720" y="109728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What is Agentic AI &amp; Why Design Patterns?</a:t>
            </a:r>
            <a:endParaRPr lang="en-US" sz="1300" dirty="0"/>
          </a:p>
        </p:txBody>
      </p:sp>
      <p:sp>
        <p:nvSpPr>
          <p:cNvPr id="6" name="Text 4"/>
          <p:cNvSpPr/>
          <p:nvPr/>
        </p:nvSpPr>
        <p:spPr>
          <a:xfrm>
            <a:off x="640080" y="146304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02</a:t>
            </a:r>
            <a:endParaRPr lang="en-US" sz="1300" dirty="0"/>
          </a:p>
        </p:txBody>
      </p:sp>
      <p:sp>
        <p:nvSpPr>
          <p:cNvPr id="7" name="Text 5"/>
          <p:cNvSpPr/>
          <p:nvPr/>
        </p:nvSpPr>
        <p:spPr>
          <a:xfrm>
            <a:off x="1188720" y="146304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Reflection Pattern — Self-Critique Loop</a:t>
            </a:r>
            <a:endParaRPr lang="en-US" sz="1300" dirty="0"/>
          </a:p>
        </p:txBody>
      </p:sp>
      <p:sp>
        <p:nvSpPr>
          <p:cNvPr id="8" name="Text 6"/>
          <p:cNvSpPr/>
          <p:nvPr/>
        </p:nvSpPr>
        <p:spPr>
          <a:xfrm>
            <a:off x="640080" y="182880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03</a:t>
            </a:r>
            <a:endParaRPr lang="en-US" sz="1300" dirty="0"/>
          </a:p>
        </p:txBody>
      </p:sp>
      <p:sp>
        <p:nvSpPr>
          <p:cNvPr id="9" name="Text 7"/>
          <p:cNvSpPr/>
          <p:nvPr/>
        </p:nvSpPr>
        <p:spPr>
          <a:xfrm>
            <a:off x="1188720" y="182880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ReAct Pattern — Reason + Act Interleaving</a:t>
            </a:r>
            <a:endParaRPr lang="en-US" sz="1300" dirty="0"/>
          </a:p>
        </p:txBody>
      </p:sp>
      <p:sp>
        <p:nvSpPr>
          <p:cNvPr id="10" name="Text 8"/>
          <p:cNvSpPr/>
          <p:nvPr/>
        </p:nvSpPr>
        <p:spPr>
          <a:xfrm>
            <a:off x="640080" y="219456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04</a:t>
            </a:r>
            <a:endParaRPr lang="en-US" sz="1300" dirty="0"/>
          </a:p>
        </p:txBody>
      </p:sp>
      <p:sp>
        <p:nvSpPr>
          <p:cNvPr id="11" name="Text 9"/>
          <p:cNvSpPr/>
          <p:nvPr/>
        </p:nvSpPr>
        <p:spPr>
          <a:xfrm>
            <a:off x="1188720" y="219456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REWOO Pattern — Reasoning Without Observation</a:t>
            </a:r>
            <a:endParaRPr lang="en-US" sz="1300" dirty="0"/>
          </a:p>
        </p:txBody>
      </p:sp>
      <p:sp>
        <p:nvSpPr>
          <p:cNvPr id="12" name="Text 10"/>
          <p:cNvSpPr/>
          <p:nvPr/>
        </p:nvSpPr>
        <p:spPr>
          <a:xfrm>
            <a:off x="640080" y="256032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05</a:t>
            </a:r>
            <a:endParaRPr lang="en-US" sz="1300" dirty="0"/>
          </a:p>
        </p:txBody>
      </p:sp>
      <p:sp>
        <p:nvSpPr>
          <p:cNvPr id="13" name="Text 11"/>
          <p:cNvSpPr/>
          <p:nvPr/>
        </p:nvSpPr>
        <p:spPr>
          <a:xfrm>
            <a:off x="1188720" y="256032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Plan-and-Execute Pattern — Upfront Planning</a:t>
            </a:r>
            <a:endParaRPr lang="en-US" sz="1300" dirty="0"/>
          </a:p>
        </p:txBody>
      </p:sp>
      <p:sp>
        <p:nvSpPr>
          <p:cNvPr id="14" name="Text 12"/>
          <p:cNvSpPr/>
          <p:nvPr/>
        </p:nvSpPr>
        <p:spPr>
          <a:xfrm>
            <a:off x="640080" y="292608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06</a:t>
            </a:r>
            <a:endParaRPr lang="en-US" sz="1300" dirty="0"/>
          </a:p>
        </p:txBody>
      </p:sp>
      <p:sp>
        <p:nvSpPr>
          <p:cNvPr id="15" name="Text 13"/>
          <p:cNvSpPr/>
          <p:nvPr/>
        </p:nvSpPr>
        <p:spPr>
          <a:xfrm>
            <a:off x="1188720" y="292608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Tool Use Pattern — External Capability Integration</a:t>
            </a:r>
            <a:endParaRPr lang="en-US" sz="1300" dirty="0"/>
          </a:p>
        </p:txBody>
      </p:sp>
      <p:sp>
        <p:nvSpPr>
          <p:cNvPr id="16" name="Text 14"/>
          <p:cNvSpPr/>
          <p:nvPr/>
        </p:nvSpPr>
        <p:spPr>
          <a:xfrm>
            <a:off x="640080" y="329184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07</a:t>
            </a:r>
            <a:endParaRPr lang="en-US" sz="1300" dirty="0"/>
          </a:p>
        </p:txBody>
      </p:sp>
      <p:sp>
        <p:nvSpPr>
          <p:cNvPr id="17" name="Text 15"/>
          <p:cNvSpPr/>
          <p:nvPr/>
        </p:nvSpPr>
        <p:spPr>
          <a:xfrm>
            <a:off x="1188720" y="329184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Multi-Agent Collaboration Pattern</a:t>
            </a:r>
            <a:endParaRPr lang="en-US" sz="1300" dirty="0"/>
          </a:p>
        </p:txBody>
      </p:sp>
      <p:sp>
        <p:nvSpPr>
          <p:cNvPr id="18" name="Text 16"/>
          <p:cNvSpPr/>
          <p:nvPr/>
        </p:nvSpPr>
        <p:spPr>
          <a:xfrm>
            <a:off x="640080" y="365760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08</a:t>
            </a:r>
            <a:endParaRPr lang="en-US" sz="1300" dirty="0"/>
          </a:p>
        </p:txBody>
      </p:sp>
      <p:sp>
        <p:nvSpPr>
          <p:cNvPr id="19" name="Text 17"/>
          <p:cNvSpPr/>
          <p:nvPr/>
        </p:nvSpPr>
        <p:spPr>
          <a:xfrm>
            <a:off x="1188720" y="365760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LLMCompiler — Parallel Task Execution</a:t>
            </a:r>
            <a:endParaRPr lang="en-US" sz="1300" dirty="0"/>
          </a:p>
        </p:txBody>
      </p:sp>
      <p:sp>
        <p:nvSpPr>
          <p:cNvPr id="20" name="Text 18"/>
          <p:cNvSpPr/>
          <p:nvPr/>
        </p:nvSpPr>
        <p:spPr>
          <a:xfrm>
            <a:off x="640080" y="402336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09</a:t>
            </a:r>
            <a:endParaRPr lang="en-US" sz="1300" dirty="0"/>
          </a:p>
        </p:txBody>
      </p:sp>
      <p:sp>
        <p:nvSpPr>
          <p:cNvPr id="21" name="Text 19"/>
          <p:cNvSpPr/>
          <p:nvPr/>
        </p:nvSpPr>
        <p:spPr>
          <a:xfrm>
            <a:off x="1188720" y="402336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Comprehensive Comparison &amp; Decision Framework</a:t>
            </a:r>
            <a:endParaRPr lang="en-US" sz="1300" dirty="0"/>
          </a:p>
        </p:txBody>
      </p:sp>
      <p:sp>
        <p:nvSpPr>
          <p:cNvPr id="22" name="Text 20"/>
          <p:cNvSpPr/>
          <p:nvPr/>
        </p:nvSpPr>
        <p:spPr>
          <a:xfrm>
            <a:off x="640080" y="4389120"/>
            <a:ext cx="45720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10</a:t>
            </a:r>
            <a:endParaRPr lang="en-US" sz="1300" dirty="0"/>
          </a:p>
        </p:txBody>
      </p:sp>
      <p:sp>
        <p:nvSpPr>
          <p:cNvPr id="23" name="Text 21"/>
          <p:cNvSpPr/>
          <p:nvPr/>
        </p:nvSpPr>
        <p:spPr>
          <a:xfrm>
            <a:off x="1188720" y="4389120"/>
            <a:ext cx="7315200" cy="320040"/>
          </a:xfrm>
          <a:prstGeom prst="rect">
            <a:avLst/>
          </a:prstGeom>
          <a:noFill/>
          <a:ln/>
        </p:spPr>
        <p:txBody>
          <a:bodyPr wrap="square" lIns="0" tIns="0" rIns="0" bIns="0" rtlCol="0" anchor="ctr"/>
          <a:lstStyle/>
          <a:p>
            <a:pPr indent="0" marL="0">
              <a:buNone/>
            </a:pPr>
            <a:r>
              <a:rPr lang="en-US" sz="1300" dirty="0">
                <a:solidFill>
                  <a:srgbClr val="B8C9E0"/>
                </a:solidFill>
                <a:latin typeface="Calibri" pitchFamily="34" charset="0"/>
                <a:ea typeface="Calibri" pitchFamily="34" charset="-122"/>
                <a:cs typeface="Calibri" pitchFamily="34" charset="-120"/>
              </a:rPr>
              <a:t>Real-World Applications &amp; Key Takeaways</a:t>
            </a:r>
            <a:endParaRPr lang="en-US" sz="1300" dirty="0"/>
          </a:p>
        </p:txBody>
      </p:sp>
      <p:sp>
        <p:nvSpPr>
          <p:cNvPr id="24" name="Text 22"/>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 / 33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What is Agentic AI?</a:t>
            </a:r>
            <a:endParaRPr lang="en-US" sz="3000" dirty="0"/>
          </a:p>
        </p:txBody>
      </p:sp>
      <p:sp>
        <p:nvSpPr>
          <p:cNvPr id="4" name="Text 2"/>
          <p:cNvSpPr/>
          <p:nvPr/>
        </p:nvSpPr>
        <p:spPr>
          <a:xfrm>
            <a:off x="457200" y="1005840"/>
            <a:ext cx="8229600" cy="731520"/>
          </a:xfrm>
          <a:prstGeom prst="rect">
            <a:avLst/>
          </a:prstGeom>
          <a:noFill/>
          <a:ln/>
        </p:spPr>
        <p:txBody>
          <a:bodyPr wrap="square" rtlCol="0" anchor="ctr"/>
          <a:lstStyle/>
          <a:p>
            <a:pPr indent="0" marL="0">
              <a:lnSpc>
                <a:spcPct val="130000"/>
              </a:lnSpc>
              <a:buNone/>
            </a:pPr>
            <a:r>
              <a:rPr lang="en-US" sz="1400" dirty="0">
                <a:solidFill>
                  <a:srgbClr val="64748B"/>
                </a:solidFill>
                <a:latin typeface="Calibri" pitchFamily="34" charset="0"/>
                <a:ea typeface="Calibri" pitchFamily="34" charset="-122"/>
                <a:cs typeface="Calibri" pitchFamily="34" charset="-120"/>
              </a:rPr>
              <a:t>Agentic AI refers to systems where LLMs act as autonomous decision-making agents — perceiving their environment, reasoning about goals, selecting and executing actions, and iteratively refining their outputs without constant human intervention.</a:t>
            </a:r>
            <a:endParaRPr lang="en-US" sz="1400" dirty="0"/>
          </a:p>
        </p:txBody>
      </p:sp>
      <p:sp>
        <p:nvSpPr>
          <p:cNvPr id="5" name="Shape 3"/>
          <p:cNvSpPr/>
          <p:nvPr/>
        </p:nvSpPr>
        <p:spPr>
          <a:xfrm>
            <a:off x="457200" y="2011680"/>
            <a:ext cx="196596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457200" y="2011680"/>
            <a:ext cx="1965960" cy="54864"/>
          </a:xfrm>
          <a:prstGeom prst="rect">
            <a:avLst/>
          </a:prstGeom>
          <a:solidFill>
            <a:srgbClr val="7C3AED"/>
          </a:solidFill>
          <a:ln/>
        </p:spPr>
      </p:sp>
      <p:pic>
        <p:nvPicPr>
          <p:cNvPr id="7" name="Image 0" descr="preencoded.png">    </p:cNvPr>
          <p:cNvPicPr>
            <a:picLocks noChangeAspect="1"/>
          </p:cNvPicPr>
          <p:nvPr/>
        </p:nvPicPr>
        <p:blipFill>
          <a:blip r:embed="rId1"/>
          <a:stretch>
            <a:fillRect/>
          </a:stretch>
        </p:blipFill>
        <p:spPr>
          <a:xfrm>
            <a:off x="1143000" y="2286000"/>
            <a:ext cx="548640" cy="548640"/>
          </a:xfrm>
          <a:prstGeom prst="rect">
            <a:avLst/>
          </a:prstGeom>
        </p:spPr>
      </p:pic>
      <p:sp>
        <p:nvSpPr>
          <p:cNvPr id="8" name="Text 5"/>
          <p:cNvSpPr/>
          <p:nvPr/>
        </p:nvSpPr>
        <p:spPr>
          <a:xfrm>
            <a:off x="548640" y="2926080"/>
            <a:ext cx="178308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Autonomy</a:t>
            </a:r>
            <a:endParaRPr lang="en-US" sz="1400" dirty="0"/>
          </a:p>
        </p:txBody>
      </p:sp>
      <p:sp>
        <p:nvSpPr>
          <p:cNvPr id="9" name="Text 6"/>
          <p:cNvSpPr/>
          <p:nvPr/>
        </p:nvSpPr>
        <p:spPr>
          <a:xfrm>
            <a:off x="594360" y="3246120"/>
            <a:ext cx="1691640" cy="9144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Independent decision-making without step-by-step human guidance</a:t>
            </a:r>
            <a:endParaRPr lang="en-US" sz="1100" dirty="0"/>
          </a:p>
        </p:txBody>
      </p:sp>
      <p:sp>
        <p:nvSpPr>
          <p:cNvPr id="10" name="Shape 7"/>
          <p:cNvSpPr/>
          <p:nvPr/>
        </p:nvSpPr>
        <p:spPr>
          <a:xfrm>
            <a:off x="2606040" y="2011680"/>
            <a:ext cx="196596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8"/>
          <p:cNvSpPr/>
          <p:nvPr/>
        </p:nvSpPr>
        <p:spPr>
          <a:xfrm>
            <a:off x="2606040" y="2011680"/>
            <a:ext cx="1965960" cy="54864"/>
          </a:xfrm>
          <a:prstGeom prst="rect">
            <a:avLst/>
          </a:prstGeom>
          <a:solidFill>
            <a:srgbClr val="7C3AED"/>
          </a:solidFill>
          <a:ln/>
        </p:spPr>
      </p:sp>
      <p:pic>
        <p:nvPicPr>
          <p:cNvPr id="12" name="Image 1" descr="preencoded.png">    </p:cNvPr>
          <p:cNvPicPr>
            <a:picLocks noChangeAspect="1"/>
          </p:cNvPicPr>
          <p:nvPr/>
        </p:nvPicPr>
        <p:blipFill>
          <a:blip r:embed="rId2"/>
          <a:stretch>
            <a:fillRect/>
          </a:stretch>
        </p:blipFill>
        <p:spPr>
          <a:xfrm>
            <a:off x="3291840" y="2286000"/>
            <a:ext cx="548640" cy="548640"/>
          </a:xfrm>
          <a:prstGeom prst="rect">
            <a:avLst/>
          </a:prstGeom>
        </p:spPr>
      </p:pic>
      <p:sp>
        <p:nvSpPr>
          <p:cNvPr id="13" name="Text 9"/>
          <p:cNvSpPr/>
          <p:nvPr/>
        </p:nvSpPr>
        <p:spPr>
          <a:xfrm>
            <a:off x="2697480" y="2926080"/>
            <a:ext cx="178308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Perception</a:t>
            </a:r>
            <a:endParaRPr lang="en-US" sz="1400" dirty="0"/>
          </a:p>
        </p:txBody>
      </p:sp>
      <p:sp>
        <p:nvSpPr>
          <p:cNvPr id="14" name="Text 10"/>
          <p:cNvSpPr/>
          <p:nvPr/>
        </p:nvSpPr>
        <p:spPr>
          <a:xfrm>
            <a:off x="2743200" y="3246120"/>
            <a:ext cx="1691640" cy="9144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Observe environment via tools, APIs, documents, and user input</a:t>
            </a:r>
            <a:endParaRPr lang="en-US" sz="1100" dirty="0"/>
          </a:p>
        </p:txBody>
      </p:sp>
      <p:sp>
        <p:nvSpPr>
          <p:cNvPr id="15" name="Shape 11"/>
          <p:cNvSpPr/>
          <p:nvPr/>
        </p:nvSpPr>
        <p:spPr>
          <a:xfrm>
            <a:off x="4754880" y="2011680"/>
            <a:ext cx="196596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2"/>
          <p:cNvSpPr/>
          <p:nvPr/>
        </p:nvSpPr>
        <p:spPr>
          <a:xfrm>
            <a:off x="4754880" y="2011680"/>
            <a:ext cx="1965960" cy="54864"/>
          </a:xfrm>
          <a:prstGeom prst="rect">
            <a:avLst/>
          </a:prstGeom>
          <a:solidFill>
            <a:srgbClr val="7C3AED"/>
          </a:solidFill>
          <a:ln/>
        </p:spPr>
      </p:sp>
      <p:pic>
        <p:nvPicPr>
          <p:cNvPr id="17" name="Image 2" descr="preencoded.png">    </p:cNvPr>
          <p:cNvPicPr>
            <a:picLocks noChangeAspect="1"/>
          </p:cNvPicPr>
          <p:nvPr/>
        </p:nvPicPr>
        <p:blipFill>
          <a:blip r:embed="rId3"/>
          <a:stretch>
            <a:fillRect/>
          </a:stretch>
        </p:blipFill>
        <p:spPr>
          <a:xfrm>
            <a:off x="5440680" y="2286000"/>
            <a:ext cx="548640" cy="548640"/>
          </a:xfrm>
          <a:prstGeom prst="rect">
            <a:avLst/>
          </a:prstGeom>
        </p:spPr>
      </p:pic>
      <p:sp>
        <p:nvSpPr>
          <p:cNvPr id="18" name="Text 13"/>
          <p:cNvSpPr/>
          <p:nvPr/>
        </p:nvSpPr>
        <p:spPr>
          <a:xfrm>
            <a:off x="4846320" y="2926080"/>
            <a:ext cx="178308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Iteration</a:t>
            </a:r>
            <a:endParaRPr lang="en-US" sz="1400" dirty="0"/>
          </a:p>
        </p:txBody>
      </p:sp>
      <p:sp>
        <p:nvSpPr>
          <p:cNvPr id="19" name="Text 14"/>
          <p:cNvSpPr/>
          <p:nvPr/>
        </p:nvSpPr>
        <p:spPr>
          <a:xfrm>
            <a:off x="4892040" y="3246120"/>
            <a:ext cx="1691640" cy="9144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Refine outputs through feedback loops and self-correction cycles</a:t>
            </a:r>
            <a:endParaRPr lang="en-US" sz="1100" dirty="0"/>
          </a:p>
        </p:txBody>
      </p:sp>
      <p:sp>
        <p:nvSpPr>
          <p:cNvPr id="20" name="Shape 15"/>
          <p:cNvSpPr/>
          <p:nvPr/>
        </p:nvSpPr>
        <p:spPr>
          <a:xfrm>
            <a:off x="6903720" y="2011680"/>
            <a:ext cx="196596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6"/>
          <p:cNvSpPr/>
          <p:nvPr/>
        </p:nvSpPr>
        <p:spPr>
          <a:xfrm>
            <a:off x="6903720" y="2011680"/>
            <a:ext cx="1965960" cy="54864"/>
          </a:xfrm>
          <a:prstGeom prst="rect">
            <a:avLst/>
          </a:prstGeom>
          <a:solidFill>
            <a:srgbClr val="7C3AED"/>
          </a:solidFill>
          <a:ln/>
        </p:spPr>
      </p:sp>
      <p:pic>
        <p:nvPicPr>
          <p:cNvPr id="22" name="Image 3" descr="preencoded.png">    </p:cNvPr>
          <p:cNvPicPr>
            <a:picLocks noChangeAspect="1"/>
          </p:cNvPicPr>
          <p:nvPr/>
        </p:nvPicPr>
        <p:blipFill>
          <a:blip r:embed="rId4"/>
          <a:stretch>
            <a:fillRect/>
          </a:stretch>
        </p:blipFill>
        <p:spPr>
          <a:xfrm>
            <a:off x="7589520" y="2286000"/>
            <a:ext cx="548640" cy="548640"/>
          </a:xfrm>
          <a:prstGeom prst="rect">
            <a:avLst/>
          </a:prstGeom>
        </p:spPr>
      </p:pic>
      <p:sp>
        <p:nvSpPr>
          <p:cNvPr id="23" name="Text 17"/>
          <p:cNvSpPr/>
          <p:nvPr/>
        </p:nvSpPr>
        <p:spPr>
          <a:xfrm>
            <a:off x="6995160" y="2926080"/>
            <a:ext cx="1783080" cy="320040"/>
          </a:xfrm>
          <a:prstGeom prst="rect">
            <a:avLst/>
          </a:prstGeom>
          <a:noFill/>
          <a:ln/>
        </p:spPr>
        <p:txBody>
          <a:bodyPr wrap="square" lIns="0" tIns="0" rIns="0" bIns="0" rtlCol="0" anchor="ctr"/>
          <a:lstStyle/>
          <a:p>
            <a:pPr algn="ctr" indent="0" marL="0">
              <a:buNone/>
            </a:pPr>
            <a:r>
              <a:rPr lang="en-US" sz="1400" b="1" dirty="0">
                <a:solidFill>
                  <a:srgbClr val="1E293B"/>
                </a:solidFill>
                <a:latin typeface="Trebuchet MS" pitchFamily="34" charset="0"/>
                <a:ea typeface="Trebuchet MS" pitchFamily="34" charset="-122"/>
                <a:cs typeface="Trebuchet MS" pitchFamily="34" charset="-120"/>
              </a:rPr>
              <a:t>Tool Use</a:t>
            </a:r>
            <a:endParaRPr lang="en-US" sz="1400" dirty="0"/>
          </a:p>
        </p:txBody>
      </p:sp>
      <p:sp>
        <p:nvSpPr>
          <p:cNvPr id="24" name="Text 18"/>
          <p:cNvSpPr/>
          <p:nvPr/>
        </p:nvSpPr>
        <p:spPr>
          <a:xfrm>
            <a:off x="7040880" y="3246120"/>
            <a:ext cx="1691640" cy="9144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Extend capabilities by invoking external tools and services</a:t>
            </a:r>
            <a:endParaRPr lang="en-US" sz="1100" dirty="0"/>
          </a:p>
        </p:txBody>
      </p:sp>
      <p:sp>
        <p:nvSpPr>
          <p:cNvPr id="25" name="Text 19"/>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33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0B981"/>
          </a:solidFill>
          <a:ln/>
        </p:spPr>
      </p:sp>
      <p:sp>
        <p:nvSpPr>
          <p:cNvPr id="3" name="Text 1"/>
          <p:cNvSpPr/>
          <p:nvPr/>
        </p:nvSpPr>
        <p:spPr>
          <a:xfrm>
            <a:off x="54864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Why Do Design Patterns Matter?</a:t>
            </a:r>
            <a:endParaRPr lang="en-US" sz="2800" dirty="0"/>
          </a:p>
        </p:txBody>
      </p:sp>
      <p:sp>
        <p:nvSpPr>
          <p:cNvPr id="4" name="Shape 2"/>
          <p:cNvSpPr/>
          <p:nvPr/>
        </p:nvSpPr>
        <p:spPr>
          <a:xfrm>
            <a:off x="548640" y="1051560"/>
            <a:ext cx="411480" cy="411480"/>
          </a:xfrm>
          <a:prstGeom prst="rect">
            <a:avLst/>
          </a:prstGeom>
          <a:solidFill>
            <a:srgbClr val="10B981"/>
          </a:solidFill>
          <a:ln/>
        </p:spPr>
      </p:sp>
      <p:sp>
        <p:nvSpPr>
          <p:cNvPr id="5" name="Text 3"/>
          <p:cNvSpPr/>
          <p:nvPr/>
        </p:nvSpPr>
        <p:spPr>
          <a:xfrm>
            <a:off x="548640" y="1051560"/>
            <a:ext cx="411480" cy="41148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1</a:t>
            </a:r>
            <a:endParaRPr lang="en-US" sz="1600" dirty="0"/>
          </a:p>
        </p:txBody>
      </p:sp>
      <p:sp>
        <p:nvSpPr>
          <p:cNvPr id="6" name="Text 4"/>
          <p:cNvSpPr/>
          <p:nvPr/>
        </p:nvSpPr>
        <p:spPr>
          <a:xfrm>
            <a:off x="1143000" y="1051560"/>
            <a:ext cx="1828800" cy="320040"/>
          </a:xfrm>
          <a:prstGeom prst="rect">
            <a:avLst/>
          </a:prstGeom>
          <a:noFill/>
          <a:ln/>
        </p:spPr>
        <p:txBody>
          <a:bodyPr wrap="square" lIns="0" tIns="0" rIns="0" bIns="0" rtlCol="0" anchor="ctr"/>
          <a:lstStyle/>
          <a:p>
            <a:pPr indent="0" marL="0">
              <a:buNone/>
            </a:pPr>
            <a:r>
              <a:rPr lang="en-US" sz="1500" b="1" dirty="0">
                <a:solidFill>
                  <a:srgbClr val="00D4FF"/>
                </a:solidFill>
                <a:latin typeface="Trebuchet MS" pitchFamily="34" charset="0"/>
                <a:ea typeface="Trebuchet MS" pitchFamily="34" charset="-122"/>
                <a:cs typeface="Trebuchet MS" pitchFamily="34" charset="-120"/>
              </a:rPr>
              <a:t>Reusability</a:t>
            </a:r>
            <a:endParaRPr lang="en-US" sz="1500" dirty="0"/>
          </a:p>
        </p:txBody>
      </p:sp>
      <p:sp>
        <p:nvSpPr>
          <p:cNvPr id="7" name="Text 5"/>
          <p:cNvSpPr/>
          <p:nvPr/>
        </p:nvSpPr>
        <p:spPr>
          <a:xfrm>
            <a:off x="1143000" y="1344168"/>
            <a:ext cx="7498080" cy="36576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Proven architectural blueprints that avoid reinventing the wheel for common agentic scenarios.</a:t>
            </a:r>
            <a:endParaRPr lang="en-US" sz="1200" dirty="0"/>
          </a:p>
        </p:txBody>
      </p:sp>
      <p:sp>
        <p:nvSpPr>
          <p:cNvPr id="8" name="Shape 6"/>
          <p:cNvSpPr/>
          <p:nvPr/>
        </p:nvSpPr>
        <p:spPr>
          <a:xfrm>
            <a:off x="548640" y="1828800"/>
            <a:ext cx="411480" cy="411480"/>
          </a:xfrm>
          <a:prstGeom prst="rect">
            <a:avLst/>
          </a:prstGeom>
          <a:solidFill>
            <a:srgbClr val="10B981"/>
          </a:solidFill>
          <a:ln/>
        </p:spPr>
      </p:sp>
      <p:sp>
        <p:nvSpPr>
          <p:cNvPr id="9" name="Text 7"/>
          <p:cNvSpPr/>
          <p:nvPr/>
        </p:nvSpPr>
        <p:spPr>
          <a:xfrm>
            <a:off x="548640" y="1828800"/>
            <a:ext cx="411480" cy="41148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2</a:t>
            </a:r>
            <a:endParaRPr lang="en-US" sz="1600" dirty="0"/>
          </a:p>
        </p:txBody>
      </p:sp>
      <p:sp>
        <p:nvSpPr>
          <p:cNvPr id="10" name="Text 8"/>
          <p:cNvSpPr/>
          <p:nvPr/>
        </p:nvSpPr>
        <p:spPr>
          <a:xfrm>
            <a:off x="1143000" y="1828800"/>
            <a:ext cx="1828800" cy="320040"/>
          </a:xfrm>
          <a:prstGeom prst="rect">
            <a:avLst/>
          </a:prstGeom>
          <a:noFill/>
          <a:ln/>
        </p:spPr>
        <p:txBody>
          <a:bodyPr wrap="square" lIns="0" tIns="0" rIns="0" bIns="0" rtlCol="0" anchor="ctr"/>
          <a:lstStyle/>
          <a:p>
            <a:pPr indent="0" marL="0">
              <a:buNone/>
            </a:pPr>
            <a:r>
              <a:rPr lang="en-US" sz="1500" b="1" dirty="0">
                <a:solidFill>
                  <a:srgbClr val="00D4FF"/>
                </a:solidFill>
                <a:latin typeface="Trebuchet MS" pitchFamily="34" charset="0"/>
                <a:ea typeface="Trebuchet MS" pitchFamily="34" charset="-122"/>
                <a:cs typeface="Trebuchet MS" pitchFamily="34" charset="-120"/>
              </a:rPr>
              <a:t>Reliability</a:t>
            </a:r>
            <a:endParaRPr lang="en-US" sz="1500" dirty="0"/>
          </a:p>
        </p:txBody>
      </p:sp>
      <p:sp>
        <p:nvSpPr>
          <p:cNvPr id="11" name="Text 9"/>
          <p:cNvSpPr/>
          <p:nvPr/>
        </p:nvSpPr>
        <p:spPr>
          <a:xfrm>
            <a:off x="1143000" y="2121408"/>
            <a:ext cx="7498080" cy="36576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Structured reasoning flows reduce hallucination, improve output quality, and make agent behavior predictable.</a:t>
            </a:r>
            <a:endParaRPr lang="en-US" sz="1200" dirty="0"/>
          </a:p>
        </p:txBody>
      </p:sp>
      <p:sp>
        <p:nvSpPr>
          <p:cNvPr id="12" name="Shape 10"/>
          <p:cNvSpPr/>
          <p:nvPr/>
        </p:nvSpPr>
        <p:spPr>
          <a:xfrm>
            <a:off x="548640" y="2606040"/>
            <a:ext cx="411480" cy="411480"/>
          </a:xfrm>
          <a:prstGeom prst="rect">
            <a:avLst/>
          </a:prstGeom>
          <a:solidFill>
            <a:srgbClr val="10B981"/>
          </a:solidFill>
          <a:ln/>
        </p:spPr>
      </p:sp>
      <p:sp>
        <p:nvSpPr>
          <p:cNvPr id="13" name="Text 11"/>
          <p:cNvSpPr/>
          <p:nvPr/>
        </p:nvSpPr>
        <p:spPr>
          <a:xfrm>
            <a:off x="548640" y="2606040"/>
            <a:ext cx="411480" cy="41148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3</a:t>
            </a:r>
            <a:endParaRPr lang="en-US" sz="1600" dirty="0"/>
          </a:p>
        </p:txBody>
      </p:sp>
      <p:sp>
        <p:nvSpPr>
          <p:cNvPr id="14" name="Text 12"/>
          <p:cNvSpPr/>
          <p:nvPr/>
        </p:nvSpPr>
        <p:spPr>
          <a:xfrm>
            <a:off x="1143000" y="2606040"/>
            <a:ext cx="1828800" cy="320040"/>
          </a:xfrm>
          <a:prstGeom prst="rect">
            <a:avLst/>
          </a:prstGeom>
          <a:noFill/>
          <a:ln/>
        </p:spPr>
        <p:txBody>
          <a:bodyPr wrap="square" lIns="0" tIns="0" rIns="0" bIns="0" rtlCol="0" anchor="ctr"/>
          <a:lstStyle/>
          <a:p>
            <a:pPr indent="0" marL="0">
              <a:buNone/>
            </a:pPr>
            <a:r>
              <a:rPr lang="en-US" sz="1500" b="1" dirty="0">
                <a:solidFill>
                  <a:srgbClr val="00D4FF"/>
                </a:solidFill>
                <a:latin typeface="Trebuchet MS" pitchFamily="34" charset="0"/>
                <a:ea typeface="Trebuchet MS" pitchFamily="34" charset="-122"/>
                <a:cs typeface="Trebuchet MS" pitchFamily="34" charset="-120"/>
              </a:rPr>
              <a:t>Scalability</a:t>
            </a:r>
            <a:endParaRPr lang="en-US" sz="1500" dirty="0"/>
          </a:p>
        </p:txBody>
      </p:sp>
      <p:sp>
        <p:nvSpPr>
          <p:cNvPr id="15" name="Text 13"/>
          <p:cNvSpPr/>
          <p:nvPr/>
        </p:nvSpPr>
        <p:spPr>
          <a:xfrm>
            <a:off x="1143000" y="2898648"/>
            <a:ext cx="7498080" cy="36576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Patterns like multi-agent and LLMCompiler enable parallel execution and complex task decomposition.</a:t>
            </a:r>
            <a:endParaRPr lang="en-US" sz="1200" dirty="0"/>
          </a:p>
        </p:txBody>
      </p:sp>
      <p:sp>
        <p:nvSpPr>
          <p:cNvPr id="16" name="Shape 14"/>
          <p:cNvSpPr/>
          <p:nvPr/>
        </p:nvSpPr>
        <p:spPr>
          <a:xfrm>
            <a:off x="548640" y="3383280"/>
            <a:ext cx="411480" cy="411480"/>
          </a:xfrm>
          <a:prstGeom prst="rect">
            <a:avLst/>
          </a:prstGeom>
          <a:solidFill>
            <a:srgbClr val="10B981"/>
          </a:solidFill>
          <a:ln/>
        </p:spPr>
      </p:sp>
      <p:sp>
        <p:nvSpPr>
          <p:cNvPr id="17" name="Text 15"/>
          <p:cNvSpPr/>
          <p:nvPr/>
        </p:nvSpPr>
        <p:spPr>
          <a:xfrm>
            <a:off x="54864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4</a:t>
            </a:r>
            <a:endParaRPr lang="en-US" sz="1600" dirty="0"/>
          </a:p>
        </p:txBody>
      </p:sp>
      <p:sp>
        <p:nvSpPr>
          <p:cNvPr id="18" name="Text 16"/>
          <p:cNvSpPr/>
          <p:nvPr/>
        </p:nvSpPr>
        <p:spPr>
          <a:xfrm>
            <a:off x="1143000" y="3383280"/>
            <a:ext cx="1828800" cy="320040"/>
          </a:xfrm>
          <a:prstGeom prst="rect">
            <a:avLst/>
          </a:prstGeom>
          <a:noFill/>
          <a:ln/>
        </p:spPr>
        <p:txBody>
          <a:bodyPr wrap="square" lIns="0" tIns="0" rIns="0" bIns="0" rtlCol="0" anchor="ctr"/>
          <a:lstStyle/>
          <a:p>
            <a:pPr indent="0" marL="0">
              <a:buNone/>
            </a:pPr>
            <a:r>
              <a:rPr lang="en-US" sz="1500" b="1" dirty="0">
                <a:solidFill>
                  <a:srgbClr val="00D4FF"/>
                </a:solidFill>
                <a:latin typeface="Trebuchet MS" pitchFamily="34" charset="0"/>
                <a:ea typeface="Trebuchet MS" pitchFamily="34" charset="-122"/>
                <a:cs typeface="Trebuchet MS" pitchFamily="34" charset="-120"/>
              </a:rPr>
              <a:t>Cost Efficiency</a:t>
            </a:r>
            <a:endParaRPr lang="en-US" sz="1500" dirty="0"/>
          </a:p>
        </p:txBody>
      </p:sp>
      <p:sp>
        <p:nvSpPr>
          <p:cNvPr id="19" name="Text 17"/>
          <p:cNvSpPr/>
          <p:nvPr/>
        </p:nvSpPr>
        <p:spPr>
          <a:xfrm>
            <a:off x="1143000" y="3675888"/>
            <a:ext cx="7498080" cy="36576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Patterns like REWOO minimize redundant LLM calls, reducing token consumption and latency.</a:t>
            </a:r>
            <a:endParaRPr lang="en-US" sz="1200" dirty="0"/>
          </a:p>
        </p:txBody>
      </p:sp>
      <p:sp>
        <p:nvSpPr>
          <p:cNvPr id="20" name="Shape 18"/>
          <p:cNvSpPr/>
          <p:nvPr/>
        </p:nvSpPr>
        <p:spPr>
          <a:xfrm>
            <a:off x="548640" y="4160520"/>
            <a:ext cx="411480" cy="411480"/>
          </a:xfrm>
          <a:prstGeom prst="rect">
            <a:avLst/>
          </a:prstGeom>
          <a:solidFill>
            <a:srgbClr val="10B981"/>
          </a:solidFill>
          <a:ln/>
        </p:spPr>
      </p:sp>
      <p:sp>
        <p:nvSpPr>
          <p:cNvPr id="21" name="Text 19"/>
          <p:cNvSpPr/>
          <p:nvPr/>
        </p:nvSpPr>
        <p:spPr>
          <a:xfrm>
            <a:off x="548640" y="4160520"/>
            <a:ext cx="411480" cy="41148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5</a:t>
            </a:r>
            <a:endParaRPr lang="en-US" sz="1600" dirty="0"/>
          </a:p>
        </p:txBody>
      </p:sp>
      <p:sp>
        <p:nvSpPr>
          <p:cNvPr id="22" name="Text 20"/>
          <p:cNvSpPr/>
          <p:nvPr/>
        </p:nvSpPr>
        <p:spPr>
          <a:xfrm>
            <a:off x="1143000" y="4160520"/>
            <a:ext cx="1828800" cy="320040"/>
          </a:xfrm>
          <a:prstGeom prst="rect">
            <a:avLst/>
          </a:prstGeom>
          <a:noFill/>
          <a:ln/>
        </p:spPr>
        <p:txBody>
          <a:bodyPr wrap="square" lIns="0" tIns="0" rIns="0" bIns="0" rtlCol="0" anchor="ctr"/>
          <a:lstStyle/>
          <a:p>
            <a:pPr indent="0" marL="0">
              <a:buNone/>
            </a:pPr>
            <a:r>
              <a:rPr lang="en-US" sz="1500" b="1" dirty="0">
                <a:solidFill>
                  <a:srgbClr val="00D4FF"/>
                </a:solidFill>
                <a:latin typeface="Trebuchet MS" pitchFamily="34" charset="0"/>
                <a:ea typeface="Trebuchet MS" pitchFamily="34" charset="-122"/>
                <a:cs typeface="Trebuchet MS" pitchFamily="34" charset="-120"/>
              </a:rPr>
              <a:t>Composability</a:t>
            </a:r>
            <a:endParaRPr lang="en-US" sz="1500" dirty="0"/>
          </a:p>
        </p:txBody>
      </p:sp>
      <p:sp>
        <p:nvSpPr>
          <p:cNvPr id="23" name="Text 21"/>
          <p:cNvSpPr/>
          <p:nvPr/>
        </p:nvSpPr>
        <p:spPr>
          <a:xfrm>
            <a:off x="1143000" y="4453128"/>
            <a:ext cx="7498080" cy="36576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Patterns can be combined — e.g., Reflection + ReAct, Plan-and-Execute + Multi-Agent — for sophisticated systems.</a:t>
            </a:r>
            <a:endParaRPr lang="en-US" sz="1200" dirty="0"/>
          </a:p>
        </p:txBody>
      </p:sp>
      <p:sp>
        <p:nvSpPr>
          <p:cNvPr id="24" name="Text 22"/>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4 / 33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Agentic AI Design Patterns — Landscape</a:t>
            </a:r>
            <a:endParaRPr lang="en-US" sz="2600" dirty="0"/>
          </a:p>
        </p:txBody>
      </p:sp>
      <p:sp>
        <p:nvSpPr>
          <p:cNvPr id="4" name="Shape 2"/>
          <p:cNvSpPr/>
          <p:nvPr/>
        </p:nvSpPr>
        <p:spPr>
          <a:xfrm>
            <a:off x="320040" y="960120"/>
            <a:ext cx="109728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Shape 3"/>
          <p:cNvSpPr/>
          <p:nvPr/>
        </p:nvSpPr>
        <p:spPr>
          <a:xfrm>
            <a:off x="320040" y="960120"/>
            <a:ext cx="1097280" cy="54864"/>
          </a:xfrm>
          <a:prstGeom prst="rect">
            <a:avLst/>
          </a:prstGeom>
          <a:solidFill>
            <a:srgbClr val="00D4FF"/>
          </a:solidFill>
          <a:ln/>
        </p:spPr>
      </p:sp>
      <p:pic>
        <p:nvPicPr>
          <p:cNvPr id="6" name="Image 0" descr="preencoded.png">    </p:cNvPr>
          <p:cNvPicPr>
            <a:picLocks noChangeAspect="1"/>
          </p:cNvPicPr>
          <p:nvPr/>
        </p:nvPicPr>
        <p:blipFill>
          <a:blip r:embed="rId1"/>
          <a:stretch>
            <a:fillRect/>
          </a:stretch>
        </p:blipFill>
        <p:spPr>
          <a:xfrm>
            <a:off x="594360" y="1234440"/>
            <a:ext cx="502920" cy="502920"/>
          </a:xfrm>
          <a:prstGeom prst="rect">
            <a:avLst/>
          </a:prstGeom>
        </p:spPr>
      </p:pic>
      <p:sp>
        <p:nvSpPr>
          <p:cNvPr id="7" name="Text 4"/>
          <p:cNvSpPr/>
          <p:nvPr/>
        </p:nvSpPr>
        <p:spPr>
          <a:xfrm>
            <a:off x="365760" y="1828800"/>
            <a:ext cx="1005840" cy="594360"/>
          </a:xfrm>
          <a:prstGeom prst="rect">
            <a:avLst/>
          </a:prstGeom>
          <a:noFill/>
          <a:ln/>
        </p:spPr>
        <p:txBody>
          <a:bodyPr wrap="square" lIns="0" tIns="0" rIns="0" bIns="0" rtlCol="0" anchor="t"/>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Reflection</a:t>
            </a:r>
            <a:endParaRPr lang="en-US" sz="1200" dirty="0"/>
          </a:p>
        </p:txBody>
      </p:sp>
      <p:sp>
        <p:nvSpPr>
          <p:cNvPr id="8" name="Shape 5"/>
          <p:cNvSpPr/>
          <p:nvPr/>
        </p:nvSpPr>
        <p:spPr>
          <a:xfrm>
            <a:off x="548640" y="2468880"/>
            <a:ext cx="640080" cy="13716"/>
          </a:xfrm>
          <a:prstGeom prst="rect">
            <a:avLst/>
          </a:prstGeom>
          <a:solidFill>
            <a:srgbClr val="00D4FF">
              <a:alpha val="50000"/>
            </a:srgbClr>
          </a:solidFill>
          <a:ln/>
        </p:spPr>
      </p:sp>
      <p:sp>
        <p:nvSpPr>
          <p:cNvPr id="9" name="Text 6"/>
          <p:cNvSpPr/>
          <p:nvPr/>
        </p:nvSpPr>
        <p:spPr>
          <a:xfrm>
            <a:off x="365760" y="2606040"/>
            <a:ext cx="1005840" cy="1554480"/>
          </a:xfrm>
          <a:prstGeom prst="rect">
            <a:avLst/>
          </a:prstGeom>
          <a:noFill/>
          <a:ln/>
        </p:spPr>
        <p:txBody>
          <a:bodyPr wrap="square"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Self-critique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&amp; refinement</a:t>
            </a:r>
            <a:endParaRPr lang="en-US" sz="1000" dirty="0"/>
          </a:p>
        </p:txBody>
      </p:sp>
      <p:sp>
        <p:nvSpPr>
          <p:cNvPr id="10" name="Shape 7"/>
          <p:cNvSpPr/>
          <p:nvPr/>
        </p:nvSpPr>
        <p:spPr>
          <a:xfrm>
            <a:off x="1554480" y="960120"/>
            <a:ext cx="109728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8"/>
          <p:cNvSpPr/>
          <p:nvPr/>
        </p:nvSpPr>
        <p:spPr>
          <a:xfrm>
            <a:off x="1554480" y="960120"/>
            <a:ext cx="1097280" cy="54864"/>
          </a:xfrm>
          <a:prstGeom prst="rect">
            <a:avLst/>
          </a:prstGeom>
          <a:solidFill>
            <a:srgbClr val="7C3AED"/>
          </a:solidFill>
          <a:ln/>
        </p:spPr>
      </p:sp>
      <p:pic>
        <p:nvPicPr>
          <p:cNvPr id="12" name="Image 1" descr="preencoded.png">    </p:cNvPr>
          <p:cNvPicPr>
            <a:picLocks noChangeAspect="1"/>
          </p:cNvPicPr>
          <p:nvPr/>
        </p:nvPicPr>
        <p:blipFill>
          <a:blip r:embed="rId2"/>
          <a:stretch>
            <a:fillRect/>
          </a:stretch>
        </p:blipFill>
        <p:spPr>
          <a:xfrm>
            <a:off x="1828800" y="1234440"/>
            <a:ext cx="502920" cy="502920"/>
          </a:xfrm>
          <a:prstGeom prst="rect">
            <a:avLst/>
          </a:prstGeom>
        </p:spPr>
      </p:pic>
      <p:sp>
        <p:nvSpPr>
          <p:cNvPr id="13" name="Text 9"/>
          <p:cNvSpPr/>
          <p:nvPr/>
        </p:nvSpPr>
        <p:spPr>
          <a:xfrm>
            <a:off x="1600200" y="1828800"/>
            <a:ext cx="1005840" cy="594360"/>
          </a:xfrm>
          <a:prstGeom prst="rect">
            <a:avLst/>
          </a:prstGeom>
          <a:noFill/>
          <a:ln/>
        </p:spPr>
        <p:txBody>
          <a:bodyPr wrap="square" lIns="0" tIns="0" rIns="0" bIns="0" rtlCol="0" anchor="t"/>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ReAct</a:t>
            </a:r>
            <a:endParaRPr lang="en-US" sz="1200" dirty="0"/>
          </a:p>
        </p:txBody>
      </p:sp>
      <p:sp>
        <p:nvSpPr>
          <p:cNvPr id="14" name="Shape 10"/>
          <p:cNvSpPr/>
          <p:nvPr/>
        </p:nvSpPr>
        <p:spPr>
          <a:xfrm>
            <a:off x="1783080" y="2468880"/>
            <a:ext cx="640080" cy="13716"/>
          </a:xfrm>
          <a:prstGeom prst="rect">
            <a:avLst/>
          </a:prstGeom>
          <a:solidFill>
            <a:srgbClr val="7C3AED">
              <a:alpha val="50000"/>
            </a:srgbClr>
          </a:solidFill>
          <a:ln/>
        </p:spPr>
      </p:sp>
      <p:sp>
        <p:nvSpPr>
          <p:cNvPr id="15" name="Text 11"/>
          <p:cNvSpPr/>
          <p:nvPr/>
        </p:nvSpPr>
        <p:spPr>
          <a:xfrm>
            <a:off x="1600200" y="2606040"/>
            <a:ext cx="1005840" cy="1554480"/>
          </a:xfrm>
          <a:prstGeom prst="rect">
            <a:avLst/>
          </a:prstGeom>
          <a:noFill/>
          <a:ln/>
        </p:spPr>
        <p:txBody>
          <a:bodyPr wrap="square"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Reason +</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Act loop</a:t>
            </a:r>
            <a:endParaRPr lang="en-US" sz="1000" dirty="0"/>
          </a:p>
        </p:txBody>
      </p:sp>
      <p:sp>
        <p:nvSpPr>
          <p:cNvPr id="16" name="Shape 12"/>
          <p:cNvSpPr/>
          <p:nvPr/>
        </p:nvSpPr>
        <p:spPr>
          <a:xfrm>
            <a:off x="2788920" y="960120"/>
            <a:ext cx="109728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Shape 13"/>
          <p:cNvSpPr/>
          <p:nvPr/>
        </p:nvSpPr>
        <p:spPr>
          <a:xfrm>
            <a:off x="2788920" y="960120"/>
            <a:ext cx="1097280" cy="54864"/>
          </a:xfrm>
          <a:prstGeom prst="rect">
            <a:avLst/>
          </a:prstGeom>
          <a:solidFill>
            <a:srgbClr val="10B981"/>
          </a:solidFill>
          <a:ln/>
        </p:spPr>
      </p:sp>
      <p:pic>
        <p:nvPicPr>
          <p:cNvPr id="18" name="Image 2" descr="preencoded.png">    </p:cNvPr>
          <p:cNvPicPr>
            <a:picLocks noChangeAspect="1"/>
          </p:cNvPicPr>
          <p:nvPr/>
        </p:nvPicPr>
        <p:blipFill>
          <a:blip r:embed="rId3"/>
          <a:stretch>
            <a:fillRect/>
          </a:stretch>
        </p:blipFill>
        <p:spPr>
          <a:xfrm>
            <a:off x="3063240" y="1234440"/>
            <a:ext cx="502920" cy="502920"/>
          </a:xfrm>
          <a:prstGeom prst="rect">
            <a:avLst/>
          </a:prstGeom>
        </p:spPr>
      </p:pic>
      <p:sp>
        <p:nvSpPr>
          <p:cNvPr id="19" name="Text 14"/>
          <p:cNvSpPr/>
          <p:nvPr/>
        </p:nvSpPr>
        <p:spPr>
          <a:xfrm>
            <a:off x="2834640" y="1828800"/>
            <a:ext cx="1005840" cy="594360"/>
          </a:xfrm>
          <a:prstGeom prst="rect">
            <a:avLst/>
          </a:prstGeom>
          <a:noFill/>
          <a:ln/>
        </p:spPr>
        <p:txBody>
          <a:bodyPr wrap="square" lIns="0" tIns="0" rIns="0" bIns="0" rtlCol="0" anchor="t"/>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REWOO</a:t>
            </a:r>
            <a:endParaRPr lang="en-US" sz="1200" dirty="0"/>
          </a:p>
        </p:txBody>
      </p:sp>
      <p:sp>
        <p:nvSpPr>
          <p:cNvPr id="20" name="Shape 15"/>
          <p:cNvSpPr/>
          <p:nvPr/>
        </p:nvSpPr>
        <p:spPr>
          <a:xfrm>
            <a:off x="3017520" y="2468880"/>
            <a:ext cx="640080" cy="13716"/>
          </a:xfrm>
          <a:prstGeom prst="rect">
            <a:avLst/>
          </a:prstGeom>
          <a:solidFill>
            <a:srgbClr val="10B981">
              <a:alpha val="50000"/>
            </a:srgbClr>
          </a:solidFill>
          <a:ln/>
        </p:spPr>
      </p:sp>
      <p:sp>
        <p:nvSpPr>
          <p:cNvPr id="21" name="Text 16"/>
          <p:cNvSpPr/>
          <p:nvPr/>
        </p:nvSpPr>
        <p:spPr>
          <a:xfrm>
            <a:off x="2834640" y="2606040"/>
            <a:ext cx="1005840" cy="1554480"/>
          </a:xfrm>
          <a:prstGeom prst="rect">
            <a:avLst/>
          </a:prstGeom>
          <a:noFill/>
          <a:ln/>
        </p:spPr>
        <p:txBody>
          <a:bodyPr wrap="square"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Plan first,</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observe later</a:t>
            </a:r>
            <a:endParaRPr lang="en-US" sz="1000" dirty="0"/>
          </a:p>
        </p:txBody>
      </p:sp>
      <p:sp>
        <p:nvSpPr>
          <p:cNvPr id="22" name="Shape 17"/>
          <p:cNvSpPr/>
          <p:nvPr/>
        </p:nvSpPr>
        <p:spPr>
          <a:xfrm>
            <a:off x="4023360" y="960120"/>
            <a:ext cx="109728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3" name="Shape 18"/>
          <p:cNvSpPr/>
          <p:nvPr/>
        </p:nvSpPr>
        <p:spPr>
          <a:xfrm>
            <a:off x="4023360" y="960120"/>
            <a:ext cx="1097280" cy="54864"/>
          </a:xfrm>
          <a:prstGeom prst="rect">
            <a:avLst/>
          </a:prstGeom>
          <a:solidFill>
            <a:srgbClr val="F59E0B"/>
          </a:solidFill>
          <a:ln/>
        </p:spPr>
      </p:sp>
      <p:pic>
        <p:nvPicPr>
          <p:cNvPr id="24" name="Image 3" descr="preencoded.png">    </p:cNvPr>
          <p:cNvPicPr>
            <a:picLocks noChangeAspect="1"/>
          </p:cNvPicPr>
          <p:nvPr/>
        </p:nvPicPr>
        <p:blipFill>
          <a:blip r:embed="rId4"/>
          <a:stretch>
            <a:fillRect/>
          </a:stretch>
        </p:blipFill>
        <p:spPr>
          <a:xfrm>
            <a:off x="4297680" y="1234440"/>
            <a:ext cx="502920" cy="502920"/>
          </a:xfrm>
          <a:prstGeom prst="rect">
            <a:avLst/>
          </a:prstGeom>
        </p:spPr>
      </p:pic>
      <p:sp>
        <p:nvSpPr>
          <p:cNvPr id="25" name="Text 19"/>
          <p:cNvSpPr/>
          <p:nvPr/>
        </p:nvSpPr>
        <p:spPr>
          <a:xfrm>
            <a:off x="4069080" y="1828800"/>
            <a:ext cx="1005840" cy="594360"/>
          </a:xfrm>
          <a:prstGeom prst="rect">
            <a:avLst/>
          </a:prstGeom>
          <a:noFill/>
          <a:ln/>
        </p:spPr>
        <p:txBody>
          <a:bodyPr wrap="square" lIns="0" tIns="0" rIns="0" bIns="0" rtlCol="0" anchor="t"/>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Plan &amp;</a:t>
            </a:r>
            <a:endParaRPr lang="en-US" sz="1200" dirty="0"/>
          </a:p>
          <a:p>
            <a:pPr algn="ctr" indent="0" marL="0">
              <a:buNone/>
            </a:pPr>
            <a:r>
              <a:rPr lang="en-US" sz="1200" b="1" dirty="0">
                <a:solidFill>
                  <a:srgbClr val="1E293B"/>
                </a:solidFill>
                <a:latin typeface="Trebuchet MS" pitchFamily="34" charset="0"/>
                <a:ea typeface="Trebuchet MS" pitchFamily="34" charset="-122"/>
                <a:cs typeface="Trebuchet MS" pitchFamily="34" charset="-120"/>
              </a:rPr>
              <a:t>Execute</a:t>
            </a:r>
            <a:endParaRPr lang="en-US" sz="1200" dirty="0"/>
          </a:p>
        </p:txBody>
      </p:sp>
      <p:sp>
        <p:nvSpPr>
          <p:cNvPr id="26" name="Shape 20"/>
          <p:cNvSpPr/>
          <p:nvPr/>
        </p:nvSpPr>
        <p:spPr>
          <a:xfrm>
            <a:off x="4251960" y="2468880"/>
            <a:ext cx="640080" cy="13716"/>
          </a:xfrm>
          <a:prstGeom prst="rect">
            <a:avLst/>
          </a:prstGeom>
          <a:solidFill>
            <a:srgbClr val="F59E0B">
              <a:alpha val="50000"/>
            </a:srgbClr>
          </a:solidFill>
          <a:ln/>
        </p:spPr>
      </p:sp>
      <p:sp>
        <p:nvSpPr>
          <p:cNvPr id="27" name="Text 21"/>
          <p:cNvSpPr/>
          <p:nvPr/>
        </p:nvSpPr>
        <p:spPr>
          <a:xfrm>
            <a:off x="4069080" y="2606040"/>
            <a:ext cx="1005840" cy="1554480"/>
          </a:xfrm>
          <a:prstGeom prst="rect">
            <a:avLst/>
          </a:prstGeom>
          <a:noFill/>
          <a:ln/>
        </p:spPr>
        <p:txBody>
          <a:bodyPr wrap="square"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Structured</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planning</a:t>
            </a:r>
            <a:endParaRPr lang="en-US" sz="1000" dirty="0"/>
          </a:p>
        </p:txBody>
      </p:sp>
      <p:sp>
        <p:nvSpPr>
          <p:cNvPr id="28" name="Shape 22"/>
          <p:cNvSpPr/>
          <p:nvPr/>
        </p:nvSpPr>
        <p:spPr>
          <a:xfrm>
            <a:off x="5257800" y="960120"/>
            <a:ext cx="109728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9" name="Shape 23"/>
          <p:cNvSpPr/>
          <p:nvPr/>
        </p:nvSpPr>
        <p:spPr>
          <a:xfrm>
            <a:off x="5257800" y="960120"/>
            <a:ext cx="1097280" cy="54864"/>
          </a:xfrm>
          <a:prstGeom prst="rect">
            <a:avLst/>
          </a:prstGeom>
          <a:solidFill>
            <a:srgbClr val="EF4444"/>
          </a:solidFill>
          <a:ln/>
        </p:spPr>
      </p:sp>
      <p:pic>
        <p:nvPicPr>
          <p:cNvPr id="30" name="Image 4" descr="preencoded.png">    </p:cNvPr>
          <p:cNvPicPr>
            <a:picLocks noChangeAspect="1"/>
          </p:cNvPicPr>
          <p:nvPr/>
        </p:nvPicPr>
        <p:blipFill>
          <a:blip r:embed="rId5"/>
          <a:stretch>
            <a:fillRect/>
          </a:stretch>
        </p:blipFill>
        <p:spPr>
          <a:xfrm>
            <a:off x="5532120" y="1234440"/>
            <a:ext cx="502920" cy="502920"/>
          </a:xfrm>
          <a:prstGeom prst="rect">
            <a:avLst/>
          </a:prstGeom>
        </p:spPr>
      </p:pic>
      <p:sp>
        <p:nvSpPr>
          <p:cNvPr id="31" name="Text 24"/>
          <p:cNvSpPr/>
          <p:nvPr/>
        </p:nvSpPr>
        <p:spPr>
          <a:xfrm>
            <a:off x="5303520" y="1828800"/>
            <a:ext cx="1005840" cy="594360"/>
          </a:xfrm>
          <a:prstGeom prst="rect">
            <a:avLst/>
          </a:prstGeom>
          <a:noFill/>
          <a:ln/>
        </p:spPr>
        <p:txBody>
          <a:bodyPr wrap="square" lIns="0" tIns="0" rIns="0" bIns="0" rtlCol="0" anchor="t"/>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Tool Use</a:t>
            </a:r>
            <a:endParaRPr lang="en-US" sz="1200" dirty="0"/>
          </a:p>
        </p:txBody>
      </p:sp>
      <p:sp>
        <p:nvSpPr>
          <p:cNvPr id="32" name="Shape 25"/>
          <p:cNvSpPr/>
          <p:nvPr/>
        </p:nvSpPr>
        <p:spPr>
          <a:xfrm>
            <a:off x="5486400" y="2468880"/>
            <a:ext cx="640080" cy="13716"/>
          </a:xfrm>
          <a:prstGeom prst="rect">
            <a:avLst/>
          </a:prstGeom>
          <a:solidFill>
            <a:srgbClr val="EF4444">
              <a:alpha val="50000"/>
            </a:srgbClr>
          </a:solidFill>
          <a:ln/>
        </p:spPr>
      </p:sp>
      <p:sp>
        <p:nvSpPr>
          <p:cNvPr id="33" name="Text 26"/>
          <p:cNvSpPr/>
          <p:nvPr/>
        </p:nvSpPr>
        <p:spPr>
          <a:xfrm>
            <a:off x="5303520" y="2606040"/>
            <a:ext cx="1005840" cy="1554480"/>
          </a:xfrm>
          <a:prstGeom prst="rect">
            <a:avLst/>
          </a:prstGeom>
          <a:noFill/>
          <a:ln/>
        </p:spPr>
        <p:txBody>
          <a:bodyPr wrap="square"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External</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integrations</a:t>
            </a:r>
            <a:endParaRPr lang="en-US" sz="1000" dirty="0"/>
          </a:p>
        </p:txBody>
      </p:sp>
      <p:sp>
        <p:nvSpPr>
          <p:cNvPr id="34" name="Shape 27"/>
          <p:cNvSpPr/>
          <p:nvPr/>
        </p:nvSpPr>
        <p:spPr>
          <a:xfrm>
            <a:off x="6492240" y="960120"/>
            <a:ext cx="109728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35" name="Shape 28"/>
          <p:cNvSpPr/>
          <p:nvPr/>
        </p:nvSpPr>
        <p:spPr>
          <a:xfrm>
            <a:off x="6492240" y="960120"/>
            <a:ext cx="1097280" cy="54864"/>
          </a:xfrm>
          <a:prstGeom prst="rect">
            <a:avLst/>
          </a:prstGeom>
          <a:solidFill>
            <a:srgbClr val="EC4899"/>
          </a:solidFill>
          <a:ln/>
        </p:spPr>
      </p:sp>
      <p:pic>
        <p:nvPicPr>
          <p:cNvPr id="36" name="Image 5" descr="preencoded.png">    </p:cNvPr>
          <p:cNvPicPr>
            <a:picLocks noChangeAspect="1"/>
          </p:cNvPicPr>
          <p:nvPr/>
        </p:nvPicPr>
        <p:blipFill>
          <a:blip r:embed="rId6"/>
          <a:stretch>
            <a:fillRect/>
          </a:stretch>
        </p:blipFill>
        <p:spPr>
          <a:xfrm>
            <a:off x="6766560" y="1234440"/>
            <a:ext cx="502920" cy="502920"/>
          </a:xfrm>
          <a:prstGeom prst="rect">
            <a:avLst/>
          </a:prstGeom>
        </p:spPr>
      </p:pic>
      <p:sp>
        <p:nvSpPr>
          <p:cNvPr id="37" name="Text 29"/>
          <p:cNvSpPr/>
          <p:nvPr/>
        </p:nvSpPr>
        <p:spPr>
          <a:xfrm>
            <a:off x="6537960" y="1828800"/>
            <a:ext cx="1005840" cy="594360"/>
          </a:xfrm>
          <a:prstGeom prst="rect">
            <a:avLst/>
          </a:prstGeom>
          <a:noFill/>
          <a:ln/>
        </p:spPr>
        <p:txBody>
          <a:bodyPr wrap="square" lIns="0" tIns="0" rIns="0" bIns="0" rtlCol="0" anchor="t"/>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Multi-</a:t>
            </a:r>
            <a:endParaRPr lang="en-US" sz="1200" dirty="0"/>
          </a:p>
          <a:p>
            <a:pPr algn="ctr" indent="0" marL="0">
              <a:buNone/>
            </a:pPr>
            <a:r>
              <a:rPr lang="en-US" sz="1200" b="1" dirty="0">
                <a:solidFill>
                  <a:srgbClr val="1E293B"/>
                </a:solidFill>
                <a:latin typeface="Trebuchet MS" pitchFamily="34" charset="0"/>
                <a:ea typeface="Trebuchet MS" pitchFamily="34" charset="-122"/>
                <a:cs typeface="Trebuchet MS" pitchFamily="34" charset="-120"/>
              </a:rPr>
              <a:t>Agent</a:t>
            </a:r>
            <a:endParaRPr lang="en-US" sz="1200" dirty="0"/>
          </a:p>
        </p:txBody>
      </p:sp>
      <p:sp>
        <p:nvSpPr>
          <p:cNvPr id="38" name="Shape 30"/>
          <p:cNvSpPr/>
          <p:nvPr/>
        </p:nvSpPr>
        <p:spPr>
          <a:xfrm>
            <a:off x="6720840" y="2468880"/>
            <a:ext cx="640080" cy="13716"/>
          </a:xfrm>
          <a:prstGeom prst="rect">
            <a:avLst/>
          </a:prstGeom>
          <a:solidFill>
            <a:srgbClr val="EC4899">
              <a:alpha val="50000"/>
            </a:srgbClr>
          </a:solidFill>
          <a:ln/>
        </p:spPr>
      </p:sp>
      <p:sp>
        <p:nvSpPr>
          <p:cNvPr id="39" name="Text 31"/>
          <p:cNvSpPr/>
          <p:nvPr/>
        </p:nvSpPr>
        <p:spPr>
          <a:xfrm>
            <a:off x="6537960" y="2606040"/>
            <a:ext cx="1005840" cy="1554480"/>
          </a:xfrm>
          <a:prstGeom prst="rect">
            <a:avLst/>
          </a:prstGeom>
          <a:noFill/>
          <a:ln/>
        </p:spPr>
        <p:txBody>
          <a:bodyPr wrap="square"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Collaborative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agents</a:t>
            </a:r>
            <a:endParaRPr lang="en-US" sz="1000" dirty="0"/>
          </a:p>
        </p:txBody>
      </p:sp>
      <p:sp>
        <p:nvSpPr>
          <p:cNvPr id="40" name="Shape 32"/>
          <p:cNvSpPr/>
          <p:nvPr/>
        </p:nvSpPr>
        <p:spPr>
          <a:xfrm>
            <a:off x="7726680" y="960120"/>
            <a:ext cx="109728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1" name="Shape 33"/>
          <p:cNvSpPr/>
          <p:nvPr/>
        </p:nvSpPr>
        <p:spPr>
          <a:xfrm>
            <a:off x="7726680" y="960120"/>
            <a:ext cx="1097280" cy="54864"/>
          </a:xfrm>
          <a:prstGeom prst="rect">
            <a:avLst/>
          </a:prstGeom>
          <a:solidFill>
            <a:srgbClr val="6366F1"/>
          </a:solidFill>
          <a:ln/>
        </p:spPr>
      </p:sp>
      <p:pic>
        <p:nvPicPr>
          <p:cNvPr id="42" name="Image 6" descr="preencoded.png">    </p:cNvPr>
          <p:cNvPicPr>
            <a:picLocks noChangeAspect="1"/>
          </p:cNvPicPr>
          <p:nvPr/>
        </p:nvPicPr>
        <p:blipFill>
          <a:blip r:embed="rId7"/>
          <a:stretch>
            <a:fillRect/>
          </a:stretch>
        </p:blipFill>
        <p:spPr>
          <a:xfrm>
            <a:off x="8001000" y="1234440"/>
            <a:ext cx="502920" cy="502920"/>
          </a:xfrm>
          <a:prstGeom prst="rect">
            <a:avLst/>
          </a:prstGeom>
        </p:spPr>
      </p:pic>
      <p:sp>
        <p:nvSpPr>
          <p:cNvPr id="43" name="Text 34"/>
          <p:cNvSpPr/>
          <p:nvPr/>
        </p:nvSpPr>
        <p:spPr>
          <a:xfrm>
            <a:off x="7772400" y="1828800"/>
            <a:ext cx="1005840" cy="594360"/>
          </a:xfrm>
          <a:prstGeom prst="rect">
            <a:avLst/>
          </a:prstGeom>
          <a:noFill/>
          <a:ln/>
        </p:spPr>
        <p:txBody>
          <a:bodyPr wrap="square" lIns="0" tIns="0" rIns="0" bIns="0" rtlCol="0" anchor="t"/>
          <a:lstStyle/>
          <a:p>
            <a:pPr algn="ctr" indent="0" marL="0">
              <a:buNone/>
            </a:pPr>
            <a:r>
              <a:rPr lang="en-US" sz="1200" b="1" dirty="0">
                <a:solidFill>
                  <a:srgbClr val="1E293B"/>
                </a:solidFill>
                <a:latin typeface="Trebuchet MS" pitchFamily="34" charset="0"/>
                <a:ea typeface="Trebuchet MS" pitchFamily="34" charset="-122"/>
                <a:cs typeface="Trebuchet MS" pitchFamily="34" charset="-120"/>
              </a:rPr>
              <a:t>LLM</a:t>
            </a:r>
            <a:endParaRPr lang="en-US" sz="1200" dirty="0"/>
          </a:p>
          <a:p>
            <a:pPr algn="ctr" indent="0" marL="0">
              <a:buNone/>
            </a:pPr>
            <a:r>
              <a:rPr lang="en-US" sz="1200" b="1" dirty="0">
                <a:solidFill>
                  <a:srgbClr val="1E293B"/>
                </a:solidFill>
                <a:latin typeface="Trebuchet MS" pitchFamily="34" charset="0"/>
                <a:ea typeface="Trebuchet MS" pitchFamily="34" charset="-122"/>
                <a:cs typeface="Trebuchet MS" pitchFamily="34" charset="-120"/>
              </a:rPr>
              <a:t>Compiler</a:t>
            </a:r>
            <a:endParaRPr lang="en-US" sz="1200" dirty="0"/>
          </a:p>
        </p:txBody>
      </p:sp>
      <p:sp>
        <p:nvSpPr>
          <p:cNvPr id="44" name="Shape 35"/>
          <p:cNvSpPr/>
          <p:nvPr/>
        </p:nvSpPr>
        <p:spPr>
          <a:xfrm>
            <a:off x="7955280" y="2468880"/>
            <a:ext cx="640080" cy="13716"/>
          </a:xfrm>
          <a:prstGeom prst="rect">
            <a:avLst/>
          </a:prstGeom>
          <a:solidFill>
            <a:srgbClr val="6366F1">
              <a:alpha val="50000"/>
            </a:srgbClr>
          </a:solidFill>
          <a:ln/>
        </p:spPr>
      </p:sp>
      <p:sp>
        <p:nvSpPr>
          <p:cNvPr id="45" name="Text 36"/>
          <p:cNvSpPr/>
          <p:nvPr/>
        </p:nvSpPr>
        <p:spPr>
          <a:xfrm>
            <a:off x="7772400" y="2606040"/>
            <a:ext cx="1005840" cy="1554480"/>
          </a:xfrm>
          <a:prstGeom prst="rect">
            <a:avLst/>
          </a:prstGeom>
          <a:noFill/>
          <a:ln/>
        </p:spPr>
        <p:txBody>
          <a:bodyPr wrap="square"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Parallel</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execution</a:t>
            </a:r>
            <a:endParaRPr lang="en-US" sz="1000" dirty="0"/>
          </a:p>
        </p:txBody>
      </p:sp>
      <p:sp>
        <p:nvSpPr>
          <p:cNvPr id="46" name="Text 37"/>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33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2103120"/>
            <a:ext cx="9144000" cy="13716"/>
          </a:xfrm>
          <a:prstGeom prst="rect">
            <a:avLst/>
          </a:prstGeom>
          <a:solidFill>
            <a:srgbClr val="00D4FF">
              <a:alpha val="70000"/>
            </a:srgbClr>
          </a:solidFill>
          <a:ln/>
        </p:spPr>
      </p:sp>
      <p:pic>
        <p:nvPicPr>
          <p:cNvPr id="3" name="Image 0" descr="preencoded.png">    </p:cNvPr>
          <p:cNvPicPr>
            <a:picLocks noChangeAspect="1"/>
          </p:cNvPicPr>
          <p:nvPr/>
        </p:nvPicPr>
        <p:blipFill>
          <a:blip r:embed="rId1"/>
          <a:stretch>
            <a:fillRect/>
          </a:stretch>
        </p:blipFill>
        <p:spPr>
          <a:xfrm>
            <a:off x="4069080" y="1005840"/>
            <a:ext cx="1005840" cy="1005840"/>
          </a:xfrm>
          <a:prstGeom prst="rect">
            <a:avLst/>
          </a:prstGeom>
        </p:spPr>
      </p:pic>
      <p:sp>
        <p:nvSpPr>
          <p:cNvPr id="4" name="Text 1"/>
          <p:cNvSpPr/>
          <p:nvPr/>
        </p:nvSpPr>
        <p:spPr>
          <a:xfrm>
            <a:off x="914400" y="2331720"/>
            <a:ext cx="73152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Reflection Pattern</a:t>
            </a:r>
            <a:endParaRPr lang="en-US" sz="3400" dirty="0"/>
          </a:p>
        </p:txBody>
      </p:sp>
      <p:sp>
        <p:nvSpPr>
          <p:cNvPr id="5" name="Text 2"/>
          <p:cNvSpPr/>
          <p:nvPr/>
        </p:nvSpPr>
        <p:spPr>
          <a:xfrm>
            <a:off x="914400" y="2971800"/>
            <a:ext cx="7315200" cy="365760"/>
          </a:xfrm>
          <a:prstGeom prst="rect">
            <a:avLst/>
          </a:prstGeom>
          <a:noFill/>
          <a:ln/>
        </p:spPr>
        <p:txBody>
          <a:bodyPr wrap="square" rtlCol="0" anchor="ctr"/>
          <a:lstStyle/>
          <a:p>
            <a:pPr algn="ctr" indent="0" marL="0">
              <a:buNone/>
            </a:pPr>
            <a:r>
              <a:rPr lang="en-US" sz="1600" dirty="0">
                <a:solidFill>
                  <a:srgbClr val="00D4FF"/>
                </a:solidFill>
                <a:latin typeface="Calibri" pitchFamily="34" charset="0"/>
                <a:ea typeface="Calibri" pitchFamily="34" charset="-122"/>
                <a:cs typeface="Calibri" pitchFamily="34" charset="-120"/>
              </a:rPr>
              <a:t>Self-Critique and Iterative Refinement</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6 / 33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Reflection Pattern — Overview</a:t>
            </a:r>
            <a:endParaRPr lang="en-US" sz="2600" dirty="0"/>
          </a:p>
        </p:txBody>
      </p:sp>
      <p:sp>
        <p:nvSpPr>
          <p:cNvPr id="4" name="Text 2"/>
          <p:cNvSpPr/>
          <p:nvPr/>
        </p:nvSpPr>
        <p:spPr>
          <a:xfrm>
            <a:off x="457200" y="914400"/>
            <a:ext cx="4572000" cy="1097280"/>
          </a:xfrm>
          <a:prstGeom prst="rect">
            <a:avLst/>
          </a:prstGeom>
          <a:noFill/>
          <a:ln/>
        </p:spPr>
        <p:txBody>
          <a:bodyPr wrap="square"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The Reflection pattern enables an LLM to critique its own output and iteratively improve it. The agent generates an initial response, then a critic (same or separate LLM) evaluates it against quality criteria, providing specific feedback that drives the next iteration.</a:t>
            </a:r>
            <a:endParaRPr lang="en-US" sz="1300" dirty="0"/>
          </a:p>
        </p:txBody>
      </p:sp>
      <p:sp>
        <p:nvSpPr>
          <p:cNvPr id="5" name="Shape 3"/>
          <p:cNvSpPr/>
          <p:nvPr/>
        </p:nvSpPr>
        <p:spPr>
          <a:xfrm>
            <a:off x="457200" y="2194560"/>
            <a:ext cx="457200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457200" y="2194560"/>
            <a:ext cx="4572000" cy="54864"/>
          </a:xfrm>
          <a:prstGeom prst="rect">
            <a:avLst/>
          </a:prstGeom>
          <a:solidFill>
            <a:srgbClr val="00D4FF"/>
          </a:solidFill>
          <a:ln/>
        </p:spPr>
      </p:sp>
      <p:sp>
        <p:nvSpPr>
          <p:cNvPr id="7" name="Text 5"/>
          <p:cNvSpPr/>
          <p:nvPr/>
        </p:nvSpPr>
        <p:spPr>
          <a:xfrm>
            <a:off x="640080" y="2331720"/>
            <a:ext cx="41148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Key Characteristics</a:t>
            </a:r>
            <a:endParaRPr lang="en-US" sz="1500" dirty="0"/>
          </a:p>
        </p:txBody>
      </p:sp>
      <p:sp>
        <p:nvSpPr>
          <p:cNvPr id="8" name="Text 6"/>
          <p:cNvSpPr/>
          <p:nvPr/>
        </p:nvSpPr>
        <p:spPr>
          <a:xfrm>
            <a:off x="640080" y="2697480"/>
            <a:ext cx="4206240" cy="27432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Generator LLM produces initial output</a:t>
            </a:r>
            <a:endParaRPr lang="en-US" sz="1150" dirty="0"/>
          </a:p>
        </p:txBody>
      </p:sp>
      <p:sp>
        <p:nvSpPr>
          <p:cNvPr id="9" name="Text 7"/>
          <p:cNvSpPr/>
          <p:nvPr/>
        </p:nvSpPr>
        <p:spPr>
          <a:xfrm>
            <a:off x="640080" y="3017520"/>
            <a:ext cx="4206240" cy="27432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Critic LLM evaluates against rubric / criteria</a:t>
            </a:r>
            <a:endParaRPr lang="en-US" sz="1150" dirty="0"/>
          </a:p>
        </p:txBody>
      </p:sp>
      <p:sp>
        <p:nvSpPr>
          <p:cNvPr id="10" name="Text 8"/>
          <p:cNvSpPr/>
          <p:nvPr/>
        </p:nvSpPr>
        <p:spPr>
          <a:xfrm>
            <a:off x="640080" y="3337560"/>
            <a:ext cx="4206240" cy="27432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Feedback loop drives iterative improvement</a:t>
            </a:r>
            <a:endParaRPr lang="en-US" sz="1150" dirty="0"/>
          </a:p>
        </p:txBody>
      </p:sp>
      <p:sp>
        <p:nvSpPr>
          <p:cNvPr id="11" name="Text 9"/>
          <p:cNvSpPr/>
          <p:nvPr/>
        </p:nvSpPr>
        <p:spPr>
          <a:xfrm>
            <a:off x="640080" y="3657600"/>
            <a:ext cx="4206240" cy="27432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Configurable max iterations (typically 2–5)</a:t>
            </a:r>
            <a:endParaRPr lang="en-US" sz="1150" dirty="0"/>
          </a:p>
        </p:txBody>
      </p:sp>
      <p:sp>
        <p:nvSpPr>
          <p:cNvPr id="12" name="Text 10"/>
          <p:cNvSpPr/>
          <p:nvPr/>
        </p:nvSpPr>
        <p:spPr>
          <a:xfrm>
            <a:off x="640080" y="3977640"/>
            <a:ext cx="4206240" cy="27432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Can include external validators (unit tests, linters)</a:t>
            </a:r>
            <a:endParaRPr lang="en-US" sz="1150" dirty="0"/>
          </a:p>
        </p:txBody>
      </p:sp>
      <p:sp>
        <p:nvSpPr>
          <p:cNvPr id="13" name="Text 11"/>
          <p:cNvSpPr/>
          <p:nvPr/>
        </p:nvSpPr>
        <p:spPr>
          <a:xfrm>
            <a:off x="640080" y="4297680"/>
            <a:ext cx="4206240" cy="27432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Inspired by self-play in reinforcement learning</a:t>
            </a:r>
            <a:endParaRPr lang="en-US" sz="1150" dirty="0"/>
          </a:p>
        </p:txBody>
      </p:sp>
      <p:sp>
        <p:nvSpPr>
          <p:cNvPr id="14" name="Shape 12"/>
          <p:cNvSpPr/>
          <p:nvPr/>
        </p:nvSpPr>
        <p:spPr>
          <a:xfrm>
            <a:off x="5669280" y="914400"/>
            <a:ext cx="2926080" cy="457200"/>
          </a:xfrm>
          <a:prstGeom prst="rect">
            <a:avLst/>
          </a:prstGeom>
          <a:solidFill>
            <a:srgbClr val="7C3AED">
              <a:alpha val="15000"/>
            </a:srgbClr>
          </a:solidFill>
          <a:ln w="19050">
            <a:solidFill>
              <a:srgbClr val="7C3AED"/>
            </a:solidFill>
            <a:prstDash val="solid"/>
          </a:ln>
        </p:spPr>
      </p:sp>
      <p:sp>
        <p:nvSpPr>
          <p:cNvPr id="15" name="Text 13"/>
          <p:cNvSpPr/>
          <p:nvPr/>
        </p:nvSpPr>
        <p:spPr>
          <a:xfrm>
            <a:off x="5669280" y="914400"/>
            <a:ext cx="2926080" cy="45720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User Query</a:t>
            </a:r>
            <a:endParaRPr lang="en-US" sz="1200" dirty="0"/>
          </a:p>
        </p:txBody>
      </p:sp>
      <p:sp>
        <p:nvSpPr>
          <p:cNvPr id="16" name="Text 14"/>
          <p:cNvSpPr/>
          <p:nvPr/>
        </p:nvSpPr>
        <p:spPr>
          <a:xfrm>
            <a:off x="6903720" y="1325880"/>
            <a:ext cx="457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7" name="Shape 15"/>
          <p:cNvSpPr/>
          <p:nvPr/>
        </p:nvSpPr>
        <p:spPr>
          <a:xfrm>
            <a:off x="5669280" y="1572768"/>
            <a:ext cx="2926080" cy="457200"/>
          </a:xfrm>
          <a:prstGeom prst="rect">
            <a:avLst/>
          </a:prstGeom>
          <a:solidFill>
            <a:srgbClr val="00D4FF">
              <a:alpha val="15000"/>
            </a:srgbClr>
          </a:solidFill>
          <a:ln w="19050">
            <a:solidFill>
              <a:srgbClr val="00D4FF"/>
            </a:solidFill>
            <a:prstDash val="solid"/>
          </a:ln>
        </p:spPr>
      </p:sp>
      <p:sp>
        <p:nvSpPr>
          <p:cNvPr id="18" name="Text 16"/>
          <p:cNvSpPr/>
          <p:nvPr/>
        </p:nvSpPr>
        <p:spPr>
          <a:xfrm>
            <a:off x="5669280" y="1572768"/>
            <a:ext cx="2926080" cy="45720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Generator LLM</a:t>
            </a:r>
            <a:endParaRPr lang="en-US" sz="1200" dirty="0"/>
          </a:p>
        </p:txBody>
      </p:sp>
      <p:sp>
        <p:nvSpPr>
          <p:cNvPr id="19" name="Text 17"/>
          <p:cNvSpPr/>
          <p:nvPr/>
        </p:nvSpPr>
        <p:spPr>
          <a:xfrm>
            <a:off x="6903720" y="1984248"/>
            <a:ext cx="457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5669280" y="2231136"/>
            <a:ext cx="2926080" cy="457200"/>
          </a:xfrm>
          <a:prstGeom prst="rect">
            <a:avLst/>
          </a:prstGeom>
          <a:solidFill>
            <a:srgbClr val="64748B">
              <a:alpha val="15000"/>
            </a:srgbClr>
          </a:solidFill>
          <a:ln w="19050">
            <a:solidFill>
              <a:srgbClr val="64748B"/>
            </a:solidFill>
            <a:prstDash val="solid"/>
          </a:ln>
        </p:spPr>
      </p:sp>
      <p:sp>
        <p:nvSpPr>
          <p:cNvPr id="21" name="Text 19"/>
          <p:cNvSpPr/>
          <p:nvPr/>
        </p:nvSpPr>
        <p:spPr>
          <a:xfrm>
            <a:off x="5669280" y="2231136"/>
            <a:ext cx="2926080" cy="45720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Initial Output</a:t>
            </a:r>
            <a:endParaRPr lang="en-US" sz="1200" dirty="0"/>
          </a:p>
        </p:txBody>
      </p:sp>
      <p:sp>
        <p:nvSpPr>
          <p:cNvPr id="22" name="Text 20"/>
          <p:cNvSpPr/>
          <p:nvPr/>
        </p:nvSpPr>
        <p:spPr>
          <a:xfrm>
            <a:off x="6903720" y="2642616"/>
            <a:ext cx="457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3" name="Shape 21"/>
          <p:cNvSpPr/>
          <p:nvPr/>
        </p:nvSpPr>
        <p:spPr>
          <a:xfrm>
            <a:off x="5669280" y="2889504"/>
            <a:ext cx="2926080" cy="457200"/>
          </a:xfrm>
          <a:prstGeom prst="rect">
            <a:avLst/>
          </a:prstGeom>
          <a:solidFill>
            <a:srgbClr val="F59E0B">
              <a:alpha val="15000"/>
            </a:srgbClr>
          </a:solidFill>
          <a:ln w="19050">
            <a:solidFill>
              <a:srgbClr val="F59E0B"/>
            </a:solidFill>
            <a:prstDash val="solid"/>
          </a:ln>
        </p:spPr>
      </p:sp>
      <p:sp>
        <p:nvSpPr>
          <p:cNvPr id="24" name="Text 22"/>
          <p:cNvSpPr/>
          <p:nvPr/>
        </p:nvSpPr>
        <p:spPr>
          <a:xfrm>
            <a:off x="5669280" y="2889504"/>
            <a:ext cx="2926080" cy="45720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Critic / Evaluator</a:t>
            </a:r>
            <a:endParaRPr lang="en-US" sz="1200" dirty="0"/>
          </a:p>
        </p:txBody>
      </p:sp>
      <p:sp>
        <p:nvSpPr>
          <p:cNvPr id="25" name="Text 23"/>
          <p:cNvSpPr/>
          <p:nvPr/>
        </p:nvSpPr>
        <p:spPr>
          <a:xfrm>
            <a:off x="6903720" y="3300984"/>
            <a:ext cx="457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5669280" y="3547872"/>
            <a:ext cx="2926080" cy="457200"/>
          </a:xfrm>
          <a:prstGeom prst="rect">
            <a:avLst/>
          </a:prstGeom>
          <a:solidFill>
            <a:srgbClr val="EF4444">
              <a:alpha val="15000"/>
            </a:srgbClr>
          </a:solidFill>
          <a:ln w="19050">
            <a:solidFill>
              <a:srgbClr val="EF4444"/>
            </a:solidFill>
            <a:prstDash val="solid"/>
          </a:ln>
        </p:spPr>
      </p:sp>
      <p:sp>
        <p:nvSpPr>
          <p:cNvPr id="27" name="Text 25"/>
          <p:cNvSpPr/>
          <p:nvPr/>
        </p:nvSpPr>
        <p:spPr>
          <a:xfrm>
            <a:off x="5669280" y="3547872"/>
            <a:ext cx="2926080" cy="45720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Feedback + Score</a:t>
            </a:r>
            <a:endParaRPr lang="en-US" sz="1200" dirty="0"/>
          </a:p>
        </p:txBody>
      </p:sp>
      <p:sp>
        <p:nvSpPr>
          <p:cNvPr id="28" name="Text 26"/>
          <p:cNvSpPr/>
          <p:nvPr/>
        </p:nvSpPr>
        <p:spPr>
          <a:xfrm>
            <a:off x="6903720" y="3959352"/>
            <a:ext cx="457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5669280" y="4206240"/>
            <a:ext cx="2926080" cy="457200"/>
          </a:xfrm>
          <a:prstGeom prst="rect">
            <a:avLst/>
          </a:prstGeom>
          <a:solidFill>
            <a:srgbClr val="10B981">
              <a:alpha val="15000"/>
            </a:srgbClr>
          </a:solidFill>
          <a:ln w="19050">
            <a:solidFill>
              <a:srgbClr val="10B981"/>
            </a:solidFill>
            <a:prstDash val="solid"/>
          </a:ln>
        </p:spPr>
      </p:sp>
      <p:sp>
        <p:nvSpPr>
          <p:cNvPr id="30" name="Text 28"/>
          <p:cNvSpPr/>
          <p:nvPr/>
        </p:nvSpPr>
        <p:spPr>
          <a:xfrm>
            <a:off x="5669280" y="4206240"/>
            <a:ext cx="2926080" cy="457200"/>
          </a:xfrm>
          <a:prstGeom prst="rect">
            <a:avLst/>
          </a:prstGeom>
          <a:noFill/>
          <a:ln/>
        </p:spPr>
        <p:txBody>
          <a:bodyPr wrap="square"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Refined Output</a:t>
            </a:r>
            <a:endParaRPr lang="en-US" sz="1200" dirty="0"/>
          </a:p>
        </p:txBody>
      </p:sp>
      <p:sp>
        <p:nvSpPr>
          <p:cNvPr id="31" name="Text 29"/>
          <p:cNvSpPr/>
          <p:nvPr/>
        </p:nvSpPr>
        <p:spPr>
          <a:xfrm>
            <a:off x="5486400" y="4572000"/>
            <a:ext cx="3200400" cy="274320"/>
          </a:xfrm>
          <a:prstGeom prst="rect">
            <a:avLst/>
          </a:prstGeom>
          <a:noFill/>
          <a:ln/>
        </p:spPr>
        <p:txBody>
          <a:bodyPr wrap="square" rtlCol="0" anchor="ctr"/>
          <a:lstStyle/>
          <a:p>
            <a:pPr algn="ctr" indent="0" marL="0">
              <a:buNone/>
            </a:pPr>
            <a:r>
              <a:rPr lang="en-US" sz="1000" i="1" dirty="0">
                <a:solidFill>
                  <a:srgbClr val="00D4FF"/>
                </a:solidFill>
                <a:latin typeface="Calibri" pitchFamily="34" charset="0"/>
                <a:ea typeface="Calibri" pitchFamily="34" charset="-122"/>
                <a:cs typeface="Calibri" pitchFamily="34" charset="-120"/>
              </a:rPr>
              <a:t>↻ Loop until criteria met</a:t>
            </a:r>
            <a:endParaRPr lang="en-US" sz="1000" dirty="0"/>
          </a:p>
        </p:txBody>
      </p:sp>
      <p:sp>
        <p:nvSpPr>
          <p:cNvPr id="32" name="Text 30"/>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33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FF"/>
          </a:solidFill>
          <a:ln/>
        </p:spPr>
      </p:sp>
      <p:sp>
        <p:nvSpPr>
          <p:cNvPr id="3" name="Text 1"/>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Reflection — Architecture Components</a:t>
            </a:r>
            <a:endParaRPr lang="en-US" sz="2600" dirty="0"/>
          </a:p>
        </p:txBody>
      </p:sp>
      <p:sp>
        <p:nvSpPr>
          <p:cNvPr id="4" name="Shape 2"/>
          <p:cNvSpPr/>
          <p:nvPr/>
        </p:nvSpPr>
        <p:spPr>
          <a:xfrm>
            <a:off x="548640" y="1005840"/>
            <a:ext cx="8046720" cy="822960"/>
          </a:xfrm>
          <a:prstGeom prst="rect">
            <a:avLst/>
          </a:prstGeom>
          <a:solidFill>
            <a:srgbClr val="162D50"/>
          </a:solidFill>
          <a:ln/>
        </p:spPr>
      </p:sp>
      <p:sp>
        <p:nvSpPr>
          <p:cNvPr id="5" name="Shape 3"/>
          <p:cNvSpPr/>
          <p:nvPr/>
        </p:nvSpPr>
        <p:spPr>
          <a:xfrm>
            <a:off x="548640" y="1005840"/>
            <a:ext cx="73152" cy="822960"/>
          </a:xfrm>
          <a:prstGeom prst="rect">
            <a:avLst/>
          </a:prstGeom>
          <a:solidFill>
            <a:srgbClr val="00D4FF"/>
          </a:solidFill>
          <a:ln/>
        </p:spPr>
      </p:sp>
      <p:sp>
        <p:nvSpPr>
          <p:cNvPr id="6" name="Text 4"/>
          <p:cNvSpPr/>
          <p:nvPr/>
        </p:nvSpPr>
        <p:spPr>
          <a:xfrm>
            <a:off x="822960" y="1051560"/>
            <a:ext cx="2743200" cy="320040"/>
          </a:xfrm>
          <a:prstGeom prst="rect">
            <a:avLst/>
          </a:prstGeom>
          <a:noFill/>
          <a:ln/>
        </p:spPr>
        <p:txBody>
          <a:bodyPr wrap="square" lIns="0" tIns="0" rIns="0" bIns="0" rtlCol="0" anchor="ctr"/>
          <a:lstStyle/>
          <a:p>
            <a:pPr indent="0" marL="0">
              <a:buNone/>
            </a:pPr>
            <a:r>
              <a:rPr lang="en-US" sz="1400" b="1" dirty="0">
                <a:solidFill>
                  <a:srgbClr val="00D4FF"/>
                </a:solidFill>
                <a:latin typeface="Trebuchet MS" pitchFamily="34" charset="0"/>
                <a:ea typeface="Trebuchet MS" pitchFamily="34" charset="-122"/>
                <a:cs typeface="Trebuchet MS" pitchFamily="34" charset="-120"/>
              </a:rPr>
              <a:t>Generator Agent</a:t>
            </a:r>
            <a:endParaRPr lang="en-US" sz="1400" dirty="0"/>
          </a:p>
        </p:txBody>
      </p:sp>
      <p:sp>
        <p:nvSpPr>
          <p:cNvPr id="7" name="Text 5"/>
          <p:cNvSpPr/>
          <p:nvPr/>
        </p:nvSpPr>
        <p:spPr>
          <a:xfrm>
            <a:off x="822960" y="1371600"/>
            <a:ext cx="758952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Produces initial output based on user query and system prompt. Uses the full context window including any prior feedback.</a:t>
            </a:r>
            <a:endParaRPr lang="en-US" sz="1150" dirty="0"/>
          </a:p>
        </p:txBody>
      </p:sp>
      <p:sp>
        <p:nvSpPr>
          <p:cNvPr id="8" name="Shape 6"/>
          <p:cNvSpPr/>
          <p:nvPr/>
        </p:nvSpPr>
        <p:spPr>
          <a:xfrm>
            <a:off x="548640" y="2011680"/>
            <a:ext cx="8046720" cy="822960"/>
          </a:xfrm>
          <a:prstGeom prst="rect">
            <a:avLst/>
          </a:prstGeom>
          <a:solidFill>
            <a:srgbClr val="162D50"/>
          </a:solidFill>
          <a:ln/>
        </p:spPr>
      </p:sp>
      <p:sp>
        <p:nvSpPr>
          <p:cNvPr id="9" name="Shape 7"/>
          <p:cNvSpPr/>
          <p:nvPr/>
        </p:nvSpPr>
        <p:spPr>
          <a:xfrm>
            <a:off x="548640" y="2011680"/>
            <a:ext cx="73152" cy="822960"/>
          </a:xfrm>
          <a:prstGeom prst="rect">
            <a:avLst/>
          </a:prstGeom>
          <a:solidFill>
            <a:srgbClr val="F59E0B"/>
          </a:solidFill>
          <a:ln/>
        </p:spPr>
      </p:sp>
      <p:sp>
        <p:nvSpPr>
          <p:cNvPr id="10" name="Text 8"/>
          <p:cNvSpPr/>
          <p:nvPr/>
        </p:nvSpPr>
        <p:spPr>
          <a:xfrm>
            <a:off x="822960" y="2057400"/>
            <a:ext cx="2743200" cy="320040"/>
          </a:xfrm>
          <a:prstGeom prst="rect">
            <a:avLst/>
          </a:prstGeom>
          <a:noFill/>
          <a:ln/>
        </p:spPr>
        <p:txBody>
          <a:bodyPr wrap="square" lIns="0" tIns="0" rIns="0" bIns="0" rtlCol="0" anchor="ctr"/>
          <a:lstStyle/>
          <a:p>
            <a:pPr indent="0" marL="0">
              <a:buNone/>
            </a:pPr>
            <a:r>
              <a:rPr lang="en-US" sz="1400" b="1" dirty="0">
                <a:solidFill>
                  <a:srgbClr val="F59E0B"/>
                </a:solidFill>
                <a:latin typeface="Trebuchet MS" pitchFamily="34" charset="0"/>
                <a:ea typeface="Trebuchet MS" pitchFamily="34" charset="-122"/>
                <a:cs typeface="Trebuchet MS" pitchFamily="34" charset="-120"/>
              </a:rPr>
              <a:t>Critic Agent</a:t>
            </a:r>
            <a:endParaRPr lang="en-US" sz="1400" dirty="0"/>
          </a:p>
        </p:txBody>
      </p:sp>
      <p:sp>
        <p:nvSpPr>
          <p:cNvPr id="11" name="Text 9"/>
          <p:cNvSpPr/>
          <p:nvPr/>
        </p:nvSpPr>
        <p:spPr>
          <a:xfrm>
            <a:off x="822960" y="2377440"/>
            <a:ext cx="758952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Evaluates generator output against defined rubric. Produces structured feedback: strengths, weaknesses, specific improvement suggestions.</a:t>
            </a:r>
            <a:endParaRPr lang="en-US" sz="1150" dirty="0"/>
          </a:p>
        </p:txBody>
      </p:sp>
      <p:sp>
        <p:nvSpPr>
          <p:cNvPr id="12" name="Shape 10"/>
          <p:cNvSpPr/>
          <p:nvPr/>
        </p:nvSpPr>
        <p:spPr>
          <a:xfrm>
            <a:off x="548640" y="3017520"/>
            <a:ext cx="8046720" cy="822960"/>
          </a:xfrm>
          <a:prstGeom prst="rect">
            <a:avLst/>
          </a:prstGeom>
          <a:solidFill>
            <a:srgbClr val="162D50"/>
          </a:solidFill>
          <a:ln/>
        </p:spPr>
      </p:sp>
      <p:sp>
        <p:nvSpPr>
          <p:cNvPr id="13" name="Shape 11"/>
          <p:cNvSpPr/>
          <p:nvPr/>
        </p:nvSpPr>
        <p:spPr>
          <a:xfrm>
            <a:off x="548640" y="3017520"/>
            <a:ext cx="73152" cy="822960"/>
          </a:xfrm>
          <a:prstGeom prst="rect">
            <a:avLst/>
          </a:prstGeom>
          <a:solidFill>
            <a:srgbClr val="10B981"/>
          </a:solidFill>
          <a:ln/>
        </p:spPr>
      </p:sp>
      <p:sp>
        <p:nvSpPr>
          <p:cNvPr id="14" name="Text 12"/>
          <p:cNvSpPr/>
          <p:nvPr/>
        </p:nvSpPr>
        <p:spPr>
          <a:xfrm>
            <a:off x="822960" y="3063240"/>
            <a:ext cx="2743200" cy="320040"/>
          </a:xfrm>
          <a:prstGeom prst="rect">
            <a:avLst/>
          </a:prstGeom>
          <a:noFill/>
          <a:ln/>
        </p:spPr>
        <p:txBody>
          <a:bodyPr wrap="square" lIns="0" tIns="0" rIns="0" bIns="0" rtlCol="0" anchor="ctr"/>
          <a:lstStyle/>
          <a:p>
            <a:pPr indent="0" marL="0">
              <a:buNone/>
            </a:pPr>
            <a:r>
              <a:rPr lang="en-US" sz="1400" b="1" dirty="0">
                <a:solidFill>
                  <a:srgbClr val="10B981"/>
                </a:solidFill>
                <a:latin typeface="Trebuchet MS" pitchFamily="34" charset="0"/>
                <a:ea typeface="Trebuchet MS" pitchFamily="34" charset="-122"/>
                <a:cs typeface="Trebuchet MS" pitchFamily="34" charset="-120"/>
              </a:rPr>
              <a:t>Feedback Memory</a:t>
            </a:r>
            <a:endParaRPr lang="en-US" sz="1400" dirty="0"/>
          </a:p>
        </p:txBody>
      </p:sp>
      <p:sp>
        <p:nvSpPr>
          <p:cNvPr id="15" name="Text 13"/>
          <p:cNvSpPr/>
          <p:nvPr/>
        </p:nvSpPr>
        <p:spPr>
          <a:xfrm>
            <a:off x="822960" y="3383280"/>
            <a:ext cx="758952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Accumulates critique history across iterations. Prevents cyclic errors and enables the generator to learn from prior attempts.</a:t>
            </a:r>
            <a:endParaRPr lang="en-US" sz="1150" dirty="0"/>
          </a:p>
        </p:txBody>
      </p:sp>
      <p:sp>
        <p:nvSpPr>
          <p:cNvPr id="16" name="Shape 14"/>
          <p:cNvSpPr/>
          <p:nvPr/>
        </p:nvSpPr>
        <p:spPr>
          <a:xfrm>
            <a:off x="548640" y="4023360"/>
            <a:ext cx="8046720" cy="822960"/>
          </a:xfrm>
          <a:prstGeom prst="rect">
            <a:avLst/>
          </a:prstGeom>
          <a:solidFill>
            <a:srgbClr val="162D50"/>
          </a:solidFill>
          <a:ln/>
        </p:spPr>
      </p:sp>
      <p:sp>
        <p:nvSpPr>
          <p:cNvPr id="17" name="Shape 15"/>
          <p:cNvSpPr/>
          <p:nvPr/>
        </p:nvSpPr>
        <p:spPr>
          <a:xfrm>
            <a:off x="548640" y="4023360"/>
            <a:ext cx="73152" cy="822960"/>
          </a:xfrm>
          <a:prstGeom prst="rect">
            <a:avLst/>
          </a:prstGeom>
          <a:solidFill>
            <a:srgbClr val="EF4444"/>
          </a:solidFill>
          <a:ln/>
        </p:spPr>
      </p:sp>
      <p:sp>
        <p:nvSpPr>
          <p:cNvPr id="18" name="Text 16"/>
          <p:cNvSpPr/>
          <p:nvPr/>
        </p:nvSpPr>
        <p:spPr>
          <a:xfrm>
            <a:off x="822960" y="4069080"/>
            <a:ext cx="2743200" cy="320040"/>
          </a:xfrm>
          <a:prstGeom prst="rect">
            <a:avLst/>
          </a:prstGeom>
          <a:noFill/>
          <a:ln/>
        </p:spPr>
        <p:txBody>
          <a:bodyPr wrap="square" lIns="0" tIns="0" rIns="0" bIns="0" rtlCol="0" anchor="ctr"/>
          <a:lstStyle/>
          <a:p>
            <a:pPr indent="0" marL="0">
              <a:buNone/>
            </a:pPr>
            <a:r>
              <a:rPr lang="en-US" sz="1400" b="1" dirty="0">
                <a:solidFill>
                  <a:srgbClr val="EF4444"/>
                </a:solidFill>
                <a:latin typeface="Trebuchet MS" pitchFamily="34" charset="0"/>
                <a:ea typeface="Trebuchet MS" pitchFamily="34" charset="-122"/>
                <a:cs typeface="Trebuchet MS" pitchFamily="34" charset="-120"/>
              </a:rPr>
              <a:t>Stop Condition</a:t>
            </a:r>
            <a:endParaRPr lang="en-US" sz="1400" dirty="0"/>
          </a:p>
        </p:txBody>
      </p:sp>
      <p:sp>
        <p:nvSpPr>
          <p:cNvPr id="19" name="Text 17"/>
          <p:cNvSpPr/>
          <p:nvPr/>
        </p:nvSpPr>
        <p:spPr>
          <a:xfrm>
            <a:off x="822960" y="4389120"/>
            <a:ext cx="758952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Termination logic: max iterations reached, quality score exceeds threshold, or critic finds no remaining issues.</a:t>
            </a:r>
            <a:endParaRPr lang="en-US" sz="1150" dirty="0"/>
          </a:p>
        </p:txBody>
      </p:sp>
      <p:sp>
        <p:nvSpPr>
          <p:cNvPr id="20" name="Text 18"/>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8 / 33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Reflection — Use Cases &amp; Implementation</a:t>
            </a:r>
            <a:endParaRPr lang="en-US" sz="2600" dirty="0"/>
          </a:p>
        </p:txBody>
      </p:sp>
      <p:sp>
        <p:nvSpPr>
          <p:cNvPr id="4" name="Text 2"/>
          <p:cNvSpPr/>
          <p:nvPr/>
        </p:nvSpPr>
        <p:spPr>
          <a:xfrm>
            <a:off x="457200" y="914400"/>
            <a:ext cx="4114800" cy="320040"/>
          </a:xfrm>
          <a:prstGeom prst="rect">
            <a:avLst/>
          </a:prstGeom>
          <a:noFill/>
          <a:ln/>
        </p:spPr>
        <p:txBody>
          <a:bodyPr wrap="square" lIns="0" tIns="0" rIns="0" bIns="0" rtlCol="0" anchor="ctr"/>
          <a:lstStyle/>
          <a:p>
            <a:pPr indent="0" marL="0">
              <a:buNone/>
            </a:pPr>
            <a:r>
              <a:rPr lang="en-US" sz="1600" b="1" dirty="0">
                <a:solidFill>
                  <a:srgbClr val="1E293B"/>
                </a:solidFill>
                <a:latin typeface="Trebuchet MS" pitchFamily="34" charset="0"/>
                <a:ea typeface="Trebuchet MS" pitchFamily="34" charset="-122"/>
                <a:cs typeface="Trebuchet MS" pitchFamily="34" charset="-120"/>
              </a:rPr>
              <a:t>Use Cases</a:t>
            </a:r>
            <a:endParaRPr lang="en-US" sz="1600" dirty="0"/>
          </a:p>
        </p:txBody>
      </p:sp>
      <p:sp>
        <p:nvSpPr>
          <p:cNvPr id="5" name="Text 3"/>
          <p:cNvSpPr/>
          <p:nvPr/>
        </p:nvSpPr>
        <p:spPr>
          <a:xfrm>
            <a:off x="457200" y="1371600"/>
            <a:ext cx="4206240" cy="32004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a:t>
            </a:r>
            <a:pPr indent="0" marL="0">
              <a:buNone/>
            </a:pPr>
            <a:r>
              <a:rPr lang="en-US" sz="1200" dirty="0">
                <a:solidFill>
                  <a:srgbClr val="64748B"/>
                </a:solidFill>
                <a:latin typeface="Calibri" pitchFamily="34" charset="0"/>
                <a:ea typeface="Calibri" pitchFamily="34" charset="-122"/>
                <a:cs typeface="Calibri" pitchFamily="34" charset="-120"/>
              </a:rPr>
              <a:t>Code generation with automated test validation</a:t>
            </a:r>
            <a:endParaRPr lang="en-US" sz="1200" dirty="0"/>
          </a:p>
        </p:txBody>
      </p:sp>
      <p:sp>
        <p:nvSpPr>
          <p:cNvPr id="6" name="Text 4"/>
          <p:cNvSpPr/>
          <p:nvPr/>
        </p:nvSpPr>
        <p:spPr>
          <a:xfrm>
            <a:off x="457200" y="1719072"/>
            <a:ext cx="4206240" cy="32004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a:t>
            </a:r>
            <a:pPr indent="0" marL="0">
              <a:buNone/>
            </a:pPr>
            <a:r>
              <a:rPr lang="en-US" sz="1200" dirty="0">
                <a:solidFill>
                  <a:srgbClr val="64748B"/>
                </a:solidFill>
                <a:latin typeface="Calibri" pitchFamily="34" charset="0"/>
                <a:ea typeface="Calibri" pitchFamily="34" charset="-122"/>
                <a:cs typeface="Calibri" pitchFamily="34" charset="-120"/>
              </a:rPr>
              <a:t>Essay &amp; report writing with quality rubric scoring</a:t>
            </a:r>
            <a:endParaRPr lang="en-US" sz="1200" dirty="0"/>
          </a:p>
        </p:txBody>
      </p:sp>
      <p:sp>
        <p:nvSpPr>
          <p:cNvPr id="7" name="Text 5"/>
          <p:cNvSpPr/>
          <p:nvPr/>
        </p:nvSpPr>
        <p:spPr>
          <a:xfrm>
            <a:off x="457200" y="2066544"/>
            <a:ext cx="4206240" cy="32004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a:t>
            </a:r>
            <a:pPr indent="0" marL="0">
              <a:buNone/>
            </a:pPr>
            <a:r>
              <a:rPr lang="en-US" sz="1200" dirty="0">
                <a:solidFill>
                  <a:srgbClr val="64748B"/>
                </a:solidFill>
                <a:latin typeface="Calibri" pitchFamily="34" charset="0"/>
                <a:ea typeface="Calibri" pitchFamily="34" charset="-122"/>
                <a:cs typeface="Calibri" pitchFamily="34" charset="-120"/>
              </a:rPr>
              <a:t>SQL query generation with execution-based verification</a:t>
            </a:r>
            <a:endParaRPr lang="en-US" sz="1200" dirty="0"/>
          </a:p>
        </p:txBody>
      </p:sp>
      <p:sp>
        <p:nvSpPr>
          <p:cNvPr id="8" name="Text 6"/>
          <p:cNvSpPr/>
          <p:nvPr/>
        </p:nvSpPr>
        <p:spPr>
          <a:xfrm>
            <a:off x="457200" y="2414016"/>
            <a:ext cx="4206240" cy="32004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a:t>
            </a:r>
            <a:pPr indent="0" marL="0">
              <a:buNone/>
            </a:pPr>
            <a:r>
              <a:rPr lang="en-US" sz="1200" dirty="0">
                <a:solidFill>
                  <a:srgbClr val="64748B"/>
                </a:solidFill>
                <a:latin typeface="Calibri" pitchFamily="34" charset="0"/>
                <a:ea typeface="Calibri" pitchFamily="34" charset="-122"/>
                <a:cs typeface="Calibri" pitchFamily="34" charset="-120"/>
              </a:rPr>
              <a:t>Translation quality improvement via back-translation</a:t>
            </a:r>
            <a:endParaRPr lang="en-US" sz="1200" dirty="0"/>
          </a:p>
        </p:txBody>
      </p:sp>
      <p:sp>
        <p:nvSpPr>
          <p:cNvPr id="9" name="Text 7"/>
          <p:cNvSpPr/>
          <p:nvPr/>
        </p:nvSpPr>
        <p:spPr>
          <a:xfrm>
            <a:off x="457200" y="2761488"/>
            <a:ext cx="4206240" cy="32004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a:t>
            </a:r>
            <a:pPr indent="0" marL="0">
              <a:buNone/>
            </a:pPr>
            <a:r>
              <a:rPr lang="en-US" sz="1200" dirty="0">
                <a:solidFill>
                  <a:srgbClr val="64748B"/>
                </a:solidFill>
                <a:latin typeface="Calibri" pitchFamily="34" charset="0"/>
                <a:ea typeface="Calibri" pitchFamily="34" charset="-122"/>
                <a:cs typeface="Calibri" pitchFamily="34" charset="-120"/>
              </a:rPr>
              <a:t>Mathematical proof refinement and verification</a:t>
            </a:r>
            <a:endParaRPr lang="en-US" sz="1200" dirty="0"/>
          </a:p>
        </p:txBody>
      </p:sp>
      <p:sp>
        <p:nvSpPr>
          <p:cNvPr id="10" name="Text 8"/>
          <p:cNvSpPr/>
          <p:nvPr/>
        </p:nvSpPr>
        <p:spPr>
          <a:xfrm>
            <a:off x="457200" y="3108960"/>
            <a:ext cx="4206240" cy="32004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a:t>
            </a:r>
            <a:pPr indent="0" marL="0">
              <a:buNone/>
            </a:pPr>
            <a:r>
              <a:rPr lang="en-US" sz="1200" dirty="0">
                <a:solidFill>
                  <a:srgbClr val="64748B"/>
                </a:solidFill>
                <a:latin typeface="Calibri" pitchFamily="34" charset="0"/>
                <a:ea typeface="Calibri" pitchFamily="34" charset="-122"/>
                <a:cs typeface="Calibri" pitchFamily="34" charset="-120"/>
              </a:rPr>
              <a:t>Resume / cover letter iterative polishing</a:t>
            </a:r>
            <a:endParaRPr lang="en-US" sz="1200" dirty="0"/>
          </a:p>
        </p:txBody>
      </p:sp>
      <p:sp>
        <p:nvSpPr>
          <p:cNvPr id="11" name="Shape 9"/>
          <p:cNvSpPr/>
          <p:nvPr/>
        </p:nvSpPr>
        <p:spPr>
          <a:xfrm>
            <a:off x="5029200" y="914400"/>
            <a:ext cx="384048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Shape 10"/>
          <p:cNvSpPr/>
          <p:nvPr/>
        </p:nvSpPr>
        <p:spPr>
          <a:xfrm>
            <a:off x="5029200" y="914400"/>
            <a:ext cx="3840480" cy="54864"/>
          </a:xfrm>
          <a:prstGeom prst="rect">
            <a:avLst/>
          </a:prstGeom>
          <a:solidFill>
            <a:srgbClr val="7C3AED"/>
          </a:solidFill>
          <a:ln/>
        </p:spPr>
      </p:sp>
      <p:sp>
        <p:nvSpPr>
          <p:cNvPr id="13" name="Text 11"/>
          <p:cNvSpPr/>
          <p:nvPr/>
        </p:nvSpPr>
        <p:spPr>
          <a:xfrm>
            <a:off x="5212080" y="1097280"/>
            <a:ext cx="347472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Frameworks &amp; Tools</a:t>
            </a:r>
            <a:endParaRPr lang="en-US" sz="1500" dirty="0"/>
          </a:p>
        </p:txBody>
      </p:sp>
      <p:sp>
        <p:nvSpPr>
          <p:cNvPr id="14" name="Text 12"/>
          <p:cNvSpPr/>
          <p:nvPr/>
        </p:nvSpPr>
        <p:spPr>
          <a:xfrm>
            <a:off x="5212080" y="1554480"/>
            <a:ext cx="1371600" cy="228600"/>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LangGraph</a:t>
            </a:r>
            <a:endParaRPr lang="en-US" sz="1200" dirty="0"/>
          </a:p>
        </p:txBody>
      </p:sp>
      <p:sp>
        <p:nvSpPr>
          <p:cNvPr id="15" name="Text 13"/>
          <p:cNvSpPr/>
          <p:nvPr/>
        </p:nvSpPr>
        <p:spPr>
          <a:xfrm>
            <a:off x="5212080" y="1783080"/>
            <a:ext cx="347472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Reflection node with conditional edges</a:t>
            </a:r>
            <a:endParaRPr lang="en-US" sz="1050" dirty="0"/>
          </a:p>
        </p:txBody>
      </p:sp>
      <p:sp>
        <p:nvSpPr>
          <p:cNvPr id="16" name="Text 14"/>
          <p:cNvSpPr/>
          <p:nvPr/>
        </p:nvSpPr>
        <p:spPr>
          <a:xfrm>
            <a:off x="5212080" y="2057400"/>
            <a:ext cx="1371600" cy="228600"/>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Reflexion</a:t>
            </a:r>
            <a:endParaRPr lang="en-US" sz="1200" dirty="0"/>
          </a:p>
        </p:txBody>
      </p:sp>
      <p:sp>
        <p:nvSpPr>
          <p:cNvPr id="17" name="Text 15"/>
          <p:cNvSpPr/>
          <p:nvPr/>
        </p:nvSpPr>
        <p:spPr>
          <a:xfrm>
            <a:off x="5212080" y="2286000"/>
            <a:ext cx="347472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Original paper implementation with memory</a:t>
            </a:r>
            <a:endParaRPr lang="en-US" sz="1050" dirty="0"/>
          </a:p>
        </p:txBody>
      </p:sp>
      <p:sp>
        <p:nvSpPr>
          <p:cNvPr id="18" name="Text 16"/>
          <p:cNvSpPr/>
          <p:nvPr/>
        </p:nvSpPr>
        <p:spPr>
          <a:xfrm>
            <a:off x="5212080" y="2560320"/>
            <a:ext cx="1371600" cy="228600"/>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LATS</a:t>
            </a:r>
            <a:endParaRPr lang="en-US" sz="1200" dirty="0"/>
          </a:p>
        </p:txBody>
      </p:sp>
      <p:sp>
        <p:nvSpPr>
          <p:cNvPr id="19" name="Text 17"/>
          <p:cNvSpPr/>
          <p:nvPr/>
        </p:nvSpPr>
        <p:spPr>
          <a:xfrm>
            <a:off x="5212080" y="2788920"/>
            <a:ext cx="347472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Language Agent Tree Search with reflection</a:t>
            </a:r>
            <a:endParaRPr lang="en-US" sz="1050" dirty="0"/>
          </a:p>
        </p:txBody>
      </p:sp>
      <p:sp>
        <p:nvSpPr>
          <p:cNvPr id="20" name="Text 18"/>
          <p:cNvSpPr/>
          <p:nvPr/>
        </p:nvSpPr>
        <p:spPr>
          <a:xfrm>
            <a:off x="5212080" y="3063240"/>
            <a:ext cx="1371600" cy="228600"/>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DSPy</a:t>
            </a:r>
            <a:endParaRPr lang="en-US" sz="1200" dirty="0"/>
          </a:p>
        </p:txBody>
      </p:sp>
      <p:sp>
        <p:nvSpPr>
          <p:cNvPr id="21" name="Text 19"/>
          <p:cNvSpPr/>
          <p:nvPr/>
        </p:nvSpPr>
        <p:spPr>
          <a:xfrm>
            <a:off x="5212080" y="3291840"/>
            <a:ext cx="347472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Signature-based self-refinement modules</a:t>
            </a:r>
            <a:endParaRPr lang="en-US" sz="1050" dirty="0"/>
          </a:p>
        </p:txBody>
      </p:sp>
      <p:sp>
        <p:nvSpPr>
          <p:cNvPr id="22" name="Text 20"/>
          <p:cNvSpPr/>
          <p:nvPr/>
        </p:nvSpPr>
        <p:spPr>
          <a:xfrm>
            <a:off x="5212080" y="3566160"/>
            <a:ext cx="1371600" cy="228600"/>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AutoGen</a:t>
            </a:r>
            <a:endParaRPr lang="en-US" sz="1200" dirty="0"/>
          </a:p>
        </p:txBody>
      </p:sp>
      <p:sp>
        <p:nvSpPr>
          <p:cNvPr id="23" name="Text 21"/>
          <p:cNvSpPr/>
          <p:nvPr/>
        </p:nvSpPr>
        <p:spPr>
          <a:xfrm>
            <a:off x="5212080" y="3794760"/>
            <a:ext cx="347472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Nested chat with critic agent role</a:t>
            </a:r>
            <a:endParaRPr lang="en-US" sz="1050" dirty="0"/>
          </a:p>
        </p:txBody>
      </p:sp>
      <p:sp>
        <p:nvSpPr>
          <p:cNvPr id="24" name="Text 22"/>
          <p:cNvSpPr/>
          <p:nvPr/>
        </p:nvSpPr>
        <p:spPr>
          <a:xfrm>
            <a:off x="5212080" y="4069080"/>
            <a:ext cx="1371600" cy="228600"/>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CrewAI</a:t>
            </a:r>
            <a:endParaRPr lang="en-US" sz="1200" dirty="0"/>
          </a:p>
        </p:txBody>
      </p:sp>
      <p:sp>
        <p:nvSpPr>
          <p:cNvPr id="25" name="Text 23"/>
          <p:cNvSpPr/>
          <p:nvPr/>
        </p:nvSpPr>
        <p:spPr>
          <a:xfrm>
            <a:off x="5212080" y="4297680"/>
            <a:ext cx="347472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Quality assurance agent in crew pipeline</a:t>
            </a:r>
            <a:endParaRPr lang="en-US" sz="1050" dirty="0"/>
          </a:p>
        </p:txBody>
      </p:sp>
      <p:sp>
        <p:nvSpPr>
          <p:cNvPr id="26" name="Text 24"/>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33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2103120"/>
            <a:ext cx="9144000" cy="13716"/>
          </a:xfrm>
          <a:prstGeom prst="rect">
            <a:avLst/>
          </a:prstGeom>
          <a:solidFill>
            <a:srgbClr val="7C3AED">
              <a:alpha val="70000"/>
            </a:srgbClr>
          </a:solidFill>
          <a:ln/>
        </p:spPr>
      </p:sp>
      <p:pic>
        <p:nvPicPr>
          <p:cNvPr id="3" name="Image 0" descr="preencoded.png">    </p:cNvPr>
          <p:cNvPicPr>
            <a:picLocks noChangeAspect="1"/>
          </p:cNvPicPr>
          <p:nvPr/>
        </p:nvPicPr>
        <p:blipFill>
          <a:blip r:embed="rId1"/>
          <a:stretch>
            <a:fillRect/>
          </a:stretch>
        </p:blipFill>
        <p:spPr>
          <a:xfrm>
            <a:off x="4069080" y="1005840"/>
            <a:ext cx="1005840" cy="1005840"/>
          </a:xfrm>
          <a:prstGeom prst="rect">
            <a:avLst/>
          </a:prstGeom>
        </p:spPr>
      </p:pic>
      <p:sp>
        <p:nvSpPr>
          <p:cNvPr id="4" name="Text 1"/>
          <p:cNvSpPr/>
          <p:nvPr/>
        </p:nvSpPr>
        <p:spPr>
          <a:xfrm>
            <a:off x="914400" y="2331720"/>
            <a:ext cx="73152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ReAct Pattern</a:t>
            </a:r>
            <a:endParaRPr lang="en-US" sz="3400" dirty="0"/>
          </a:p>
        </p:txBody>
      </p:sp>
      <p:sp>
        <p:nvSpPr>
          <p:cNvPr id="5" name="Text 2"/>
          <p:cNvSpPr/>
          <p:nvPr/>
        </p:nvSpPr>
        <p:spPr>
          <a:xfrm>
            <a:off x="914400" y="2971800"/>
            <a:ext cx="7315200" cy="365760"/>
          </a:xfrm>
          <a:prstGeom prst="rect">
            <a:avLst/>
          </a:prstGeom>
          <a:noFill/>
          <a:ln/>
        </p:spPr>
        <p:txBody>
          <a:bodyPr wrap="square" rtlCol="0" anchor="ctr"/>
          <a:lstStyle/>
          <a:p>
            <a:pPr algn="ctr" indent="0" marL="0">
              <a:buNone/>
            </a:pPr>
            <a:r>
              <a:rPr lang="en-US" sz="1600" dirty="0">
                <a:solidFill>
                  <a:srgbClr val="00D4FF"/>
                </a:solidFill>
                <a:latin typeface="Calibri" pitchFamily="34" charset="0"/>
                <a:ea typeface="Calibri" pitchFamily="34" charset="-122"/>
                <a:cs typeface="Calibri" pitchFamily="34" charset="-120"/>
              </a:rPr>
              <a:t>Reasoning + Acting in Synergy</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10 / 33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ReAct — Reason + Act Interleaving</a:t>
            </a:r>
            <a:endParaRPr lang="en-US" sz="2600" dirty="0"/>
          </a:p>
        </p:txBody>
      </p:sp>
      <p:sp>
        <p:nvSpPr>
          <p:cNvPr id="4" name="Text 2"/>
          <p:cNvSpPr/>
          <p:nvPr/>
        </p:nvSpPr>
        <p:spPr>
          <a:xfrm>
            <a:off x="457200" y="914400"/>
            <a:ext cx="8229600" cy="914400"/>
          </a:xfrm>
          <a:prstGeom prst="rect">
            <a:avLst/>
          </a:prstGeom>
          <a:noFill/>
          <a:ln/>
        </p:spPr>
        <p:txBody>
          <a:bodyPr wrap="square"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ReAct (Yao et al., 2023) interleaves chain-of-thought reasoning with action execution. At each step, the LLM generates a Thought (reasoning trace), selects an Action (tool call), receives an Observation (tool result), and uses that to inform the next thought. This tight loop enables grounded, traceable decision-making.</a:t>
            </a:r>
            <a:endParaRPr lang="en-US" sz="1300" dirty="0"/>
          </a:p>
        </p:txBody>
      </p:sp>
      <p:sp>
        <p:nvSpPr>
          <p:cNvPr id="5" name="Shape 3"/>
          <p:cNvSpPr/>
          <p:nvPr/>
        </p:nvSpPr>
        <p:spPr>
          <a:xfrm>
            <a:off x="731520" y="2103120"/>
            <a:ext cx="2377440" cy="22860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731520" y="2103120"/>
            <a:ext cx="2377440" cy="54864"/>
          </a:xfrm>
          <a:prstGeom prst="rect">
            <a:avLst/>
          </a:prstGeom>
          <a:solidFill>
            <a:srgbClr val="7C3AED"/>
          </a:solidFill>
          <a:ln/>
        </p:spPr>
      </p:sp>
      <p:sp>
        <p:nvSpPr>
          <p:cNvPr id="7" name="Text 5"/>
          <p:cNvSpPr/>
          <p:nvPr/>
        </p:nvSpPr>
        <p:spPr>
          <a:xfrm>
            <a:off x="731520" y="2331720"/>
            <a:ext cx="2377440" cy="365760"/>
          </a:xfrm>
          <a:prstGeom prst="rect">
            <a:avLst/>
          </a:prstGeom>
          <a:noFill/>
          <a:ln/>
        </p:spPr>
        <p:txBody>
          <a:bodyPr wrap="square" lIns="0" tIns="0" rIns="0" bIns="0" rtlCol="0" anchor="ctr"/>
          <a:lstStyle/>
          <a:p>
            <a:pPr algn="ctr" indent="0" marL="0">
              <a:buNone/>
            </a:pPr>
            <a:r>
              <a:rPr lang="en-US" sz="2000" b="1" dirty="0">
                <a:solidFill>
                  <a:srgbClr val="7C3AED"/>
                </a:solidFill>
                <a:latin typeface="Trebuchet MS" pitchFamily="34" charset="0"/>
                <a:ea typeface="Trebuchet MS" pitchFamily="34" charset="-122"/>
                <a:cs typeface="Trebuchet MS" pitchFamily="34" charset="-120"/>
              </a:rPr>
              <a:t>Thought</a:t>
            </a:r>
            <a:endParaRPr lang="en-US" sz="2000" dirty="0"/>
          </a:p>
        </p:txBody>
      </p:sp>
      <p:sp>
        <p:nvSpPr>
          <p:cNvPr id="8" name="Text 6"/>
          <p:cNvSpPr/>
          <p:nvPr/>
        </p:nvSpPr>
        <p:spPr>
          <a:xfrm>
            <a:off x="914400" y="2926080"/>
            <a:ext cx="2011680" cy="8229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Reasoning trace about</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what to do next</a:t>
            </a:r>
            <a:endParaRPr lang="en-US" sz="1200" dirty="0"/>
          </a:p>
        </p:txBody>
      </p:sp>
      <p:sp>
        <p:nvSpPr>
          <p:cNvPr id="9" name="Text 7"/>
          <p:cNvSpPr/>
          <p:nvPr/>
        </p:nvSpPr>
        <p:spPr>
          <a:xfrm>
            <a:off x="3063240" y="2834640"/>
            <a:ext cx="548640" cy="457200"/>
          </a:xfrm>
          <a:prstGeom prst="rect">
            <a:avLst/>
          </a:prstGeom>
          <a:noFill/>
          <a:ln/>
        </p:spPr>
        <p:txBody>
          <a:bodyPr wrap="square" rtlCol="0" anchor="ctr"/>
          <a:lstStyle/>
          <a:p>
            <a:pPr algn="ctr" indent="0" marL="0">
              <a:buNone/>
            </a:pPr>
            <a:r>
              <a:rPr lang="en-US" sz="2400" dirty="0">
                <a:solidFill>
                  <a:srgbClr val="64748B"/>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566160" y="2103120"/>
            <a:ext cx="2377440" cy="22860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3566160" y="2103120"/>
            <a:ext cx="2377440" cy="54864"/>
          </a:xfrm>
          <a:prstGeom prst="rect">
            <a:avLst/>
          </a:prstGeom>
          <a:solidFill>
            <a:srgbClr val="00D4FF"/>
          </a:solidFill>
          <a:ln/>
        </p:spPr>
      </p:sp>
      <p:sp>
        <p:nvSpPr>
          <p:cNvPr id="12" name="Text 10"/>
          <p:cNvSpPr/>
          <p:nvPr/>
        </p:nvSpPr>
        <p:spPr>
          <a:xfrm>
            <a:off x="3566160" y="2331720"/>
            <a:ext cx="2377440" cy="365760"/>
          </a:xfrm>
          <a:prstGeom prst="rect">
            <a:avLst/>
          </a:prstGeom>
          <a:noFill/>
          <a:ln/>
        </p:spPr>
        <p:txBody>
          <a:bodyPr wrap="square" lIns="0" tIns="0" rIns="0" bIns="0" rtlCol="0" anchor="ctr"/>
          <a:lstStyle/>
          <a:p>
            <a:pPr algn="ctr" indent="0" marL="0">
              <a:buNone/>
            </a:pPr>
            <a:r>
              <a:rPr lang="en-US" sz="2000" b="1" dirty="0">
                <a:solidFill>
                  <a:srgbClr val="00D4FF"/>
                </a:solidFill>
                <a:latin typeface="Trebuchet MS" pitchFamily="34" charset="0"/>
                <a:ea typeface="Trebuchet MS" pitchFamily="34" charset="-122"/>
                <a:cs typeface="Trebuchet MS" pitchFamily="34" charset="-120"/>
              </a:rPr>
              <a:t>Action</a:t>
            </a:r>
            <a:endParaRPr lang="en-US" sz="2000" dirty="0"/>
          </a:p>
        </p:txBody>
      </p:sp>
      <p:sp>
        <p:nvSpPr>
          <p:cNvPr id="13" name="Text 11"/>
          <p:cNvSpPr/>
          <p:nvPr/>
        </p:nvSpPr>
        <p:spPr>
          <a:xfrm>
            <a:off x="3749040" y="2926080"/>
            <a:ext cx="2011680" cy="8229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Select and invoke</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a tool or API</a:t>
            </a:r>
            <a:endParaRPr lang="en-US" sz="1200" dirty="0"/>
          </a:p>
        </p:txBody>
      </p:sp>
      <p:sp>
        <p:nvSpPr>
          <p:cNvPr id="14" name="Text 12"/>
          <p:cNvSpPr/>
          <p:nvPr/>
        </p:nvSpPr>
        <p:spPr>
          <a:xfrm>
            <a:off x="5897880" y="2834640"/>
            <a:ext cx="548640" cy="457200"/>
          </a:xfrm>
          <a:prstGeom prst="rect">
            <a:avLst/>
          </a:prstGeom>
          <a:noFill/>
          <a:ln/>
        </p:spPr>
        <p:txBody>
          <a:bodyPr wrap="square" rtlCol="0" anchor="ctr"/>
          <a:lstStyle/>
          <a:p>
            <a:pPr algn="ctr" indent="0" marL="0">
              <a:buNone/>
            </a:pPr>
            <a:r>
              <a:rPr lang="en-US" sz="2400" dirty="0">
                <a:solidFill>
                  <a:srgbClr val="64748B"/>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6400800" y="2103120"/>
            <a:ext cx="2377440" cy="22860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6400800" y="2103120"/>
            <a:ext cx="2377440" cy="54864"/>
          </a:xfrm>
          <a:prstGeom prst="rect">
            <a:avLst/>
          </a:prstGeom>
          <a:solidFill>
            <a:srgbClr val="10B981"/>
          </a:solidFill>
          <a:ln/>
        </p:spPr>
      </p:sp>
      <p:sp>
        <p:nvSpPr>
          <p:cNvPr id="17" name="Text 15"/>
          <p:cNvSpPr/>
          <p:nvPr/>
        </p:nvSpPr>
        <p:spPr>
          <a:xfrm>
            <a:off x="6400800" y="2331720"/>
            <a:ext cx="2377440" cy="365760"/>
          </a:xfrm>
          <a:prstGeom prst="rect">
            <a:avLst/>
          </a:prstGeom>
          <a:noFill/>
          <a:ln/>
        </p:spPr>
        <p:txBody>
          <a:bodyPr wrap="square" lIns="0" tIns="0" rIns="0" bIns="0" rtlCol="0" anchor="ctr"/>
          <a:lstStyle/>
          <a:p>
            <a:pPr algn="ctr" indent="0" marL="0">
              <a:buNone/>
            </a:pPr>
            <a:r>
              <a:rPr lang="en-US" sz="2000" b="1" dirty="0">
                <a:solidFill>
                  <a:srgbClr val="10B981"/>
                </a:solidFill>
                <a:latin typeface="Trebuchet MS" pitchFamily="34" charset="0"/>
                <a:ea typeface="Trebuchet MS" pitchFamily="34" charset="-122"/>
                <a:cs typeface="Trebuchet MS" pitchFamily="34" charset="-120"/>
              </a:rPr>
              <a:t>Observation</a:t>
            </a:r>
            <a:endParaRPr lang="en-US" sz="2000" dirty="0"/>
          </a:p>
        </p:txBody>
      </p:sp>
      <p:sp>
        <p:nvSpPr>
          <p:cNvPr id="18" name="Text 16"/>
          <p:cNvSpPr/>
          <p:nvPr/>
        </p:nvSpPr>
        <p:spPr>
          <a:xfrm>
            <a:off x="6583680" y="2926080"/>
            <a:ext cx="2011680" cy="8229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Receive and parse</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tool output</a:t>
            </a:r>
            <a:endParaRPr lang="en-US" sz="1200" dirty="0"/>
          </a:p>
        </p:txBody>
      </p:sp>
      <p:sp>
        <p:nvSpPr>
          <p:cNvPr id="19" name="Text 17"/>
          <p:cNvSpPr/>
          <p:nvPr/>
        </p:nvSpPr>
        <p:spPr>
          <a:xfrm>
            <a:off x="2743200" y="4480560"/>
            <a:ext cx="3657600" cy="274320"/>
          </a:xfrm>
          <a:prstGeom prst="rect">
            <a:avLst/>
          </a:prstGeom>
          <a:noFill/>
          <a:ln/>
        </p:spPr>
        <p:txBody>
          <a:bodyPr wrap="square" rtlCol="0" anchor="ctr"/>
          <a:lstStyle/>
          <a:p>
            <a:pPr algn="ctr" indent="0" marL="0">
              <a:buNone/>
            </a:pPr>
            <a:r>
              <a:rPr lang="en-US" sz="1200" i="1" dirty="0">
                <a:solidFill>
                  <a:srgbClr val="7C3AED"/>
                </a:solidFill>
                <a:latin typeface="Calibri" pitchFamily="34" charset="0"/>
                <a:ea typeface="Calibri" pitchFamily="34" charset="-122"/>
                <a:cs typeface="Calibri" pitchFamily="34" charset="-120"/>
              </a:rPr>
              <a:t>↻  Repeat until Final Answer</a:t>
            </a:r>
            <a:endParaRPr lang="en-US" sz="1200" dirty="0"/>
          </a:p>
        </p:txBody>
      </p:sp>
      <p:sp>
        <p:nvSpPr>
          <p:cNvPr id="20" name="Text 18"/>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33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7C3AED"/>
          </a:solidFill>
          <a:ln/>
        </p:spPr>
      </p:sp>
      <p:sp>
        <p:nvSpPr>
          <p:cNvPr id="3" name="Text 1"/>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ReAct — Execution Trace Example</a:t>
            </a:r>
            <a:endParaRPr lang="en-US" sz="2600" dirty="0"/>
          </a:p>
        </p:txBody>
      </p:sp>
      <p:sp>
        <p:nvSpPr>
          <p:cNvPr id="4" name="Shape 2"/>
          <p:cNvSpPr/>
          <p:nvPr/>
        </p:nvSpPr>
        <p:spPr>
          <a:xfrm>
            <a:off x="548640" y="1005840"/>
            <a:ext cx="8046720" cy="658368"/>
          </a:xfrm>
          <a:prstGeom prst="rect">
            <a:avLst/>
          </a:prstGeom>
          <a:solidFill>
            <a:srgbClr val="162D50"/>
          </a:solidFill>
          <a:ln/>
        </p:spPr>
      </p:sp>
      <p:sp>
        <p:nvSpPr>
          <p:cNvPr id="5" name="Shape 3"/>
          <p:cNvSpPr/>
          <p:nvPr/>
        </p:nvSpPr>
        <p:spPr>
          <a:xfrm>
            <a:off x="548640" y="1005840"/>
            <a:ext cx="73152" cy="658368"/>
          </a:xfrm>
          <a:prstGeom prst="rect">
            <a:avLst/>
          </a:prstGeom>
          <a:solidFill>
            <a:srgbClr val="7C3AED"/>
          </a:solidFill>
          <a:ln/>
        </p:spPr>
      </p:sp>
      <p:sp>
        <p:nvSpPr>
          <p:cNvPr id="6" name="Text 4"/>
          <p:cNvSpPr/>
          <p:nvPr/>
        </p:nvSpPr>
        <p:spPr>
          <a:xfrm>
            <a:off x="822960" y="1051560"/>
            <a:ext cx="1371600" cy="256032"/>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Thought</a:t>
            </a:r>
            <a:endParaRPr lang="en-US" sz="1200" dirty="0"/>
          </a:p>
        </p:txBody>
      </p:sp>
      <p:sp>
        <p:nvSpPr>
          <p:cNvPr id="7" name="Text 5"/>
          <p:cNvSpPr/>
          <p:nvPr/>
        </p:nvSpPr>
        <p:spPr>
          <a:xfrm>
            <a:off x="822960" y="1307592"/>
            <a:ext cx="7589520" cy="32004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I need to find the population of Tokyo. Let me search for this.</a:t>
            </a:r>
            <a:endParaRPr lang="en-US" sz="1100" dirty="0"/>
          </a:p>
        </p:txBody>
      </p:sp>
      <p:sp>
        <p:nvSpPr>
          <p:cNvPr id="8" name="Shape 6"/>
          <p:cNvSpPr/>
          <p:nvPr/>
        </p:nvSpPr>
        <p:spPr>
          <a:xfrm>
            <a:off x="548640" y="1801368"/>
            <a:ext cx="8046720" cy="658368"/>
          </a:xfrm>
          <a:prstGeom prst="rect">
            <a:avLst/>
          </a:prstGeom>
          <a:solidFill>
            <a:srgbClr val="162D50"/>
          </a:solidFill>
          <a:ln/>
        </p:spPr>
      </p:sp>
      <p:sp>
        <p:nvSpPr>
          <p:cNvPr id="9" name="Shape 7"/>
          <p:cNvSpPr/>
          <p:nvPr/>
        </p:nvSpPr>
        <p:spPr>
          <a:xfrm>
            <a:off x="548640" y="1801368"/>
            <a:ext cx="73152" cy="658368"/>
          </a:xfrm>
          <a:prstGeom prst="rect">
            <a:avLst/>
          </a:prstGeom>
          <a:solidFill>
            <a:srgbClr val="00D4FF"/>
          </a:solidFill>
          <a:ln/>
        </p:spPr>
      </p:sp>
      <p:sp>
        <p:nvSpPr>
          <p:cNvPr id="10" name="Text 8"/>
          <p:cNvSpPr/>
          <p:nvPr/>
        </p:nvSpPr>
        <p:spPr>
          <a:xfrm>
            <a:off x="822960" y="1847088"/>
            <a:ext cx="1371600" cy="256032"/>
          </a:xfrm>
          <a:prstGeom prst="rect">
            <a:avLst/>
          </a:prstGeom>
          <a:noFill/>
          <a:ln/>
        </p:spPr>
        <p:txBody>
          <a:bodyPr wrap="square" lIns="0" tIns="0" rIns="0" bIns="0" rtlCol="0" anchor="ctr"/>
          <a:lstStyle/>
          <a:p>
            <a:pPr indent="0" marL="0">
              <a:buNone/>
            </a:pPr>
            <a:r>
              <a:rPr lang="en-US" sz="1200" b="1" dirty="0">
                <a:solidFill>
                  <a:srgbClr val="00D4FF"/>
                </a:solidFill>
                <a:latin typeface="Consolas" pitchFamily="34" charset="0"/>
                <a:ea typeface="Consolas" pitchFamily="34" charset="-122"/>
                <a:cs typeface="Consolas" pitchFamily="34" charset="-120"/>
              </a:rPr>
              <a:t>Action</a:t>
            </a:r>
            <a:endParaRPr lang="en-US" sz="1200" dirty="0"/>
          </a:p>
        </p:txBody>
      </p:sp>
      <p:sp>
        <p:nvSpPr>
          <p:cNvPr id="11" name="Text 9"/>
          <p:cNvSpPr/>
          <p:nvPr/>
        </p:nvSpPr>
        <p:spPr>
          <a:xfrm>
            <a:off x="822960" y="2103120"/>
            <a:ext cx="7589520" cy="32004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search("Tokyo population 2024")</a:t>
            </a:r>
            <a:endParaRPr lang="en-US" sz="1100" dirty="0"/>
          </a:p>
        </p:txBody>
      </p:sp>
      <p:sp>
        <p:nvSpPr>
          <p:cNvPr id="12" name="Shape 10"/>
          <p:cNvSpPr/>
          <p:nvPr/>
        </p:nvSpPr>
        <p:spPr>
          <a:xfrm>
            <a:off x="548640" y="2596896"/>
            <a:ext cx="8046720" cy="658368"/>
          </a:xfrm>
          <a:prstGeom prst="rect">
            <a:avLst/>
          </a:prstGeom>
          <a:solidFill>
            <a:srgbClr val="162D50"/>
          </a:solidFill>
          <a:ln/>
        </p:spPr>
      </p:sp>
      <p:sp>
        <p:nvSpPr>
          <p:cNvPr id="13" name="Shape 11"/>
          <p:cNvSpPr/>
          <p:nvPr/>
        </p:nvSpPr>
        <p:spPr>
          <a:xfrm>
            <a:off x="548640" y="2596896"/>
            <a:ext cx="73152" cy="658368"/>
          </a:xfrm>
          <a:prstGeom prst="rect">
            <a:avLst/>
          </a:prstGeom>
          <a:solidFill>
            <a:srgbClr val="10B981"/>
          </a:solidFill>
          <a:ln/>
        </p:spPr>
      </p:sp>
      <p:sp>
        <p:nvSpPr>
          <p:cNvPr id="14" name="Text 12"/>
          <p:cNvSpPr/>
          <p:nvPr/>
        </p:nvSpPr>
        <p:spPr>
          <a:xfrm>
            <a:off x="822960" y="2642616"/>
            <a:ext cx="1371600" cy="256032"/>
          </a:xfrm>
          <a:prstGeom prst="rect">
            <a:avLst/>
          </a:prstGeom>
          <a:noFill/>
          <a:ln/>
        </p:spPr>
        <p:txBody>
          <a:bodyPr wrap="square" lIns="0" tIns="0" rIns="0" bIns="0" rtlCol="0" anchor="ctr"/>
          <a:lstStyle/>
          <a:p>
            <a:pPr indent="0" marL="0">
              <a:buNone/>
            </a:pPr>
            <a:r>
              <a:rPr lang="en-US" sz="1200" b="1" dirty="0">
                <a:solidFill>
                  <a:srgbClr val="10B981"/>
                </a:solidFill>
                <a:latin typeface="Consolas" pitchFamily="34" charset="0"/>
                <a:ea typeface="Consolas" pitchFamily="34" charset="-122"/>
                <a:cs typeface="Consolas" pitchFamily="34" charset="-120"/>
              </a:rPr>
              <a:t>Observation</a:t>
            </a:r>
            <a:endParaRPr lang="en-US" sz="1200" dirty="0"/>
          </a:p>
        </p:txBody>
      </p:sp>
      <p:sp>
        <p:nvSpPr>
          <p:cNvPr id="15" name="Text 13"/>
          <p:cNvSpPr/>
          <p:nvPr/>
        </p:nvSpPr>
        <p:spPr>
          <a:xfrm>
            <a:off x="822960" y="2898648"/>
            <a:ext cx="7589520" cy="32004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Tokyo metropolitan area population: ~14 million (city proper), ~37 million (metro)</a:t>
            </a:r>
            <a:endParaRPr lang="en-US" sz="1100" dirty="0"/>
          </a:p>
        </p:txBody>
      </p:sp>
      <p:sp>
        <p:nvSpPr>
          <p:cNvPr id="16" name="Shape 14"/>
          <p:cNvSpPr/>
          <p:nvPr/>
        </p:nvSpPr>
        <p:spPr>
          <a:xfrm>
            <a:off x="548640" y="3392424"/>
            <a:ext cx="8046720" cy="658368"/>
          </a:xfrm>
          <a:prstGeom prst="rect">
            <a:avLst/>
          </a:prstGeom>
          <a:solidFill>
            <a:srgbClr val="162D50"/>
          </a:solidFill>
          <a:ln/>
        </p:spPr>
      </p:sp>
      <p:sp>
        <p:nvSpPr>
          <p:cNvPr id="17" name="Shape 15"/>
          <p:cNvSpPr/>
          <p:nvPr/>
        </p:nvSpPr>
        <p:spPr>
          <a:xfrm>
            <a:off x="548640" y="3392424"/>
            <a:ext cx="73152" cy="658368"/>
          </a:xfrm>
          <a:prstGeom prst="rect">
            <a:avLst/>
          </a:prstGeom>
          <a:solidFill>
            <a:srgbClr val="7C3AED"/>
          </a:solidFill>
          <a:ln/>
        </p:spPr>
      </p:sp>
      <p:sp>
        <p:nvSpPr>
          <p:cNvPr id="18" name="Text 16"/>
          <p:cNvSpPr/>
          <p:nvPr/>
        </p:nvSpPr>
        <p:spPr>
          <a:xfrm>
            <a:off x="822960" y="3438144"/>
            <a:ext cx="1371600" cy="256032"/>
          </a:xfrm>
          <a:prstGeom prst="rect">
            <a:avLst/>
          </a:prstGeom>
          <a:noFill/>
          <a:ln/>
        </p:spPr>
        <p:txBody>
          <a:bodyPr wrap="square" lIns="0" tIns="0" rIns="0" bIns="0" rtlCol="0" anchor="ctr"/>
          <a:lstStyle/>
          <a:p>
            <a:pPr indent="0" marL="0">
              <a:buNone/>
            </a:pPr>
            <a:r>
              <a:rPr lang="en-US" sz="1200" b="1" dirty="0">
                <a:solidFill>
                  <a:srgbClr val="7C3AED"/>
                </a:solidFill>
                <a:latin typeface="Consolas" pitchFamily="34" charset="0"/>
                <a:ea typeface="Consolas" pitchFamily="34" charset="-122"/>
                <a:cs typeface="Consolas" pitchFamily="34" charset="-120"/>
              </a:rPr>
              <a:t>Thought</a:t>
            </a:r>
            <a:endParaRPr lang="en-US" sz="1200" dirty="0"/>
          </a:p>
        </p:txBody>
      </p:sp>
      <p:sp>
        <p:nvSpPr>
          <p:cNvPr id="19" name="Text 17"/>
          <p:cNvSpPr/>
          <p:nvPr/>
        </p:nvSpPr>
        <p:spPr>
          <a:xfrm>
            <a:off x="822960" y="3694176"/>
            <a:ext cx="7589520" cy="32004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I have the population data. The user asked for city proper, so ~14 million.</a:t>
            </a:r>
            <a:endParaRPr lang="en-US" sz="1100" dirty="0"/>
          </a:p>
        </p:txBody>
      </p:sp>
      <p:sp>
        <p:nvSpPr>
          <p:cNvPr id="20" name="Shape 18"/>
          <p:cNvSpPr/>
          <p:nvPr/>
        </p:nvSpPr>
        <p:spPr>
          <a:xfrm>
            <a:off x="548640" y="4187952"/>
            <a:ext cx="8046720" cy="658368"/>
          </a:xfrm>
          <a:prstGeom prst="rect">
            <a:avLst/>
          </a:prstGeom>
          <a:solidFill>
            <a:srgbClr val="162D50"/>
          </a:solidFill>
          <a:ln/>
        </p:spPr>
      </p:sp>
      <p:sp>
        <p:nvSpPr>
          <p:cNvPr id="21" name="Shape 19"/>
          <p:cNvSpPr/>
          <p:nvPr/>
        </p:nvSpPr>
        <p:spPr>
          <a:xfrm>
            <a:off x="548640" y="4187952"/>
            <a:ext cx="73152" cy="658368"/>
          </a:xfrm>
          <a:prstGeom prst="rect">
            <a:avLst/>
          </a:prstGeom>
          <a:solidFill>
            <a:srgbClr val="F59E0B"/>
          </a:solidFill>
          <a:ln/>
        </p:spPr>
      </p:sp>
      <p:sp>
        <p:nvSpPr>
          <p:cNvPr id="22" name="Text 20"/>
          <p:cNvSpPr/>
          <p:nvPr/>
        </p:nvSpPr>
        <p:spPr>
          <a:xfrm>
            <a:off x="822960" y="4233672"/>
            <a:ext cx="1371600" cy="256032"/>
          </a:xfrm>
          <a:prstGeom prst="rect">
            <a:avLst/>
          </a:prstGeom>
          <a:noFill/>
          <a:ln/>
        </p:spPr>
        <p:txBody>
          <a:bodyPr wrap="square" lIns="0" tIns="0" rIns="0" bIns="0" rtlCol="0" anchor="ctr"/>
          <a:lstStyle/>
          <a:p>
            <a:pPr indent="0" marL="0">
              <a:buNone/>
            </a:pPr>
            <a:r>
              <a:rPr lang="en-US" sz="1200" b="1" dirty="0">
                <a:solidFill>
                  <a:srgbClr val="F59E0B"/>
                </a:solidFill>
                <a:latin typeface="Consolas" pitchFamily="34" charset="0"/>
                <a:ea typeface="Consolas" pitchFamily="34" charset="-122"/>
                <a:cs typeface="Consolas" pitchFamily="34" charset="-120"/>
              </a:rPr>
              <a:t>Action</a:t>
            </a:r>
            <a:endParaRPr lang="en-US" sz="1200" dirty="0"/>
          </a:p>
        </p:txBody>
      </p:sp>
      <p:sp>
        <p:nvSpPr>
          <p:cNvPr id="23" name="Text 21"/>
          <p:cNvSpPr/>
          <p:nvPr/>
        </p:nvSpPr>
        <p:spPr>
          <a:xfrm>
            <a:off x="822960" y="4489704"/>
            <a:ext cx="7589520" cy="32004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finish("Tokyo's population is approximately 14 million (city proper).")</a:t>
            </a:r>
            <a:endParaRPr lang="en-US" sz="1100" dirty="0"/>
          </a:p>
        </p:txBody>
      </p:sp>
      <p:sp>
        <p:nvSpPr>
          <p:cNvPr id="24" name="Text 22"/>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12 / 33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ReAct — Strengths, Limitations &amp; Use Cases</a:t>
            </a:r>
            <a:endParaRPr lang="en-US" sz="2400" dirty="0"/>
          </a:p>
        </p:txBody>
      </p:sp>
      <p:sp>
        <p:nvSpPr>
          <p:cNvPr id="4" name="Shape 2"/>
          <p:cNvSpPr/>
          <p:nvPr/>
        </p:nvSpPr>
        <p:spPr>
          <a:xfrm>
            <a:off x="365760" y="914400"/>
            <a:ext cx="27432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Shape 3"/>
          <p:cNvSpPr/>
          <p:nvPr/>
        </p:nvSpPr>
        <p:spPr>
          <a:xfrm>
            <a:off x="365760" y="914400"/>
            <a:ext cx="2743200" cy="54864"/>
          </a:xfrm>
          <a:prstGeom prst="rect">
            <a:avLst/>
          </a:prstGeom>
          <a:solidFill>
            <a:srgbClr val="10B981"/>
          </a:solidFill>
          <a:ln/>
        </p:spPr>
      </p:sp>
      <p:sp>
        <p:nvSpPr>
          <p:cNvPr id="6" name="Text 4"/>
          <p:cNvSpPr/>
          <p:nvPr/>
        </p:nvSpPr>
        <p:spPr>
          <a:xfrm>
            <a:off x="548640" y="1097280"/>
            <a:ext cx="2377440" cy="320040"/>
          </a:xfrm>
          <a:prstGeom prst="rect">
            <a:avLst/>
          </a:prstGeom>
          <a:noFill/>
          <a:ln/>
        </p:spPr>
        <p:txBody>
          <a:bodyPr wrap="square" lIns="0" tIns="0" rIns="0" bIns="0" rtlCol="0" anchor="ctr"/>
          <a:lstStyle/>
          <a:p>
            <a:pPr indent="0" marL="0">
              <a:buNone/>
            </a:pPr>
            <a:r>
              <a:rPr lang="en-US" sz="1600" b="1" dirty="0">
                <a:solidFill>
                  <a:srgbClr val="10B981"/>
                </a:solidFill>
                <a:latin typeface="Trebuchet MS" pitchFamily="34" charset="0"/>
                <a:ea typeface="Trebuchet MS" pitchFamily="34" charset="-122"/>
                <a:cs typeface="Trebuchet MS" pitchFamily="34" charset="-120"/>
              </a:rPr>
              <a:t>Strengths</a:t>
            </a:r>
            <a:endParaRPr lang="en-US" sz="1600" dirty="0"/>
          </a:p>
        </p:txBody>
      </p:sp>
      <p:sp>
        <p:nvSpPr>
          <p:cNvPr id="7" name="Text 5"/>
          <p:cNvSpPr/>
          <p:nvPr/>
        </p:nvSpPr>
        <p:spPr>
          <a:xfrm>
            <a:off x="548640" y="1554480"/>
            <a:ext cx="2377440" cy="365760"/>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Traceable reasoning chain</a:t>
            </a:r>
            <a:endParaRPr lang="en-US" sz="1150" dirty="0"/>
          </a:p>
        </p:txBody>
      </p:sp>
      <p:sp>
        <p:nvSpPr>
          <p:cNvPr id="8" name="Text 6"/>
          <p:cNvSpPr/>
          <p:nvPr/>
        </p:nvSpPr>
        <p:spPr>
          <a:xfrm>
            <a:off x="548640" y="1965960"/>
            <a:ext cx="2377440" cy="365760"/>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Grounded in real observations</a:t>
            </a:r>
            <a:endParaRPr lang="en-US" sz="1150" dirty="0"/>
          </a:p>
        </p:txBody>
      </p:sp>
      <p:sp>
        <p:nvSpPr>
          <p:cNvPr id="9" name="Text 7"/>
          <p:cNvSpPr/>
          <p:nvPr/>
        </p:nvSpPr>
        <p:spPr>
          <a:xfrm>
            <a:off x="548640" y="2377440"/>
            <a:ext cx="2377440" cy="365760"/>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Handles multi-step problems</a:t>
            </a:r>
            <a:endParaRPr lang="en-US" sz="1150" dirty="0"/>
          </a:p>
        </p:txBody>
      </p:sp>
      <p:sp>
        <p:nvSpPr>
          <p:cNvPr id="10" name="Text 8"/>
          <p:cNvSpPr/>
          <p:nvPr/>
        </p:nvSpPr>
        <p:spPr>
          <a:xfrm>
            <a:off x="548640" y="2788920"/>
            <a:ext cx="2377440" cy="365760"/>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Reduces hallucination</a:t>
            </a:r>
            <a:endParaRPr lang="en-US" sz="1150" dirty="0"/>
          </a:p>
        </p:txBody>
      </p:sp>
      <p:sp>
        <p:nvSpPr>
          <p:cNvPr id="11" name="Text 9"/>
          <p:cNvSpPr/>
          <p:nvPr/>
        </p:nvSpPr>
        <p:spPr>
          <a:xfrm>
            <a:off x="548640" y="3200400"/>
            <a:ext cx="2377440" cy="365760"/>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Human-interpretable logic</a:t>
            </a:r>
            <a:endParaRPr lang="en-US" sz="1150" dirty="0"/>
          </a:p>
        </p:txBody>
      </p:sp>
      <p:sp>
        <p:nvSpPr>
          <p:cNvPr id="12" name="Shape 10"/>
          <p:cNvSpPr/>
          <p:nvPr/>
        </p:nvSpPr>
        <p:spPr>
          <a:xfrm>
            <a:off x="3246120" y="914400"/>
            <a:ext cx="27432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Shape 11"/>
          <p:cNvSpPr/>
          <p:nvPr/>
        </p:nvSpPr>
        <p:spPr>
          <a:xfrm>
            <a:off x="3246120" y="914400"/>
            <a:ext cx="2743200" cy="54864"/>
          </a:xfrm>
          <a:prstGeom prst="rect">
            <a:avLst/>
          </a:prstGeom>
          <a:solidFill>
            <a:srgbClr val="EF4444"/>
          </a:solidFill>
          <a:ln/>
        </p:spPr>
      </p:sp>
      <p:sp>
        <p:nvSpPr>
          <p:cNvPr id="14" name="Text 12"/>
          <p:cNvSpPr/>
          <p:nvPr/>
        </p:nvSpPr>
        <p:spPr>
          <a:xfrm>
            <a:off x="3429000" y="1097280"/>
            <a:ext cx="2377440" cy="320040"/>
          </a:xfrm>
          <a:prstGeom prst="rect">
            <a:avLst/>
          </a:prstGeom>
          <a:noFill/>
          <a:ln/>
        </p:spPr>
        <p:txBody>
          <a:bodyPr wrap="square" lIns="0" tIns="0" rIns="0" bIns="0" rtlCol="0" anchor="ctr"/>
          <a:lstStyle/>
          <a:p>
            <a:pPr indent="0" marL="0">
              <a:buNone/>
            </a:pPr>
            <a:r>
              <a:rPr lang="en-US" sz="1600" b="1" dirty="0">
                <a:solidFill>
                  <a:srgbClr val="EF4444"/>
                </a:solidFill>
                <a:latin typeface="Trebuchet MS" pitchFamily="34" charset="0"/>
                <a:ea typeface="Trebuchet MS" pitchFamily="34" charset="-122"/>
                <a:cs typeface="Trebuchet MS" pitchFamily="34" charset="-120"/>
              </a:rPr>
              <a:t>Limitations</a:t>
            </a:r>
            <a:endParaRPr lang="en-US" sz="1600" dirty="0"/>
          </a:p>
        </p:txBody>
      </p:sp>
      <p:sp>
        <p:nvSpPr>
          <p:cNvPr id="15" name="Text 13"/>
          <p:cNvSpPr/>
          <p:nvPr/>
        </p:nvSpPr>
        <p:spPr>
          <a:xfrm>
            <a:off x="3429000" y="1554480"/>
            <a:ext cx="2377440" cy="365760"/>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Sequential → higher latency</a:t>
            </a:r>
            <a:endParaRPr lang="en-US" sz="1150" dirty="0"/>
          </a:p>
        </p:txBody>
      </p:sp>
      <p:sp>
        <p:nvSpPr>
          <p:cNvPr id="16" name="Text 14"/>
          <p:cNvSpPr/>
          <p:nvPr/>
        </p:nvSpPr>
        <p:spPr>
          <a:xfrm>
            <a:off x="3429000" y="1965960"/>
            <a:ext cx="2377440" cy="365760"/>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Each step needs LLM call</a:t>
            </a:r>
            <a:endParaRPr lang="en-US" sz="1150" dirty="0"/>
          </a:p>
        </p:txBody>
      </p:sp>
      <p:sp>
        <p:nvSpPr>
          <p:cNvPr id="17" name="Text 15"/>
          <p:cNvSpPr/>
          <p:nvPr/>
        </p:nvSpPr>
        <p:spPr>
          <a:xfrm>
            <a:off x="3429000" y="2377440"/>
            <a:ext cx="2377440" cy="365760"/>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Can get stuck in loops</a:t>
            </a:r>
            <a:endParaRPr lang="en-US" sz="1150" dirty="0"/>
          </a:p>
        </p:txBody>
      </p:sp>
      <p:sp>
        <p:nvSpPr>
          <p:cNvPr id="18" name="Text 16"/>
          <p:cNvSpPr/>
          <p:nvPr/>
        </p:nvSpPr>
        <p:spPr>
          <a:xfrm>
            <a:off x="3429000" y="2788920"/>
            <a:ext cx="2377440" cy="365760"/>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Token-expensive for long chains</a:t>
            </a:r>
            <a:endParaRPr lang="en-US" sz="1150" dirty="0"/>
          </a:p>
        </p:txBody>
      </p:sp>
      <p:sp>
        <p:nvSpPr>
          <p:cNvPr id="19" name="Text 17"/>
          <p:cNvSpPr/>
          <p:nvPr/>
        </p:nvSpPr>
        <p:spPr>
          <a:xfrm>
            <a:off x="3429000" y="3200400"/>
            <a:ext cx="2377440" cy="365760"/>
          </a:xfrm>
          <a:prstGeom prst="rect">
            <a:avLst/>
          </a:prstGeom>
          <a:noFill/>
          <a:ln/>
        </p:spPr>
        <p:txBody>
          <a:bodyPr wrap="square" lIns="0" tIns="0" rIns="0" bIns="0" rtlCol="0" anchor="ctr"/>
          <a:lstStyle/>
          <a:p>
            <a:pPr indent="0" marL="0">
              <a:buNone/>
            </a:pPr>
            <a:r>
              <a:rPr lang="en-US" sz="1150" b="1" dirty="0">
                <a:solidFill>
                  <a:srgbClr val="EF4444"/>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Tool errors can derail</a:t>
            </a:r>
            <a:endParaRPr lang="en-US" sz="1150" dirty="0"/>
          </a:p>
        </p:txBody>
      </p:sp>
      <p:sp>
        <p:nvSpPr>
          <p:cNvPr id="20" name="Shape 18"/>
          <p:cNvSpPr/>
          <p:nvPr/>
        </p:nvSpPr>
        <p:spPr>
          <a:xfrm>
            <a:off x="6126480" y="914400"/>
            <a:ext cx="27432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9"/>
          <p:cNvSpPr/>
          <p:nvPr/>
        </p:nvSpPr>
        <p:spPr>
          <a:xfrm>
            <a:off x="6126480" y="914400"/>
            <a:ext cx="2743200" cy="54864"/>
          </a:xfrm>
          <a:prstGeom prst="rect">
            <a:avLst/>
          </a:prstGeom>
          <a:solidFill>
            <a:srgbClr val="00D4FF"/>
          </a:solidFill>
          <a:ln/>
        </p:spPr>
      </p:sp>
      <p:sp>
        <p:nvSpPr>
          <p:cNvPr id="22" name="Text 20"/>
          <p:cNvSpPr/>
          <p:nvPr/>
        </p:nvSpPr>
        <p:spPr>
          <a:xfrm>
            <a:off x="6309360" y="1097280"/>
            <a:ext cx="2377440" cy="320040"/>
          </a:xfrm>
          <a:prstGeom prst="rect">
            <a:avLst/>
          </a:prstGeom>
          <a:noFill/>
          <a:ln/>
        </p:spPr>
        <p:txBody>
          <a:bodyPr wrap="square" lIns="0" tIns="0" rIns="0" bIns="0" rtlCol="0" anchor="ctr"/>
          <a:lstStyle/>
          <a:p>
            <a:pPr indent="0" marL="0">
              <a:buNone/>
            </a:pPr>
            <a:r>
              <a:rPr lang="en-US" sz="1600" b="1" dirty="0">
                <a:solidFill>
                  <a:srgbClr val="00D4FF"/>
                </a:solidFill>
                <a:latin typeface="Trebuchet MS" pitchFamily="34" charset="0"/>
                <a:ea typeface="Trebuchet MS" pitchFamily="34" charset="-122"/>
                <a:cs typeface="Trebuchet MS" pitchFamily="34" charset="-120"/>
              </a:rPr>
              <a:t>Best For</a:t>
            </a:r>
            <a:endParaRPr lang="en-US" sz="1600" dirty="0"/>
          </a:p>
        </p:txBody>
      </p:sp>
      <p:sp>
        <p:nvSpPr>
          <p:cNvPr id="23" name="Text 21"/>
          <p:cNvSpPr/>
          <p:nvPr/>
        </p:nvSpPr>
        <p:spPr>
          <a:xfrm>
            <a:off x="6309360" y="1554480"/>
            <a:ext cx="2377440" cy="36576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Question answering (HotpotQA)</a:t>
            </a:r>
            <a:endParaRPr lang="en-US" sz="1150" dirty="0"/>
          </a:p>
        </p:txBody>
      </p:sp>
      <p:sp>
        <p:nvSpPr>
          <p:cNvPr id="24" name="Text 22"/>
          <p:cNvSpPr/>
          <p:nvPr/>
        </p:nvSpPr>
        <p:spPr>
          <a:xfrm>
            <a:off x="6309360" y="1965960"/>
            <a:ext cx="2377440" cy="36576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Fact verification tasks</a:t>
            </a:r>
            <a:endParaRPr lang="en-US" sz="1150" dirty="0"/>
          </a:p>
        </p:txBody>
      </p:sp>
      <p:sp>
        <p:nvSpPr>
          <p:cNvPr id="25" name="Text 23"/>
          <p:cNvSpPr/>
          <p:nvPr/>
        </p:nvSpPr>
        <p:spPr>
          <a:xfrm>
            <a:off x="6309360" y="2377440"/>
            <a:ext cx="2377440" cy="36576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Interactive web navigation</a:t>
            </a:r>
            <a:endParaRPr lang="en-US" sz="1150" dirty="0"/>
          </a:p>
        </p:txBody>
      </p:sp>
      <p:sp>
        <p:nvSpPr>
          <p:cNvPr id="26" name="Text 24"/>
          <p:cNvSpPr/>
          <p:nvPr/>
        </p:nvSpPr>
        <p:spPr>
          <a:xfrm>
            <a:off x="6309360" y="2788920"/>
            <a:ext cx="2377440" cy="36576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Customer support bots</a:t>
            </a:r>
            <a:endParaRPr lang="en-US" sz="1150" dirty="0"/>
          </a:p>
        </p:txBody>
      </p:sp>
      <p:sp>
        <p:nvSpPr>
          <p:cNvPr id="27" name="Text 25"/>
          <p:cNvSpPr/>
          <p:nvPr/>
        </p:nvSpPr>
        <p:spPr>
          <a:xfrm>
            <a:off x="6309360" y="3200400"/>
            <a:ext cx="2377440" cy="365760"/>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  </a:t>
            </a:r>
            <a:pPr indent="0" marL="0">
              <a:buNone/>
            </a:pPr>
            <a:r>
              <a:rPr lang="en-US" sz="1150" dirty="0">
                <a:solidFill>
                  <a:srgbClr val="64748B"/>
                </a:solidFill>
                <a:latin typeface="Calibri" pitchFamily="34" charset="0"/>
                <a:ea typeface="Calibri" pitchFamily="34" charset="-122"/>
                <a:cs typeface="Calibri" pitchFamily="34" charset="-120"/>
              </a:rPr>
              <a:t>Research assistants</a:t>
            </a:r>
            <a:endParaRPr lang="en-US" sz="1150" dirty="0"/>
          </a:p>
        </p:txBody>
      </p:sp>
      <p:sp>
        <p:nvSpPr>
          <p:cNvPr id="28" name="Text 26"/>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33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2103120"/>
            <a:ext cx="9144000" cy="13716"/>
          </a:xfrm>
          <a:prstGeom prst="rect">
            <a:avLst/>
          </a:prstGeom>
          <a:solidFill>
            <a:srgbClr val="10B981">
              <a:alpha val="70000"/>
            </a:srgbClr>
          </a:solidFill>
          <a:ln/>
        </p:spPr>
      </p:sp>
      <p:pic>
        <p:nvPicPr>
          <p:cNvPr id="3" name="Image 0" descr="preencoded.png">    </p:cNvPr>
          <p:cNvPicPr>
            <a:picLocks noChangeAspect="1"/>
          </p:cNvPicPr>
          <p:nvPr/>
        </p:nvPicPr>
        <p:blipFill>
          <a:blip r:embed="rId1"/>
          <a:stretch>
            <a:fillRect/>
          </a:stretch>
        </p:blipFill>
        <p:spPr>
          <a:xfrm>
            <a:off x="4069080" y="1005840"/>
            <a:ext cx="1005840" cy="1005840"/>
          </a:xfrm>
          <a:prstGeom prst="rect">
            <a:avLst/>
          </a:prstGeom>
        </p:spPr>
      </p:pic>
      <p:sp>
        <p:nvSpPr>
          <p:cNvPr id="4" name="Text 1"/>
          <p:cNvSpPr/>
          <p:nvPr/>
        </p:nvSpPr>
        <p:spPr>
          <a:xfrm>
            <a:off x="914400" y="2331720"/>
            <a:ext cx="73152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REWOO Pattern</a:t>
            </a:r>
            <a:endParaRPr lang="en-US" sz="3400" dirty="0"/>
          </a:p>
        </p:txBody>
      </p:sp>
      <p:sp>
        <p:nvSpPr>
          <p:cNvPr id="5" name="Text 2"/>
          <p:cNvSpPr/>
          <p:nvPr/>
        </p:nvSpPr>
        <p:spPr>
          <a:xfrm>
            <a:off x="914400" y="2971800"/>
            <a:ext cx="7315200" cy="365760"/>
          </a:xfrm>
          <a:prstGeom prst="rect">
            <a:avLst/>
          </a:prstGeom>
          <a:noFill/>
          <a:ln/>
        </p:spPr>
        <p:txBody>
          <a:bodyPr wrap="square" rtlCol="0" anchor="ctr"/>
          <a:lstStyle/>
          <a:p>
            <a:pPr algn="ctr" indent="0" marL="0">
              <a:buNone/>
            </a:pPr>
            <a:r>
              <a:rPr lang="en-US" sz="1600" dirty="0">
                <a:solidFill>
                  <a:srgbClr val="10B981"/>
                </a:solidFill>
                <a:latin typeface="Calibri" pitchFamily="34" charset="0"/>
                <a:ea typeface="Calibri" pitchFamily="34" charset="-122"/>
                <a:cs typeface="Calibri" pitchFamily="34" charset="-120"/>
              </a:rPr>
              <a:t>Reasoning WithOut Observation — Efficient Planning</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14 / 33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REWOO — Reasoning Without Observation</a:t>
            </a:r>
            <a:endParaRPr lang="en-US" sz="2600" dirty="0"/>
          </a:p>
        </p:txBody>
      </p:sp>
      <p:sp>
        <p:nvSpPr>
          <p:cNvPr id="4" name="Text 2"/>
          <p:cNvSpPr/>
          <p:nvPr/>
        </p:nvSpPr>
        <p:spPr>
          <a:xfrm>
            <a:off x="457200" y="914400"/>
            <a:ext cx="8229600" cy="914400"/>
          </a:xfrm>
          <a:prstGeom prst="rect">
            <a:avLst/>
          </a:prstGeom>
          <a:noFill/>
          <a:ln/>
        </p:spPr>
        <p:txBody>
          <a:bodyPr wrap="square"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REWOO (Xu et al., 2023) decouples planning from execution. Instead of interleaving Thought-Action-Observation like ReAct, REWOO generates the entire plan upfront (Planner), executes all tool calls as a batch (Worker), then synthesizes the results into a final answer (Solver). This dramatically reduces LLM invocations.</a:t>
            </a:r>
            <a:endParaRPr lang="en-US" sz="1300" dirty="0"/>
          </a:p>
        </p:txBody>
      </p:sp>
      <p:sp>
        <p:nvSpPr>
          <p:cNvPr id="5" name="Shape 3"/>
          <p:cNvSpPr/>
          <p:nvPr/>
        </p:nvSpPr>
        <p:spPr>
          <a:xfrm>
            <a:off x="457200" y="2103120"/>
            <a:ext cx="2606040" cy="26517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457200" y="2103120"/>
            <a:ext cx="2606040" cy="54864"/>
          </a:xfrm>
          <a:prstGeom prst="rect">
            <a:avLst/>
          </a:prstGeom>
          <a:solidFill>
            <a:srgbClr val="7C3AED"/>
          </a:solidFill>
          <a:ln/>
        </p:spPr>
      </p:sp>
      <p:sp>
        <p:nvSpPr>
          <p:cNvPr id="7" name="Text 5"/>
          <p:cNvSpPr/>
          <p:nvPr/>
        </p:nvSpPr>
        <p:spPr>
          <a:xfrm>
            <a:off x="457200" y="2286000"/>
            <a:ext cx="2606040" cy="365760"/>
          </a:xfrm>
          <a:prstGeom prst="rect">
            <a:avLst/>
          </a:prstGeom>
          <a:noFill/>
          <a:ln/>
        </p:spPr>
        <p:txBody>
          <a:bodyPr wrap="square" lIns="0" tIns="0" rIns="0" bIns="0" rtlCol="0" anchor="ctr"/>
          <a:lstStyle/>
          <a:p>
            <a:pPr algn="ctr" indent="0" marL="0">
              <a:buNone/>
            </a:pPr>
            <a:r>
              <a:rPr lang="en-US" sz="1800" b="1" dirty="0">
                <a:solidFill>
                  <a:srgbClr val="7C3AED"/>
                </a:solidFill>
                <a:latin typeface="Trebuchet MS" pitchFamily="34" charset="0"/>
                <a:ea typeface="Trebuchet MS" pitchFamily="34" charset="-122"/>
                <a:cs typeface="Trebuchet MS" pitchFamily="34" charset="-120"/>
              </a:rPr>
              <a:t>Planner</a:t>
            </a:r>
            <a:endParaRPr lang="en-US" sz="1800" dirty="0"/>
          </a:p>
        </p:txBody>
      </p:sp>
      <p:sp>
        <p:nvSpPr>
          <p:cNvPr id="8" name="Text 6"/>
          <p:cNvSpPr/>
          <p:nvPr/>
        </p:nvSpPr>
        <p:spPr>
          <a:xfrm>
            <a:off x="594360" y="2743200"/>
            <a:ext cx="2331720" cy="1828800"/>
          </a:xfrm>
          <a:prstGeom prst="rect">
            <a:avLst/>
          </a:prstGeom>
          <a:noFill/>
          <a:ln/>
        </p:spPr>
        <p:txBody>
          <a:bodyPr wrap="square"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Generates full DAG of</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steps with tool assignments.</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No tool execution yet.</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Uses variable substitution</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(#E1, #E2) for dependencies.</a:t>
            </a:r>
            <a:endParaRPr lang="en-US" sz="1100" dirty="0"/>
          </a:p>
        </p:txBody>
      </p:sp>
      <p:sp>
        <p:nvSpPr>
          <p:cNvPr id="9" name="Text 7"/>
          <p:cNvSpPr/>
          <p:nvPr/>
        </p:nvSpPr>
        <p:spPr>
          <a:xfrm>
            <a:off x="3017520" y="3017520"/>
            <a:ext cx="411480" cy="457200"/>
          </a:xfrm>
          <a:prstGeom prst="rect">
            <a:avLst/>
          </a:prstGeom>
          <a:noFill/>
          <a:ln/>
        </p:spPr>
        <p:txBody>
          <a:bodyPr wrap="square" rtlCol="0" anchor="ctr"/>
          <a:lstStyle/>
          <a:p>
            <a:pPr algn="ctr" indent="0" marL="0">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37560" y="2103120"/>
            <a:ext cx="2606040" cy="26517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3337560" y="2103120"/>
            <a:ext cx="2606040" cy="54864"/>
          </a:xfrm>
          <a:prstGeom prst="rect">
            <a:avLst/>
          </a:prstGeom>
          <a:solidFill>
            <a:srgbClr val="00D4FF"/>
          </a:solidFill>
          <a:ln/>
        </p:spPr>
      </p:sp>
      <p:sp>
        <p:nvSpPr>
          <p:cNvPr id="12" name="Text 10"/>
          <p:cNvSpPr/>
          <p:nvPr/>
        </p:nvSpPr>
        <p:spPr>
          <a:xfrm>
            <a:off x="3337560" y="2286000"/>
            <a:ext cx="2606040" cy="365760"/>
          </a:xfrm>
          <a:prstGeom prst="rect">
            <a:avLst/>
          </a:prstGeom>
          <a:noFill/>
          <a:ln/>
        </p:spPr>
        <p:txBody>
          <a:bodyPr wrap="square" lIns="0" tIns="0" rIns="0" bIns="0" rtlCol="0" anchor="ctr"/>
          <a:lstStyle/>
          <a:p>
            <a:pPr algn="ctr" indent="0" marL="0">
              <a:buNone/>
            </a:pPr>
            <a:r>
              <a:rPr lang="en-US" sz="1800" b="1" dirty="0">
                <a:solidFill>
                  <a:srgbClr val="00D4FF"/>
                </a:solidFill>
                <a:latin typeface="Trebuchet MS" pitchFamily="34" charset="0"/>
                <a:ea typeface="Trebuchet MS" pitchFamily="34" charset="-122"/>
                <a:cs typeface="Trebuchet MS" pitchFamily="34" charset="-120"/>
              </a:rPr>
              <a:t>Worker</a:t>
            </a:r>
            <a:endParaRPr lang="en-US" sz="1800" dirty="0"/>
          </a:p>
        </p:txBody>
      </p:sp>
      <p:sp>
        <p:nvSpPr>
          <p:cNvPr id="13" name="Text 11"/>
          <p:cNvSpPr/>
          <p:nvPr/>
        </p:nvSpPr>
        <p:spPr>
          <a:xfrm>
            <a:off x="3474720" y="2743200"/>
            <a:ext cx="2331720" cy="1828800"/>
          </a:xfrm>
          <a:prstGeom prst="rect">
            <a:avLst/>
          </a:prstGeom>
          <a:noFill/>
          <a:ln/>
        </p:spPr>
        <p:txBody>
          <a:bodyPr wrap="square"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Executes all planned steps.</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Runs tools in dependency</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order. Substitutes actual</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results for #E variables.</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No LLM calls needed.</a:t>
            </a:r>
            <a:endParaRPr lang="en-US" sz="1100" dirty="0"/>
          </a:p>
        </p:txBody>
      </p:sp>
      <p:sp>
        <p:nvSpPr>
          <p:cNvPr id="14" name="Text 12"/>
          <p:cNvSpPr/>
          <p:nvPr/>
        </p:nvSpPr>
        <p:spPr>
          <a:xfrm>
            <a:off x="5897880" y="3017520"/>
            <a:ext cx="411480" cy="457200"/>
          </a:xfrm>
          <a:prstGeom prst="rect">
            <a:avLst/>
          </a:prstGeom>
          <a:noFill/>
          <a:ln/>
        </p:spPr>
        <p:txBody>
          <a:bodyPr wrap="square" rtlCol="0" anchor="ctr"/>
          <a:lstStyle/>
          <a:p>
            <a:pPr algn="ctr" indent="0" marL="0">
              <a:buNone/>
            </a:pPr>
            <a:r>
              <a:rPr lang="en-US" sz="2200" dirty="0">
                <a:solidFill>
                  <a:srgbClr val="64748B"/>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217920" y="2103120"/>
            <a:ext cx="2606040" cy="26517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6217920" y="2103120"/>
            <a:ext cx="2606040" cy="54864"/>
          </a:xfrm>
          <a:prstGeom prst="rect">
            <a:avLst/>
          </a:prstGeom>
          <a:solidFill>
            <a:srgbClr val="10B981"/>
          </a:solidFill>
          <a:ln/>
        </p:spPr>
      </p:sp>
      <p:sp>
        <p:nvSpPr>
          <p:cNvPr id="17" name="Text 15"/>
          <p:cNvSpPr/>
          <p:nvPr/>
        </p:nvSpPr>
        <p:spPr>
          <a:xfrm>
            <a:off x="6217920" y="2286000"/>
            <a:ext cx="2606040" cy="365760"/>
          </a:xfrm>
          <a:prstGeom prst="rect">
            <a:avLst/>
          </a:prstGeom>
          <a:noFill/>
          <a:ln/>
        </p:spPr>
        <p:txBody>
          <a:bodyPr wrap="square" lIns="0" tIns="0" rIns="0" bIns="0" rtlCol="0" anchor="ctr"/>
          <a:lstStyle/>
          <a:p>
            <a:pPr algn="ctr" indent="0" marL="0">
              <a:buNone/>
            </a:pPr>
            <a:r>
              <a:rPr lang="en-US" sz="1800" b="1" dirty="0">
                <a:solidFill>
                  <a:srgbClr val="10B981"/>
                </a:solidFill>
                <a:latin typeface="Trebuchet MS" pitchFamily="34" charset="0"/>
                <a:ea typeface="Trebuchet MS" pitchFamily="34" charset="-122"/>
                <a:cs typeface="Trebuchet MS" pitchFamily="34" charset="-120"/>
              </a:rPr>
              <a:t>Solver</a:t>
            </a:r>
            <a:endParaRPr lang="en-US" sz="1800" dirty="0"/>
          </a:p>
        </p:txBody>
      </p:sp>
      <p:sp>
        <p:nvSpPr>
          <p:cNvPr id="18" name="Text 16"/>
          <p:cNvSpPr/>
          <p:nvPr/>
        </p:nvSpPr>
        <p:spPr>
          <a:xfrm>
            <a:off x="6355080" y="2743200"/>
            <a:ext cx="2331720" cy="1828800"/>
          </a:xfrm>
          <a:prstGeom prst="rect">
            <a:avLst/>
          </a:prstGeom>
          <a:noFill/>
          <a:ln/>
        </p:spPr>
        <p:txBody>
          <a:bodyPr wrap="square" rtlCol="0" anchor="ctr"/>
          <a:lstStyle/>
          <a:p>
            <a:pPr algn="l" indent="0" marL="0">
              <a:buNone/>
            </a:pPr>
            <a:r>
              <a:rPr lang="en-US" sz="1100" dirty="0">
                <a:solidFill>
                  <a:srgbClr val="64748B"/>
                </a:solidFill>
                <a:latin typeface="Calibri" pitchFamily="34" charset="0"/>
                <a:ea typeface="Calibri" pitchFamily="34" charset="-122"/>
                <a:cs typeface="Calibri" pitchFamily="34" charset="-120"/>
              </a:rPr>
              <a:t>Receives all evidence.</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Synthesizes observations</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into final answer. Single</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LLM call combines all</a:t>
            </a:r>
            <a:endParaRPr lang="en-US" sz="1100" dirty="0"/>
          </a:p>
          <a:p>
            <a:pPr algn="l" indent="0" marL="0">
              <a:buNone/>
            </a:pPr>
            <a:r>
              <a:rPr lang="en-US" sz="1100" dirty="0">
                <a:solidFill>
                  <a:srgbClr val="64748B"/>
                </a:solidFill>
                <a:latin typeface="Calibri" pitchFamily="34" charset="0"/>
                <a:ea typeface="Calibri" pitchFamily="34" charset="-122"/>
                <a:cs typeface="Calibri" pitchFamily="34" charset="-120"/>
              </a:rPr>
              <a:t>results coherently.</a:t>
            </a:r>
            <a:endParaRPr lang="en-US" sz="1100" dirty="0"/>
          </a:p>
        </p:txBody>
      </p:sp>
      <p:sp>
        <p:nvSpPr>
          <p:cNvPr id="19" name="Text 17"/>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33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0B981"/>
          </a:solidFill>
          <a:ln/>
        </p:spPr>
      </p:sp>
      <p:sp>
        <p:nvSpPr>
          <p:cNvPr id="3" name="Text 1"/>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REWOO — Plan Execution Example</a:t>
            </a:r>
            <a:endParaRPr lang="en-US" sz="2600" dirty="0"/>
          </a:p>
        </p:txBody>
      </p:sp>
      <p:sp>
        <p:nvSpPr>
          <p:cNvPr id="4" name="Text 2"/>
          <p:cNvSpPr/>
          <p:nvPr/>
        </p:nvSpPr>
        <p:spPr>
          <a:xfrm>
            <a:off x="548640" y="868680"/>
            <a:ext cx="8046720" cy="320040"/>
          </a:xfrm>
          <a:prstGeom prst="rect">
            <a:avLst/>
          </a:prstGeom>
          <a:noFill/>
          <a:ln/>
        </p:spPr>
        <p:txBody>
          <a:bodyPr wrap="square" lIns="0" tIns="0" rIns="0" bIns="0" rtlCol="0" anchor="ctr"/>
          <a:lstStyle/>
          <a:p>
            <a:pPr indent="0" marL="0">
              <a:buNone/>
            </a:pPr>
            <a:r>
              <a:rPr lang="en-US" sz="1200" i="1" dirty="0">
                <a:solidFill>
                  <a:srgbClr val="00D4FF"/>
                </a:solidFill>
                <a:latin typeface="Calibri" pitchFamily="34" charset="0"/>
                <a:ea typeface="Calibri" pitchFamily="34" charset="-122"/>
                <a:cs typeface="Calibri" pitchFamily="34" charset="-120"/>
              </a:rPr>
              <a:t>Query: "What is the GDP per capita of the country where the Eiffel Tower is located?"</a:t>
            </a:r>
            <a:endParaRPr lang="en-US" sz="1200" dirty="0"/>
          </a:p>
        </p:txBody>
      </p:sp>
      <p:sp>
        <p:nvSpPr>
          <p:cNvPr id="5" name="Shape 3"/>
          <p:cNvSpPr/>
          <p:nvPr/>
        </p:nvSpPr>
        <p:spPr>
          <a:xfrm>
            <a:off x="548640" y="1463040"/>
            <a:ext cx="8046720" cy="914400"/>
          </a:xfrm>
          <a:prstGeom prst="rect">
            <a:avLst/>
          </a:prstGeom>
          <a:solidFill>
            <a:srgbClr val="162D50"/>
          </a:solidFill>
          <a:ln/>
        </p:spPr>
      </p:sp>
      <p:sp>
        <p:nvSpPr>
          <p:cNvPr id="6" name="Shape 4"/>
          <p:cNvSpPr/>
          <p:nvPr/>
        </p:nvSpPr>
        <p:spPr>
          <a:xfrm>
            <a:off x="548640" y="1463040"/>
            <a:ext cx="73152" cy="914400"/>
          </a:xfrm>
          <a:prstGeom prst="rect">
            <a:avLst/>
          </a:prstGeom>
          <a:solidFill>
            <a:srgbClr val="00D4FF"/>
          </a:solidFill>
          <a:ln/>
        </p:spPr>
      </p:sp>
      <p:sp>
        <p:nvSpPr>
          <p:cNvPr id="7" name="Text 5"/>
          <p:cNvSpPr/>
          <p:nvPr/>
        </p:nvSpPr>
        <p:spPr>
          <a:xfrm>
            <a:off x="822960" y="1508760"/>
            <a:ext cx="914400" cy="27432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#E1</a:t>
            </a:r>
            <a:endParaRPr lang="en-US" sz="1300" dirty="0"/>
          </a:p>
        </p:txBody>
      </p:sp>
      <p:sp>
        <p:nvSpPr>
          <p:cNvPr id="8" name="Text 6"/>
          <p:cNvSpPr/>
          <p:nvPr/>
        </p:nvSpPr>
        <p:spPr>
          <a:xfrm>
            <a:off x="1828800" y="1508760"/>
            <a:ext cx="6400800" cy="27432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Plan:  search("Where is the Eiffel Tower located")</a:t>
            </a:r>
            <a:endParaRPr lang="en-US" sz="1100" dirty="0"/>
          </a:p>
        </p:txBody>
      </p:sp>
      <p:sp>
        <p:nvSpPr>
          <p:cNvPr id="9" name="Text 7"/>
          <p:cNvSpPr/>
          <p:nvPr/>
        </p:nvSpPr>
        <p:spPr>
          <a:xfrm>
            <a:off x="1828800" y="1965960"/>
            <a:ext cx="6400800" cy="274320"/>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Result:  Paris, France</a:t>
            </a:r>
            <a:endParaRPr lang="en-US" sz="1100" dirty="0"/>
          </a:p>
        </p:txBody>
      </p:sp>
      <p:sp>
        <p:nvSpPr>
          <p:cNvPr id="10" name="Shape 8"/>
          <p:cNvSpPr/>
          <p:nvPr/>
        </p:nvSpPr>
        <p:spPr>
          <a:xfrm>
            <a:off x="548640" y="2560320"/>
            <a:ext cx="8046720" cy="914400"/>
          </a:xfrm>
          <a:prstGeom prst="rect">
            <a:avLst/>
          </a:prstGeom>
          <a:solidFill>
            <a:srgbClr val="162D50"/>
          </a:solidFill>
          <a:ln/>
        </p:spPr>
      </p:sp>
      <p:sp>
        <p:nvSpPr>
          <p:cNvPr id="11" name="Shape 9"/>
          <p:cNvSpPr/>
          <p:nvPr/>
        </p:nvSpPr>
        <p:spPr>
          <a:xfrm>
            <a:off x="548640" y="2560320"/>
            <a:ext cx="73152" cy="914400"/>
          </a:xfrm>
          <a:prstGeom prst="rect">
            <a:avLst/>
          </a:prstGeom>
          <a:solidFill>
            <a:srgbClr val="7C3AED"/>
          </a:solidFill>
          <a:ln/>
        </p:spPr>
      </p:sp>
      <p:sp>
        <p:nvSpPr>
          <p:cNvPr id="12" name="Text 10"/>
          <p:cNvSpPr/>
          <p:nvPr/>
        </p:nvSpPr>
        <p:spPr>
          <a:xfrm>
            <a:off x="822960" y="2606040"/>
            <a:ext cx="914400" cy="274320"/>
          </a:xfrm>
          <a:prstGeom prst="rect">
            <a:avLst/>
          </a:prstGeom>
          <a:noFill/>
          <a:ln/>
        </p:spPr>
        <p:txBody>
          <a:bodyPr wrap="square" lIns="0" tIns="0" rIns="0" bIns="0"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#E2</a:t>
            </a:r>
            <a:endParaRPr lang="en-US" sz="1300" dirty="0"/>
          </a:p>
        </p:txBody>
      </p:sp>
      <p:sp>
        <p:nvSpPr>
          <p:cNvPr id="13" name="Text 11"/>
          <p:cNvSpPr/>
          <p:nvPr/>
        </p:nvSpPr>
        <p:spPr>
          <a:xfrm>
            <a:off x="1828800" y="2606040"/>
            <a:ext cx="6400800" cy="27432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Plan:  search("GDP per capita of #E1")</a:t>
            </a:r>
            <a:endParaRPr lang="en-US" sz="1100" dirty="0"/>
          </a:p>
        </p:txBody>
      </p:sp>
      <p:sp>
        <p:nvSpPr>
          <p:cNvPr id="14" name="Text 12"/>
          <p:cNvSpPr/>
          <p:nvPr/>
        </p:nvSpPr>
        <p:spPr>
          <a:xfrm>
            <a:off x="1828800" y="3063240"/>
            <a:ext cx="6400800" cy="274320"/>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Result:  ~$44,408 (2023 nominal)</a:t>
            </a:r>
            <a:endParaRPr lang="en-US" sz="1100" dirty="0"/>
          </a:p>
        </p:txBody>
      </p:sp>
      <p:sp>
        <p:nvSpPr>
          <p:cNvPr id="15" name="Shape 13"/>
          <p:cNvSpPr/>
          <p:nvPr/>
        </p:nvSpPr>
        <p:spPr>
          <a:xfrm>
            <a:off x="548640" y="3657600"/>
            <a:ext cx="8046720" cy="914400"/>
          </a:xfrm>
          <a:prstGeom prst="rect">
            <a:avLst/>
          </a:prstGeom>
          <a:solidFill>
            <a:srgbClr val="162D50"/>
          </a:solidFill>
          <a:ln/>
        </p:spPr>
      </p:sp>
      <p:sp>
        <p:nvSpPr>
          <p:cNvPr id="16" name="Shape 14"/>
          <p:cNvSpPr/>
          <p:nvPr/>
        </p:nvSpPr>
        <p:spPr>
          <a:xfrm>
            <a:off x="548640" y="3657600"/>
            <a:ext cx="73152" cy="914400"/>
          </a:xfrm>
          <a:prstGeom prst="rect">
            <a:avLst/>
          </a:prstGeom>
          <a:solidFill>
            <a:srgbClr val="10B981"/>
          </a:solidFill>
          <a:ln/>
        </p:spPr>
      </p:sp>
      <p:sp>
        <p:nvSpPr>
          <p:cNvPr id="17" name="Text 15"/>
          <p:cNvSpPr/>
          <p:nvPr/>
        </p:nvSpPr>
        <p:spPr>
          <a:xfrm>
            <a:off x="822960" y="3703320"/>
            <a:ext cx="914400" cy="274320"/>
          </a:xfrm>
          <a:prstGeom prst="rect">
            <a:avLst/>
          </a:prstGeom>
          <a:noFill/>
          <a:ln/>
        </p:spPr>
        <p:txBody>
          <a:bodyPr wrap="square" lIns="0" tIns="0" rIns="0" bIns="0" rtlCol="0" anchor="ctr"/>
          <a:lstStyle/>
          <a:p>
            <a:pPr indent="0" marL="0">
              <a:buNone/>
            </a:pPr>
            <a:r>
              <a:rPr lang="en-US" sz="1300" b="1" dirty="0">
                <a:solidFill>
                  <a:srgbClr val="10B981"/>
                </a:solidFill>
                <a:latin typeface="Consolas" pitchFamily="34" charset="0"/>
                <a:ea typeface="Consolas" pitchFamily="34" charset="-122"/>
                <a:cs typeface="Consolas" pitchFamily="34" charset="-120"/>
              </a:rPr>
              <a:t>Solver</a:t>
            </a:r>
            <a:endParaRPr lang="en-US" sz="1300" dirty="0"/>
          </a:p>
        </p:txBody>
      </p:sp>
      <p:sp>
        <p:nvSpPr>
          <p:cNvPr id="18" name="Text 16"/>
          <p:cNvSpPr/>
          <p:nvPr/>
        </p:nvSpPr>
        <p:spPr>
          <a:xfrm>
            <a:off x="1828800" y="3703320"/>
            <a:ext cx="6400800" cy="274320"/>
          </a:xfrm>
          <a:prstGeom prst="rect">
            <a:avLst/>
          </a:prstGeom>
          <a:noFill/>
          <a:ln/>
        </p:spPr>
        <p:txBody>
          <a:bodyPr wrap="square" lIns="0" tIns="0" rIns="0" bIns="0" rtlCol="0" anchor="ctr"/>
          <a:lstStyle/>
          <a:p>
            <a:pPr indent="0" marL="0">
              <a:buNone/>
            </a:pPr>
            <a:r>
              <a:rPr lang="en-US" sz="1100" dirty="0">
                <a:solidFill>
                  <a:srgbClr val="B8C9E0"/>
                </a:solidFill>
                <a:latin typeface="Calibri" pitchFamily="34" charset="0"/>
                <a:ea typeface="Calibri" pitchFamily="34" charset="-122"/>
                <a:cs typeface="Calibri" pitchFamily="34" charset="-120"/>
              </a:rPr>
              <a:t>Plan:  Combine #E1 + #E2 into final answer</a:t>
            </a:r>
            <a:endParaRPr lang="en-US" sz="1100" dirty="0"/>
          </a:p>
        </p:txBody>
      </p:sp>
      <p:sp>
        <p:nvSpPr>
          <p:cNvPr id="19" name="Text 17"/>
          <p:cNvSpPr/>
          <p:nvPr/>
        </p:nvSpPr>
        <p:spPr>
          <a:xfrm>
            <a:off x="1828800" y="4160520"/>
            <a:ext cx="6400800" cy="274320"/>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Result:  France's GDP per capita is ~$44,408</a:t>
            </a:r>
            <a:endParaRPr lang="en-US" sz="1100" dirty="0"/>
          </a:p>
        </p:txBody>
      </p:sp>
      <p:sp>
        <p:nvSpPr>
          <p:cNvPr id="20" name="Text 18"/>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16 / 33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REWOO — Key Advantages &amp; Trade-offs</a:t>
            </a:r>
            <a:endParaRPr lang="en-US" sz="2600" dirty="0"/>
          </a:p>
        </p:txBody>
      </p:sp>
      <p:sp>
        <p:nvSpPr>
          <p:cNvPr id="4" name="Shape 2"/>
          <p:cNvSpPr/>
          <p:nvPr/>
        </p:nvSpPr>
        <p:spPr>
          <a:xfrm>
            <a:off x="457200" y="914400"/>
            <a:ext cx="260604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Text 3"/>
          <p:cNvSpPr/>
          <p:nvPr/>
        </p:nvSpPr>
        <p:spPr>
          <a:xfrm>
            <a:off x="457200" y="1005840"/>
            <a:ext cx="2606040" cy="502920"/>
          </a:xfrm>
          <a:prstGeom prst="rect">
            <a:avLst/>
          </a:prstGeom>
          <a:noFill/>
          <a:ln/>
        </p:spPr>
        <p:txBody>
          <a:bodyPr wrap="square" lIns="0" tIns="0" rIns="0" bIns="0" rtlCol="0" anchor="ctr"/>
          <a:lstStyle/>
          <a:p>
            <a:pPr algn="ctr" indent="0" marL="0">
              <a:buNone/>
            </a:pPr>
            <a:r>
              <a:rPr lang="en-US" sz="2800" b="1" dirty="0">
                <a:solidFill>
                  <a:srgbClr val="10B981"/>
                </a:solidFill>
                <a:latin typeface="Trebuchet MS" pitchFamily="34" charset="0"/>
                <a:ea typeface="Trebuchet MS" pitchFamily="34" charset="-122"/>
                <a:cs typeface="Trebuchet MS" pitchFamily="34" charset="-120"/>
              </a:rPr>
              <a:t>~64%</a:t>
            </a:r>
            <a:endParaRPr lang="en-US" sz="2800" dirty="0"/>
          </a:p>
        </p:txBody>
      </p:sp>
      <p:sp>
        <p:nvSpPr>
          <p:cNvPr id="6" name="Text 4"/>
          <p:cNvSpPr/>
          <p:nvPr/>
        </p:nvSpPr>
        <p:spPr>
          <a:xfrm>
            <a:off x="457200" y="1554480"/>
            <a:ext cx="2606040" cy="5029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Fewer LLM</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calls vs ReAct</a:t>
            </a:r>
            <a:endParaRPr lang="en-US" sz="1100" dirty="0"/>
          </a:p>
        </p:txBody>
      </p:sp>
      <p:sp>
        <p:nvSpPr>
          <p:cNvPr id="7" name="Shape 5"/>
          <p:cNvSpPr/>
          <p:nvPr/>
        </p:nvSpPr>
        <p:spPr>
          <a:xfrm>
            <a:off x="3337560" y="914400"/>
            <a:ext cx="260604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Text 6"/>
          <p:cNvSpPr/>
          <p:nvPr/>
        </p:nvSpPr>
        <p:spPr>
          <a:xfrm>
            <a:off x="3337560" y="1005840"/>
            <a:ext cx="2606040" cy="502920"/>
          </a:xfrm>
          <a:prstGeom prst="rect">
            <a:avLst/>
          </a:prstGeom>
          <a:noFill/>
          <a:ln/>
        </p:spPr>
        <p:txBody>
          <a:bodyPr wrap="square" lIns="0" tIns="0" rIns="0" bIns="0" rtlCol="0" anchor="ctr"/>
          <a:lstStyle/>
          <a:p>
            <a:pPr algn="ctr" indent="0" marL="0">
              <a:buNone/>
            </a:pPr>
            <a:r>
              <a:rPr lang="en-US" sz="2800" b="1" dirty="0">
                <a:solidFill>
                  <a:srgbClr val="10B981"/>
                </a:solidFill>
                <a:latin typeface="Trebuchet MS" pitchFamily="34" charset="0"/>
                <a:ea typeface="Trebuchet MS" pitchFamily="34" charset="-122"/>
                <a:cs typeface="Trebuchet MS" pitchFamily="34" charset="-120"/>
              </a:rPr>
              <a:t>~3×</a:t>
            </a:r>
            <a:endParaRPr lang="en-US" sz="2800" dirty="0"/>
          </a:p>
        </p:txBody>
      </p:sp>
      <p:sp>
        <p:nvSpPr>
          <p:cNvPr id="9" name="Text 7"/>
          <p:cNvSpPr/>
          <p:nvPr/>
        </p:nvSpPr>
        <p:spPr>
          <a:xfrm>
            <a:off x="3337560" y="1554480"/>
            <a:ext cx="2606040" cy="5029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Faster end-to-end</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execution</a:t>
            </a:r>
            <a:endParaRPr lang="en-US" sz="1100" dirty="0"/>
          </a:p>
        </p:txBody>
      </p:sp>
      <p:sp>
        <p:nvSpPr>
          <p:cNvPr id="10" name="Shape 8"/>
          <p:cNvSpPr/>
          <p:nvPr/>
        </p:nvSpPr>
        <p:spPr>
          <a:xfrm>
            <a:off x="6217920" y="914400"/>
            <a:ext cx="260604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6217920" y="1005840"/>
            <a:ext cx="2606040" cy="502920"/>
          </a:xfrm>
          <a:prstGeom prst="rect">
            <a:avLst/>
          </a:prstGeom>
          <a:noFill/>
          <a:ln/>
        </p:spPr>
        <p:txBody>
          <a:bodyPr wrap="square" lIns="0" tIns="0" rIns="0" bIns="0" rtlCol="0" anchor="ctr"/>
          <a:lstStyle/>
          <a:p>
            <a:pPr algn="ctr" indent="0" marL="0">
              <a:buNone/>
            </a:pPr>
            <a:r>
              <a:rPr lang="en-US" sz="2800" b="1" dirty="0">
                <a:solidFill>
                  <a:srgbClr val="10B981"/>
                </a:solidFill>
                <a:latin typeface="Trebuchet MS" pitchFamily="34" charset="0"/>
                <a:ea typeface="Trebuchet MS" pitchFamily="34" charset="-122"/>
                <a:cs typeface="Trebuchet MS" pitchFamily="34" charset="-120"/>
              </a:rPr>
              <a:t>~50%</a:t>
            </a:r>
            <a:endParaRPr lang="en-US" sz="2800" dirty="0"/>
          </a:p>
        </p:txBody>
      </p:sp>
      <p:sp>
        <p:nvSpPr>
          <p:cNvPr id="12" name="Text 10"/>
          <p:cNvSpPr/>
          <p:nvPr/>
        </p:nvSpPr>
        <p:spPr>
          <a:xfrm>
            <a:off x="6217920" y="1554480"/>
            <a:ext cx="2606040" cy="5029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Token savings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per task</a:t>
            </a:r>
            <a:endParaRPr lang="en-US" sz="1100" dirty="0"/>
          </a:p>
        </p:txBody>
      </p:sp>
      <p:sp>
        <p:nvSpPr>
          <p:cNvPr id="13" name="Shape 11"/>
          <p:cNvSpPr/>
          <p:nvPr/>
        </p:nvSpPr>
        <p:spPr>
          <a:xfrm>
            <a:off x="457200" y="2468880"/>
            <a:ext cx="3931920" cy="22860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57200" y="2468880"/>
            <a:ext cx="3931920" cy="54864"/>
          </a:xfrm>
          <a:prstGeom prst="rect">
            <a:avLst/>
          </a:prstGeom>
          <a:solidFill>
            <a:srgbClr val="10B981"/>
          </a:solidFill>
          <a:ln/>
        </p:spPr>
      </p:sp>
      <p:sp>
        <p:nvSpPr>
          <p:cNvPr id="15" name="Text 13"/>
          <p:cNvSpPr/>
          <p:nvPr/>
        </p:nvSpPr>
        <p:spPr>
          <a:xfrm>
            <a:off x="640080" y="2606040"/>
            <a:ext cx="2743200" cy="274320"/>
          </a:xfrm>
          <a:prstGeom prst="rect">
            <a:avLst/>
          </a:prstGeom>
          <a:noFill/>
          <a:ln/>
        </p:spPr>
        <p:txBody>
          <a:bodyPr wrap="square" lIns="0" tIns="0" rIns="0" bIns="0" rtlCol="0" anchor="ctr"/>
          <a:lstStyle/>
          <a:p>
            <a:pPr indent="0" marL="0">
              <a:buNone/>
            </a:pPr>
            <a:r>
              <a:rPr lang="en-US" sz="1400" b="1" dirty="0">
                <a:solidFill>
                  <a:srgbClr val="10B981"/>
                </a:solidFill>
                <a:latin typeface="Trebuchet MS" pitchFamily="34" charset="0"/>
                <a:ea typeface="Trebuchet MS" pitchFamily="34" charset="-122"/>
                <a:cs typeface="Trebuchet MS" pitchFamily="34" charset="-120"/>
              </a:rPr>
              <a:t>Advantages</a:t>
            </a:r>
            <a:endParaRPr lang="en-US" sz="1400" dirty="0"/>
          </a:p>
        </p:txBody>
      </p:sp>
      <p:sp>
        <p:nvSpPr>
          <p:cNvPr id="16" name="Text 14"/>
          <p:cNvSpPr/>
          <p:nvPr/>
        </p:nvSpPr>
        <p:spPr>
          <a:xfrm>
            <a:off x="640080" y="297180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Dramatically fewer LLM calls</a:t>
            </a:r>
            <a:endParaRPr lang="en-US" sz="1150" dirty="0"/>
          </a:p>
        </p:txBody>
      </p:sp>
      <p:sp>
        <p:nvSpPr>
          <p:cNvPr id="17" name="Text 15"/>
          <p:cNvSpPr/>
          <p:nvPr/>
        </p:nvSpPr>
        <p:spPr>
          <a:xfrm>
            <a:off x="640080" y="329184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Enables parallel tool execution</a:t>
            </a:r>
            <a:endParaRPr lang="en-US" sz="1150" dirty="0"/>
          </a:p>
        </p:txBody>
      </p:sp>
      <p:sp>
        <p:nvSpPr>
          <p:cNvPr id="18" name="Text 16"/>
          <p:cNvSpPr/>
          <p:nvPr/>
        </p:nvSpPr>
        <p:spPr>
          <a:xfrm>
            <a:off x="640080" y="361188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Lower token cost per query</a:t>
            </a:r>
            <a:endParaRPr lang="en-US" sz="1150" dirty="0"/>
          </a:p>
        </p:txBody>
      </p:sp>
      <p:sp>
        <p:nvSpPr>
          <p:cNvPr id="19" name="Text 17"/>
          <p:cNvSpPr/>
          <p:nvPr/>
        </p:nvSpPr>
        <p:spPr>
          <a:xfrm>
            <a:off x="640080" y="393192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Simpler error isolation</a:t>
            </a:r>
            <a:endParaRPr lang="en-US" sz="1150" dirty="0"/>
          </a:p>
        </p:txBody>
      </p:sp>
      <p:sp>
        <p:nvSpPr>
          <p:cNvPr id="20" name="Text 18"/>
          <p:cNvSpPr/>
          <p:nvPr/>
        </p:nvSpPr>
        <p:spPr>
          <a:xfrm>
            <a:off x="640080" y="425196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Works with smaller models</a:t>
            </a:r>
            <a:endParaRPr lang="en-US" sz="1150" dirty="0"/>
          </a:p>
        </p:txBody>
      </p:sp>
      <p:sp>
        <p:nvSpPr>
          <p:cNvPr id="21" name="Shape 19"/>
          <p:cNvSpPr/>
          <p:nvPr/>
        </p:nvSpPr>
        <p:spPr>
          <a:xfrm>
            <a:off x="4754880" y="2468880"/>
            <a:ext cx="3931920" cy="22860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2" name="Shape 20"/>
          <p:cNvSpPr/>
          <p:nvPr/>
        </p:nvSpPr>
        <p:spPr>
          <a:xfrm>
            <a:off x="4754880" y="2468880"/>
            <a:ext cx="3931920" cy="54864"/>
          </a:xfrm>
          <a:prstGeom prst="rect">
            <a:avLst/>
          </a:prstGeom>
          <a:solidFill>
            <a:srgbClr val="EF4444"/>
          </a:solidFill>
          <a:ln/>
        </p:spPr>
      </p:sp>
      <p:sp>
        <p:nvSpPr>
          <p:cNvPr id="23" name="Text 21"/>
          <p:cNvSpPr/>
          <p:nvPr/>
        </p:nvSpPr>
        <p:spPr>
          <a:xfrm>
            <a:off x="4937760" y="2606040"/>
            <a:ext cx="2743200" cy="274320"/>
          </a:xfrm>
          <a:prstGeom prst="rect">
            <a:avLst/>
          </a:prstGeom>
          <a:noFill/>
          <a:ln/>
        </p:spPr>
        <p:txBody>
          <a:bodyPr wrap="square" lIns="0" tIns="0" rIns="0" bIns="0" rtlCol="0" anchor="ctr"/>
          <a:lstStyle/>
          <a:p>
            <a:pPr indent="0" marL="0">
              <a:buNone/>
            </a:pPr>
            <a:r>
              <a:rPr lang="en-US" sz="1400" b="1" dirty="0">
                <a:solidFill>
                  <a:srgbClr val="EF4444"/>
                </a:solidFill>
                <a:latin typeface="Trebuchet MS" pitchFamily="34" charset="0"/>
                <a:ea typeface="Trebuchet MS" pitchFamily="34" charset="-122"/>
                <a:cs typeface="Trebuchet MS" pitchFamily="34" charset="-120"/>
              </a:rPr>
              <a:t>Trade-offs</a:t>
            </a:r>
            <a:endParaRPr lang="en-US" sz="1400" dirty="0"/>
          </a:p>
        </p:txBody>
      </p:sp>
      <p:sp>
        <p:nvSpPr>
          <p:cNvPr id="24" name="Text 22"/>
          <p:cNvSpPr/>
          <p:nvPr/>
        </p:nvSpPr>
        <p:spPr>
          <a:xfrm>
            <a:off x="4937760" y="297180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No mid-plan adaptation</a:t>
            </a:r>
            <a:endParaRPr lang="en-US" sz="1150" dirty="0"/>
          </a:p>
        </p:txBody>
      </p:sp>
      <p:sp>
        <p:nvSpPr>
          <p:cNvPr id="25" name="Text 23"/>
          <p:cNvSpPr/>
          <p:nvPr/>
        </p:nvSpPr>
        <p:spPr>
          <a:xfrm>
            <a:off x="4937760" y="329184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Plan errors propagate to all steps</a:t>
            </a:r>
            <a:endParaRPr lang="en-US" sz="1150" dirty="0"/>
          </a:p>
        </p:txBody>
      </p:sp>
      <p:sp>
        <p:nvSpPr>
          <p:cNvPr id="26" name="Text 24"/>
          <p:cNvSpPr/>
          <p:nvPr/>
        </p:nvSpPr>
        <p:spPr>
          <a:xfrm>
            <a:off x="4937760" y="361188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Less effective for ambiguous tasks</a:t>
            </a:r>
            <a:endParaRPr lang="en-US" sz="1150" dirty="0"/>
          </a:p>
        </p:txBody>
      </p:sp>
      <p:sp>
        <p:nvSpPr>
          <p:cNvPr id="27" name="Text 25"/>
          <p:cNvSpPr/>
          <p:nvPr/>
        </p:nvSpPr>
        <p:spPr>
          <a:xfrm>
            <a:off x="4937760" y="393192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Requires predictable tool outputs</a:t>
            </a:r>
            <a:endParaRPr lang="en-US" sz="1150" dirty="0"/>
          </a:p>
        </p:txBody>
      </p:sp>
      <p:sp>
        <p:nvSpPr>
          <p:cNvPr id="28" name="Text 26"/>
          <p:cNvSpPr/>
          <p:nvPr/>
        </p:nvSpPr>
        <p:spPr>
          <a:xfrm>
            <a:off x="4937760" y="4251960"/>
            <a:ext cx="356616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  Planning quality is critical</a:t>
            </a:r>
            <a:endParaRPr lang="en-US" sz="1150" dirty="0"/>
          </a:p>
        </p:txBody>
      </p:sp>
      <p:sp>
        <p:nvSpPr>
          <p:cNvPr id="29" name="Text 27"/>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 / 33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2103120"/>
            <a:ext cx="9144000" cy="13716"/>
          </a:xfrm>
          <a:prstGeom prst="rect">
            <a:avLst/>
          </a:prstGeom>
          <a:solidFill>
            <a:srgbClr val="F59E0B">
              <a:alpha val="70000"/>
            </a:srgbClr>
          </a:solidFill>
          <a:ln/>
        </p:spPr>
      </p:sp>
      <p:pic>
        <p:nvPicPr>
          <p:cNvPr id="3" name="Image 0" descr="preencoded.png">    </p:cNvPr>
          <p:cNvPicPr>
            <a:picLocks noChangeAspect="1"/>
          </p:cNvPicPr>
          <p:nvPr/>
        </p:nvPicPr>
        <p:blipFill>
          <a:blip r:embed="rId1"/>
          <a:stretch>
            <a:fillRect/>
          </a:stretch>
        </p:blipFill>
        <p:spPr>
          <a:xfrm>
            <a:off x="4069080" y="1005840"/>
            <a:ext cx="1005840" cy="1005840"/>
          </a:xfrm>
          <a:prstGeom prst="rect">
            <a:avLst/>
          </a:prstGeom>
        </p:spPr>
      </p:pic>
      <p:sp>
        <p:nvSpPr>
          <p:cNvPr id="4" name="Text 1"/>
          <p:cNvSpPr/>
          <p:nvPr/>
        </p:nvSpPr>
        <p:spPr>
          <a:xfrm>
            <a:off x="914400" y="2331720"/>
            <a:ext cx="73152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Plan-and-Execute</a:t>
            </a:r>
            <a:endParaRPr lang="en-US" sz="3400" dirty="0"/>
          </a:p>
        </p:txBody>
      </p:sp>
      <p:sp>
        <p:nvSpPr>
          <p:cNvPr id="5" name="Text 2"/>
          <p:cNvSpPr/>
          <p:nvPr/>
        </p:nvSpPr>
        <p:spPr>
          <a:xfrm>
            <a:off x="914400" y="2971800"/>
            <a:ext cx="7315200" cy="365760"/>
          </a:xfrm>
          <a:prstGeom prst="rect">
            <a:avLst/>
          </a:prstGeom>
          <a:noFill/>
          <a:ln/>
        </p:spPr>
        <p:txBody>
          <a:bodyPr wrap="square"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Structured Planning with Adaptive Execution</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18 / 33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Plan-and-Execute — Architecture</a:t>
            </a:r>
            <a:endParaRPr lang="en-US" sz="2600" dirty="0"/>
          </a:p>
        </p:txBody>
      </p:sp>
      <p:sp>
        <p:nvSpPr>
          <p:cNvPr id="4" name="Text 2"/>
          <p:cNvSpPr/>
          <p:nvPr/>
        </p:nvSpPr>
        <p:spPr>
          <a:xfrm>
            <a:off x="457200" y="914400"/>
            <a:ext cx="8229600" cy="822960"/>
          </a:xfrm>
          <a:prstGeom prst="rect">
            <a:avLst/>
          </a:prstGeom>
          <a:noFill/>
          <a:ln/>
        </p:spPr>
        <p:txBody>
          <a:bodyPr wrap="square"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Unlike REWOO's static plan, Plan-and-Execute creates an initial plan but can replan after each step based on intermediate results. This combines REWOO's efficiency with ReAct's adaptability, using a dedicated Planner LLM and an Executor (often a ReAct agent) for each step.</a:t>
            </a:r>
            <a:endParaRPr lang="en-US" sz="1300" dirty="0"/>
          </a:p>
        </p:txBody>
      </p:sp>
      <p:sp>
        <p:nvSpPr>
          <p:cNvPr id="5" name="Shape 3"/>
          <p:cNvSpPr/>
          <p:nvPr/>
        </p:nvSpPr>
        <p:spPr>
          <a:xfrm>
            <a:off x="274320" y="2011680"/>
            <a:ext cx="205740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274320" y="2011680"/>
            <a:ext cx="2057400" cy="54864"/>
          </a:xfrm>
          <a:prstGeom prst="rect">
            <a:avLst/>
          </a:prstGeom>
          <a:solidFill>
            <a:srgbClr val="7C3AED"/>
          </a:solidFill>
          <a:ln/>
        </p:spPr>
      </p:sp>
      <p:sp>
        <p:nvSpPr>
          <p:cNvPr id="7" name="Text 5"/>
          <p:cNvSpPr/>
          <p:nvPr/>
        </p:nvSpPr>
        <p:spPr>
          <a:xfrm>
            <a:off x="274320" y="2286000"/>
            <a:ext cx="2057400" cy="320040"/>
          </a:xfrm>
          <a:prstGeom prst="rect">
            <a:avLst/>
          </a:prstGeom>
          <a:noFill/>
          <a:ln/>
        </p:spPr>
        <p:txBody>
          <a:bodyPr wrap="square" lIns="0" tIns="0" rIns="0" bIns="0" rtlCol="0" anchor="ctr"/>
          <a:lstStyle/>
          <a:p>
            <a:pPr algn="ctr" indent="0" marL="0">
              <a:buNone/>
            </a:pPr>
            <a:r>
              <a:rPr lang="en-US" sz="1600" b="1" dirty="0">
                <a:solidFill>
                  <a:srgbClr val="7C3AED"/>
                </a:solidFill>
                <a:latin typeface="Trebuchet MS" pitchFamily="34" charset="0"/>
                <a:ea typeface="Trebuchet MS" pitchFamily="34" charset="-122"/>
                <a:cs typeface="Trebuchet MS" pitchFamily="34" charset="-120"/>
              </a:rPr>
              <a:t>Planner</a:t>
            </a:r>
            <a:endParaRPr lang="en-US" sz="1600" dirty="0"/>
          </a:p>
        </p:txBody>
      </p:sp>
      <p:sp>
        <p:nvSpPr>
          <p:cNvPr id="8" name="Text 6"/>
          <p:cNvSpPr/>
          <p:nvPr/>
        </p:nvSpPr>
        <p:spPr>
          <a:xfrm>
            <a:off x="411480" y="2834640"/>
            <a:ext cx="1783080" cy="1097280"/>
          </a:xfrm>
          <a:prstGeom prst="rect">
            <a:avLst/>
          </a:prstGeom>
          <a:noFill/>
          <a:ln/>
        </p:spPr>
        <p:txBody>
          <a:bodyPr wrap="square"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Creates ordered step list</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with dependencies</a:t>
            </a:r>
            <a:endParaRPr lang="en-US" sz="1150" dirty="0"/>
          </a:p>
        </p:txBody>
      </p:sp>
      <p:sp>
        <p:nvSpPr>
          <p:cNvPr id="9" name="Text 7"/>
          <p:cNvSpPr/>
          <p:nvPr/>
        </p:nvSpPr>
        <p:spPr>
          <a:xfrm>
            <a:off x="2286000" y="2743200"/>
            <a:ext cx="320040" cy="457200"/>
          </a:xfrm>
          <a:prstGeom prst="rect">
            <a:avLst/>
          </a:prstGeom>
          <a:noFill/>
          <a:ln/>
        </p:spPr>
        <p:txBody>
          <a:bodyPr wrap="square" rtlCol="0" anchor="ctr"/>
          <a:lstStyle/>
          <a:p>
            <a:pPr algn="ctr" indent="0" marL="0">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514600" y="2011680"/>
            <a:ext cx="205740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2514600" y="2011680"/>
            <a:ext cx="2057400" cy="54864"/>
          </a:xfrm>
          <a:prstGeom prst="rect">
            <a:avLst/>
          </a:prstGeom>
          <a:solidFill>
            <a:srgbClr val="00D4FF"/>
          </a:solidFill>
          <a:ln/>
        </p:spPr>
      </p:sp>
      <p:sp>
        <p:nvSpPr>
          <p:cNvPr id="12" name="Text 10"/>
          <p:cNvSpPr/>
          <p:nvPr/>
        </p:nvSpPr>
        <p:spPr>
          <a:xfrm>
            <a:off x="2514600" y="2286000"/>
            <a:ext cx="2057400" cy="320040"/>
          </a:xfrm>
          <a:prstGeom prst="rect">
            <a:avLst/>
          </a:prstGeom>
          <a:noFill/>
          <a:ln/>
        </p:spPr>
        <p:txBody>
          <a:bodyPr wrap="square" lIns="0" tIns="0" rIns="0" bIns="0" rtlCol="0" anchor="ctr"/>
          <a:lstStyle/>
          <a:p>
            <a:pPr algn="ctr" indent="0" marL="0">
              <a:buNone/>
            </a:pPr>
            <a:r>
              <a:rPr lang="en-US" sz="1600" b="1" dirty="0">
                <a:solidFill>
                  <a:srgbClr val="00D4FF"/>
                </a:solidFill>
                <a:latin typeface="Trebuchet MS" pitchFamily="34" charset="0"/>
                <a:ea typeface="Trebuchet MS" pitchFamily="34" charset="-122"/>
                <a:cs typeface="Trebuchet MS" pitchFamily="34" charset="-120"/>
              </a:rPr>
              <a:t>Executor</a:t>
            </a:r>
            <a:endParaRPr lang="en-US" sz="1600" dirty="0"/>
          </a:p>
        </p:txBody>
      </p:sp>
      <p:sp>
        <p:nvSpPr>
          <p:cNvPr id="13" name="Text 11"/>
          <p:cNvSpPr/>
          <p:nvPr/>
        </p:nvSpPr>
        <p:spPr>
          <a:xfrm>
            <a:off x="2651760" y="2834640"/>
            <a:ext cx="1783080" cy="1097280"/>
          </a:xfrm>
          <a:prstGeom prst="rect">
            <a:avLst/>
          </a:prstGeom>
          <a:noFill/>
          <a:ln/>
        </p:spPr>
        <p:txBody>
          <a:bodyPr wrap="square"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ReAct agent handles</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each step independently</a:t>
            </a:r>
            <a:endParaRPr lang="en-US" sz="1150" dirty="0"/>
          </a:p>
        </p:txBody>
      </p:sp>
      <p:sp>
        <p:nvSpPr>
          <p:cNvPr id="14" name="Text 12"/>
          <p:cNvSpPr/>
          <p:nvPr/>
        </p:nvSpPr>
        <p:spPr>
          <a:xfrm>
            <a:off x="4526280" y="2743200"/>
            <a:ext cx="320040" cy="457200"/>
          </a:xfrm>
          <a:prstGeom prst="rect">
            <a:avLst/>
          </a:prstGeom>
          <a:noFill/>
          <a:ln/>
        </p:spPr>
        <p:txBody>
          <a:bodyPr wrap="square" rtlCol="0" anchor="ctr"/>
          <a:lstStyle/>
          <a:p>
            <a:pPr algn="ctr" indent="0" marL="0">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4754880" y="2011680"/>
            <a:ext cx="205740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4754880" y="2011680"/>
            <a:ext cx="2057400" cy="54864"/>
          </a:xfrm>
          <a:prstGeom prst="rect">
            <a:avLst/>
          </a:prstGeom>
          <a:solidFill>
            <a:srgbClr val="F59E0B"/>
          </a:solidFill>
          <a:ln/>
        </p:spPr>
      </p:sp>
      <p:sp>
        <p:nvSpPr>
          <p:cNvPr id="17" name="Text 15"/>
          <p:cNvSpPr/>
          <p:nvPr/>
        </p:nvSpPr>
        <p:spPr>
          <a:xfrm>
            <a:off x="4754880" y="2286000"/>
            <a:ext cx="2057400" cy="320040"/>
          </a:xfrm>
          <a:prstGeom prst="rect">
            <a:avLst/>
          </a:prstGeom>
          <a:noFill/>
          <a:ln/>
        </p:spPr>
        <p:txBody>
          <a:bodyPr wrap="square" lIns="0" tIns="0" rIns="0" bIns="0" rtlCol="0" anchor="ctr"/>
          <a:lstStyle/>
          <a:p>
            <a:pPr algn="ctr" indent="0" marL="0">
              <a:buNone/>
            </a:pPr>
            <a:r>
              <a:rPr lang="en-US" sz="1600" b="1" dirty="0">
                <a:solidFill>
                  <a:srgbClr val="F59E0B"/>
                </a:solidFill>
                <a:latin typeface="Trebuchet MS" pitchFamily="34" charset="0"/>
                <a:ea typeface="Trebuchet MS" pitchFamily="34" charset="-122"/>
                <a:cs typeface="Trebuchet MS" pitchFamily="34" charset="-120"/>
              </a:rPr>
              <a:t>Replanner</a:t>
            </a:r>
            <a:endParaRPr lang="en-US" sz="1600" dirty="0"/>
          </a:p>
        </p:txBody>
      </p:sp>
      <p:sp>
        <p:nvSpPr>
          <p:cNvPr id="18" name="Text 16"/>
          <p:cNvSpPr/>
          <p:nvPr/>
        </p:nvSpPr>
        <p:spPr>
          <a:xfrm>
            <a:off x="4892040" y="2834640"/>
            <a:ext cx="1783080" cy="1097280"/>
          </a:xfrm>
          <a:prstGeom prst="rect">
            <a:avLst/>
          </a:prstGeom>
          <a:noFill/>
          <a:ln/>
        </p:spPr>
        <p:txBody>
          <a:bodyPr wrap="square"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Evaluates progress,</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updates remaining plan</a:t>
            </a:r>
            <a:endParaRPr lang="en-US" sz="1150" dirty="0"/>
          </a:p>
        </p:txBody>
      </p:sp>
      <p:sp>
        <p:nvSpPr>
          <p:cNvPr id="19" name="Text 17"/>
          <p:cNvSpPr/>
          <p:nvPr/>
        </p:nvSpPr>
        <p:spPr>
          <a:xfrm>
            <a:off x="6766560" y="2743200"/>
            <a:ext cx="320040" cy="457200"/>
          </a:xfrm>
          <a:prstGeom prst="rect">
            <a:avLst/>
          </a:prstGeom>
          <a:noFill/>
          <a:ln/>
        </p:spPr>
        <p:txBody>
          <a:bodyPr wrap="square" rtlCol="0" anchor="ctr"/>
          <a:lstStyle/>
          <a:p>
            <a:pPr algn="ctr" indent="0" marL="0">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995160" y="2011680"/>
            <a:ext cx="2057400" cy="23774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9"/>
          <p:cNvSpPr/>
          <p:nvPr/>
        </p:nvSpPr>
        <p:spPr>
          <a:xfrm>
            <a:off x="6995160" y="2011680"/>
            <a:ext cx="2057400" cy="54864"/>
          </a:xfrm>
          <a:prstGeom prst="rect">
            <a:avLst/>
          </a:prstGeom>
          <a:solidFill>
            <a:srgbClr val="10B981"/>
          </a:solidFill>
          <a:ln/>
        </p:spPr>
      </p:sp>
      <p:sp>
        <p:nvSpPr>
          <p:cNvPr id="22" name="Text 20"/>
          <p:cNvSpPr/>
          <p:nvPr/>
        </p:nvSpPr>
        <p:spPr>
          <a:xfrm>
            <a:off x="6995160" y="2286000"/>
            <a:ext cx="2057400"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Trebuchet MS" pitchFamily="34" charset="0"/>
                <a:ea typeface="Trebuchet MS" pitchFamily="34" charset="-122"/>
                <a:cs typeface="Trebuchet MS" pitchFamily="34" charset="-120"/>
              </a:rPr>
              <a:t>Aggregator</a:t>
            </a:r>
            <a:endParaRPr lang="en-US" sz="1600" dirty="0"/>
          </a:p>
        </p:txBody>
      </p:sp>
      <p:sp>
        <p:nvSpPr>
          <p:cNvPr id="23" name="Text 21"/>
          <p:cNvSpPr/>
          <p:nvPr/>
        </p:nvSpPr>
        <p:spPr>
          <a:xfrm>
            <a:off x="7132320" y="2834640"/>
            <a:ext cx="1783080" cy="1097280"/>
          </a:xfrm>
          <a:prstGeom prst="rect">
            <a:avLst/>
          </a:prstGeom>
          <a:noFill/>
          <a:ln/>
        </p:spPr>
        <p:txBody>
          <a:bodyPr wrap="square"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Combines all step</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results into final answer</a:t>
            </a:r>
            <a:endParaRPr lang="en-US" sz="1150" dirty="0"/>
          </a:p>
        </p:txBody>
      </p:sp>
      <p:sp>
        <p:nvSpPr>
          <p:cNvPr id="24" name="Text 22"/>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 / 33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p:spPr>
      </p:sp>
      <p:sp>
        <p:nvSpPr>
          <p:cNvPr id="3" name="Text 1"/>
          <p:cNvSpPr/>
          <p:nvPr/>
        </p:nvSpPr>
        <p:spPr>
          <a:xfrm>
            <a:off x="548640" y="274320"/>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Plan-and-Execute vs REWOO vs ReAct</a:t>
            </a:r>
            <a:endParaRPr lang="en-US" sz="2400" dirty="0"/>
          </a:p>
        </p:txBody>
      </p:sp>
      <p:sp>
        <p:nvSpPr>
          <p:cNvPr id="4" name="Shape 2"/>
          <p:cNvSpPr/>
          <p:nvPr/>
        </p:nvSpPr>
        <p:spPr>
          <a:xfrm>
            <a:off x="548640" y="1005840"/>
            <a:ext cx="1828800" cy="457200"/>
          </a:xfrm>
          <a:prstGeom prst="rect">
            <a:avLst/>
          </a:prstGeom>
          <a:solidFill>
            <a:srgbClr val="F59E0B"/>
          </a:solidFill>
          <a:ln/>
        </p:spPr>
      </p:sp>
      <p:sp>
        <p:nvSpPr>
          <p:cNvPr id="5" name="Text 3"/>
          <p:cNvSpPr/>
          <p:nvPr/>
        </p:nvSpPr>
        <p:spPr>
          <a:xfrm>
            <a:off x="548640" y="1005840"/>
            <a:ext cx="18288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Dimension</a:t>
            </a:r>
            <a:endParaRPr lang="en-US" sz="1200" dirty="0"/>
          </a:p>
        </p:txBody>
      </p:sp>
      <p:sp>
        <p:nvSpPr>
          <p:cNvPr id="6" name="Shape 4"/>
          <p:cNvSpPr/>
          <p:nvPr/>
        </p:nvSpPr>
        <p:spPr>
          <a:xfrm>
            <a:off x="2377440" y="1005840"/>
            <a:ext cx="2011680" cy="457200"/>
          </a:xfrm>
          <a:prstGeom prst="rect">
            <a:avLst/>
          </a:prstGeom>
          <a:solidFill>
            <a:srgbClr val="F59E0B"/>
          </a:solidFill>
          <a:ln/>
        </p:spPr>
      </p:sp>
      <p:sp>
        <p:nvSpPr>
          <p:cNvPr id="7" name="Text 5"/>
          <p:cNvSpPr/>
          <p:nvPr/>
        </p:nvSpPr>
        <p:spPr>
          <a:xfrm>
            <a:off x="2377440" y="1005840"/>
            <a:ext cx="201168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ReAct</a:t>
            </a:r>
            <a:endParaRPr lang="en-US" sz="1200" dirty="0"/>
          </a:p>
        </p:txBody>
      </p:sp>
      <p:sp>
        <p:nvSpPr>
          <p:cNvPr id="8" name="Shape 6"/>
          <p:cNvSpPr/>
          <p:nvPr/>
        </p:nvSpPr>
        <p:spPr>
          <a:xfrm>
            <a:off x="4389120" y="1005840"/>
            <a:ext cx="2011680" cy="457200"/>
          </a:xfrm>
          <a:prstGeom prst="rect">
            <a:avLst/>
          </a:prstGeom>
          <a:solidFill>
            <a:srgbClr val="F59E0B"/>
          </a:solidFill>
          <a:ln/>
        </p:spPr>
      </p:sp>
      <p:sp>
        <p:nvSpPr>
          <p:cNvPr id="9" name="Text 7"/>
          <p:cNvSpPr/>
          <p:nvPr/>
        </p:nvSpPr>
        <p:spPr>
          <a:xfrm>
            <a:off x="4389120" y="1005840"/>
            <a:ext cx="201168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REWOO</a:t>
            </a:r>
            <a:endParaRPr lang="en-US" sz="1200" dirty="0"/>
          </a:p>
        </p:txBody>
      </p:sp>
      <p:sp>
        <p:nvSpPr>
          <p:cNvPr id="10" name="Shape 8"/>
          <p:cNvSpPr/>
          <p:nvPr/>
        </p:nvSpPr>
        <p:spPr>
          <a:xfrm>
            <a:off x="6400800" y="1005840"/>
            <a:ext cx="2560320" cy="457200"/>
          </a:xfrm>
          <a:prstGeom prst="rect">
            <a:avLst/>
          </a:prstGeom>
          <a:solidFill>
            <a:srgbClr val="F59E0B"/>
          </a:solidFill>
          <a:ln/>
        </p:spPr>
      </p:sp>
      <p:sp>
        <p:nvSpPr>
          <p:cNvPr id="11" name="Text 9"/>
          <p:cNvSpPr/>
          <p:nvPr/>
        </p:nvSpPr>
        <p:spPr>
          <a:xfrm>
            <a:off x="6400800" y="1005840"/>
            <a:ext cx="25603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Plan &amp; Execute</a:t>
            </a:r>
            <a:endParaRPr lang="en-US" sz="1200" dirty="0"/>
          </a:p>
        </p:txBody>
      </p:sp>
      <p:sp>
        <p:nvSpPr>
          <p:cNvPr id="12" name="Shape 10"/>
          <p:cNvSpPr/>
          <p:nvPr/>
        </p:nvSpPr>
        <p:spPr>
          <a:xfrm>
            <a:off x="548640" y="1463040"/>
            <a:ext cx="1828800" cy="548640"/>
          </a:xfrm>
          <a:prstGeom prst="rect">
            <a:avLst/>
          </a:prstGeom>
          <a:solidFill>
            <a:srgbClr val="162D50"/>
          </a:solidFill>
          <a:ln w="6350">
            <a:solidFill>
              <a:srgbClr val="1A3050"/>
            </a:solidFill>
            <a:prstDash val="solid"/>
          </a:ln>
        </p:spPr>
      </p:sp>
      <p:sp>
        <p:nvSpPr>
          <p:cNvPr id="13" name="Text 11"/>
          <p:cNvSpPr/>
          <p:nvPr/>
        </p:nvSpPr>
        <p:spPr>
          <a:xfrm>
            <a:off x="548640" y="1463040"/>
            <a:ext cx="1828800" cy="548640"/>
          </a:xfrm>
          <a:prstGeom prst="rect">
            <a:avLst/>
          </a:prstGeom>
          <a:noFill/>
          <a:ln/>
        </p:spPr>
        <p:txBody>
          <a:bodyPr wrap="square"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Planning</a:t>
            </a:r>
            <a:endParaRPr lang="en-US" sz="1100" dirty="0"/>
          </a:p>
        </p:txBody>
      </p:sp>
      <p:sp>
        <p:nvSpPr>
          <p:cNvPr id="14" name="Shape 12"/>
          <p:cNvSpPr/>
          <p:nvPr/>
        </p:nvSpPr>
        <p:spPr>
          <a:xfrm>
            <a:off x="2377440" y="1463040"/>
            <a:ext cx="2011680" cy="548640"/>
          </a:xfrm>
          <a:prstGeom prst="rect">
            <a:avLst/>
          </a:prstGeom>
          <a:solidFill>
            <a:srgbClr val="162D50"/>
          </a:solidFill>
          <a:ln w="6350">
            <a:solidFill>
              <a:srgbClr val="1A3050"/>
            </a:solidFill>
            <a:prstDash val="solid"/>
          </a:ln>
        </p:spPr>
      </p:sp>
      <p:sp>
        <p:nvSpPr>
          <p:cNvPr id="15" name="Text 13"/>
          <p:cNvSpPr/>
          <p:nvPr/>
        </p:nvSpPr>
        <p:spPr>
          <a:xfrm>
            <a:off x="2377440" y="146304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None (step-by-step)</a:t>
            </a:r>
            <a:endParaRPr lang="en-US" sz="1100" dirty="0"/>
          </a:p>
        </p:txBody>
      </p:sp>
      <p:sp>
        <p:nvSpPr>
          <p:cNvPr id="16" name="Shape 14"/>
          <p:cNvSpPr/>
          <p:nvPr/>
        </p:nvSpPr>
        <p:spPr>
          <a:xfrm>
            <a:off x="4389120" y="1463040"/>
            <a:ext cx="2011680" cy="548640"/>
          </a:xfrm>
          <a:prstGeom prst="rect">
            <a:avLst/>
          </a:prstGeom>
          <a:solidFill>
            <a:srgbClr val="162D50"/>
          </a:solidFill>
          <a:ln w="6350">
            <a:solidFill>
              <a:srgbClr val="1A3050"/>
            </a:solidFill>
            <a:prstDash val="solid"/>
          </a:ln>
        </p:spPr>
      </p:sp>
      <p:sp>
        <p:nvSpPr>
          <p:cNvPr id="17" name="Text 15"/>
          <p:cNvSpPr/>
          <p:nvPr/>
        </p:nvSpPr>
        <p:spPr>
          <a:xfrm>
            <a:off x="4389120" y="146304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Full upfront plan</a:t>
            </a:r>
            <a:endParaRPr lang="en-US" sz="1100" dirty="0"/>
          </a:p>
        </p:txBody>
      </p:sp>
      <p:sp>
        <p:nvSpPr>
          <p:cNvPr id="18" name="Shape 16"/>
          <p:cNvSpPr/>
          <p:nvPr/>
        </p:nvSpPr>
        <p:spPr>
          <a:xfrm>
            <a:off x="6400800" y="1463040"/>
            <a:ext cx="2560320" cy="548640"/>
          </a:xfrm>
          <a:prstGeom prst="rect">
            <a:avLst/>
          </a:prstGeom>
          <a:solidFill>
            <a:srgbClr val="162D50"/>
          </a:solidFill>
          <a:ln w="6350">
            <a:solidFill>
              <a:srgbClr val="1A3050"/>
            </a:solidFill>
            <a:prstDash val="solid"/>
          </a:ln>
        </p:spPr>
      </p:sp>
      <p:sp>
        <p:nvSpPr>
          <p:cNvPr id="19" name="Text 17"/>
          <p:cNvSpPr/>
          <p:nvPr/>
        </p:nvSpPr>
        <p:spPr>
          <a:xfrm>
            <a:off x="6400800" y="1463040"/>
            <a:ext cx="256032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Initial plan + replan</a:t>
            </a:r>
            <a:endParaRPr lang="en-US" sz="1100" dirty="0"/>
          </a:p>
        </p:txBody>
      </p:sp>
      <p:sp>
        <p:nvSpPr>
          <p:cNvPr id="20" name="Shape 18"/>
          <p:cNvSpPr/>
          <p:nvPr/>
        </p:nvSpPr>
        <p:spPr>
          <a:xfrm>
            <a:off x="548640" y="2057400"/>
            <a:ext cx="1828800" cy="548640"/>
          </a:xfrm>
          <a:prstGeom prst="rect">
            <a:avLst/>
          </a:prstGeom>
          <a:solidFill>
            <a:srgbClr val="0F2440"/>
          </a:solidFill>
          <a:ln w="6350">
            <a:solidFill>
              <a:srgbClr val="1A3050"/>
            </a:solidFill>
            <a:prstDash val="solid"/>
          </a:ln>
        </p:spPr>
      </p:sp>
      <p:sp>
        <p:nvSpPr>
          <p:cNvPr id="21" name="Text 19"/>
          <p:cNvSpPr/>
          <p:nvPr/>
        </p:nvSpPr>
        <p:spPr>
          <a:xfrm>
            <a:off x="548640" y="2057400"/>
            <a:ext cx="1828800" cy="548640"/>
          </a:xfrm>
          <a:prstGeom prst="rect">
            <a:avLst/>
          </a:prstGeom>
          <a:noFill/>
          <a:ln/>
        </p:spPr>
        <p:txBody>
          <a:bodyPr wrap="square"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Adaptability</a:t>
            </a:r>
            <a:endParaRPr lang="en-US" sz="1100" dirty="0"/>
          </a:p>
        </p:txBody>
      </p:sp>
      <p:sp>
        <p:nvSpPr>
          <p:cNvPr id="22" name="Shape 20"/>
          <p:cNvSpPr/>
          <p:nvPr/>
        </p:nvSpPr>
        <p:spPr>
          <a:xfrm>
            <a:off x="2377440" y="2057400"/>
            <a:ext cx="2011680" cy="548640"/>
          </a:xfrm>
          <a:prstGeom prst="rect">
            <a:avLst/>
          </a:prstGeom>
          <a:solidFill>
            <a:srgbClr val="0F2440"/>
          </a:solidFill>
          <a:ln w="6350">
            <a:solidFill>
              <a:srgbClr val="1A3050"/>
            </a:solidFill>
            <a:prstDash val="solid"/>
          </a:ln>
        </p:spPr>
      </p:sp>
      <p:sp>
        <p:nvSpPr>
          <p:cNvPr id="23" name="Text 21"/>
          <p:cNvSpPr/>
          <p:nvPr/>
        </p:nvSpPr>
        <p:spPr>
          <a:xfrm>
            <a:off x="2377440" y="205740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High (each step)</a:t>
            </a:r>
            <a:endParaRPr lang="en-US" sz="1100" dirty="0"/>
          </a:p>
        </p:txBody>
      </p:sp>
      <p:sp>
        <p:nvSpPr>
          <p:cNvPr id="24" name="Shape 22"/>
          <p:cNvSpPr/>
          <p:nvPr/>
        </p:nvSpPr>
        <p:spPr>
          <a:xfrm>
            <a:off x="4389120" y="2057400"/>
            <a:ext cx="2011680" cy="548640"/>
          </a:xfrm>
          <a:prstGeom prst="rect">
            <a:avLst/>
          </a:prstGeom>
          <a:solidFill>
            <a:srgbClr val="0F2440"/>
          </a:solidFill>
          <a:ln w="6350">
            <a:solidFill>
              <a:srgbClr val="1A3050"/>
            </a:solidFill>
            <a:prstDash val="solid"/>
          </a:ln>
        </p:spPr>
      </p:sp>
      <p:sp>
        <p:nvSpPr>
          <p:cNvPr id="25" name="Text 23"/>
          <p:cNvSpPr/>
          <p:nvPr/>
        </p:nvSpPr>
        <p:spPr>
          <a:xfrm>
            <a:off x="4389120" y="205740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Low (fixed plan)</a:t>
            </a:r>
            <a:endParaRPr lang="en-US" sz="1100" dirty="0"/>
          </a:p>
        </p:txBody>
      </p:sp>
      <p:sp>
        <p:nvSpPr>
          <p:cNvPr id="26" name="Shape 24"/>
          <p:cNvSpPr/>
          <p:nvPr/>
        </p:nvSpPr>
        <p:spPr>
          <a:xfrm>
            <a:off x="6400800" y="2057400"/>
            <a:ext cx="2560320" cy="548640"/>
          </a:xfrm>
          <a:prstGeom prst="rect">
            <a:avLst/>
          </a:prstGeom>
          <a:solidFill>
            <a:srgbClr val="0F2440"/>
          </a:solidFill>
          <a:ln w="6350">
            <a:solidFill>
              <a:srgbClr val="1A3050"/>
            </a:solidFill>
            <a:prstDash val="solid"/>
          </a:ln>
        </p:spPr>
      </p:sp>
      <p:sp>
        <p:nvSpPr>
          <p:cNvPr id="27" name="Text 25"/>
          <p:cNvSpPr/>
          <p:nvPr/>
        </p:nvSpPr>
        <p:spPr>
          <a:xfrm>
            <a:off x="6400800" y="2057400"/>
            <a:ext cx="256032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Medium (per-step replan)</a:t>
            </a:r>
            <a:endParaRPr lang="en-US" sz="1100" dirty="0"/>
          </a:p>
        </p:txBody>
      </p:sp>
      <p:sp>
        <p:nvSpPr>
          <p:cNvPr id="28" name="Shape 26"/>
          <p:cNvSpPr/>
          <p:nvPr/>
        </p:nvSpPr>
        <p:spPr>
          <a:xfrm>
            <a:off x="548640" y="2651760"/>
            <a:ext cx="1828800" cy="548640"/>
          </a:xfrm>
          <a:prstGeom prst="rect">
            <a:avLst/>
          </a:prstGeom>
          <a:solidFill>
            <a:srgbClr val="162D50"/>
          </a:solidFill>
          <a:ln w="6350">
            <a:solidFill>
              <a:srgbClr val="1A3050"/>
            </a:solidFill>
            <a:prstDash val="solid"/>
          </a:ln>
        </p:spPr>
      </p:sp>
      <p:sp>
        <p:nvSpPr>
          <p:cNvPr id="29" name="Text 27"/>
          <p:cNvSpPr/>
          <p:nvPr/>
        </p:nvSpPr>
        <p:spPr>
          <a:xfrm>
            <a:off x="548640" y="2651760"/>
            <a:ext cx="1828800" cy="548640"/>
          </a:xfrm>
          <a:prstGeom prst="rect">
            <a:avLst/>
          </a:prstGeom>
          <a:noFill/>
          <a:ln/>
        </p:spPr>
        <p:txBody>
          <a:bodyPr wrap="square"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LLM Calls</a:t>
            </a:r>
            <a:endParaRPr lang="en-US" sz="1100" dirty="0"/>
          </a:p>
        </p:txBody>
      </p:sp>
      <p:sp>
        <p:nvSpPr>
          <p:cNvPr id="30" name="Shape 28"/>
          <p:cNvSpPr/>
          <p:nvPr/>
        </p:nvSpPr>
        <p:spPr>
          <a:xfrm>
            <a:off x="2377440" y="2651760"/>
            <a:ext cx="2011680" cy="548640"/>
          </a:xfrm>
          <a:prstGeom prst="rect">
            <a:avLst/>
          </a:prstGeom>
          <a:solidFill>
            <a:srgbClr val="162D50"/>
          </a:solidFill>
          <a:ln w="6350">
            <a:solidFill>
              <a:srgbClr val="1A3050"/>
            </a:solidFill>
            <a:prstDash val="solid"/>
          </a:ln>
        </p:spPr>
      </p:sp>
      <p:sp>
        <p:nvSpPr>
          <p:cNvPr id="31" name="Text 29"/>
          <p:cNvSpPr/>
          <p:nvPr/>
        </p:nvSpPr>
        <p:spPr>
          <a:xfrm>
            <a:off x="2377440" y="265176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N (per step)</a:t>
            </a:r>
            <a:endParaRPr lang="en-US" sz="1100" dirty="0"/>
          </a:p>
        </p:txBody>
      </p:sp>
      <p:sp>
        <p:nvSpPr>
          <p:cNvPr id="32" name="Shape 30"/>
          <p:cNvSpPr/>
          <p:nvPr/>
        </p:nvSpPr>
        <p:spPr>
          <a:xfrm>
            <a:off x="4389120" y="2651760"/>
            <a:ext cx="2011680" cy="548640"/>
          </a:xfrm>
          <a:prstGeom prst="rect">
            <a:avLst/>
          </a:prstGeom>
          <a:solidFill>
            <a:srgbClr val="162D50"/>
          </a:solidFill>
          <a:ln w="6350">
            <a:solidFill>
              <a:srgbClr val="1A3050"/>
            </a:solidFill>
            <a:prstDash val="solid"/>
          </a:ln>
        </p:spPr>
      </p:sp>
      <p:sp>
        <p:nvSpPr>
          <p:cNvPr id="33" name="Text 31"/>
          <p:cNvSpPr/>
          <p:nvPr/>
        </p:nvSpPr>
        <p:spPr>
          <a:xfrm>
            <a:off x="4389120" y="265176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2 (plan + solve)</a:t>
            </a:r>
            <a:endParaRPr lang="en-US" sz="1100" dirty="0"/>
          </a:p>
        </p:txBody>
      </p:sp>
      <p:sp>
        <p:nvSpPr>
          <p:cNvPr id="34" name="Shape 32"/>
          <p:cNvSpPr/>
          <p:nvPr/>
        </p:nvSpPr>
        <p:spPr>
          <a:xfrm>
            <a:off x="6400800" y="2651760"/>
            <a:ext cx="2560320" cy="548640"/>
          </a:xfrm>
          <a:prstGeom prst="rect">
            <a:avLst/>
          </a:prstGeom>
          <a:solidFill>
            <a:srgbClr val="162D50"/>
          </a:solidFill>
          <a:ln w="6350">
            <a:solidFill>
              <a:srgbClr val="1A3050"/>
            </a:solidFill>
            <a:prstDash val="solid"/>
          </a:ln>
        </p:spPr>
      </p:sp>
      <p:sp>
        <p:nvSpPr>
          <p:cNvPr id="35" name="Text 33"/>
          <p:cNvSpPr/>
          <p:nvPr/>
        </p:nvSpPr>
        <p:spPr>
          <a:xfrm>
            <a:off x="6400800" y="2651760"/>
            <a:ext cx="256032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~N/2 (plan + replans)</a:t>
            </a:r>
            <a:endParaRPr lang="en-US" sz="1100" dirty="0"/>
          </a:p>
        </p:txBody>
      </p:sp>
      <p:sp>
        <p:nvSpPr>
          <p:cNvPr id="36" name="Shape 34"/>
          <p:cNvSpPr/>
          <p:nvPr/>
        </p:nvSpPr>
        <p:spPr>
          <a:xfrm>
            <a:off x="548640" y="3246120"/>
            <a:ext cx="1828800" cy="548640"/>
          </a:xfrm>
          <a:prstGeom prst="rect">
            <a:avLst/>
          </a:prstGeom>
          <a:solidFill>
            <a:srgbClr val="0F2440"/>
          </a:solidFill>
          <a:ln w="6350">
            <a:solidFill>
              <a:srgbClr val="1A3050"/>
            </a:solidFill>
            <a:prstDash val="solid"/>
          </a:ln>
        </p:spPr>
      </p:sp>
      <p:sp>
        <p:nvSpPr>
          <p:cNvPr id="37" name="Text 35"/>
          <p:cNvSpPr/>
          <p:nvPr/>
        </p:nvSpPr>
        <p:spPr>
          <a:xfrm>
            <a:off x="548640" y="3246120"/>
            <a:ext cx="1828800" cy="548640"/>
          </a:xfrm>
          <a:prstGeom prst="rect">
            <a:avLst/>
          </a:prstGeom>
          <a:noFill/>
          <a:ln/>
        </p:spPr>
        <p:txBody>
          <a:bodyPr wrap="square"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Latency</a:t>
            </a:r>
            <a:endParaRPr lang="en-US" sz="1100" dirty="0"/>
          </a:p>
        </p:txBody>
      </p:sp>
      <p:sp>
        <p:nvSpPr>
          <p:cNvPr id="38" name="Shape 36"/>
          <p:cNvSpPr/>
          <p:nvPr/>
        </p:nvSpPr>
        <p:spPr>
          <a:xfrm>
            <a:off x="2377440" y="3246120"/>
            <a:ext cx="2011680" cy="548640"/>
          </a:xfrm>
          <a:prstGeom prst="rect">
            <a:avLst/>
          </a:prstGeom>
          <a:solidFill>
            <a:srgbClr val="0F2440"/>
          </a:solidFill>
          <a:ln w="6350">
            <a:solidFill>
              <a:srgbClr val="1A3050"/>
            </a:solidFill>
            <a:prstDash val="solid"/>
          </a:ln>
        </p:spPr>
      </p:sp>
      <p:sp>
        <p:nvSpPr>
          <p:cNvPr id="39" name="Text 37"/>
          <p:cNvSpPr/>
          <p:nvPr/>
        </p:nvSpPr>
        <p:spPr>
          <a:xfrm>
            <a:off x="2377440" y="324612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High (sequential)</a:t>
            </a:r>
            <a:endParaRPr lang="en-US" sz="1100" dirty="0"/>
          </a:p>
        </p:txBody>
      </p:sp>
      <p:sp>
        <p:nvSpPr>
          <p:cNvPr id="40" name="Shape 38"/>
          <p:cNvSpPr/>
          <p:nvPr/>
        </p:nvSpPr>
        <p:spPr>
          <a:xfrm>
            <a:off x="4389120" y="3246120"/>
            <a:ext cx="2011680" cy="548640"/>
          </a:xfrm>
          <a:prstGeom prst="rect">
            <a:avLst/>
          </a:prstGeom>
          <a:solidFill>
            <a:srgbClr val="0F2440"/>
          </a:solidFill>
          <a:ln w="6350">
            <a:solidFill>
              <a:srgbClr val="1A3050"/>
            </a:solidFill>
            <a:prstDash val="solid"/>
          </a:ln>
        </p:spPr>
      </p:sp>
      <p:sp>
        <p:nvSpPr>
          <p:cNvPr id="41" name="Text 39"/>
          <p:cNvSpPr/>
          <p:nvPr/>
        </p:nvSpPr>
        <p:spPr>
          <a:xfrm>
            <a:off x="4389120" y="324612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Low (parallel tools)</a:t>
            </a:r>
            <a:endParaRPr lang="en-US" sz="1100" dirty="0"/>
          </a:p>
        </p:txBody>
      </p:sp>
      <p:sp>
        <p:nvSpPr>
          <p:cNvPr id="42" name="Shape 40"/>
          <p:cNvSpPr/>
          <p:nvPr/>
        </p:nvSpPr>
        <p:spPr>
          <a:xfrm>
            <a:off x="6400800" y="3246120"/>
            <a:ext cx="2560320" cy="548640"/>
          </a:xfrm>
          <a:prstGeom prst="rect">
            <a:avLst/>
          </a:prstGeom>
          <a:solidFill>
            <a:srgbClr val="0F2440"/>
          </a:solidFill>
          <a:ln w="6350">
            <a:solidFill>
              <a:srgbClr val="1A3050"/>
            </a:solidFill>
            <a:prstDash val="solid"/>
          </a:ln>
        </p:spPr>
      </p:sp>
      <p:sp>
        <p:nvSpPr>
          <p:cNvPr id="43" name="Text 41"/>
          <p:cNvSpPr/>
          <p:nvPr/>
        </p:nvSpPr>
        <p:spPr>
          <a:xfrm>
            <a:off x="6400800" y="3246120"/>
            <a:ext cx="256032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Medium</a:t>
            </a:r>
            <a:endParaRPr lang="en-US" sz="1100" dirty="0"/>
          </a:p>
        </p:txBody>
      </p:sp>
      <p:sp>
        <p:nvSpPr>
          <p:cNvPr id="44" name="Shape 42"/>
          <p:cNvSpPr/>
          <p:nvPr/>
        </p:nvSpPr>
        <p:spPr>
          <a:xfrm>
            <a:off x="548640" y="3840480"/>
            <a:ext cx="1828800" cy="548640"/>
          </a:xfrm>
          <a:prstGeom prst="rect">
            <a:avLst/>
          </a:prstGeom>
          <a:solidFill>
            <a:srgbClr val="162D50"/>
          </a:solidFill>
          <a:ln w="6350">
            <a:solidFill>
              <a:srgbClr val="1A3050"/>
            </a:solidFill>
            <a:prstDash val="solid"/>
          </a:ln>
        </p:spPr>
      </p:sp>
      <p:sp>
        <p:nvSpPr>
          <p:cNvPr id="45" name="Text 43"/>
          <p:cNvSpPr/>
          <p:nvPr/>
        </p:nvSpPr>
        <p:spPr>
          <a:xfrm>
            <a:off x="548640" y="3840480"/>
            <a:ext cx="1828800" cy="548640"/>
          </a:xfrm>
          <a:prstGeom prst="rect">
            <a:avLst/>
          </a:prstGeom>
          <a:noFill/>
          <a:ln/>
        </p:spPr>
        <p:txBody>
          <a:bodyPr wrap="square"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Best For</a:t>
            </a:r>
            <a:endParaRPr lang="en-US" sz="1100" dirty="0"/>
          </a:p>
        </p:txBody>
      </p:sp>
      <p:sp>
        <p:nvSpPr>
          <p:cNvPr id="46" name="Shape 44"/>
          <p:cNvSpPr/>
          <p:nvPr/>
        </p:nvSpPr>
        <p:spPr>
          <a:xfrm>
            <a:off x="2377440" y="3840480"/>
            <a:ext cx="2011680" cy="548640"/>
          </a:xfrm>
          <a:prstGeom prst="rect">
            <a:avLst/>
          </a:prstGeom>
          <a:solidFill>
            <a:srgbClr val="162D50"/>
          </a:solidFill>
          <a:ln w="6350">
            <a:solidFill>
              <a:srgbClr val="1A3050"/>
            </a:solidFill>
            <a:prstDash val="solid"/>
          </a:ln>
        </p:spPr>
      </p:sp>
      <p:sp>
        <p:nvSpPr>
          <p:cNvPr id="47" name="Text 45"/>
          <p:cNvSpPr/>
          <p:nvPr/>
        </p:nvSpPr>
        <p:spPr>
          <a:xfrm>
            <a:off x="2377440" y="384048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Dynamic tasks</a:t>
            </a:r>
            <a:endParaRPr lang="en-US" sz="1100" dirty="0"/>
          </a:p>
        </p:txBody>
      </p:sp>
      <p:sp>
        <p:nvSpPr>
          <p:cNvPr id="48" name="Shape 46"/>
          <p:cNvSpPr/>
          <p:nvPr/>
        </p:nvSpPr>
        <p:spPr>
          <a:xfrm>
            <a:off x="4389120" y="3840480"/>
            <a:ext cx="2011680" cy="548640"/>
          </a:xfrm>
          <a:prstGeom prst="rect">
            <a:avLst/>
          </a:prstGeom>
          <a:solidFill>
            <a:srgbClr val="162D50"/>
          </a:solidFill>
          <a:ln w="6350">
            <a:solidFill>
              <a:srgbClr val="1A3050"/>
            </a:solidFill>
            <a:prstDash val="solid"/>
          </a:ln>
        </p:spPr>
      </p:sp>
      <p:sp>
        <p:nvSpPr>
          <p:cNvPr id="49" name="Text 47"/>
          <p:cNvSpPr/>
          <p:nvPr/>
        </p:nvSpPr>
        <p:spPr>
          <a:xfrm>
            <a:off x="4389120" y="3840480"/>
            <a:ext cx="201168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Predictable tasks</a:t>
            </a:r>
            <a:endParaRPr lang="en-US" sz="1100" dirty="0"/>
          </a:p>
        </p:txBody>
      </p:sp>
      <p:sp>
        <p:nvSpPr>
          <p:cNvPr id="50" name="Shape 48"/>
          <p:cNvSpPr/>
          <p:nvPr/>
        </p:nvSpPr>
        <p:spPr>
          <a:xfrm>
            <a:off x="6400800" y="3840480"/>
            <a:ext cx="2560320" cy="548640"/>
          </a:xfrm>
          <a:prstGeom prst="rect">
            <a:avLst/>
          </a:prstGeom>
          <a:solidFill>
            <a:srgbClr val="162D50"/>
          </a:solidFill>
          <a:ln w="6350">
            <a:solidFill>
              <a:srgbClr val="1A3050"/>
            </a:solidFill>
            <a:prstDash val="solid"/>
          </a:ln>
        </p:spPr>
      </p:sp>
      <p:sp>
        <p:nvSpPr>
          <p:cNvPr id="51" name="Text 49"/>
          <p:cNvSpPr/>
          <p:nvPr/>
        </p:nvSpPr>
        <p:spPr>
          <a:xfrm>
            <a:off x="6400800" y="3840480"/>
            <a:ext cx="2560320" cy="548640"/>
          </a:xfrm>
          <a:prstGeom prst="rect">
            <a:avLst/>
          </a:prstGeom>
          <a:noFill/>
          <a:ln/>
        </p:spPr>
        <p:txBody>
          <a:bodyPr wrap="square" rtlCol="0" anchor="ctr"/>
          <a:lstStyle/>
          <a:p>
            <a:pPr algn="ctr" indent="0" marL="0">
              <a:buNone/>
            </a:pPr>
            <a:r>
              <a:rPr lang="en-US" sz="1100" dirty="0">
                <a:solidFill>
                  <a:srgbClr val="B8C9E0"/>
                </a:solidFill>
                <a:latin typeface="Calibri" pitchFamily="34" charset="0"/>
                <a:ea typeface="Calibri" pitchFamily="34" charset="-122"/>
                <a:cs typeface="Calibri" pitchFamily="34" charset="-120"/>
              </a:rPr>
              <a:t>Semi-structured tasks</a:t>
            </a:r>
            <a:endParaRPr lang="en-US" sz="1100" dirty="0"/>
          </a:p>
        </p:txBody>
      </p:sp>
      <p:sp>
        <p:nvSpPr>
          <p:cNvPr id="52" name="Text 50"/>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20 / 33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2103120"/>
            <a:ext cx="9144000" cy="13716"/>
          </a:xfrm>
          <a:prstGeom prst="rect">
            <a:avLst/>
          </a:prstGeom>
          <a:solidFill>
            <a:srgbClr val="F59E0B">
              <a:alpha val="70000"/>
            </a:srgbClr>
          </a:solidFill>
          <a:ln/>
        </p:spPr>
      </p:sp>
      <p:pic>
        <p:nvPicPr>
          <p:cNvPr id="3" name="Image 0" descr="preencoded.png">    </p:cNvPr>
          <p:cNvPicPr>
            <a:picLocks noChangeAspect="1"/>
          </p:cNvPicPr>
          <p:nvPr/>
        </p:nvPicPr>
        <p:blipFill>
          <a:blip r:embed="rId1"/>
          <a:stretch>
            <a:fillRect/>
          </a:stretch>
        </p:blipFill>
        <p:spPr>
          <a:xfrm>
            <a:off x="4069080" y="1005840"/>
            <a:ext cx="1005840" cy="1005840"/>
          </a:xfrm>
          <a:prstGeom prst="rect">
            <a:avLst/>
          </a:prstGeom>
        </p:spPr>
      </p:pic>
      <p:sp>
        <p:nvSpPr>
          <p:cNvPr id="4" name="Text 1"/>
          <p:cNvSpPr/>
          <p:nvPr/>
        </p:nvSpPr>
        <p:spPr>
          <a:xfrm>
            <a:off x="914400" y="2331720"/>
            <a:ext cx="73152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Tool Use Pattern</a:t>
            </a:r>
            <a:endParaRPr lang="en-US" sz="3400" dirty="0"/>
          </a:p>
        </p:txBody>
      </p:sp>
      <p:sp>
        <p:nvSpPr>
          <p:cNvPr id="5" name="Text 2"/>
          <p:cNvSpPr/>
          <p:nvPr/>
        </p:nvSpPr>
        <p:spPr>
          <a:xfrm>
            <a:off x="914400" y="2971800"/>
            <a:ext cx="7315200" cy="365760"/>
          </a:xfrm>
          <a:prstGeom prst="rect">
            <a:avLst/>
          </a:prstGeom>
          <a:noFill/>
          <a:ln/>
        </p:spPr>
        <p:txBody>
          <a:bodyPr wrap="square"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Extending LLM Capabilities via External Tools</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21 / 33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Tool Use — Architecture &amp; Mechanism</a:t>
            </a:r>
            <a:endParaRPr lang="en-US" sz="2600" dirty="0"/>
          </a:p>
        </p:txBody>
      </p:sp>
      <p:sp>
        <p:nvSpPr>
          <p:cNvPr id="4" name="Text 2"/>
          <p:cNvSpPr/>
          <p:nvPr/>
        </p:nvSpPr>
        <p:spPr>
          <a:xfrm>
            <a:off x="457200" y="914400"/>
            <a:ext cx="8229600" cy="822960"/>
          </a:xfrm>
          <a:prstGeom prst="rect">
            <a:avLst/>
          </a:prstGeom>
          <a:noFill/>
          <a:ln/>
        </p:spPr>
        <p:txBody>
          <a:bodyPr wrap="square"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Tool Use (Function Calling) enables LLMs to invoke external APIs, databases, code interpreters, and search engines. The LLM decides which tool to call, generates structured arguments, and incorporates the tool's response into its reasoning. This is the foundational building block for all agentic patterns.</a:t>
            </a:r>
            <a:endParaRPr lang="en-US" sz="1300" dirty="0"/>
          </a:p>
        </p:txBody>
      </p:sp>
      <p:sp>
        <p:nvSpPr>
          <p:cNvPr id="5" name="Shape 3"/>
          <p:cNvSpPr/>
          <p:nvPr/>
        </p:nvSpPr>
        <p:spPr>
          <a:xfrm>
            <a:off x="365760" y="2011680"/>
            <a:ext cx="196596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365760" y="2011680"/>
            <a:ext cx="1965960" cy="54864"/>
          </a:xfrm>
          <a:prstGeom prst="rect">
            <a:avLst/>
          </a:prstGeom>
          <a:solidFill>
            <a:srgbClr val="00D4FF"/>
          </a:solidFill>
          <a:ln/>
        </p:spPr>
      </p:sp>
      <p:sp>
        <p:nvSpPr>
          <p:cNvPr id="7" name="Text 5"/>
          <p:cNvSpPr/>
          <p:nvPr/>
        </p:nvSpPr>
        <p:spPr>
          <a:xfrm>
            <a:off x="365760" y="2240280"/>
            <a:ext cx="1965960" cy="320040"/>
          </a:xfrm>
          <a:prstGeom prst="rect">
            <a:avLst/>
          </a:prstGeom>
          <a:noFill/>
          <a:ln/>
        </p:spPr>
        <p:txBody>
          <a:bodyPr wrap="square" lIns="0" tIns="0" rIns="0" bIns="0" rtlCol="0" anchor="ctr"/>
          <a:lstStyle/>
          <a:p>
            <a:pPr algn="ctr" indent="0" marL="0">
              <a:buNone/>
            </a:pPr>
            <a:r>
              <a:rPr lang="en-US" sz="1500" b="1" dirty="0">
                <a:solidFill>
                  <a:srgbClr val="00D4FF"/>
                </a:solidFill>
                <a:latin typeface="Trebuchet MS" pitchFamily="34" charset="0"/>
                <a:ea typeface="Trebuchet MS" pitchFamily="34" charset="-122"/>
                <a:cs typeface="Trebuchet MS" pitchFamily="34" charset="-120"/>
              </a:rPr>
              <a:t>Information</a:t>
            </a:r>
            <a:endParaRPr lang="en-US" sz="1500" dirty="0"/>
          </a:p>
        </p:txBody>
      </p:sp>
      <p:sp>
        <p:nvSpPr>
          <p:cNvPr id="8" name="Text 6"/>
          <p:cNvSpPr/>
          <p:nvPr/>
        </p:nvSpPr>
        <p:spPr>
          <a:xfrm>
            <a:off x="502920" y="2743200"/>
            <a:ext cx="1691640" cy="13716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Web search, database</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query, document retrieval,</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knowledge graph lookup</a:t>
            </a:r>
            <a:endParaRPr lang="en-US" sz="1100" dirty="0"/>
          </a:p>
        </p:txBody>
      </p:sp>
      <p:sp>
        <p:nvSpPr>
          <p:cNvPr id="9" name="Shape 7"/>
          <p:cNvSpPr/>
          <p:nvPr/>
        </p:nvSpPr>
        <p:spPr>
          <a:xfrm>
            <a:off x="2514600" y="2011680"/>
            <a:ext cx="196596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2514600" y="2011680"/>
            <a:ext cx="1965960" cy="54864"/>
          </a:xfrm>
          <a:prstGeom prst="rect">
            <a:avLst/>
          </a:prstGeom>
          <a:solidFill>
            <a:srgbClr val="7C3AED"/>
          </a:solidFill>
          <a:ln/>
        </p:spPr>
      </p:sp>
      <p:sp>
        <p:nvSpPr>
          <p:cNvPr id="11" name="Text 9"/>
          <p:cNvSpPr/>
          <p:nvPr/>
        </p:nvSpPr>
        <p:spPr>
          <a:xfrm>
            <a:off x="2514600" y="2240280"/>
            <a:ext cx="1965960" cy="320040"/>
          </a:xfrm>
          <a:prstGeom prst="rect">
            <a:avLst/>
          </a:prstGeom>
          <a:noFill/>
          <a:ln/>
        </p:spPr>
        <p:txBody>
          <a:bodyPr wrap="square" lIns="0" tIns="0" rIns="0" bIns="0" rtlCol="0" anchor="ctr"/>
          <a:lstStyle/>
          <a:p>
            <a:pPr algn="ctr" indent="0" marL="0">
              <a:buNone/>
            </a:pPr>
            <a:r>
              <a:rPr lang="en-US" sz="1500" b="1" dirty="0">
                <a:solidFill>
                  <a:srgbClr val="7C3AED"/>
                </a:solidFill>
                <a:latin typeface="Trebuchet MS" pitchFamily="34" charset="0"/>
                <a:ea typeface="Trebuchet MS" pitchFamily="34" charset="-122"/>
                <a:cs typeface="Trebuchet MS" pitchFamily="34" charset="-120"/>
              </a:rPr>
              <a:t>Computation</a:t>
            </a:r>
            <a:endParaRPr lang="en-US" sz="1500" dirty="0"/>
          </a:p>
        </p:txBody>
      </p:sp>
      <p:sp>
        <p:nvSpPr>
          <p:cNvPr id="12" name="Text 10"/>
          <p:cNvSpPr/>
          <p:nvPr/>
        </p:nvSpPr>
        <p:spPr>
          <a:xfrm>
            <a:off x="2651760" y="2743200"/>
            <a:ext cx="1691640" cy="13716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Code execution, math</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solvers, data analysis,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statistical calculations</a:t>
            </a:r>
            <a:endParaRPr lang="en-US" sz="1100" dirty="0"/>
          </a:p>
        </p:txBody>
      </p:sp>
      <p:sp>
        <p:nvSpPr>
          <p:cNvPr id="13" name="Shape 11"/>
          <p:cNvSpPr/>
          <p:nvPr/>
        </p:nvSpPr>
        <p:spPr>
          <a:xfrm>
            <a:off x="4663440" y="2011680"/>
            <a:ext cx="196596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663440" y="2011680"/>
            <a:ext cx="1965960" cy="54864"/>
          </a:xfrm>
          <a:prstGeom prst="rect">
            <a:avLst/>
          </a:prstGeom>
          <a:solidFill>
            <a:srgbClr val="10B981"/>
          </a:solidFill>
          <a:ln/>
        </p:spPr>
      </p:sp>
      <p:sp>
        <p:nvSpPr>
          <p:cNvPr id="15" name="Text 13"/>
          <p:cNvSpPr/>
          <p:nvPr/>
        </p:nvSpPr>
        <p:spPr>
          <a:xfrm>
            <a:off x="4663440" y="2240280"/>
            <a:ext cx="1965960" cy="320040"/>
          </a:xfrm>
          <a:prstGeom prst="rect">
            <a:avLst/>
          </a:prstGeom>
          <a:noFill/>
          <a:ln/>
        </p:spPr>
        <p:txBody>
          <a:bodyPr wrap="square" lIns="0" tIns="0" rIns="0" bIns="0" rtlCol="0" anchor="ctr"/>
          <a:lstStyle/>
          <a:p>
            <a:pPr algn="ctr" indent="0" marL="0">
              <a:buNone/>
            </a:pPr>
            <a:r>
              <a:rPr lang="en-US" sz="1500" b="1" dirty="0">
                <a:solidFill>
                  <a:srgbClr val="10B981"/>
                </a:solidFill>
                <a:latin typeface="Trebuchet MS" pitchFamily="34" charset="0"/>
                <a:ea typeface="Trebuchet MS" pitchFamily="34" charset="-122"/>
                <a:cs typeface="Trebuchet MS" pitchFamily="34" charset="-120"/>
              </a:rPr>
              <a:t>Action</a:t>
            </a:r>
            <a:endParaRPr lang="en-US" sz="1500" dirty="0"/>
          </a:p>
        </p:txBody>
      </p:sp>
      <p:sp>
        <p:nvSpPr>
          <p:cNvPr id="16" name="Text 14"/>
          <p:cNvSpPr/>
          <p:nvPr/>
        </p:nvSpPr>
        <p:spPr>
          <a:xfrm>
            <a:off x="4800600" y="2743200"/>
            <a:ext cx="1691640" cy="13716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API calls, file I/O,</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email sending, system</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commands, deployments</a:t>
            </a:r>
            <a:endParaRPr lang="en-US" sz="1100" dirty="0"/>
          </a:p>
        </p:txBody>
      </p:sp>
      <p:sp>
        <p:nvSpPr>
          <p:cNvPr id="17" name="Shape 15"/>
          <p:cNvSpPr/>
          <p:nvPr/>
        </p:nvSpPr>
        <p:spPr>
          <a:xfrm>
            <a:off x="6812280" y="2011680"/>
            <a:ext cx="196596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Shape 16"/>
          <p:cNvSpPr/>
          <p:nvPr/>
        </p:nvSpPr>
        <p:spPr>
          <a:xfrm>
            <a:off x="6812280" y="2011680"/>
            <a:ext cx="1965960" cy="54864"/>
          </a:xfrm>
          <a:prstGeom prst="rect">
            <a:avLst/>
          </a:prstGeom>
          <a:solidFill>
            <a:srgbClr val="F59E0B"/>
          </a:solidFill>
          <a:ln/>
        </p:spPr>
      </p:sp>
      <p:sp>
        <p:nvSpPr>
          <p:cNvPr id="19" name="Text 17"/>
          <p:cNvSpPr/>
          <p:nvPr/>
        </p:nvSpPr>
        <p:spPr>
          <a:xfrm>
            <a:off x="6812280" y="2240280"/>
            <a:ext cx="1965960" cy="320040"/>
          </a:xfrm>
          <a:prstGeom prst="rect">
            <a:avLst/>
          </a:prstGeom>
          <a:noFill/>
          <a:ln/>
        </p:spPr>
        <p:txBody>
          <a:bodyPr wrap="square" lIns="0" tIns="0" rIns="0" bIns="0" rtlCol="0" anchor="ctr"/>
          <a:lstStyle/>
          <a:p>
            <a:pPr algn="ctr" indent="0" marL="0">
              <a:buNone/>
            </a:pPr>
            <a:r>
              <a:rPr lang="en-US" sz="1500" b="1" dirty="0">
                <a:solidFill>
                  <a:srgbClr val="F59E0B"/>
                </a:solidFill>
                <a:latin typeface="Trebuchet MS" pitchFamily="34" charset="0"/>
                <a:ea typeface="Trebuchet MS" pitchFamily="34" charset="-122"/>
                <a:cs typeface="Trebuchet MS" pitchFamily="34" charset="-120"/>
              </a:rPr>
              <a:t>Perception</a:t>
            </a:r>
            <a:endParaRPr lang="en-US" sz="1500" dirty="0"/>
          </a:p>
        </p:txBody>
      </p:sp>
      <p:sp>
        <p:nvSpPr>
          <p:cNvPr id="20" name="Text 18"/>
          <p:cNvSpPr/>
          <p:nvPr/>
        </p:nvSpPr>
        <p:spPr>
          <a:xfrm>
            <a:off x="6949440" y="2743200"/>
            <a:ext cx="1691640" cy="13716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Image analysis, OCR,</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audio transcription,</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video understanding</a:t>
            </a:r>
            <a:endParaRPr lang="en-US" sz="1100" dirty="0"/>
          </a:p>
        </p:txBody>
      </p:sp>
      <p:sp>
        <p:nvSpPr>
          <p:cNvPr id="21" name="Text 19"/>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 / 33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p:spPr>
      </p:sp>
      <p:sp>
        <p:nvSpPr>
          <p:cNvPr id="3" name="Text 1"/>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Tool Use — Standards &amp; Protocols</a:t>
            </a:r>
            <a:endParaRPr lang="en-US" sz="2600" dirty="0"/>
          </a:p>
        </p:txBody>
      </p:sp>
      <p:sp>
        <p:nvSpPr>
          <p:cNvPr id="4" name="Shape 2"/>
          <p:cNvSpPr/>
          <p:nvPr/>
        </p:nvSpPr>
        <p:spPr>
          <a:xfrm>
            <a:off x="548640" y="1005840"/>
            <a:ext cx="8046720" cy="822960"/>
          </a:xfrm>
          <a:prstGeom prst="rect">
            <a:avLst/>
          </a:prstGeom>
          <a:solidFill>
            <a:srgbClr val="162D50"/>
          </a:solidFill>
          <a:ln/>
        </p:spPr>
      </p:sp>
      <p:sp>
        <p:nvSpPr>
          <p:cNvPr id="5" name="Shape 3"/>
          <p:cNvSpPr/>
          <p:nvPr/>
        </p:nvSpPr>
        <p:spPr>
          <a:xfrm>
            <a:off x="548640" y="1005840"/>
            <a:ext cx="73152" cy="822960"/>
          </a:xfrm>
          <a:prstGeom prst="rect">
            <a:avLst/>
          </a:prstGeom>
          <a:solidFill>
            <a:srgbClr val="00D4FF"/>
          </a:solidFill>
          <a:ln/>
        </p:spPr>
      </p:sp>
      <p:sp>
        <p:nvSpPr>
          <p:cNvPr id="6" name="Text 4"/>
          <p:cNvSpPr/>
          <p:nvPr/>
        </p:nvSpPr>
        <p:spPr>
          <a:xfrm>
            <a:off x="822960" y="1051560"/>
            <a:ext cx="3657600" cy="274320"/>
          </a:xfrm>
          <a:prstGeom prst="rect">
            <a:avLst/>
          </a:prstGeom>
          <a:noFill/>
          <a:ln/>
        </p:spPr>
        <p:txBody>
          <a:bodyPr wrap="square" lIns="0" tIns="0" rIns="0" bIns="0" rtlCol="0" anchor="ctr"/>
          <a:lstStyle/>
          <a:p>
            <a:pPr indent="0" marL="0">
              <a:buNone/>
            </a:pPr>
            <a:r>
              <a:rPr lang="en-US" sz="1400" b="1" dirty="0">
                <a:solidFill>
                  <a:srgbClr val="00D4FF"/>
                </a:solidFill>
                <a:latin typeface="Trebuchet MS" pitchFamily="34" charset="0"/>
                <a:ea typeface="Trebuchet MS" pitchFamily="34" charset="-122"/>
                <a:cs typeface="Trebuchet MS" pitchFamily="34" charset="-120"/>
              </a:rPr>
              <a:t>OpenAI Function Calling</a:t>
            </a:r>
            <a:endParaRPr lang="en-US" sz="1400" dirty="0"/>
          </a:p>
        </p:txBody>
      </p:sp>
      <p:sp>
        <p:nvSpPr>
          <p:cNvPr id="7" name="Text 5"/>
          <p:cNvSpPr/>
          <p:nvPr/>
        </p:nvSpPr>
        <p:spPr>
          <a:xfrm>
            <a:off x="822960" y="1371600"/>
            <a:ext cx="7589520" cy="36576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JSON Schema-based tool definitions. LLM generates structured JSON arguments. Widely adopted standard.</a:t>
            </a:r>
            <a:endParaRPr lang="en-US" sz="1150" dirty="0"/>
          </a:p>
        </p:txBody>
      </p:sp>
      <p:sp>
        <p:nvSpPr>
          <p:cNvPr id="8" name="Shape 6"/>
          <p:cNvSpPr/>
          <p:nvPr/>
        </p:nvSpPr>
        <p:spPr>
          <a:xfrm>
            <a:off x="548640" y="2011680"/>
            <a:ext cx="8046720" cy="822960"/>
          </a:xfrm>
          <a:prstGeom prst="rect">
            <a:avLst/>
          </a:prstGeom>
          <a:solidFill>
            <a:srgbClr val="162D50"/>
          </a:solidFill>
          <a:ln/>
        </p:spPr>
      </p:sp>
      <p:sp>
        <p:nvSpPr>
          <p:cNvPr id="9" name="Shape 7"/>
          <p:cNvSpPr/>
          <p:nvPr/>
        </p:nvSpPr>
        <p:spPr>
          <a:xfrm>
            <a:off x="548640" y="2011680"/>
            <a:ext cx="73152" cy="822960"/>
          </a:xfrm>
          <a:prstGeom prst="rect">
            <a:avLst/>
          </a:prstGeom>
          <a:solidFill>
            <a:srgbClr val="7C3AED"/>
          </a:solidFill>
          <a:ln/>
        </p:spPr>
      </p:sp>
      <p:sp>
        <p:nvSpPr>
          <p:cNvPr id="10" name="Text 8"/>
          <p:cNvSpPr/>
          <p:nvPr/>
        </p:nvSpPr>
        <p:spPr>
          <a:xfrm>
            <a:off x="822960" y="2057400"/>
            <a:ext cx="3657600" cy="274320"/>
          </a:xfrm>
          <a:prstGeom prst="rect">
            <a:avLst/>
          </a:prstGeom>
          <a:noFill/>
          <a:ln/>
        </p:spPr>
        <p:txBody>
          <a:bodyPr wrap="square" lIns="0" tIns="0" rIns="0" bIns="0" rtlCol="0" anchor="ctr"/>
          <a:lstStyle/>
          <a:p>
            <a:pPr indent="0" marL="0">
              <a:buNone/>
            </a:pPr>
            <a:r>
              <a:rPr lang="en-US" sz="1400" b="1" dirty="0">
                <a:solidFill>
                  <a:srgbClr val="7C3AED"/>
                </a:solidFill>
                <a:latin typeface="Trebuchet MS" pitchFamily="34" charset="0"/>
                <a:ea typeface="Trebuchet MS" pitchFamily="34" charset="-122"/>
                <a:cs typeface="Trebuchet MS" pitchFamily="34" charset="-120"/>
              </a:rPr>
              <a:t>Anthropic Tool Use</a:t>
            </a:r>
            <a:endParaRPr lang="en-US" sz="1400" dirty="0"/>
          </a:p>
        </p:txBody>
      </p:sp>
      <p:sp>
        <p:nvSpPr>
          <p:cNvPr id="11" name="Text 9"/>
          <p:cNvSpPr/>
          <p:nvPr/>
        </p:nvSpPr>
        <p:spPr>
          <a:xfrm>
            <a:off x="822960" y="2377440"/>
            <a:ext cx="7589520" cy="36576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Similar to function calling with input_schema. Supports tool_choice for forcing specific tools. Used by Claude models.</a:t>
            </a:r>
            <a:endParaRPr lang="en-US" sz="1150" dirty="0"/>
          </a:p>
        </p:txBody>
      </p:sp>
      <p:sp>
        <p:nvSpPr>
          <p:cNvPr id="12" name="Shape 10"/>
          <p:cNvSpPr/>
          <p:nvPr/>
        </p:nvSpPr>
        <p:spPr>
          <a:xfrm>
            <a:off x="548640" y="3017520"/>
            <a:ext cx="8046720" cy="822960"/>
          </a:xfrm>
          <a:prstGeom prst="rect">
            <a:avLst/>
          </a:prstGeom>
          <a:solidFill>
            <a:srgbClr val="162D50"/>
          </a:solidFill>
          <a:ln/>
        </p:spPr>
      </p:sp>
      <p:sp>
        <p:nvSpPr>
          <p:cNvPr id="13" name="Shape 11"/>
          <p:cNvSpPr/>
          <p:nvPr/>
        </p:nvSpPr>
        <p:spPr>
          <a:xfrm>
            <a:off x="548640" y="3017520"/>
            <a:ext cx="73152" cy="822960"/>
          </a:xfrm>
          <a:prstGeom prst="rect">
            <a:avLst/>
          </a:prstGeom>
          <a:solidFill>
            <a:srgbClr val="10B981"/>
          </a:solidFill>
          <a:ln/>
        </p:spPr>
      </p:sp>
      <p:sp>
        <p:nvSpPr>
          <p:cNvPr id="14" name="Text 12"/>
          <p:cNvSpPr/>
          <p:nvPr/>
        </p:nvSpPr>
        <p:spPr>
          <a:xfrm>
            <a:off x="822960" y="3063240"/>
            <a:ext cx="3657600" cy="274320"/>
          </a:xfrm>
          <a:prstGeom prst="rect">
            <a:avLst/>
          </a:prstGeom>
          <a:noFill/>
          <a:ln/>
        </p:spPr>
        <p:txBody>
          <a:bodyPr wrap="square" lIns="0" tIns="0" rIns="0" bIns="0" rtlCol="0" anchor="ctr"/>
          <a:lstStyle/>
          <a:p>
            <a:pPr indent="0" marL="0">
              <a:buNone/>
            </a:pPr>
            <a:r>
              <a:rPr lang="en-US" sz="1400" b="1" dirty="0">
                <a:solidFill>
                  <a:srgbClr val="10B981"/>
                </a:solidFill>
                <a:latin typeface="Trebuchet MS" pitchFamily="34" charset="0"/>
                <a:ea typeface="Trebuchet MS" pitchFamily="34" charset="-122"/>
                <a:cs typeface="Trebuchet MS" pitchFamily="34" charset="-120"/>
              </a:rPr>
              <a:t>Model Context Protocol (MCP)</a:t>
            </a:r>
            <a:endParaRPr lang="en-US" sz="1400" dirty="0"/>
          </a:p>
        </p:txBody>
      </p:sp>
      <p:sp>
        <p:nvSpPr>
          <p:cNvPr id="15" name="Text 13"/>
          <p:cNvSpPr/>
          <p:nvPr/>
        </p:nvSpPr>
        <p:spPr>
          <a:xfrm>
            <a:off x="822960" y="3383280"/>
            <a:ext cx="7589520" cy="36576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Open standard by Anthropic for tool server interoperability. Enables plug-and-play tool ecosystems across LLM providers.</a:t>
            </a:r>
            <a:endParaRPr lang="en-US" sz="1150" dirty="0"/>
          </a:p>
        </p:txBody>
      </p:sp>
      <p:sp>
        <p:nvSpPr>
          <p:cNvPr id="16" name="Shape 14"/>
          <p:cNvSpPr/>
          <p:nvPr/>
        </p:nvSpPr>
        <p:spPr>
          <a:xfrm>
            <a:off x="548640" y="4023360"/>
            <a:ext cx="8046720" cy="822960"/>
          </a:xfrm>
          <a:prstGeom prst="rect">
            <a:avLst/>
          </a:prstGeom>
          <a:solidFill>
            <a:srgbClr val="162D50"/>
          </a:solidFill>
          <a:ln/>
        </p:spPr>
      </p:sp>
      <p:sp>
        <p:nvSpPr>
          <p:cNvPr id="17" name="Shape 15"/>
          <p:cNvSpPr/>
          <p:nvPr/>
        </p:nvSpPr>
        <p:spPr>
          <a:xfrm>
            <a:off x="548640" y="4023360"/>
            <a:ext cx="73152" cy="822960"/>
          </a:xfrm>
          <a:prstGeom prst="rect">
            <a:avLst/>
          </a:prstGeom>
          <a:solidFill>
            <a:srgbClr val="F59E0B"/>
          </a:solidFill>
          <a:ln/>
        </p:spPr>
      </p:sp>
      <p:sp>
        <p:nvSpPr>
          <p:cNvPr id="18" name="Text 16"/>
          <p:cNvSpPr/>
          <p:nvPr/>
        </p:nvSpPr>
        <p:spPr>
          <a:xfrm>
            <a:off x="822960" y="4069080"/>
            <a:ext cx="3657600" cy="274320"/>
          </a:xfrm>
          <a:prstGeom prst="rect">
            <a:avLst/>
          </a:prstGeom>
          <a:noFill/>
          <a:ln/>
        </p:spPr>
        <p:txBody>
          <a:bodyPr wrap="square" lIns="0" tIns="0" rIns="0" bIns="0" rtlCol="0" anchor="ctr"/>
          <a:lstStyle/>
          <a:p>
            <a:pPr indent="0" marL="0">
              <a:buNone/>
            </a:pPr>
            <a:r>
              <a:rPr lang="en-US" sz="1400" b="1" dirty="0">
                <a:solidFill>
                  <a:srgbClr val="F59E0B"/>
                </a:solidFill>
                <a:latin typeface="Trebuchet MS" pitchFamily="34" charset="0"/>
                <a:ea typeface="Trebuchet MS" pitchFamily="34" charset="-122"/>
                <a:cs typeface="Trebuchet MS" pitchFamily="34" charset="-120"/>
              </a:rPr>
              <a:t>LangChain Tools</a:t>
            </a:r>
            <a:endParaRPr lang="en-US" sz="1400" dirty="0"/>
          </a:p>
        </p:txBody>
      </p:sp>
      <p:sp>
        <p:nvSpPr>
          <p:cNvPr id="19" name="Text 17"/>
          <p:cNvSpPr/>
          <p:nvPr/>
        </p:nvSpPr>
        <p:spPr>
          <a:xfrm>
            <a:off x="822960" y="4389120"/>
            <a:ext cx="7589520" cy="36576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Abstraction layer over multiple providers. Defines tools as Python functions with @tool decorator. Enables tool routing.</a:t>
            </a:r>
            <a:endParaRPr lang="en-US" sz="1150" dirty="0"/>
          </a:p>
        </p:txBody>
      </p:sp>
      <p:sp>
        <p:nvSpPr>
          <p:cNvPr id="20" name="Text 18"/>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23 / 33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2103120"/>
            <a:ext cx="9144000" cy="13716"/>
          </a:xfrm>
          <a:prstGeom prst="rect">
            <a:avLst/>
          </a:prstGeom>
          <a:solidFill>
            <a:srgbClr val="EC4899">
              <a:alpha val="70000"/>
            </a:srgbClr>
          </a:solidFill>
          <a:ln/>
        </p:spPr>
      </p:sp>
      <p:pic>
        <p:nvPicPr>
          <p:cNvPr id="3" name="Image 0" descr="preencoded.png">    </p:cNvPr>
          <p:cNvPicPr>
            <a:picLocks noChangeAspect="1"/>
          </p:cNvPicPr>
          <p:nvPr/>
        </p:nvPicPr>
        <p:blipFill>
          <a:blip r:embed="rId1"/>
          <a:stretch>
            <a:fillRect/>
          </a:stretch>
        </p:blipFill>
        <p:spPr>
          <a:xfrm>
            <a:off x="4069080" y="1005840"/>
            <a:ext cx="1005840" cy="1005840"/>
          </a:xfrm>
          <a:prstGeom prst="rect">
            <a:avLst/>
          </a:prstGeom>
        </p:spPr>
      </p:pic>
      <p:sp>
        <p:nvSpPr>
          <p:cNvPr id="4" name="Text 1"/>
          <p:cNvSpPr/>
          <p:nvPr/>
        </p:nvSpPr>
        <p:spPr>
          <a:xfrm>
            <a:off x="914400" y="2331720"/>
            <a:ext cx="73152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Multi-Agent Collaboration</a:t>
            </a:r>
            <a:endParaRPr lang="en-US" sz="3400" dirty="0"/>
          </a:p>
        </p:txBody>
      </p:sp>
      <p:sp>
        <p:nvSpPr>
          <p:cNvPr id="5" name="Text 2"/>
          <p:cNvSpPr/>
          <p:nvPr/>
        </p:nvSpPr>
        <p:spPr>
          <a:xfrm>
            <a:off x="914400" y="2971800"/>
            <a:ext cx="7315200" cy="365760"/>
          </a:xfrm>
          <a:prstGeom prst="rect">
            <a:avLst/>
          </a:prstGeom>
          <a:noFill/>
          <a:ln/>
        </p:spPr>
        <p:txBody>
          <a:bodyPr wrap="square" rtlCol="0" anchor="ctr"/>
          <a:lstStyle/>
          <a:p>
            <a:pPr algn="ctr" indent="0" marL="0">
              <a:buNone/>
            </a:pPr>
            <a:r>
              <a:rPr lang="en-US" sz="1600" dirty="0">
                <a:solidFill>
                  <a:srgbClr val="EC4899"/>
                </a:solidFill>
                <a:latin typeface="Calibri" pitchFamily="34" charset="0"/>
                <a:ea typeface="Calibri" pitchFamily="34" charset="-122"/>
                <a:cs typeface="Calibri" pitchFamily="34" charset="-120"/>
              </a:rPr>
              <a:t>Specialized Agents Working in Concert</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24 / 33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4899"/>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Multi-Agent — Topologies &amp; Architecture</a:t>
            </a:r>
            <a:endParaRPr lang="en-US" sz="2600" dirty="0"/>
          </a:p>
        </p:txBody>
      </p:sp>
      <p:sp>
        <p:nvSpPr>
          <p:cNvPr id="4" name="Text 2"/>
          <p:cNvSpPr/>
          <p:nvPr/>
        </p:nvSpPr>
        <p:spPr>
          <a:xfrm>
            <a:off x="457200" y="914400"/>
            <a:ext cx="8229600" cy="640080"/>
          </a:xfrm>
          <a:prstGeom prst="rect">
            <a:avLst/>
          </a:prstGeom>
          <a:noFill/>
          <a:ln/>
        </p:spPr>
        <p:txBody>
          <a:bodyPr wrap="square"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Multiple specialized LLM agents collaborate to solve complex tasks. Each agent has a focused role, system prompt, tool access, and expertise. Communication follows defined topologies for message passing and task coordination.</a:t>
            </a:r>
            <a:endParaRPr lang="en-US" sz="1300" dirty="0"/>
          </a:p>
        </p:txBody>
      </p:sp>
      <p:sp>
        <p:nvSpPr>
          <p:cNvPr id="5" name="Shape 3"/>
          <p:cNvSpPr/>
          <p:nvPr/>
        </p:nvSpPr>
        <p:spPr>
          <a:xfrm>
            <a:off x="274320" y="1737360"/>
            <a:ext cx="2011680" cy="2926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274320" y="1737360"/>
            <a:ext cx="2011680" cy="54864"/>
          </a:xfrm>
          <a:prstGeom prst="rect">
            <a:avLst/>
          </a:prstGeom>
          <a:solidFill>
            <a:srgbClr val="7C3AED"/>
          </a:solidFill>
          <a:ln/>
        </p:spPr>
      </p:sp>
      <p:sp>
        <p:nvSpPr>
          <p:cNvPr id="7" name="Text 5"/>
          <p:cNvSpPr/>
          <p:nvPr/>
        </p:nvSpPr>
        <p:spPr>
          <a:xfrm>
            <a:off x="274320" y="1965960"/>
            <a:ext cx="2011680" cy="320040"/>
          </a:xfrm>
          <a:prstGeom prst="rect">
            <a:avLst/>
          </a:prstGeom>
          <a:noFill/>
          <a:ln/>
        </p:spPr>
        <p:txBody>
          <a:bodyPr wrap="square" lIns="0" tIns="0" rIns="0" bIns="0" rtlCol="0" anchor="ctr"/>
          <a:lstStyle/>
          <a:p>
            <a:pPr algn="ctr" indent="0" marL="0">
              <a:buNone/>
            </a:pPr>
            <a:r>
              <a:rPr lang="en-US" sz="1500" b="1" dirty="0">
                <a:solidFill>
                  <a:srgbClr val="7C3AED"/>
                </a:solidFill>
                <a:latin typeface="Trebuchet MS" pitchFamily="34" charset="0"/>
                <a:ea typeface="Trebuchet MS" pitchFamily="34" charset="-122"/>
                <a:cs typeface="Trebuchet MS" pitchFamily="34" charset="-120"/>
              </a:rPr>
              <a:t>Supervisor</a:t>
            </a:r>
            <a:endParaRPr lang="en-US" sz="1500" dirty="0"/>
          </a:p>
        </p:txBody>
      </p:sp>
      <p:sp>
        <p:nvSpPr>
          <p:cNvPr id="8" name="Text 6"/>
          <p:cNvSpPr/>
          <p:nvPr/>
        </p:nvSpPr>
        <p:spPr>
          <a:xfrm>
            <a:off x="384048" y="2468880"/>
            <a:ext cx="1792224" cy="1828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Central orchestrator</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routes tasks to</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specialist agents.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LangGraph pattern.</a:t>
            </a:r>
            <a:endParaRPr lang="en-US" sz="1100" dirty="0"/>
          </a:p>
        </p:txBody>
      </p:sp>
      <p:sp>
        <p:nvSpPr>
          <p:cNvPr id="9" name="Shape 7"/>
          <p:cNvSpPr/>
          <p:nvPr/>
        </p:nvSpPr>
        <p:spPr>
          <a:xfrm>
            <a:off x="2468880" y="1737360"/>
            <a:ext cx="2011680" cy="2926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2468880" y="1737360"/>
            <a:ext cx="2011680" cy="54864"/>
          </a:xfrm>
          <a:prstGeom prst="rect">
            <a:avLst/>
          </a:prstGeom>
          <a:solidFill>
            <a:srgbClr val="00D4FF"/>
          </a:solidFill>
          <a:ln/>
        </p:spPr>
      </p:sp>
      <p:sp>
        <p:nvSpPr>
          <p:cNvPr id="11" name="Text 9"/>
          <p:cNvSpPr/>
          <p:nvPr/>
        </p:nvSpPr>
        <p:spPr>
          <a:xfrm>
            <a:off x="2468880" y="1965960"/>
            <a:ext cx="2011680" cy="320040"/>
          </a:xfrm>
          <a:prstGeom prst="rect">
            <a:avLst/>
          </a:prstGeom>
          <a:noFill/>
          <a:ln/>
        </p:spPr>
        <p:txBody>
          <a:bodyPr wrap="square" lIns="0" tIns="0" rIns="0" bIns="0" rtlCol="0" anchor="ctr"/>
          <a:lstStyle/>
          <a:p>
            <a:pPr algn="ctr" indent="0" marL="0">
              <a:buNone/>
            </a:pPr>
            <a:r>
              <a:rPr lang="en-US" sz="1500" b="1" dirty="0">
                <a:solidFill>
                  <a:srgbClr val="00D4FF"/>
                </a:solidFill>
                <a:latin typeface="Trebuchet MS" pitchFamily="34" charset="0"/>
                <a:ea typeface="Trebuchet MS" pitchFamily="34" charset="-122"/>
                <a:cs typeface="Trebuchet MS" pitchFamily="34" charset="-120"/>
              </a:rPr>
              <a:t>Hierarchical</a:t>
            </a:r>
            <a:endParaRPr lang="en-US" sz="1500" dirty="0"/>
          </a:p>
        </p:txBody>
      </p:sp>
      <p:sp>
        <p:nvSpPr>
          <p:cNvPr id="12" name="Text 10"/>
          <p:cNvSpPr/>
          <p:nvPr/>
        </p:nvSpPr>
        <p:spPr>
          <a:xfrm>
            <a:off x="2578608" y="2468880"/>
            <a:ext cx="1792224" cy="1828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Multi-level supervisors.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Top-level delegates to</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mid-level teams who</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manage worker agents.</a:t>
            </a:r>
            <a:endParaRPr lang="en-US" sz="1100" dirty="0"/>
          </a:p>
        </p:txBody>
      </p:sp>
      <p:sp>
        <p:nvSpPr>
          <p:cNvPr id="13" name="Shape 11"/>
          <p:cNvSpPr/>
          <p:nvPr/>
        </p:nvSpPr>
        <p:spPr>
          <a:xfrm>
            <a:off x="4663440" y="1737360"/>
            <a:ext cx="2011680" cy="2926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663440" y="1737360"/>
            <a:ext cx="2011680" cy="54864"/>
          </a:xfrm>
          <a:prstGeom prst="rect">
            <a:avLst/>
          </a:prstGeom>
          <a:solidFill>
            <a:srgbClr val="EC4899"/>
          </a:solidFill>
          <a:ln/>
        </p:spPr>
      </p:sp>
      <p:sp>
        <p:nvSpPr>
          <p:cNvPr id="15" name="Text 13"/>
          <p:cNvSpPr/>
          <p:nvPr/>
        </p:nvSpPr>
        <p:spPr>
          <a:xfrm>
            <a:off x="4663440" y="1965960"/>
            <a:ext cx="2011680" cy="320040"/>
          </a:xfrm>
          <a:prstGeom prst="rect">
            <a:avLst/>
          </a:prstGeom>
          <a:noFill/>
          <a:ln/>
        </p:spPr>
        <p:txBody>
          <a:bodyPr wrap="square" lIns="0" tIns="0" rIns="0" bIns="0" rtlCol="0" anchor="ctr"/>
          <a:lstStyle/>
          <a:p>
            <a:pPr algn="ctr" indent="0" marL="0">
              <a:buNone/>
            </a:pPr>
            <a:r>
              <a:rPr lang="en-US" sz="1500" b="1" dirty="0">
                <a:solidFill>
                  <a:srgbClr val="EC4899"/>
                </a:solidFill>
                <a:latin typeface="Trebuchet MS" pitchFamily="34" charset="0"/>
                <a:ea typeface="Trebuchet MS" pitchFamily="34" charset="-122"/>
                <a:cs typeface="Trebuchet MS" pitchFamily="34" charset="-120"/>
              </a:rPr>
              <a:t>Swarm</a:t>
            </a:r>
            <a:endParaRPr lang="en-US" sz="1500" dirty="0"/>
          </a:p>
        </p:txBody>
      </p:sp>
      <p:sp>
        <p:nvSpPr>
          <p:cNvPr id="16" name="Text 14"/>
          <p:cNvSpPr/>
          <p:nvPr/>
        </p:nvSpPr>
        <p:spPr>
          <a:xfrm>
            <a:off x="4773168" y="2468880"/>
            <a:ext cx="1792224" cy="1828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Peer-to-peer handoffs.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Agents transfer control</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based on task context.</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OpenAI Swarm model.</a:t>
            </a:r>
            <a:endParaRPr lang="en-US" sz="1100" dirty="0"/>
          </a:p>
        </p:txBody>
      </p:sp>
      <p:sp>
        <p:nvSpPr>
          <p:cNvPr id="17" name="Shape 15"/>
          <p:cNvSpPr/>
          <p:nvPr/>
        </p:nvSpPr>
        <p:spPr>
          <a:xfrm>
            <a:off x="6858000" y="1737360"/>
            <a:ext cx="2011680" cy="2926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Shape 16"/>
          <p:cNvSpPr/>
          <p:nvPr/>
        </p:nvSpPr>
        <p:spPr>
          <a:xfrm>
            <a:off x="6858000" y="1737360"/>
            <a:ext cx="2011680" cy="54864"/>
          </a:xfrm>
          <a:prstGeom prst="rect">
            <a:avLst/>
          </a:prstGeom>
          <a:solidFill>
            <a:srgbClr val="F59E0B"/>
          </a:solidFill>
          <a:ln/>
        </p:spPr>
      </p:sp>
      <p:sp>
        <p:nvSpPr>
          <p:cNvPr id="19" name="Text 17"/>
          <p:cNvSpPr/>
          <p:nvPr/>
        </p:nvSpPr>
        <p:spPr>
          <a:xfrm>
            <a:off x="6858000" y="1965960"/>
            <a:ext cx="2011680" cy="320040"/>
          </a:xfrm>
          <a:prstGeom prst="rect">
            <a:avLst/>
          </a:prstGeom>
          <a:noFill/>
          <a:ln/>
        </p:spPr>
        <p:txBody>
          <a:bodyPr wrap="square" lIns="0" tIns="0" rIns="0" bIns="0" rtlCol="0" anchor="ctr"/>
          <a:lstStyle/>
          <a:p>
            <a:pPr algn="ctr" indent="0" marL="0">
              <a:buNone/>
            </a:pPr>
            <a:r>
              <a:rPr lang="en-US" sz="1500" b="1" dirty="0">
                <a:solidFill>
                  <a:srgbClr val="F59E0B"/>
                </a:solidFill>
                <a:latin typeface="Trebuchet MS" pitchFamily="34" charset="0"/>
                <a:ea typeface="Trebuchet MS" pitchFamily="34" charset="-122"/>
                <a:cs typeface="Trebuchet MS" pitchFamily="34" charset="-120"/>
              </a:rPr>
              <a:t>Debate</a:t>
            </a:r>
            <a:endParaRPr lang="en-US" sz="1500" dirty="0"/>
          </a:p>
        </p:txBody>
      </p:sp>
      <p:sp>
        <p:nvSpPr>
          <p:cNvPr id="20" name="Text 18"/>
          <p:cNvSpPr/>
          <p:nvPr/>
        </p:nvSpPr>
        <p:spPr>
          <a:xfrm>
            <a:off x="6967728" y="2468880"/>
            <a:ext cx="1792224" cy="1828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Agents argue opposing</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positions. A judge agent</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synthesizes consensus.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Improves accuracy.</a:t>
            </a:r>
            <a:endParaRPr lang="en-US" sz="1100" dirty="0"/>
          </a:p>
        </p:txBody>
      </p:sp>
      <p:sp>
        <p:nvSpPr>
          <p:cNvPr id="21" name="Text 19"/>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 / 33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C4899"/>
          </a:solidFill>
          <a:ln/>
        </p:spPr>
      </p:sp>
      <p:sp>
        <p:nvSpPr>
          <p:cNvPr id="3" name="Text 1"/>
          <p:cNvSpPr/>
          <p:nvPr/>
        </p:nvSpPr>
        <p:spPr>
          <a:xfrm>
            <a:off x="548640" y="27432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Multi-Agent — Frameworks &amp; Use Cases</a:t>
            </a:r>
            <a:endParaRPr lang="en-US" sz="2600" dirty="0"/>
          </a:p>
        </p:txBody>
      </p:sp>
      <p:sp>
        <p:nvSpPr>
          <p:cNvPr id="4" name="Text 2"/>
          <p:cNvSpPr/>
          <p:nvPr/>
        </p:nvSpPr>
        <p:spPr>
          <a:xfrm>
            <a:off x="548640" y="1005840"/>
            <a:ext cx="1645920" cy="27432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LangGraph</a:t>
            </a:r>
            <a:endParaRPr lang="en-US" sz="1300" dirty="0"/>
          </a:p>
        </p:txBody>
      </p:sp>
      <p:sp>
        <p:nvSpPr>
          <p:cNvPr id="5" name="Text 3"/>
          <p:cNvSpPr/>
          <p:nvPr/>
        </p:nvSpPr>
        <p:spPr>
          <a:xfrm>
            <a:off x="2286000" y="1005840"/>
            <a:ext cx="640080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State graph with supervisor nodes and conditional routing. Most production-ready.</a:t>
            </a:r>
            <a:endParaRPr lang="en-US" sz="1150" dirty="0"/>
          </a:p>
        </p:txBody>
      </p:sp>
      <p:sp>
        <p:nvSpPr>
          <p:cNvPr id="6" name="Text 4"/>
          <p:cNvSpPr/>
          <p:nvPr/>
        </p:nvSpPr>
        <p:spPr>
          <a:xfrm>
            <a:off x="548640" y="1554480"/>
            <a:ext cx="1645920" cy="274320"/>
          </a:xfrm>
          <a:prstGeom prst="rect">
            <a:avLst/>
          </a:prstGeom>
          <a:noFill/>
          <a:ln/>
        </p:spPr>
        <p:txBody>
          <a:bodyPr wrap="square" lIns="0" tIns="0" rIns="0" bIns="0" rtlCol="0" anchor="ctr"/>
          <a:lstStyle/>
          <a:p>
            <a:pPr indent="0" marL="0">
              <a:buNone/>
            </a:pPr>
            <a:r>
              <a:rPr lang="en-US" sz="1300" b="1" dirty="0">
                <a:solidFill>
                  <a:srgbClr val="7C3AED"/>
                </a:solidFill>
                <a:latin typeface="Consolas" pitchFamily="34" charset="0"/>
                <a:ea typeface="Consolas" pitchFamily="34" charset="-122"/>
                <a:cs typeface="Consolas" pitchFamily="34" charset="-120"/>
              </a:rPr>
              <a:t>CrewAI</a:t>
            </a:r>
            <a:endParaRPr lang="en-US" sz="1300" dirty="0"/>
          </a:p>
        </p:txBody>
      </p:sp>
      <p:sp>
        <p:nvSpPr>
          <p:cNvPr id="7" name="Text 5"/>
          <p:cNvSpPr/>
          <p:nvPr/>
        </p:nvSpPr>
        <p:spPr>
          <a:xfrm>
            <a:off x="2286000" y="1554480"/>
            <a:ext cx="640080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Role-based agents with process flows (sequential, hierarchical). Easy setup.</a:t>
            </a:r>
            <a:endParaRPr lang="en-US" sz="1150" dirty="0"/>
          </a:p>
        </p:txBody>
      </p:sp>
      <p:sp>
        <p:nvSpPr>
          <p:cNvPr id="8" name="Text 6"/>
          <p:cNvSpPr/>
          <p:nvPr/>
        </p:nvSpPr>
        <p:spPr>
          <a:xfrm>
            <a:off x="548640" y="2103120"/>
            <a:ext cx="1645920" cy="274320"/>
          </a:xfrm>
          <a:prstGeom prst="rect">
            <a:avLst/>
          </a:prstGeom>
          <a:noFill/>
          <a:ln/>
        </p:spPr>
        <p:txBody>
          <a:bodyPr wrap="square" lIns="0" tIns="0" rIns="0" bIns="0" rtlCol="0" anchor="ctr"/>
          <a:lstStyle/>
          <a:p>
            <a:pPr indent="0" marL="0">
              <a:buNone/>
            </a:pPr>
            <a:r>
              <a:rPr lang="en-US" sz="1300" b="1" dirty="0">
                <a:solidFill>
                  <a:srgbClr val="10B981"/>
                </a:solidFill>
                <a:latin typeface="Consolas" pitchFamily="34" charset="0"/>
                <a:ea typeface="Consolas" pitchFamily="34" charset="-122"/>
                <a:cs typeface="Consolas" pitchFamily="34" charset="-120"/>
              </a:rPr>
              <a:t>AutoGen</a:t>
            </a:r>
            <a:endParaRPr lang="en-US" sz="1300" dirty="0"/>
          </a:p>
        </p:txBody>
      </p:sp>
      <p:sp>
        <p:nvSpPr>
          <p:cNvPr id="9" name="Text 7"/>
          <p:cNvSpPr/>
          <p:nvPr/>
        </p:nvSpPr>
        <p:spPr>
          <a:xfrm>
            <a:off x="2286000" y="2103120"/>
            <a:ext cx="640080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Conversational agents with nested chats and group chat manager.</a:t>
            </a:r>
            <a:endParaRPr lang="en-US" sz="1150" dirty="0"/>
          </a:p>
        </p:txBody>
      </p:sp>
      <p:sp>
        <p:nvSpPr>
          <p:cNvPr id="10" name="Text 8"/>
          <p:cNvSpPr/>
          <p:nvPr/>
        </p:nvSpPr>
        <p:spPr>
          <a:xfrm>
            <a:off x="548640" y="2651760"/>
            <a:ext cx="1645920" cy="274320"/>
          </a:xfrm>
          <a:prstGeom prst="rect">
            <a:avLst/>
          </a:prstGeom>
          <a:noFill/>
          <a:ln/>
        </p:spPr>
        <p:txBody>
          <a:bodyPr wrap="square" lIns="0" tIns="0" rIns="0" bIns="0" rtlCol="0" anchor="ctr"/>
          <a:lstStyle/>
          <a:p>
            <a:pPr indent="0" marL="0">
              <a:buNone/>
            </a:pPr>
            <a:r>
              <a:rPr lang="en-US" sz="1300" b="1" dirty="0">
                <a:solidFill>
                  <a:srgbClr val="F59E0B"/>
                </a:solidFill>
                <a:latin typeface="Consolas" pitchFamily="34" charset="0"/>
                <a:ea typeface="Consolas" pitchFamily="34" charset="-122"/>
                <a:cs typeface="Consolas" pitchFamily="34" charset="-120"/>
              </a:rPr>
              <a:t>OpenAI Swarm</a:t>
            </a:r>
            <a:endParaRPr lang="en-US" sz="1300" dirty="0"/>
          </a:p>
        </p:txBody>
      </p:sp>
      <p:sp>
        <p:nvSpPr>
          <p:cNvPr id="11" name="Text 9"/>
          <p:cNvSpPr/>
          <p:nvPr/>
        </p:nvSpPr>
        <p:spPr>
          <a:xfrm>
            <a:off x="2286000" y="2651760"/>
            <a:ext cx="6400800" cy="411480"/>
          </a:xfrm>
          <a:prstGeom prst="rect">
            <a:avLst/>
          </a:prstGeom>
          <a:noFill/>
          <a:ln/>
        </p:spPr>
        <p:txBody>
          <a:bodyPr wrap="square" lIns="0" tIns="0" rIns="0" bIns="0" rtlCol="0" anchor="ctr"/>
          <a:lstStyle/>
          <a:p>
            <a:pPr indent="0" marL="0">
              <a:buNone/>
            </a:pPr>
            <a:r>
              <a:rPr lang="en-US" sz="1150" dirty="0">
                <a:solidFill>
                  <a:srgbClr val="B8C9E0"/>
                </a:solidFill>
                <a:latin typeface="Calibri" pitchFamily="34" charset="0"/>
                <a:ea typeface="Calibri" pitchFamily="34" charset="-122"/>
                <a:cs typeface="Calibri" pitchFamily="34" charset="-120"/>
              </a:rPr>
              <a:t>Lightweight handoff-based agent framework. Experimental but elegant.</a:t>
            </a:r>
            <a:endParaRPr lang="en-US" sz="1150" dirty="0"/>
          </a:p>
        </p:txBody>
      </p:sp>
      <p:sp>
        <p:nvSpPr>
          <p:cNvPr id="12" name="Shape 10"/>
          <p:cNvSpPr/>
          <p:nvPr/>
        </p:nvSpPr>
        <p:spPr>
          <a:xfrm>
            <a:off x="548640" y="3291840"/>
            <a:ext cx="8046720" cy="13716"/>
          </a:xfrm>
          <a:prstGeom prst="rect">
            <a:avLst/>
          </a:prstGeom>
          <a:solidFill>
            <a:srgbClr val="EC4899">
              <a:alpha val="50000"/>
            </a:srgbClr>
          </a:solidFill>
          <a:ln/>
        </p:spPr>
      </p:sp>
      <p:sp>
        <p:nvSpPr>
          <p:cNvPr id="13" name="Text 11"/>
          <p:cNvSpPr/>
          <p:nvPr/>
        </p:nvSpPr>
        <p:spPr>
          <a:xfrm>
            <a:off x="548640" y="3474720"/>
            <a:ext cx="4572000" cy="274320"/>
          </a:xfrm>
          <a:prstGeom prst="rect">
            <a:avLst/>
          </a:prstGeom>
          <a:noFill/>
          <a:ln/>
        </p:spPr>
        <p:txBody>
          <a:bodyPr wrap="square" lIns="0" tIns="0" rIns="0" bIns="0" rtlCol="0" anchor="ctr"/>
          <a:lstStyle/>
          <a:p>
            <a:pPr indent="0" marL="0">
              <a:buNone/>
            </a:pPr>
            <a:r>
              <a:rPr lang="en-US" sz="1400" b="1" dirty="0">
                <a:solidFill>
                  <a:srgbClr val="EC4899"/>
                </a:solidFill>
                <a:latin typeface="Trebuchet MS" pitchFamily="34" charset="0"/>
                <a:ea typeface="Trebuchet MS" pitchFamily="34" charset="-122"/>
                <a:cs typeface="Trebuchet MS" pitchFamily="34" charset="-120"/>
              </a:rPr>
              <a:t>Enterprise Use Cases</a:t>
            </a:r>
            <a:endParaRPr lang="en-US" sz="1400" dirty="0"/>
          </a:p>
        </p:txBody>
      </p:sp>
      <p:sp>
        <p:nvSpPr>
          <p:cNvPr id="14" name="Text 12"/>
          <p:cNvSpPr/>
          <p:nvPr/>
        </p:nvSpPr>
        <p:spPr>
          <a:xfrm>
            <a:off x="548640" y="3840480"/>
            <a:ext cx="8046720" cy="292608"/>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  Software development teams (Coder + Reviewer + Tester agents)</a:t>
            </a:r>
            <a:endParaRPr lang="en-US" sz="1200" dirty="0"/>
          </a:p>
        </p:txBody>
      </p:sp>
      <p:sp>
        <p:nvSpPr>
          <p:cNvPr id="15" name="Text 13"/>
          <p:cNvSpPr/>
          <p:nvPr/>
        </p:nvSpPr>
        <p:spPr>
          <a:xfrm>
            <a:off x="548640" y="4187952"/>
            <a:ext cx="8046720" cy="292608"/>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  Financial analysis (Data Agent + Analyst Agent + Report Agent)</a:t>
            </a:r>
            <a:endParaRPr lang="en-US" sz="1200" dirty="0"/>
          </a:p>
        </p:txBody>
      </p:sp>
      <p:sp>
        <p:nvSpPr>
          <p:cNvPr id="16" name="Text 14"/>
          <p:cNvSpPr/>
          <p:nvPr/>
        </p:nvSpPr>
        <p:spPr>
          <a:xfrm>
            <a:off x="548640" y="4535424"/>
            <a:ext cx="8046720" cy="292608"/>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  Customer support (Router + Specialist agents per domain)</a:t>
            </a:r>
            <a:endParaRPr lang="en-US" sz="1200" dirty="0"/>
          </a:p>
        </p:txBody>
      </p:sp>
      <p:sp>
        <p:nvSpPr>
          <p:cNvPr id="17" name="Text 15"/>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26 / 33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2440"/>
        </a:solidFill>
      </p:bgPr>
    </p:bg>
    <p:spTree>
      <p:nvGrpSpPr>
        <p:cNvPr id="1" name=""/>
        <p:cNvGrpSpPr/>
        <p:nvPr/>
      </p:nvGrpSpPr>
      <p:grpSpPr>
        <a:xfrm>
          <a:off x="0" y="0"/>
          <a:ext cx="0" cy="0"/>
          <a:chOff x="0" y="0"/>
          <a:chExt cx="0" cy="0"/>
        </a:xfrm>
      </p:grpSpPr>
      <p:sp>
        <p:nvSpPr>
          <p:cNvPr id="2" name="Shape 0"/>
          <p:cNvSpPr/>
          <p:nvPr/>
        </p:nvSpPr>
        <p:spPr>
          <a:xfrm>
            <a:off x="0" y="2103120"/>
            <a:ext cx="9144000" cy="13716"/>
          </a:xfrm>
          <a:prstGeom prst="rect">
            <a:avLst/>
          </a:prstGeom>
          <a:solidFill>
            <a:srgbClr val="6366F1">
              <a:alpha val="70000"/>
            </a:srgbClr>
          </a:solidFill>
          <a:ln/>
        </p:spPr>
      </p:sp>
      <p:pic>
        <p:nvPicPr>
          <p:cNvPr id="3" name="Image 0" descr="preencoded.png">    </p:cNvPr>
          <p:cNvPicPr>
            <a:picLocks noChangeAspect="1"/>
          </p:cNvPicPr>
          <p:nvPr/>
        </p:nvPicPr>
        <p:blipFill>
          <a:blip r:embed="rId1"/>
          <a:stretch>
            <a:fillRect/>
          </a:stretch>
        </p:blipFill>
        <p:spPr>
          <a:xfrm>
            <a:off x="4069080" y="1005840"/>
            <a:ext cx="1005840" cy="1005840"/>
          </a:xfrm>
          <a:prstGeom prst="rect">
            <a:avLst/>
          </a:prstGeom>
        </p:spPr>
      </p:pic>
      <p:sp>
        <p:nvSpPr>
          <p:cNvPr id="4" name="Text 1"/>
          <p:cNvSpPr/>
          <p:nvPr/>
        </p:nvSpPr>
        <p:spPr>
          <a:xfrm>
            <a:off x="914400" y="2331720"/>
            <a:ext cx="731520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LLMCompiler Pattern</a:t>
            </a:r>
            <a:endParaRPr lang="en-US" sz="3400" dirty="0"/>
          </a:p>
        </p:txBody>
      </p:sp>
      <p:sp>
        <p:nvSpPr>
          <p:cNvPr id="5" name="Text 2"/>
          <p:cNvSpPr/>
          <p:nvPr/>
        </p:nvSpPr>
        <p:spPr>
          <a:xfrm>
            <a:off x="914400" y="2971800"/>
            <a:ext cx="7315200" cy="365760"/>
          </a:xfrm>
          <a:prstGeom prst="rect">
            <a:avLst/>
          </a:prstGeom>
          <a:noFill/>
          <a:ln/>
        </p:spPr>
        <p:txBody>
          <a:bodyPr wrap="square" rtlCol="0" anchor="ctr"/>
          <a:lstStyle/>
          <a:p>
            <a:pPr algn="ctr" indent="0" marL="0">
              <a:buNone/>
            </a:pPr>
            <a:r>
              <a:rPr lang="en-US" sz="1600" dirty="0">
                <a:solidFill>
                  <a:srgbClr val="10B981"/>
                </a:solidFill>
                <a:latin typeface="Calibri" pitchFamily="34" charset="0"/>
                <a:ea typeface="Calibri" pitchFamily="34" charset="-122"/>
                <a:cs typeface="Calibri" pitchFamily="34" charset="-120"/>
              </a:rPr>
              <a:t>Parallel Function Calling with DAG Optimization</a:t>
            </a:r>
            <a:endParaRPr lang="en-US" sz="1600" dirty="0"/>
          </a:p>
        </p:txBody>
      </p:sp>
      <p:sp>
        <p:nvSpPr>
          <p:cNvPr id="6" name="Text 3"/>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27 / 33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366F1"/>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LLMCompiler — Parallel Execution Engine</a:t>
            </a:r>
            <a:endParaRPr lang="en-US" sz="2600" dirty="0"/>
          </a:p>
        </p:txBody>
      </p:sp>
      <p:sp>
        <p:nvSpPr>
          <p:cNvPr id="4" name="Text 2"/>
          <p:cNvSpPr/>
          <p:nvPr/>
        </p:nvSpPr>
        <p:spPr>
          <a:xfrm>
            <a:off x="457200" y="914400"/>
            <a:ext cx="8229600" cy="822960"/>
          </a:xfrm>
          <a:prstGeom prst="rect">
            <a:avLst/>
          </a:prstGeom>
          <a:noFill/>
          <a:ln/>
        </p:spPr>
        <p:txBody>
          <a:bodyPr wrap="square" rtlCol="0" anchor="ctr"/>
          <a:lstStyle/>
          <a:p>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LLMCompiler (Kim et al., 2024) draws from compiler theory: it generates a DAG of function calls, identifies independent tasks, and executes them in parallel. A Task Fetching Unit streams tasks to workers as dependencies are resolved, and a Joiner LLM synthesizes results — optionally triggering replanning.</a:t>
            </a:r>
            <a:endParaRPr lang="en-US" sz="1300" dirty="0"/>
          </a:p>
        </p:txBody>
      </p:sp>
      <p:sp>
        <p:nvSpPr>
          <p:cNvPr id="5" name="Shape 3"/>
          <p:cNvSpPr/>
          <p:nvPr/>
        </p:nvSpPr>
        <p:spPr>
          <a:xfrm>
            <a:off x="457200" y="2011680"/>
            <a:ext cx="260604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457200" y="2011680"/>
            <a:ext cx="2606040" cy="54864"/>
          </a:xfrm>
          <a:prstGeom prst="rect">
            <a:avLst/>
          </a:prstGeom>
          <a:solidFill>
            <a:srgbClr val="7C3AED"/>
          </a:solidFill>
          <a:ln/>
        </p:spPr>
      </p:sp>
      <p:sp>
        <p:nvSpPr>
          <p:cNvPr id="7" name="Text 5"/>
          <p:cNvSpPr/>
          <p:nvPr/>
        </p:nvSpPr>
        <p:spPr>
          <a:xfrm>
            <a:off x="457200" y="2240280"/>
            <a:ext cx="2606040" cy="502920"/>
          </a:xfrm>
          <a:prstGeom prst="rect">
            <a:avLst/>
          </a:prstGeom>
          <a:noFill/>
          <a:ln/>
        </p:spPr>
        <p:txBody>
          <a:bodyPr wrap="square" lIns="0" tIns="0" rIns="0" bIns="0" rtlCol="0" anchor="t"/>
          <a:lstStyle/>
          <a:p>
            <a:pPr algn="ctr" indent="0" marL="0">
              <a:buNone/>
            </a:pPr>
            <a:r>
              <a:rPr lang="en-US" sz="1600" b="1" dirty="0">
                <a:solidFill>
                  <a:srgbClr val="7C3AED"/>
                </a:solidFill>
                <a:latin typeface="Trebuchet MS" pitchFamily="34" charset="0"/>
                <a:ea typeface="Trebuchet MS" pitchFamily="34" charset="-122"/>
                <a:cs typeface="Trebuchet MS" pitchFamily="34" charset="-120"/>
              </a:rPr>
              <a:t>Planner</a:t>
            </a:r>
            <a:endParaRPr lang="en-US" sz="1600" dirty="0"/>
          </a:p>
        </p:txBody>
      </p:sp>
      <p:sp>
        <p:nvSpPr>
          <p:cNvPr id="8" name="Text 6"/>
          <p:cNvSpPr/>
          <p:nvPr/>
        </p:nvSpPr>
        <p:spPr>
          <a:xfrm>
            <a:off x="594360" y="2880360"/>
            <a:ext cx="2331720" cy="1371600"/>
          </a:xfrm>
          <a:prstGeom prst="rect">
            <a:avLst/>
          </a:prstGeom>
          <a:noFill/>
          <a:ln/>
        </p:spPr>
        <p:txBody>
          <a:bodyPr wrap="square"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Generates DAG with dependency</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graph. Identifies parallelizable</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tasks using $-variable notation.</a:t>
            </a:r>
            <a:endParaRPr lang="en-US" sz="1150" dirty="0"/>
          </a:p>
        </p:txBody>
      </p:sp>
      <p:sp>
        <p:nvSpPr>
          <p:cNvPr id="9" name="Text 7"/>
          <p:cNvSpPr/>
          <p:nvPr/>
        </p:nvSpPr>
        <p:spPr>
          <a:xfrm>
            <a:off x="3017520" y="2926080"/>
            <a:ext cx="411480" cy="457200"/>
          </a:xfrm>
          <a:prstGeom prst="rect">
            <a:avLst/>
          </a:prstGeom>
          <a:noFill/>
          <a:ln/>
        </p:spPr>
        <p:txBody>
          <a:bodyPr wrap="square" rtlCol="0" anchor="ctr"/>
          <a:lstStyle/>
          <a:p>
            <a:pPr algn="ctr" indent="0" marL="0">
              <a:buNone/>
            </a:pPr>
            <a:r>
              <a:rPr lang="en-US" sz="2200" dirty="0">
                <a:solidFill>
                  <a:srgbClr val="64748B"/>
                </a:solidFill>
              </a:rPr>
              <a:t>→</a:t>
            </a:r>
            <a:endParaRPr lang="en-US" sz="2200" dirty="0"/>
          </a:p>
        </p:txBody>
      </p:sp>
      <p:sp>
        <p:nvSpPr>
          <p:cNvPr id="10" name="Shape 8"/>
          <p:cNvSpPr/>
          <p:nvPr/>
        </p:nvSpPr>
        <p:spPr>
          <a:xfrm>
            <a:off x="3337560" y="2011680"/>
            <a:ext cx="260604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3337560" y="2011680"/>
            <a:ext cx="2606040" cy="54864"/>
          </a:xfrm>
          <a:prstGeom prst="rect">
            <a:avLst/>
          </a:prstGeom>
          <a:solidFill>
            <a:srgbClr val="00D4FF"/>
          </a:solidFill>
          <a:ln/>
        </p:spPr>
      </p:sp>
      <p:sp>
        <p:nvSpPr>
          <p:cNvPr id="12" name="Text 10"/>
          <p:cNvSpPr/>
          <p:nvPr/>
        </p:nvSpPr>
        <p:spPr>
          <a:xfrm>
            <a:off x="3337560" y="2240280"/>
            <a:ext cx="2606040" cy="502920"/>
          </a:xfrm>
          <a:prstGeom prst="rect">
            <a:avLst/>
          </a:prstGeom>
          <a:noFill/>
          <a:ln/>
        </p:spPr>
        <p:txBody>
          <a:bodyPr wrap="square" lIns="0" tIns="0" rIns="0" bIns="0" rtlCol="0" anchor="t"/>
          <a:lstStyle/>
          <a:p>
            <a:pPr algn="ctr" indent="0" marL="0">
              <a:buNone/>
            </a:pPr>
            <a:r>
              <a:rPr lang="en-US" sz="1600" b="1" dirty="0">
                <a:solidFill>
                  <a:srgbClr val="00D4FF"/>
                </a:solidFill>
                <a:latin typeface="Trebuchet MS" pitchFamily="34" charset="0"/>
                <a:ea typeface="Trebuchet MS" pitchFamily="34" charset="-122"/>
                <a:cs typeface="Trebuchet MS" pitchFamily="34" charset="-120"/>
              </a:rPr>
              <a:t>Task Fetching</a:t>
            </a:r>
            <a:endParaRPr lang="en-US" sz="1600" dirty="0"/>
          </a:p>
          <a:p>
            <a:pPr algn="ctr" indent="0" marL="0">
              <a:buNone/>
            </a:pPr>
            <a:r>
              <a:rPr lang="en-US" sz="1600" b="1" dirty="0">
                <a:solidFill>
                  <a:srgbClr val="00D4FF"/>
                </a:solidFill>
                <a:latin typeface="Trebuchet MS" pitchFamily="34" charset="0"/>
                <a:ea typeface="Trebuchet MS" pitchFamily="34" charset="-122"/>
                <a:cs typeface="Trebuchet MS" pitchFamily="34" charset="-120"/>
              </a:rPr>
              <a:t>Unit</a:t>
            </a:r>
            <a:endParaRPr lang="en-US" sz="1600" dirty="0"/>
          </a:p>
        </p:txBody>
      </p:sp>
      <p:sp>
        <p:nvSpPr>
          <p:cNvPr id="13" name="Text 11"/>
          <p:cNvSpPr/>
          <p:nvPr/>
        </p:nvSpPr>
        <p:spPr>
          <a:xfrm>
            <a:off x="3474720" y="2880360"/>
            <a:ext cx="2331720" cy="1371600"/>
          </a:xfrm>
          <a:prstGeom prst="rect">
            <a:avLst/>
          </a:prstGeom>
          <a:noFill/>
          <a:ln/>
        </p:spPr>
        <p:txBody>
          <a:bodyPr wrap="square"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Streams tasks to execution</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as dependencies resolve.</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Maximizes parallelism.</a:t>
            </a:r>
            <a:endParaRPr lang="en-US" sz="1150" dirty="0"/>
          </a:p>
        </p:txBody>
      </p:sp>
      <p:sp>
        <p:nvSpPr>
          <p:cNvPr id="14" name="Text 12"/>
          <p:cNvSpPr/>
          <p:nvPr/>
        </p:nvSpPr>
        <p:spPr>
          <a:xfrm>
            <a:off x="5897880" y="2926080"/>
            <a:ext cx="411480" cy="457200"/>
          </a:xfrm>
          <a:prstGeom prst="rect">
            <a:avLst/>
          </a:prstGeom>
          <a:noFill/>
          <a:ln/>
        </p:spPr>
        <p:txBody>
          <a:bodyPr wrap="square" rtlCol="0" anchor="ctr"/>
          <a:lstStyle/>
          <a:p>
            <a:pPr algn="ctr" indent="0" marL="0">
              <a:buNone/>
            </a:pPr>
            <a:r>
              <a:rPr lang="en-US" sz="2200" dirty="0">
                <a:solidFill>
                  <a:srgbClr val="64748B"/>
                </a:solidFill>
              </a:rPr>
              <a:t>→</a:t>
            </a:r>
            <a:endParaRPr lang="en-US" sz="2200" dirty="0"/>
          </a:p>
        </p:txBody>
      </p:sp>
      <p:sp>
        <p:nvSpPr>
          <p:cNvPr id="15" name="Shape 13"/>
          <p:cNvSpPr/>
          <p:nvPr/>
        </p:nvSpPr>
        <p:spPr>
          <a:xfrm>
            <a:off x="6217920" y="2011680"/>
            <a:ext cx="2606040" cy="2560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6217920" y="2011680"/>
            <a:ext cx="2606040" cy="54864"/>
          </a:xfrm>
          <a:prstGeom prst="rect">
            <a:avLst/>
          </a:prstGeom>
          <a:solidFill>
            <a:srgbClr val="10B981"/>
          </a:solidFill>
          <a:ln/>
        </p:spPr>
      </p:sp>
      <p:sp>
        <p:nvSpPr>
          <p:cNvPr id="17" name="Text 15"/>
          <p:cNvSpPr/>
          <p:nvPr/>
        </p:nvSpPr>
        <p:spPr>
          <a:xfrm>
            <a:off x="6217920" y="2240280"/>
            <a:ext cx="2606040" cy="502920"/>
          </a:xfrm>
          <a:prstGeom prst="rect">
            <a:avLst/>
          </a:prstGeom>
          <a:noFill/>
          <a:ln/>
        </p:spPr>
        <p:txBody>
          <a:bodyPr wrap="square" lIns="0" tIns="0" rIns="0" bIns="0" rtlCol="0" anchor="t"/>
          <a:lstStyle/>
          <a:p>
            <a:pPr algn="ctr" indent="0" marL="0">
              <a:buNone/>
            </a:pPr>
            <a:r>
              <a:rPr lang="en-US" sz="1600" b="1" dirty="0">
                <a:solidFill>
                  <a:srgbClr val="10B981"/>
                </a:solidFill>
                <a:latin typeface="Trebuchet MS" pitchFamily="34" charset="0"/>
                <a:ea typeface="Trebuchet MS" pitchFamily="34" charset="-122"/>
                <a:cs typeface="Trebuchet MS" pitchFamily="34" charset="-120"/>
              </a:rPr>
              <a:t>Joiner</a:t>
            </a:r>
            <a:endParaRPr lang="en-US" sz="1600" dirty="0"/>
          </a:p>
        </p:txBody>
      </p:sp>
      <p:sp>
        <p:nvSpPr>
          <p:cNvPr id="18" name="Text 16"/>
          <p:cNvSpPr/>
          <p:nvPr/>
        </p:nvSpPr>
        <p:spPr>
          <a:xfrm>
            <a:off x="6355080" y="2880360"/>
            <a:ext cx="2331720" cy="1371600"/>
          </a:xfrm>
          <a:prstGeom prst="rect">
            <a:avLst/>
          </a:prstGeom>
          <a:noFill/>
          <a:ln/>
        </p:spPr>
        <p:txBody>
          <a:bodyPr wrap="square"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Aggregates all results.</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Decides: final answer OR</a:t>
            </a:r>
            <a:endParaRPr lang="en-US" sz="1150" dirty="0"/>
          </a:p>
          <a:p>
            <a:pPr algn="ctr" indent="0" marL="0">
              <a:buNone/>
            </a:pPr>
            <a:r>
              <a:rPr lang="en-US" sz="1150" dirty="0">
                <a:solidFill>
                  <a:srgbClr val="64748B"/>
                </a:solidFill>
                <a:latin typeface="Calibri" pitchFamily="34" charset="0"/>
                <a:ea typeface="Calibri" pitchFamily="34" charset="-122"/>
                <a:cs typeface="Calibri" pitchFamily="34" charset="-120"/>
              </a:rPr>
              <a:t>replan with new context.</a:t>
            </a:r>
            <a:endParaRPr lang="en-US" sz="1150" dirty="0"/>
          </a:p>
        </p:txBody>
      </p:sp>
      <p:sp>
        <p:nvSpPr>
          <p:cNvPr id="19" name="Text 17"/>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 / 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FF"/>
          </a:solidFill>
          <a:ln/>
        </p:spPr>
      </p:sp>
      <p:sp>
        <p:nvSpPr>
          <p:cNvPr id="3" name="Text 1"/>
          <p:cNvSpPr/>
          <p:nvPr/>
        </p:nvSpPr>
        <p:spPr>
          <a:xfrm>
            <a:off x="548640" y="182880"/>
            <a:ext cx="8229600" cy="45720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Comprehensive Pattern Comparison</a:t>
            </a:r>
            <a:endParaRPr lang="en-US" sz="2400" dirty="0"/>
          </a:p>
        </p:txBody>
      </p:sp>
      <p:sp>
        <p:nvSpPr>
          <p:cNvPr id="4" name="Shape 2"/>
          <p:cNvSpPr/>
          <p:nvPr/>
        </p:nvSpPr>
        <p:spPr>
          <a:xfrm>
            <a:off x="548640" y="777240"/>
            <a:ext cx="1463040" cy="411480"/>
          </a:xfrm>
          <a:prstGeom prst="rect">
            <a:avLst/>
          </a:prstGeom>
          <a:solidFill>
            <a:srgbClr val="00D4FF"/>
          </a:solidFill>
          <a:ln/>
        </p:spPr>
      </p:sp>
      <p:sp>
        <p:nvSpPr>
          <p:cNvPr id="5" name="Text 3"/>
          <p:cNvSpPr/>
          <p:nvPr/>
        </p:nvSpPr>
        <p:spPr>
          <a:xfrm>
            <a:off x="548640" y="777240"/>
            <a:ext cx="1463040" cy="41148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Pattern</a:t>
            </a:r>
            <a:endParaRPr lang="en-US" sz="1100" dirty="0"/>
          </a:p>
        </p:txBody>
      </p:sp>
      <p:sp>
        <p:nvSpPr>
          <p:cNvPr id="6" name="Shape 4"/>
          <p:cNvSpPr/>
          <p:nvPr/>
        </p:nvSpPr>
        <p:spPr>
          <a:xfrm>
            <a:off x="2011680" y="777240"/>
            <a:ext cx="1463040" cy="411480"/>
          </a:xfrm>
          <a:prstGeom prst="rect">
            <a:avLst/>
          </a:prstGeom>
          <a:solidFill>
            <a:srgbClr val="00D4FF"/>
          </a:solidFill>
          <a:ln/>
        </p:spPr>
      </p:sp>
      <p:sp>
        <p:nvSpPr>
          <p:cNvPr id="7" name="Text 5"/>
          <p:cNvSpPr/>
          <p:nvPr/>
        </p:nvSpPr>
        <p:spPr>
          <a:xfrm>
            <a:off x="2011680" y="777240"/>
            <a:ext cx="1463040" cy="41148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Planning</a:t>
            </a:r>
            <a:endParaRPr lang="en-US" sz="1100" dirty="0"/>
          </a:p>
        </p:txBody>
      </p:sp>
      <p:sp>
        <p:nvSpPr>
          <p:cNvPr id="8" name="Shape 6"/>
          <p:cNvSpPr/>
          <p:nvPr/>
        </p:nvSpPr>
        <p:spPr>
          <a:xfrm>
            <a:off x="3474720" y="777240"/>
            <a:ext cx="1554480" cy="411480"/>
          </a:xfrm>
          <a:prstGeom prst="rect">
            <a:avLst/>
          </a:prstGeom>
          <a:solidFill>
            <a:srgbClr val="00D4FF"/>
          </a:solidFill>
          <a:ln/>
        </p:spPr>
      </p:sp>
      <p:sp>
        <p:nvSpPr>
          <p:cNvPr id="9" name="Text 7"/>
          <p:cNvSpPr/>
          <p:nvPr/>
        </p:nvSpPr>
        <p:spPr>
          <a:xfrm>
            <a:off x="3474720" y="777240"/>
            <a:ext cx="1554480" cy="41148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Execution</a:t>
            </a:r>
            <a:endParaRPr lang="en-US" sz="1100" dirty="0"/>
          </a:p>
        </p:txBody>
      </p:sp>
      <p:sp>
        <p:nvSpPr>
          <p:cNvPr id="10" name="Shape 8"/>
          <p:cNvSpPr/>
          <p:nvPr/>
        </p:nvSpPr>
        <p:spPr>
          <a:xfrm>
            <a:off x="5029200" y="777240"/>
            <a:ext cx="1371600" cy="411480"/>
          </a:xfrm>
          <a:prstGeom prst="rect">
            <a:avLst/>
          </a:prstGeom>
          <a:solidFill>
            <a:srgbClr val="00D4FF"/>
          </a:solidFill>
          <a:ln/>
        </p:spPr>
      </p:sp>
      <p:sp>
        <p:nvSpPr>
          <p:cNvPr id="11" name="Text 9"/>
          <p:cNvSpPr/>
          <p:nvPr/>
        </p:nvSpPr>
        <p:spPr>
          <a:xfrm>
            <a:off x="5029200" y="777240"/>
            <a:ext cx="1371600" cy="41148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LLM Calls</a:t>
            </a:r>
            <a:endParaRPr lang="en-US" sz="1100" dirty="0"/>
          </a:p>
        </p:txBody>
      </p:sp>
      <p:sp>
        <p:nvSpPr>
          <p:cNvPr id="12" name="Shape 10"/>
          <p:cNvSpPr/>
          <p:nvPr/>
        </p:nvSpPr>
        <p:spPr>
          <a:xfrm>
            <a:off x="6400800" y="777240"/>
            <a:ext cx="1371600" cy="411480"/>
          </a:xfrm>
          <a:prstGeom prst="rect">
            <a:avLst/>
          </a:prstGeom>
          <a:solidFill>
            <a:srgbClr val="00D4FF"/>
          </a:solidFill>
          <a:ln/>
        </p:spPr>
      </p:sp>
      <p:sp>
        <p:nvSpPr>
          <p:cNvPr id="13" name="Text 11"/>
          <p:cNvSpPr/>
          <p:nvPr/>
        </p:nvSpPr>
        <p:spPr>
          <a:xfrm>
            <a:off x="6400800" y="777240"/>
            <a:ext cx="1371600" cy="411480"/>
          </a:xfrm>
          <a:prstGeom prst="rect">
            <a:avLst/>
          </a:prstGeom>
          <a:noFill/>
          <a:ln/>
        </p:spPr>
        <p:txBody>
          <a:bodyPr wrap="square"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Adaptability</a:t>
            </a:r>
            <a:endParaRPr lang="en-US" sz="1100" dirty="0"/>
          </a:p>
        </p:txBody>
      </p:sp>
      <p:sp>
        <p:nvSpPr>
          <p:cNvPr id="14" name="Shape 12"/>
          <p:cNvSpPr/>
          <p:nvPr/>
        </p:nvSpPr>
        <p:spPr>
          <a:xfrm>
            <a:off x="548640" y="1188720"/>
            <a:ext cx="1463040" cy="484632"/>
          </a:xfrm>
          <a:prstGeom prst="rect">
            <a:avLst/>
          </a:prstGeom>
          <a:solidFill>
            <a:srgbClr val="162D50"/>
          </a:solidFill>
          <a:ln w="6350">
            <a:solidFill>
              <a:srgbClr val="1A3050"/>
            </a:solidFill>
            <a:prstDash val="solid"/>
          </a:ln>
        </p:spPr>
      </p:sp>
      <p:sp>
        <p:nvSpPr>
          <p:cNvPr id="15" name="Text 13"/>
          <p:cNvSpPr/>
          <p:nvPr/>
        </p:nvSpPr>
        <p:spPr>
          <a:xfrm>
            <a:off x="548640" y="1188720"/>
            <a:ext cx="1463040" cy="48463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Reflection</a:t>
            </a:r>
            <a:endParaRPr lang="en-US" sz="1050" dirty="0"/>
          </a:p>
        </p:txBody>
      </p:sp>
      <p:sp>
        <p:nvSpPr>
          <p:cNvPr id="16" name="Shape 14"/>
          <p:cNvSpPr/>
          <p:nvPr/>
        </p:nvSpPr>
        <p:spPr>
          <a:xfrm>
            <a:off x="2011680" y="1188720"/>
            <a:ext cx="1463040" cy="484632"/>
          </a:xfrm>
          <a:prstGeom prst="rect">
            <a:avLst/>
          </a:prstGeom>
          <a:solidFill>
            <a:srgbClr val="162D50"/>
          </a:solidFill>
          <a:ln w="6350">
            <a:solidFill>
              <a:srgbClr val="1A3050"/>
            </a:solidFill>
            <a:prstDash val="solid"/>
          </a:ln>
        </p:spPr>
      </p:sp>
      <p:sp>
        <p:nvSpPr>
          <p:cNvPr id="17" name="Text 15"/>
          <p:cNvSpPr/>
          <p:nvPr/>
        </p:nvSpPr>
        <p:spPr>
          <a:xfrm>
            <a:off x="2011680" y="1188720"/>
            <a:ext cx="146304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None</a:t>
            </a:r>
            <a:endParaRPr lang="en-US" sz="1050" dirty="0"/>
          </a:p>
        </p:txBody>
      </p:sp>
      <p:sp>
        <p:nvSpPr>
          <p:cNvPr id="18" name="Shape 16"/>
          <p:cNvSpPr/>
          <p:nvPr/>
        </p:nvSpPr>
        <p:spPr>
          <a:xfrm>
            <a:off x="3474720" y="1188720"/>
            <a:ext cx="1554480" cy="484632"/>
          </a:xfrm>
          <a:prstGeom prst="rect">
            <a:avLst/>
          </a:prstGeom>
          <a:solidFill>
            <a:srgbClr val="162D50"/>
          </a:solidFill>
          <a:ln w="6350">
            <a:solidFill>
              <a:srgbClr val="1A3050"/>
            </a:solidFill>
            <a:prstDash val="solid"/>
          </a:ln>
        </p:spPr>
      </p:sp>
      <p:sp>
        <p:nvSpPr>
          <p:cNvPr id="19" name="Text 17"/>
          <p:cNvSpPr/>
          <p:nvPr/>
        </p:nvSpPr>
        <p:spPr>
          <a:xfrm>
            <a:off x="3474720" y="1188720"/>
            <a:ext cx="155448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Iterative refine</a:t>
            </a:r>
            <a:endParaRPr lang="en-US" sz="1050" dirty="0"/>
          </a:p>
        </p:txBody>
      </p:sp>
      <p:sp>
        <p:nvSpPr>
          <p:cNvPr id="20" name="Shape 18"/>
          <p:cNvSpPr/>
          <p:nvPr/>
        </p:nvSpPr>
        <p:spPr>
          <a:xfrm>
            <a:off x="5029200" y="1188720"/>
            <a:ext cx="1371600" cy="484632"/>
          </a:xfrm>
          <a:prstGeom prst="rect">
            <a:avLst/>
          </a:prstGeom>
          <a:solidFill>
            <a:srgbClr val="162D50"/>
          </a:solidFill>
          <a:ln w="6350">
            <a:solidFill>
              <a:srgbClr val="1A3050"/>
            </a:solidFill>
            <a:prstDash val="solid"/>
          </a:ln>
        </p:spPr>
      </p:sp>
      <p:sp>
        <p:nvSpPr>
          <p:cNvPr id="21" name="Text 19"/>
          <p:cNvSpPr/>
          <p:nvPr/>
        </p:nvSpPr>
        <p:spPr>
          <a:xfrm>
            <a:off x="5029200" y="1188720"/>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2N (gen+crit)</a:t>
            </a:r>
            <a:endParaRPr lang="en-US" sz="1050" dirty="0"/>
          </a:p>
        </p:txBody>
      </p:sp>
      <p:sp>
        <p:nvSpPr>
          <p:cNvPr id="22" name="Shape 20"/>
          <p:cNvSpPr/>
          <p:nvPr/>
        </p:nvSpPr>
        <p:spPr>
          <a:xfrm>
            <a:off x="6400800" y="1188720"/>
            <a:ext cx="1371600" cy="484632"/>
          </a:xfrm>
          <a:prstGeom prst="rect">
            <a:avLst/>
          </a:prstGeom>
          <a:solidFill>
            <a:srgbClr val="162D50"/>
          </a:solidFill>
          <a:ln w="6350">
            <a:solidFill>
              <a:srgbClr val="1A3050"/>
            </a:solidFill>
            <a:prstDash val="solid"/>
          </a:ln>
        </p:spPr>
      </p:sp>
      <p:sp>
        <p:nvSpPr>
          <p:cNvPr id="23" name="Text 21"/>
          <p:cNvSpPr/>
          <p:nvPr/>
        </p:nvSpPr>
        <p:spPr>
          <a:xfrm>
            <a:off x="6400800" y="1188720"/>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High</a:t>
            </a:r>
            <a:endParaRPr lang="en-US" sz="1050" dirty="0"/>
          </a:p>
        </p:txBody>
      </p:sp>
      <p:sp>
        <p:nvSpPr>
          <p:cNvPr id="24" name="Shape 22"/>
          <p:cNvSpPr/>
          <p:nvPr/>
        </p:nvSpPr>
        <p:spPr>
          <a:xfrm>
            <a:off x="548640" y="1719072"/>
            <a:ext cx="1463040" cy="484632"/>
          </a:xfrm>
          <a:prstGeom prst="rect">
            <a:avLst/>
          </a:prstGeom>
          <a:solidFill>
            <a:srgbClr val="0F2440"/>
          </a:solidFill>
          <a:ln w="6350">
            <a:solidFill>
              <a:srgbClr val="1A3050"/>
            </a:solidFill>
            <a:prstDash val="solid"/>
          </a:ln>
        </p:spPr>
      </p:sp>
      <p:sp>
        <p:nvSpPr>
          <p:cNvPr id="25" name="Text 23"/>
          <p:cNvSpPr/>
          <p:nvPr/>
        </p:nvSpPr>
        <p:spPr>
          <a:xfrm>
            <a:off x="548640" y="1719072"/>
            <a:ext cx="1463040" cy="48463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ReAct</a:t>
            </a:r>
            <a:endParaRPr lang="en-US" sz="1050" dirty="0"/>
          </a:p>
        </p:txBody>
      </p:sp>
      <p:sp>
        <p:nvSpPr>
          <p:cNvPr id="26" name="Shape 24"/>
          <p:cNvSpPr/>
          <p:nvPr/>
        </p:nvSpPr>
        <p:spPr>
          <a:xfrm>
            <a:off x="2011680" y="1719072"/>
            <a:ext cx="1463040" cy="484632"/>
          </a:xfrm>
          <a:prstGeom prst="rect">
            <a:avLst/>
          </a:prstGeom>
          <a:solidFill>
            <a:srgbClr val="0F2440"/>
          </a:solidFill>
          <a:ln w="6350">
            <a:solidFill>
              <a:srgbClr val="1A3050"/>
            </a:solidFill>
            <a:prstDash val="solid"/>
          </a:ln>
        </p:spPr>
      </p:sp>
      <p:sp>
        <p:nvSpPr>
          <p:cNvPr id="27" name="Text 25"/>
          <p:cNvSpPr/>
          <p:nvPr/>
        </p:nvSpPr>
        <p:spPr>
          <a:xfrm>
            <a:off x="2011680" y="1719072"/>
            <a:ext cx="146304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None</a:t>
            </a:r>
            <a:endParaRPr lang="en-US" sz="1050" dirty="0"/>
          </a:p>
        </p:txBody>
      </p:sp>
      <p:sp>
        <p:nvSpPr>
          <p:cNvPr id="28" name="Shape 26"/>
          <p:cNvSpPr/>
          <p:nvPr/>
        </p:nvSpPr>
        <p:spPr>
          <a:xfrm>
            <a:off x="3474720" y="1719072"/>
            <a:ext cx="1554480" cy="484632"/>
          </a:xfrm>
          <a:prstGeom prst="rect">
            <a:avLst/>
          </a:prstGeom>
          <a:solidFill>
            <a:srgbClr val="0F2440"/>
          </a:solidFill>
          <a:ln w="6350">
            <a:solidFill>
              <a:srgbClr val="1A3050"/>
            </a:solidFill>
            <a:prstDash val="solid"/>
          </a:ln>
        </p:spPr>
      </p:sp>
      <p:sp>
        <p:nvSpPr>
          <p:cNvPr id="29" name="Text 27"/>
          <p:cNvSpPr/>
          <p:nvPr/>
        </p:nvSpPr>
        <p:spPr>
          <a:xfrm>
            <a:off x="3474720" y="1719072"/>
            <a:ext cx="155448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Sequential T-A-O</a:t>
            </a:r>
            <a:endParaRPr lang="en-US" sz="1050" dirty="0"/>
          </a:p>
        </p:txBody>
      </p:sp>
      <p:sp>
        <p:nvSpPr>
          <p:cNvPr id="30" name="Shape 28"/>
          <p:cNvSpPr/>
          <p:nvPr/>
        </p:nvSpPr>
        <p:spPr>
          <a:xfrm>
            <a:off x="5029200" y="1719072"/>
            <a:ext cx="1371600" cy="484632"/>
          </a:xfrm>
          <a:prstGeom prst="rect">
            <a:avLst/>
          </a:prstGeom>
          <a:solidFill>
            <a:srgbClr val="0F2440"/>
          </a:solidFill>
          <a:ln w="6350">
            <a:solidFill>
              <a:srgbClr val="1A3050"/>
            </a:solidFill>
            <a:prstDash val="solid"/>
          </a:ln>
        </p:spPr>
      </p:sp>
      <p:sp>
        <p:nvSpPr>
          <p:cNvPr id="31" name="Text 29"/>
          <p:cNvSpPr/>
          <p:nvPr/>
        </p:nvSpPr>
        <p:spPr>
          <a:xfrm>
            <a:off x="5029200" y="1719072"/>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N per step</a:t>
            </a:r>
            <a:endParaRPr lang="en-US" sz="1050" dirty="0"/>
          </a:p>
        </p:txBody>
      </p:sp>
      <p:sp>
        <p:nvSpPr>
          <p:cNvPr id="32" name="Shape 30"/>
          <p:cNvSpPr/>
          <p:nvPr/>
        </p:nvSpPr>
        <p:spPr>
          <a:xfrm>
            <a:off x="6400800" y="1719072"/>
            <a:ext cx="1371600" cy="484632"/>
          </a:xfrm>
          <a:prstGeom prst="rect">
            <a:avLst/>
          </a:prstGeom>
          <a:solidFill>
            <a:srgbClr val="0F2440"/>
          </a:solidFill>
          <a:ln w="6350">
            <a:solidFill>
              <a:srgbClr val="1A3050"/>
            </a:solidFill>
            <a:prstDash val="solid"/>
          </a:ln>
        </p:spPr>
      </p:sp>
      <p:sp>
        <p:nvSpPr>
          <p:cNvPr id="33" name="Text 31"/>
          <p:cNvSpPr/>
          <p:nvPr/>
        </p:nvSpPr>
        <p:spPr>
          <a:xfrm>
            <a:off x="6400800" y="1719072"/>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Very High</a:t>
            </a:r>
            <a:endParaRPr lang="en-US" sz="1050" dirty="0"/>
          </a:p>
        </p:txBody>
      </p:sp>
      <p:sp>
        <p:nvSpPr>
          <p:cNvPr id="34" name="Shape 32"/>
          <p:cNvSpPr/>
          <p:nvPr/>
        </p:nvSpPr>
        <p:spPr>
          <a:xfrm>
            <a:off x="548640" y="2249424"/>
            <a:ext cx="1463040" cy="484632"/>
          </a:xfrm>
          <a:prstGeom prst="rect">
            <a:avLst/>
          </a:prstGeom>
          <a:solidFill>
            <a:srgbClr val="162D50"/>
          </a:solidFill>
          <a:ln w="6350">
            <a:solidFill>
              <a:srgbClr val="1A3050"/>
            </a:solidFill>
            <a:prstDash val="solid"/>
          </a:ln>
        </p:spPr>
      </p:sp>
      <p:sp>
        <p:nvSpPr>
          <p:cNvPr id="35" name="Text 33"/>
          <p:cNvSpPr/>
          <p:nvPr/>
        </p:nvSpPr>
        <p:spPr>
          <a:xfrm>
            <a:off x="548640" y="2249424"/>
            <a:ext cx="1463040" cy="48463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REWOO</a:t>
            </a:r>
            <a:endParaRPr lang="en-US" sz="1050" dirty="0"/>
          </a:p>
        </p:txBody>
      </p:sp>
      <p:sp>
        <p:nvSpPr>
          <p:cNvPr id="36" name="Shape 34"/>
          <p:cNvSpPr/>
          <p:nvPr/>
        </p:nvSpPr>
        <p:spPr>
          <a:xfrm>
            <a:off x="2011680" y="2249424"/>
            <a:ext cx="1463040" cy="484632"/>
          </a:xfrm>
          <a:prstGeom prst="rect">
            <a:avLst/>
          </a:prstGeom>
          <a:solidFill>
            <a:srgbClr val="162D50"/>
          </a:solidFill>
          <a:ln w="6350">
            <a:solidFill>
              <a:srgbClr val="1A3050"/>
            </a:solidFill>
            <a:prstDash val="solid"/>
          </a:ln>
        </p:spPr>
      </p:sp>
      <p:sp>
        <p:nvSpPr>
          <p:cNvPr id="37" name="Text 35"/>
          <p:cNvSpPr/>
          <p:nvPr/>
        </p:nvSpPr>
        <p:spPr>
          <a:xfrm>
            <a:off x="2011680" y="2249424"/>
            <a:ext cx="146304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Full upfront</a:t>
            </a:r>
            <a:endParaRPr lang="en-US" sz="1050" dirty="0"/>
          </a:p>
        </p:txBody>
      </p:sp>
      <p:sp>
        <p:nvSpPr>
          <p:cNvPr id="38" name="Shape 36"/>
          <p:cNvSpPr/>
          <p:nvPr/>
        </p:nvSpPr>
        <p:spPr>
          <a:xfrm>
            <a:off x="3474720" y="2249424"/>
            <a:ext cx="1554480" cy="484632"/>
          </a:xfrm>
          <a:prstGeom prst="rect">
            <a:avLst/>
          </a:prstGeom>
          <a:solidFill>
            <a:srgbClr val="162D50"/>
          </a:solidFill>
          <a:ln w="6350">
            <a:solidFill>
              <a:srgbClr val="1A3050"/>
            </a:solidFill>
            <a:prstDash val="solid"/>
          </a:ln>
        </p:spPr>
      </p:sp>
      <p:sp>
        <p:nvSpPr>
          <p:cNvPr id="39" name="Text 37"/>
          <p:cNvSpPr/>
          <p:nvPr/>
        </p:nvSpPr>
        <p:spPr>
          <a:xfrm>
            <a:off x="3474720" y="2249424"/>
            <a:ext cx="155448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Batch parallel</a:t>
            </a:r>
            <a:endParaRPr lang="en-US" sz="1050" dirty="0"/>
          </a:p>
        </p:txBody>
      </p:sp>
      <p:sp>
        <p:nvSpPr>
          <p:cNvPr id="40" name="Shape 38"/>
          <p:cNvSpPr/>
          <p:nvPr/>
        </p:nvSpPr>
        <p:spPr>
          <a:xfrm>
            <a:off x="5029200" y="2249424"/>
            <a:ext cx="1371600" cy="484632"/>
          </a:xfrm>
          <a:prstGeom prst="rect">
            <a:avLst/>
          </a:prstGeom>
          <a:solidFill>
            <a:srgbClr val="162D50"/>
          </a:solidFill>
          <a:ln w="6350">
            <a:solidFill>
              <a:srgbClr val="1A3050"/>
            </a:solidFill>
            <a:prstDash val="solid"/>
          </a:ln>
        </p:spPr>
      </p:sp>
      <p:sp>
        <p:nvSpPr>
          <p:cNvPr id="41" name="Text 39"/>
          <p:cNvSpPr/>
          <p:nvPr/>
        </p:nvSpPr>
        <p:spPr>
          <a:xfrm>
            <a:off x="5029200" y="2249424"/>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2 total</a:t>
            </a:r>
            <a:endParaRPr lang="en-US" sz="1050" dirty="0"/>
          </a:p>
        </p:txBody>
      </p:sp>
      <p:sp>
        <p:nvSpPr>
          <p:cNvPr id="42" name="Shape 40"/>
          <p:cNvSpPr/>
          <p:nvPr/>
        </p:nvSpPr>
        <p:spPr>
          <a:xfrm>
            <a:off x="6400800" y="2249424"/>
            <a:ext cx="1371600" cy="484632"/>
          </a:xfrm>
          <a:prstGeom prst="rect">
            <a:avLst/>
          </a:prstGeom>
          <a:solidFill>
            <a:srgbClr val="162D50"/>
          </a:solidFill>
          <a:ln w="6350">
            <a:solidFill>
              <a:srgbClr val="1A3050"/>
            </a:solidFill>
            <a:prstDash val="solid"/>
          </a:ln>
        </p:spPr>
      </p:sp>
      <p:sp>
        <p:nvSpPr>
          <p:cNvPr id="43" name="Text 41"/>
          <p:cNvSpPr/>
          <p:nvPr/>
        </p:nvSpPr>
        <p:spPr>
          <a:xfrm>
            <a:off x="6400800" y="2249424"/>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Low</a:t>
            </a:r>
            <a:endParaRPr lang="en-US" sz="1050" dirty="0"/>
          </a:p>
        </p:txBody>
      </p:sp>
      <p:sp>
        <p:nvSpPr>
          <p:cNvPr id="44" name="Shape 42"/>
          <p:cNvSpPr/>
          <p:nvPr/>
        </p:nvSpPr>
        <p:spPr>
          <a:xfrm>
            <a:off x="548640" y="2779776"/>
            <a:ext cx="1463040" cy="484632"/>
          </a:xfrm>
          <a:prstGeom prst="rect">
            <a:avLst/>
          </a:prstGeom>
          <a:solidFill>
            <a:srgbClr val="0F2440"/>
          </a:solidFill>
          <a:ln w="6350">
            <a:solidFill>
              <a:srgbClr val="1A3050"/>
            </a:solidFill>
            <a:prstDash val="solid"/>
          </a:ln>
        </p:spPr>
      </p:sp>
      <p:sp>
        <p:nvSpPr>
          <p:cNvPr id="45" name="Text 43"/>
          <p:cNvSpPr/>
          <p:nvPr/>
        </p:nvSpPr>
        <p:spPr>
          <a:xfrm>
            <a:off x="548640" y="2779776"/>
            <a:ext cx="1463040" cy="48463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Plan &amp; Exec</a:t>
            </a:r>
            <a:endParaRPr lang="en-US" sz="1050" dirty="0"/>
          </a:p>
        </p:txBody>
      </p:sp>
      <p:sp>
        <p:nvSpPr>
          <p:cNvPr id="46" name="Shape 44"/>
          <p:cNvSpPr/>
          <p:nvPr/>
        </p:nvSpPr>
        <p:spPr>
          <a:xfrm>
            <a:off x="2011680" y="2779776"/>
            <a:ext cx="1463040" cy="484632"/>
          </a:xfrm>
          <a:prstGeom prst="rect">
            <a:avLst/>
          </a:prstGeom>
          <a:solidFill>
            <a:srgbClr val="0F2440"/>
          </a:solidFill>
          <a:ln w="6350">
            <a:solidFill>
              <a:srgbClr val="1A3050"/>
            </a:solidFill>
            <a:prstDash val="solid"/>
          </a:ln>
        </p:spPr>
      </p:sp>
      <p:sp>
        <p:nvSpPr>
          <p:cNvPr id="47" name="Text 45"/>
          <p:cNvSpPr/>
          <p:nvPr/>
        </p:nvSpPr>
        <p:spPr>
          <a:xfrm>
            <a:off x="2011680" y="2779776"/>
            <a:ext cx="146304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Initial + replan</a:t>
            </a:r>
            <a:endParaRPr lang="en-US" sz="1050" dirty="0"/>
          </a:p>
        </p:txBody>
      </p:sp>
      <p:sp>
        <p:nvSpPr>
          <p:cNvPr id="48" name="Shape 46"/>
          <p:cNvSpPr/>
          <p:nvPr/>
        </p:nvSpPr>
        <p:spPr>
          <a:xfrm>
            <a:off x="3474720" y="2779776"/>
            <a:ext cx="1554480" cy="484632"/>
          </a:xfrm>
          <a:prstGeom prst="rect">
            <a:avLst/>
          </a:prstGeom>
          <a:solidFill>
            <a:srgbClr val="0F2440"/>
          </a:solidFill>
          <a:ln w="6350">
            <a:solidFill>
              <a:srgbClr val="1A3050"/>
            </a:solidFill>
            <a:prstDash val="solid"/>
          </a:ln>
        </p:spPr>
      </p:sp>
      <p:sp>
        <p:nvSpPr>
          <p:cNvPr id="49" name="Text 47"/>
          <p:cNvSpPr/>
          <p:nvPr/>
        </p:nvSpPr>
        <p:spPr>
          <a:xfrm>
            <a:off x="3474720" y="2779776"/>
            <a:ext cx="155448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Step-by-step</a:t>
            </a:r>
            <a:endParaRPr lang="en-US" sz="1050" dirty="0"/>
          </a:p>
        </p:txBody>
      </p:sp>
      <p:sp>
        <p:nvSpPr>
          <p:cNvPr id="50" name="Shape 48"/>
          <p:cNvSpPr/>
          <p:nvPr/>
        </p:nvSpPr>
        <p:spPr>
          <a:xfrm>
            <a:off x="5029200" y="2779776"/>
            <a:ext cx="1371600" cy="484632"/>
          </a:xfrm>
          <a:prstGeom prst="rect">
            <a:avLst/>
          </a:prstGeom>
          <a:solidFill>
            <a:srgbClr val="0F2440"/>
          </a:solidFill>
          <a:ln w="6350">
            <a:solidFill>
              <a:srgbClr val="1A3050"/>
            </a:solidFill>
            <a:prstDash val="solid"/>
          </a:ln>
        </p:spPr>
      </p:sp>
      <p:sp>
        <p:nvSpPr>
          <p:cNvPr id="51" name="Text 49"/>
          <p:cNvSpPr/>
          <p:nvPr/>
        </p:nvSpPr>
        <p:spPr>
          <a:xfrm>
            <a:off x="5029200" y="2779776"/>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~N/2</a:t>
            </a:r>
            <a:endParaRPr lang="en-US" sz="1050" dirty="0"/>
          </a:p>
        </p:txBody>
      </p:sp>
      <p:sp>
        <p:nvSpPr>
          <p:cNvPr id="52" name="Shape 50"/>
          <p:cNvSpPr/>
          <p:nvPr/>
        </p:nvSpPr>
        <p:spPr>
          <a:xfrm>
            <a:off x="6400800" y="2779776"/>
            <a:ext cx="1371600" cy="484632"/>
          </a:xfrm>
          <a:prstGeom prst="rect">
            <a:avLst/>
          </a:prstGeom>
          <a:solidFill>
            <a:srgbClr val="0F2440"/>
          </a:solidFill>
          <a:ln w="6350">
            <a:solidFill>
              <a:srgbClr val="1A3050"/>
            </a:solidFill>
            <a:prstDash val="solid"/>
          </a:ln>
        </p:spPr>
      </p:sp>
      <p:sp>
        <p:nvSpPr>
          <p:cNvPr id="53" name="Text 51"/>
          <p:cNvSpPr/>
          <p:nvPr/>
        </p:nvSpPr>
        <p:spPr>
          <a:xfrm>
            <a:off x="6400800" y="2779776"/>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Medium-High</a:t>
            </a:r>
            <a:endParaRPr lang="en-US" sz="1050" dirty="0"/>
          </a:p>
        </p:txBody>
      </p:sp>
      <p:sp>
        <p:nvSpPr>
          <p:cNvPr id="54" name="Shape 52"/>
          <p:cNvSpPr/>
          <p:nvPr/>
        </p:nvSpPr>
        <p:spPr>
          <a:xfrm>
            <a:off x="548640" y="3310128"/>
            <a:ext cx="1463040" cy="484632"/>
          </a:xfrm>
          <a:prstGeom prst="rect">
            <a:avLst/>
          </a:prstGeom>
          <a:solidFill>
            <a:srgbClr val="162D50"/>
          </a:solidFill>
          <a:ln w="6350">
            <a:solidFill>
              <a:srgbClr val="1A3050"/>
            </a:solidFill>
            <a:prstDash val="solid"/>
          </a:ln>
        </p:spPr>
      </p:sp>
      <p:sp>
        <p:nvSpPr>
          <p:cNvPr id="55" name="Text 53"/>
          <p:cNvSpPr/>
          <p:nvPr/>
        </p:nvSpPr>
        <p:spPr>
          <a:xfrm>
            <a:off x="548640" y="3310128"/>
            <a:ext cx="1463040" cy="48463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Tool Use</a:t>
            </a:r>
            <a:endParaRPr lang="en-US" sz="1050" dirty="0"/>
          </a:p>
        </p:txBody>
      </p:sp>
      <p:sp>
        <p:nvSpPr>
          <p:cNvPr id="56" name="Shape 54"/>
          <p:cNvSpPr/>
          <p:nvPr/>
        </p:nvSpPr>
        <p:spPr>
          <a:xfrm>
            <a:off x="2011680" y="3310128"/>
            <a:ext cx="1463040" cy="484632"/>
          </a:xfrm>
          <a:prstGeom prst="rect">
            <a:avLst/>
          </a:prstGeom>
          <a:solidFill>
            <a:srgbClr val="162D50"/>
          </a:solidFill>
          <a:ln w="6350">
            <a:solidFill>
              <a:srgbClr val="1A3050"/>
            </a:solidFill>
            <a:prstDash val="solid"/>
          </a:ln>
        </p:spPr>
      </p:sp>
      <p:sp>
        <p:nvSpPr>
          <p:cNvPr id="57" name="Text 55"/>
          <p:cNvSpPr/>
          <p:nvPr/>
        </p:nvSpPr>
        <p:spPr>
          <a:xfrm>
            <a:off x="2011680" y="3310128"/>
            <a:ext cx="146304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Implicit</a:t>
            </a:r>
            <a:endParaRPr lang="en-US" sz="1050" dirty="0"/>
          </a:p>
        </p:txBody>
      </p:sp>
      <p:sp>
        <p:nvSpPr>
          <p:cNvPr id="58" name="Shape 56"/>
          <p:cNvSpPr/>
          <p:nvPr/>
        </p:nvSpPr>
        <p:spPr>
          <a:xfrm>
            <a:off x="3474720" y="3310128"/>
            <a:ext cx="1554480" cy="484632"/>
          </a:xfrm>
          <a:prstGeom prst="rect">
            <a:avLst/>
          </a:prstGeom>
          <a:solidFill>
            <a:srgbClr val="162D50"/>
          </a:solidFill>
          <a:ln w="6350">
            <a:solidFill>
              <a:srgbClr val="1A3050"/>
            </a:solidFill>
            <a:prstDash val="solid"/>
          </a:ln>
        </p:spPr>
      </p:sp>
      <p:sp>
        <p:nvSpPr>
          <p:cNvPr id="59" name="Text 57"/>
          <p:cNvSpPr/>
          <p:nvPr/>
        </p:nvSpPr>
        <p:spPr>
          <a:xfrm>
            <a:off x="3474720" y="3310128"/>
            <a:ext cx="155448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Single-shot</a:t>
            </a:r>
            <a:endParaRPr lang="en-US" sz="1050" dirty="0"/>
          </a:p>
        </p:txBody>
      </p:sp>
      <p:sp>
        <p:nvSpPr>
          <p:cNvPr id="60" name="Shape 58"/>
          <p:cNvSpPr/>
          <p:nvPr/>
        </p:nvSpPr>
        <p:spPr>
          <a:xfrm>
            <a:off x="5029200" y="3310128"/>
            <a:ext cx="1371600" cy="484632"/>
          </a:xfrm>
          <a:prstGeom prst="rect">
            <a:avLst/>
          </a:prstGeom>
          <a:solidFill>
            <a:srgbClr val="162D50"/>
          </a:solidFill>
          <a:ln w="6350">
            <a:solidFill>
              <a:srgbClr val="1A3050"/>
            </a:solidFill>
            <a:prstDash val="solid"/>
          </a:ln>
        </p:spPr>
      </p:sp>
      <p:sp>
        <p:nvSpPr>
          <p:cNvPr id="61" name="Text 59"/>
          <p:cNvSpPr/>
          <p:nvPr/>
        </p:nvSpPr>
        <p:spPr>
          <a:xfrm>
            <a:off x="5029200" y="3310128"/>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1-2</a:t>
            </a:r>
            <a:endParaRPr lang="en-US" sz="1050" dirty="0"/>
          </a:p>
        </p:txBody>
      </p:sp>
      <p:sp>
        <p:nvSpPr>
          <p:cNvPr id="62" name="Shape 60"/>
          <p:cNvSpPr/>
          <p:nvPr/>
        </p:nvSpPr>
        <p:spPr>
          <a:xfrm>
            <a:off x="6400800" y="3310128"/>
            <a:ext cx="1371600" cy="484632"/>
          </a:xfrm>
          <a:prstGeom prst="rect">
            <a:avLst/>
          </a:prstGeom>
          <a:solidFill>
            <a:srgbClr val="162D50"/>
          </a:solidFill>
          <a:ln w="6350">
            <a:solidFill>
              <a:srgbClr val="1A3050"/>
            </a:solidFill>
            <a:prstDash val="solid"/>
          </a:ln>
        </p:spPr>
      </p:sp>
      <p:sp>
        <p:nvSpPr>
          <p:cNvPr id="63" name="Text 61"/>
          <p:cNvSpPr/>
          <p:nvPr/>
        </p:nvSpPr>
        <p:spPr>
          <a:xfrm>
            <a:off x="6400800" y="3310128"/>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Low</a:t>
            </a:r>
            <a:endParaRPr lang="en-US" sz="1050" dirty="0"/>
          </a:p>
        </p:txBody>
      </p:sp>
      <p:sp>
        <p:nvSpPr>
          <p:cNvPr id="64" name="Shape 62"/>
          <p:cNvSpPr/>
          <p:nvPr/>
        </p:nvSpPr>
        <p:spPr>
          <a:xfrm>
            <a:off x="548640" y="3840480"/>
            <a:ext cx="1463040" cy="484632"/>
          </a:xfrm>
          <a:prstGeom prst="rect">
            <a:avLst/>
          </a:prstGeom>
          <a:solidFill>
            <a:srgbClr val="0F2440"/>
          </a:solidFill>
          <a:ln w="6350">
            <a:solidFill>
              <a:srgbClr val="1A3050"/>
            </a:solidFill>
            <a:prstDash val="solid"/>
          </a:ln>
        </p:spPr>
      </p:sp>
      <p:sp>
        <p:nvSpPr>
          <p:cNvPr id="65" name="Text 63"/>
          <p:cNvSpPr/>
          <p:nvPr/>
        </p:nvSpPr>
        <p:spPr>
          <a:xfrm>
            <a:off x="548640" y="3840480"/>
            <a:ext cx="1463040" cy="48463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Multi-Agent</a:t>
            </a:r>
            <a:endParaRPr lang="en-US" sz="1050" dirty="0"/>
          </a:p>
        </p:txBody>
      </p:sp>
      <p:sp>
        <p:nvSpPr>
          <p:cNvPr id="66" name="Shape 64"/>
          <p:cNvSpPr/>
          <p:nvPr/>
        </p:nvSpPr>
        <p:spPr>
          <a:xfrm>
            <a:off x="2011680" y="3840480"/>
            <a:ext cx="1463040" cy="484632"/>
          </a:xfrm>
          <a:prstGeom prst="rect">
            <a:avLst/>
          </a:prstGeom>
          <a:solidFill>
            <a:srgbClr val="0F2440"/>
          </a:solidFill>
          <a:ln w="6350">
            <a:solidFill>
              <a:srgbClr val="1A3050"/>
            </a:solidFill>
            <a:prstDash val="solid"/>
          </a:ln>
        </p:spPr>
      </p:sp>
      <p:sp>
        <p:nvSpPr>
          <p:cNvPr id="67" name="Text 65"/>
          <p:cNvSpPr/>
          <p:nvPr/>
        </p:nvSpPr>
        <p:spPr>
          <a:xfrm>
            <a:off x="2011680" y="3840480"/>
            <a:ext cx="146304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Varies</a:t>
            </a:r>
            <a:endParaRPr lang="en-US" sz="1050" dirty="0"/>
          </a:p>
        </p:txBody>
      </p:sp>
      <p:sp>
        <p:nvSpPr>
          <p:cNvPr id="68" name="Shape 66"/>
          <p:cNvSpPr/>
          <p:nvPr/>
        </p:nvSpPr>
        <p:spPr>
          <a:xfrm>
            <a:off x="3474720" y="3840480"/>
            <a:ext cx="1554480" cy="484632"/>
          </a:xfrm>
          <a:prstGeom prst="rect">
            <a:avLst/>
          </a:prstGeom>
          <a:solidFill>
            <a:srgbClr val="0F2440"/>
          </a:solidFill>
          <a:ln w="6350">
            <a:solidFill>
              <a:srgbClr val="1A3050"/>
            </a:solidFill>
            <a:prstDash val="solid"/>
          </a:ln>
        </p:spPr>
      </p:sp>
      <p:sp>
        <p:nvSpPr>
          <p:cNvPr id="69" name="Text 67"/>
          <p:cNvSpPr/>
          <p:nvPr/>
        </p:nvSpPr>
        <p:spPr>
          <a:xfrm>
            <a:off x="3474720" y="3840480"/>
            <a:ext cx="155448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Distributed</a:t>
            </a:r>
            <a:endParaRPr lang="en-US" sz="1050" dirty="0"/>
          </a:p>
        </p:txBody>
      </p:sp>
      <p:sp>
        <p:nvSpPr>
          <p:cNvPr id="70" name="Shape 68"/>
          <p:cNvSpPr/>
          <p:nvPr/>
        </p:nvSpPr>
        <p:spPr>
          <a:xfrm>
            <a:off x="5029200" y="3840480"/>
            <a:ext cx="1371600" cy="484632"/>
          </a:xfrm>
          <a:prstGeom prst="rect">
            <a:avLst/>
          </a:prstGeom>
          <a:solidFill>
            <a:srgbClr val="0F2440"/>
          </a:solidFill>
          <a:ln w="6350">
            <a:solidFill>
              <a:srgbClr val="1A3050"/>
            </a:solidFill>
            <a:prstDash val="solid"/>
          </a:ln>
        </p:spPr>
      </p:sp>
      <p:sp>
        <p:nvSpPr>
          <p:cNvPr id="71" name="Text 69"/>
          <p:cNvSpPr/>
          <p:nvPr/>
        </p:nvSpPr>
        <p:spPr>
          <a:xfrm>
            <a:off x="5029200" y="3840480"/>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Varies</a:t>
            </a:r>
            <a:endParaRPr lang="en-US" sz="1050" dirty="0"/>
          </a:p>
        </p:txBody>
      </p:sp>
      <p:sp>
        <p:nvSpPr>
          <p:cNvPr id="72" name="Shape 70"/>
          <p:cNvSpPr/>
          <p:nvPr/>
        </p:nvSpPr>
        <p:spPr>
          <a:xfrm>
            <a:off x="6400800" y="3840480"/>
            <a:ext cx="1371600" cy="484632"/>
          </a:xfrm>
          <a:prstGeom prst="rect">
            <a:avLst/>
          </a:prstGeom>
          <a:solidFill>
            <a:srgbClr val="0F2440"/>
          </a:solidFill>
          <a:ln w="6350">
            <a:solidFill>
              <a:srgbClr val="1A3050"/>
            </a:solidFill>
            <a:prstDash val="solid"/>
          </a:ln>
        </p:spPr>
      </p:sp>
      <p:sp>
        <p:nvSpPr>
          <p:cNvPr id="73" name="Text 71"/>
          <p:cNvSpPr/>
          <p:nvPr/>
        </p:nvSpPr>
        <p:spPr>
          <a:xfrm>
            <a:off x="6400800" y="3840480"/>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High</a:t>
            </a:r>
            <a:endParaRPr lang="en-US" sz="1050" dirty="0"/>
          </a:p>
        </p:txBody>
      </p:sp>
      <p:sp>
        <p:nvSpPr>
          <p:cNvPr id="74" name="Shape 72"/>
          <p:cNvSpPr/>
          <p:nvPr/>
        </p:nvSpPr>
        <p:spPr>
          <a:xfrm>
            <a:off x="548640" y="4370832"/>
            <a:ext cx="1463040" cy="484632"/>
          </a:xfrm>
          <a:prstGeom prst="rect">
            <a:avLst/>
          </a:prstGeom>
          <a:solidFill>
            <a:srgbClr val="162D50"/>
          </a:solidFill>
          <a:ln w="6350">
            <a:solidFill>
              <a:srgbClr val="1A3050"/>
            </a:solidFill>
            <a:prstDash val="solid"/>
          </a:ln>
        </p:spPr>
      </p:sp>
      <p:sp>
        <p:nvSpPr>
          <p:cNvPr id="75" name="Text 73"/>
          <p:cNvSpPr/>
          <p:nvPr/>
        </p:nvSpPr>
        <p:spPr>
          <a:xfrm>
            <a:off x="548640" y="4370832"/>
            <a:ext cx="1463040" cy="484632"/>
          </a:xfrm>
          <a:prstGeom prst="rect">
            <a:avLst/>
          </a:prstGeom>
          <a:noFill/>
          <a:ln/>
        </p:spPr>
        <p:txBody>
          <a:bodyPr wrap="square" rtlCol="0" anchor="ctr"/>
          <a:lstStyle/>
          <a:p>
            <a:pPr algn="ctr" indent="0" marL="0">
              <a:buNone/>
            </a:pPr>
            <a:r>
              <a:rPr lang="en-US" sz="1050" b="1" dirty="0">
                <a:solidFill>
                  <a:srgbClr val="00D4FF"/>
                </a:solidFill>
                <a:latin typeface="Calibri" pitchFamily="34" charset="0"/>
                <a:ea typeface="Calibri" pitchFamily="34" charset="-122"/>
                <a:cs typeface="Calibri" pitchFamily="34" charset="-120"/>
              </a:rPr>
              <a:t>LLMCompiler</a:t>
            </a:r>
            <a:endParaRPr lang="en-US" sz="1050" dirty="0"/>
          </a:p>
        </p:txBody>
      </p:sp>
      <p:sp>
        <p:nvSpPr>
          <p:cNvPr id="76" name="Shape 74"/>
          <p:cNvSpPr/>
          <p:nvPr/>
        </p:nvSpPr>
        <p:spPr>
          <a:xfrm>
            <a:off x="2011680" y="4370832"/>
            <a:ext cx="1463040" cy="484632"/>
          </a:xfrm>
          <a:prstGeom prst="rect">
            <a:avLst/>
          </a:prstGeom>
          <a:solidFill>
            <a:srgbClr val="162D50"/>
          </a:solidFill>
          <a:ln w="6350">
            <a:solidFill>
              <a:srgbClr val="1A3050"/>
            </a:solidFill>
            <a:prstDash val="solid"/>
          </a:ln>
        </p:spPr>
      </p:sp>
      <p:sp>
        <p:nvSpPr>
          <p:cNvPr id="77" name="Text 75"/>
          <p:cNvSpPr/>
          <p:nvPr/>
        </p:nvSpPr>
        <p:spPr>
          <a:xfrm>
            <a:off x="2011680" y="4370832"/>
            <a:ext cx="146304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DAG upfront</a:t>
            </a:r>
            <a:endParaRPr lang="en-US" sz="1050" dirty="0"/>
          </a:p>
        </p:txBody>
      </p:sp>
      <p:sp>
        <p:nvSpPr>
          <p:cNvPr id="78" name="Shape 76"/>
          <p:cNvSpPr/>
          <p:nvPr/>
        </p:nvSpPr>
        <p:spPr>
          <a:xfrm>
            <a:off x="3474720" y="4370832"/>
            <a:ext cx="1554480" cy="484632"/>
          </a:xfrm>
          <a:prstGeom prst="rect">
            <a:avLst/>
          </a:prstGeom>
          <a:solidFill>
            <a:srgbClr val="162D50"/>
          </a:solidFill>
          <a:ln w="6350">
            <a:solidFill>
              <a:srgbClr val="1A3050"/>
            </a:solidFill>
            <a:prstDash val="solid"/>
          </a:ln>
        </p:spPr>
      </p:sp>
      <p:sp>
        <p:nvSpPr>
          <p:cNvPr id="79" name="Text 77"/>
          <p:cNvSpPr/>
          <p:nvPr/>
        </p:nvSpPr>
        <p:spPr>
          <a:xfrm>
            <a:off x="3474720" y="4370832"/>
            <a:ext cx="155448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Parallel batch</a:t>
            </a:r>
            <a:endParaRPr lang="en-US" sz="1050" dirty="0"/>
          </a:p>
        </p:txBody>
      </p:sp>
      <p:sp>
        <p:nvSpPr>
          <p:cNvPr id="80" name="Shape 78"/>
          <p:cNvSpPr/>
          <p:nvPr/>
        </p:nvSpPr>
        <p:spPr>
          <a:xfrm>
            <a:off x="5029200" y="4370832"/>
            <a:ext cx="1371600" cy="484632"/>
          </a:xfrm>
          <a:prstGeom prst="rect">
            <a:avLst/>
          </a:prstGeom>
          <a:solidFill>
            <a:srgbClr val="162D50"/>
          </a:solidFill>
          <a:ln w="6350">
            <a:solidFill>
              <a:srgbClr val="1A3050"/>
            </a:solidFill>
            <a:prstDash val="solid"/>
          </a:ln>
        </p:spPr>
      </p:sp>
      <p:sp>
        <p:nvSpPr>
          <p:cNvPr id="81" name="Text 79"/>
          <p:cNvSpPr/>
          <p:nvPr/>
        </p:nvSpPr>
        <p:spPr>
          <a:xfrm>
            <a:off x="5029200" y="4370832"/>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2-3</a:t>
            </a:r>
            <a:endParaRPr lang="en-US" sz="1050" dirty="0"/>
          </a:p>
        </p:txBody>
      </p:sp>
      <p:sp>
        <p:nvSpPr>
          <p:cNvPr id="82" name="Shape 80"/>
          <p:cNvSpPr/>
          <p:nvPr/>
        </p:nvSpPr>
        <p:spPr>
          <a:xfrm>
            <a:off x="6400800" y="4370832"/>
            <a:ext cx="1371600" cy="484632"/>
          </a:xfrm>
          <a:prstGeom prst="rect">
            <a:avLst/>
          </a:prstGeom>
          <a:solidFill>
            <a:srgbClr val="162D50"/>
          </a:solidFill>
          <a:ln w="6350">
            <a:solidFill>
              <a:srgbClr val="1A3050"/>
            </a:solidFill>
            <a:prstDash val="solid"/>
          </a:ln>
        </p:spPr>
      </p:sp>
      <p:sp>
        <p:nvSpPr>
          <p:cNvPr id="83" name="Text 81"/>
          <p:cNvSpPr/>
          <p:nvPr/>
        </p:nvSpPr>
        <p:spPr>
          <a:xfrm>
            <a:off x="6400800" y="4370832"/>
            <a:ext cx="1371600" cy="484632"/>
          </a:xfrm>
          <a:prstGeom prst="rect">
            <a:avLst/>
          </a:prstGeom>
          <a:noFill/>
          <a:ln/>
        </p:spPr>
        <p:txBody>
          <a:bodyPr wrap="square" rtlCol="0" anchor="ctr"/>
          <a:lstStyle/>
          <a:p>
            <a:pPr algn="ctr" indent="0" marL="0">
              <a:buNone/>
            </a:pPr>
            <a:r>
              <a:rPr lang="en-US" sz="1050" dirty="0">
                <a:solidFill>
                  <a:srgbClr val="B8C9E0"/>
                </a:solidFill>
                <a:latin typeface="Calibri" pitchFamily="34" charset="0"/>
                <a:ea typeface="Calibri" pitchFamily="34" charset="-122"/>
                <a:cs typeface="Calibri" pitchFamily="34" charset="-120"/>
              </a:rPr>
              <a:t>Medium</a:t>
            </a:r>
            <a:endParaRPr lang="en-US" sz="1050" dirty="0"/>
          </a:p>
        </p:txBody>
      </p:sp>
      <p:sp>
        <p:nvSpPr>
          <p:cNvPr id="84" name="Text 82"/>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29 / 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Pattern Comparison — Latency, Cost &amp; Complexity</a:t>
            </a:r>
            <a:endParaRPr lang="en-US" sz="2400" dirty="0"/>
          </a:p>
        </p:txBody>
      </p:sp>
      <p:graphicFrame>
        <p:nvGraphicFramePr>
          <p:cNvPr id="4" name="Chart 0" descr=""/>
          <p:cNvGraphicFramePr/>
          <p:nvPr/>
        </p:nvGraphicFramePr>
        <p:xfrm>
          <a:off x="274320" y="914400"/>
          <a:ext cx="859536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 / 33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0B981"/>
          </a:solidFill>
          <a:ln/>
        </p:spPr>
      </p:sp>
      <p:sp>
        <p:nvSpPr>
          <p:cNvPr id="3" name="Text 1"/>
          <p:cNvSpPr/>
          <p:nvPr/>
        </p:nvSpPr>
        <p:spPr>
          <a:xfrm>
            <a:off x="548640" y="274320"/>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Decision Framework — Choosing the Right Pattern</a:t>
            </a:r>
            <a:endParaRPr lang="en-US" sz="2400" dirty="0"/>
          </a:p>
        </p:txBody>
      </p:sp>
      <p:sp>
        <p:nvSpPr>
          <p:cNvPr id="4" name="Shape 2"/>
          <p:cNvSpPr/>
          <p:nvPr/>
        </p:nvSpPr>
        <p:spPr>
          <a:xfrm>
            <a:off x="548640" y="960120"/>
            <a:ext cx="5943600" cy="457200"/>
          </a:xfrm>
          <a:prstGeom prst="rect">
            <a:avLst/>
          </a:prstGeom>
          <a:solidFill>
            <a:srgbClr val="162D50"/>
          </a:solidFill>
          <a:ln/>
        </p:spPr>
      </p:sp>
      <p:sp>
        <p:nvSpPr>
          <p:cNvPr id="5" name="Text 3"/>
          <p:cNvSpPr/>
          <p:nvPr/>
        </p:nvSpPr>
        <p:spPr>
          <a:xfrm>
            <a:off x="731520" y="960120"/>
            <a:ext cx="5577840" cy="45720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Need to improve quality of a single output?</a:t>
            </a:r>
            <a:endParaRPr lang="en-US" sz="1200" dirty="0"/>
          </a:p>
        </p:txBody>
      </p:sp>
      <p:sp>
        <p:nvSpPr>
          <p:cNvPr id="6" name="Text 4"/>
          <p:cNvSpPr/>
          <p:nvPr/>
        </p:nvSpPr>
        <p:spPr>
          <a:xfrm>
            <a:off x="6537960" y="960120"/>
            <a:ext cx="365760" cy="457200"/>
          </a:xfrm>
          <a:prstGeom prst="rect">
            <a:avLst/>
          </a:prstGeom>
          <a:noFill/>
          <a:ln/>
        </p:spPr>
        <p:txBody>
          <a:bodyPr wrap="square" rtlCol="0" anchor="ctr"/>
          <a:lstStyle/>
          <a:p>
            <a:pPr algn="ctr" indent="0" marL="0">
              <a:buNone/>
            </a:pPr>
            <a:r>
              <a:rPr lang="en-US" sz="1400" dirty="0">
                <a:solidFill>
                  <a:srgbClr val="6B83A0"/>
                </a:solidFill>
              </a:rPr>
              <a:t>→</a:t>
            </a:r>
            <a:endParaRPr lang="en-US" sz="1400" dirty="0"/>
          </a:p>
        </p:txBody>
      </p:sp>
      <p:sp>
        <p:nvSpPr>
          <p:cNvPr id="7" name="Shape 5"/>
          <p:cNvSpPr/>
          <p:nvPr/>
        </p:nvSpPr>
        <p:spPr>
          <a:xfrm>
            <a:off x="6949440" y="960120"/>
            <a:ext cx="1645920" cy="457200"/>
          </a:xfrm>
          <a:prstGeom prst="rect">
            <a:avLst/>
          </a:prstGeom>
          <a:solidFill>
            <a:srgbClr val="00D4FF">
              <a:alpha val="20000"/>
            </a:srgbClr>
          </a:solidFill>
          <a:ln w="12700">
            <a:solidFill>
              <a:srgbClr val="00D4FF"/>
            </a:solidFill>
            <a:prstDash val="solid"/>
          </a:ln>
        </p:spPr>
      </p:sp>
      <p:sp>
        <p:nvSpPr>
          <p:cNvPr id="8" name="Text 6"/>
          <p:cNvSpPr/>
          <p:nvPr/>
        </p:nvSpPr>
        <p:spPr>
          <a:xfrm>
            <a:off x="6949440" y="960120"/>
            <a:ext cx="1645920" cy="457200"/>
          </a:xfrm>
          <a:prstGeom prst="rect">
            <a:avLst/>
          </a:prstGeom>
          <a:noFill/>
          <a:ln/>
        </p:spPr>
        <p:txBody>
          <a:bodyPr wrap="square" rtlCol="0" anchor="ctr"/>
          <a:lstStyle/>
          <a:p>
            <a:pPr algn="ctr" indent="0" marL="0">
              <a:buNone/>
            </a:pPr>
            <a:r>
              <a:rPr lang="en-US" sz="1150" b="1" dirty="0">
                <a:solidFill>
                  <a:srgbClr val="00D4FF"/>
                </a:solidFill>
                <a:latin typeface="Calibri" pitchFamily="34" charset="0"/>
                <a:ea typeface="Calibri" pitchFamily="34" charset="-122"/>
                <a:cs typeface="Calibri" pitchFamily="34" charset="-120"/>
              </a:rPr>
              <a:t>Reflection</a:t>
            </a:r>
            <a:endParaRPr lang="en-US" sz="1150" dirty="0"/>
          </a:p>
        </p:txBody>
      </p:sp>
      <p:sp>
        <p:nvSpPr>
          <p:cNvPr id="9" name="Shape 7"/>
          <p:cNvSpPr/>
          <p:nvPr/>
        </p:nvSpPr>
        <p:spPr>
          <a:xfrm>
            <a:off x="548640" y="1527048"/>
            <a:ext cx="5943600" cy="457200"/>
          </a:xfrm>
          <a:prstGeom prst="rect">
            <a:avLst/>
          </a:prstGeom>
          <a:solidFill>
            <a:srgbClr val="162D50"/>
          </a:solidFill>
          <a:ln/>
        </p:spPr>
      </p:sp>
      <p:sp>
        <p:nvSpPr>
          <p:cNvPr id="10" name="Text 8"/>
          <p:cNvSpPr/>
          <p:nvPr/>
        </p:nvSpPr>
        <p:spPr>
          <a:xfrm>
            <a:off x="731520" y="1527048"/>
            <a:ext cx="5577840" cy="45720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Need real-time tool interaction with reasoning?</a:t>
            </a:r>
            <a:endParaRPr lang="en-US" sz="1200" dirty="0"/>
          </a:p>
        </p:txBody>
      </p:sp>
      <p:sp>
        <p:nvSpPr>
          <p:cNvPr id="11" name="Text 9"/>
          <p:cNvSpPr/>
          <p:nvPr/>
        </p:nvSpPr>
        <p:spPr>
          <a:xfrm>
            <a:off x="6537960" y="1527048"/>
            <a:ext cx="365760" cy="457200"/>
          </a:xfrm>
          <a:prstGeom prst="rect">
            <a:avLst/>
          </a:prstGeom>
          <a:noFill/>
          <a:ln/>
        </p:spPr>
        <p:txBody>
          <a:bodyPr wrap="square" rtlCol="0" anchor="ctr"/>
          <a:lstStyle/>
          <a:p>
            <a:pPr algn="ctr" indent="0" marL="0">
              <a:buNone/>
            </a:pPr>
            <a:r>
              <a:rPr lang="en-US" sz="1400" dirty="0">
                <a:solidFill>
                  <a:srgbClr val="6B83A0"/>
                </a:solidFill>
              </a:rPr>
              <a:t>→</a:t>
            </a:r>
            <a:endParaRPr lang="en-US" sz="1400" dirty="0"/>
          </a:p>
        </p:txBody>
      </p:sp>
      <p:sp>
        <p:nvSpPr>
          <p:cNvPr id="12" name="Shape 10"/>
          <p:cNvSpPr/>
          <p:nvPr/>
        </p:nvSpPr>
        <p:spPr>
          <a:xfrm>
            <a:off x="6949440" y="1527048"/>
            <a:ext cx="1645920" cy="457200"/>
          </a:xfrm>
          <a:prstGeom prst="rect">
            <a:avLst/>
          </a:prstGeom>
          <a:solidFill>
            <a:srgbClr val="7C3AED">
              <a:alpha val="20000"/>
            </a:srgbClr>
          </a:solidFill>
          <a:ln w="12700">
            <a:solidFill>
              <a:srgbClr val="7C3AED"/>
            </a:solidFill>
            <a:prstDash val="solid"/>
          </a:ln>
        </p:spPr>
      </p:sp>
      <p:sp>
        <p:nvSpPr>
          <p:cNvPr id="13" name="Text 11"/>
          <p:cNvSpPr/>
          <p:nvPr/>
        </p:nvSpPr>
        <p:spPr>
          <a:xfrm>
            <a:off x="6949440" y="1527048"/>
            <a:ext cx="1645920" cy="457200"/>
          </a:xfrm>
          <a:prstGeom prst="rect">
            <a:avLst/>
          </a:prstGeom>
          <a:noFill/>
          <a:ln/>
        </p:spPr>
        <p:txBody>
          <a:bodyPr wrap="square" rtlCol="0" anchor="ctr"/>
          <a:lstStyle/>
          <a:p>
            <a:pPr algn="ctr" indent="0" marL="0">
              <a:buNone/>
            </a:pPr>
            <a:r>
              <a:rPr lang="en-US" sz="1150" b="1" dirty="0">
                <a:solidFill>
                  <a:srgbClr val="7C3AED"/>
                </a:solidFill>
                <a:latin typeface="Calibri" pitchFamily="34" charset="0"/>
                <a:ea typeface="Calibri" pitchFamily="34" charset="-122"/>
                <a:cs typeface="Calibri" pitchFamily="34" charset="-120"/>
              </a:rPr>
              <a:t>ReAct</a:t>
            </a:r>
            <a:endParaRPr lang="en-US" sz="1150" dirty="0"/>
          </a:p>
        </p:txBody>
      </p:sp>
      <p:sp>
        <p:nvSpPr>
          <p:cNvPr id="14" name="Shape 12"/>
          <p:cNvSpPr/>
          <p:nvPr/>
        </p:nvSpPr>
        <p:spPr>
          <a:xfrm>
            <a:off x="548640" y="2093976"/>
            <a:ext cx="5943600" cy="457200"/>
          </a:xfrm>
          <a:prstGeom prst="rect">
            <a:avLst/>
          </a:prstGeom>
          <a:solidFill>
            <a:srgbClr val="162D50"/>
          </a:solidFill>
          <a:ln/>
        </p:spPr>
      </p:sp>
      <p:sp>
        <p:nvSpPr>
          <p:cNvPr id="15" name="Text 13"/>
          <p:cNvSpPr/>
          <p:nvPr/>
        </p:nvSpPr>
        <p:spPr>
          <a:xfrm>
            <a:off x="731520" y="2093976"/>
            <a:ext cx="5577840" cy="45720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Predictable task, want minimal LLM calls?</a:t>
            </a:r>
            <a:endParaRPr lang="en-US" sz="1200" dirty="0"/>
          </a:p>
        </p:txBody>
      </p:sp>
      <p:sp>
        <p:nvSpPr>
          <p:cNvPr id="16" name="Text 14"/>
          <p:cNvSpPr/>
          <p:nvPr/>
        </p:nvSpPr>
        <p:spPr>
          <a:xfrm>
            <a:off x="6537960" y="2093976"/>
            <a:ext cx="365760" cy="457200"/>
          </a:xfrm>
          <a:prstGeom prst="rect">
            <a:avLst/>
          </a:prstGeom>
          <a:noFill/>
          <a:ln/>
        </p:spPr>
        <p:txBody>
          <a:bodyPr wrap="square" rtlCol="0" anchor="ctr"/>
          <a:lstStyle/>
          <a:p>
            <a:pPr algn="ctr" indent="0" marL="0">
              <a:buNone/>
            </a:pPr>
            <a:r>
              <a:rPr lang="en-US" sz="1400" dirty="0">
                <a:solidFill>
                  <a:srgbClr val="6B83A0"/>
                </a:solidFill>
              </a:rPr>
              <a:t>→</a:t>
            </a:r>
            <a:endParaRPr lang="en-US" sz="1400" dirty="0"/>
          </a:p>
        </p:txBody>
      </p:sp>
      <p:sp>
        <p:nvSpPr>
          <p:cNvPr id="17" name="Shape 15"/>
          <p:cNvSpPr/>
          <p:nvPr/>
        </p:nvSpPr>
        <p:spPr>
          <a:xfrm>
            <a:off x="6949440" y="2093976"/>
            <a:ext cx="1645920" cy="457200"/>
          </a:xfrm>
          <a:prstGeom prst="rect">
            <a:avLst/>
          </a:prstGeom>
          <a:solidFill>
            <a:srgbClr val="10B981">
              <a:alpha val="20000"/>
            </a:srgbClr>
          </a:solidFill>
          <a:ln w="12700">
            <a:solidFill>
              <a:srgbClr val="10B981"/>
            </a:solidFill>
            <a:prstDash val="solid"/>
          </a:ln>
        </p:spPr>
      </p:sp>
      <p:sp>
        <p:nvSpPr>
          <p:cNvPr id="18" name="Text 16"/>
          <p:cNvSpPr/>
          <p:nvPr/>
        </p:nvSpPr>
        <p:spPr>
          <a:xfrm>
            <a:off x="6949440" y="2093976"/>
            <a:ext cx="1645920" cy="457200"/>
          </a:xfrm>
          <a:prstGeom prst="rect">
            <a:avLst/>
          </a:prstGeom>
          <a:noFill/>
          <a:ln/>
        </p:spPr>
        <p:txBody>
          <a:bodyPr wrap="square" rtlCol="0" anchor="ctr"/>
          <a:lstStyle/>
          <a:p>
            <a:pPr algn="ctr" indent="0" marL="0">
              <a:buNone/>
            </a:pPr>
            <a:r>
              <a:rPr lang="en-US" sz="1150" b="1" dirty="0">
                <a:solidFill>
                  <a:srgbClr val="10B981"/>
                </a:solidFill>
                <a:latin typeface="Calibri" pitchFamily="34" charset="0"/>
                <a:ea typeface="Calibri" pitchFamily="34" charset="-122"/>
                <a:cs typeface="Calibri" pitchFamily="34" charset="-120"/>
              </a:rPr>
              <a:t>REWOO</a:t>
            </a:r>
            <a:endParaRPr lang="en-US" sz="1150" dirty="0"/>
          </a:p>
        </p:txBody>
      </p:sp>
      <p:sp>
        <p:nvSpPr>
          <p:cNvPr id="19" name="Shape 17"/>
          <p:cNvSpPr/>
          <p:nvPr/>
        </p:nvSpPr>
        <p:spPr>
          <a:xfrm>
            <a:off x="548640" y="2660904"/>
            <a:ext cx="5943600" cy="457200"/>
          </a:xfrm>
          <a:prstGeom prst="rect">
            <a:avLst/>
          </a:prstGeom>
          <a:solidFill>
            <a:srgbClr val="162D50"/>
          </a:solidFill>
          <a:ln/>
        </p:spPr>
      </p:sp>
      <p:sp>
        <p:nvSpPr>
          <p:cNvPr id="20" name="Text 18"/>
          <p:cNvSpPr/>
          <p:nvPr/>
        </p:nvSpPr>
        <p:spPr>
          <a:xfrm>
            <a:off x="731520" y="2660904"/>
            <a:ext cx="5577840" cy="45720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Complex task needing adaptive multi-step plan?</a:t>
            </a:r>
            <a:endParaRPr lang="en-US" sz="1200" dirty="0"/>
          </a:p>
        </p:txBody>
      </p:sp>
      <p:sp>
        <p:nvSpPr>
          <p:cNvPr id="21" name="Text 19"/>
          <p:cNvSpPr/>
          <p:nvPr/>
        </p:nvSpPr>
        <p:spPr>
          <a:xfrm>
            <a:off x="6537960" y="2660904"/>
            <a:ext cx="365760" cy="457200"/>
          </a:xfrm>
          <a:prstGeom prst="rect">
            <a:avLst/>
          </a:prstGeom>
          <a:noFill/>
          <a:ln/>
        </p:spPr>
        <p:txBody>
          <a:bodyPr wrap="square" rtlCol="0" anchor="ctr"/>
          <a:lstStyle/>
          <a:p>
            <a:pPr algn="ctr" indent="0" marL="0">
              <a:buNone/>
            </a:pPr>
            <a:r>
              <a:rPr lang="en-US" sz="1400" dirty="0">
                <a:solidFill>
                  <a:srgbClr val="6B83A0"/>
                </a:solidFill>
              </a:rPr>
              <a:t>→</a:t>
            </a:r>
            <a:endParaRPr lang="en-US" sz="1400" dirty="0"/>
          </a:p>
        </p:txBody>
      </p:sp>
      <p:sp>
        <p:nvSpPr>
          <p:cNvPr id="22" name="Shape 20"/>
          <p:cNvSpPr/>
          <p:nvPr/>
        </p:nvSpPr>
        <p:spPr>
          <a:xfrm>
            <a:off x="6949440" y="2660904"/>
            <a:ext cx="1645920" cy="457200"/>
          </a:xfrm>
          <a:prstGeom prst="rect">
            <a:avLst/>
          </a:prstGeom>
          <a:solidFill>
            <a:srgbClr val="F59E0B">
              <a:alpha val="20000"/>
            </a:srgbClr>
          </a:solidFill>
          <a:ln w="12700">
            <a:solidFill>
              <a:srgbClr val="F59E0B"/>
            </a:solidFill>
            <a:prstDash val="solid"/>
          </a:ln>
        </p:spPr>
      </p:sp>
      <p:sp>
        <p:nvSpPr>
          <p:cNvPr id="23" name="Text 21"/>
          <p:cNvSpPr/>
          <p:nvPr/>
        </p:nvSpPr>
        <p:spPr>
          <a:xfrm>
            <a:off x="6949440" y="2660904"/>
            <a:ext cx="1645920" cy="457200"/>
          </a:xfrm>
          <a:prstGeom prst="rect">
            <a:avLst/>
          </a:prstGeom>
          <a:noFill/>
          <a:ln/>
        </p:spPr>
        <p:txBody>
          <a:bodyPr wrap="square"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Plan-and-Execute</a:t>
            </a:r>
            <a:endParaRPr lang="en-US" sz="1150" dirty="0"/>
          </a:p>
        </p:txBody>
      </p:sp>
      <p:sp>
        <p:nvSpPr>
          <p:cNvPr id="24" name="Shape 22"/>
          <p:cNvSpPr/>
          <p:nvPr/>
        </p:nvSpPr>
        <p:spPr>
          <a:xfrm>
            <a:off x="548640" y="3227832"/>
            <a:ext cx="5943600" cy="457200"/>
          </a:xfrm>
          <a:prstGeom prst="rect">
            <a:avLst/>
          </a:prstGeom>
          <a:solidFill>
            <a:srgbClr val="162D50"/>
          </a:solidFill>
          <a:ln/>
        </p:spPr>
      </p:sp>
      <p:sp>
        <p:nvSpPr>
          <p:cNvPr id="25" name="Text 23"/>
          <p:cNvSpPr/>
          <p:nvPr/>
        </p:nvSpPr>
        <p:spPr>
          <a:xfrm>
            <a:off x="731520" y="3227832"/>
            <a:ext cx="5577840" cy="45720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Simple task needing external data / action?</a:t>
            </a:r>
            <a:endParaRPr lang="en-US" sz="1200" dirty="0"/>
          </a:p>
        </p:txBody>
      </p:sp>
      <p:sp>
        <p:nvSpPr>
          <p:cNvPr id="26" name="Text 24"/>
          <p:cNvSpPr/>
          <p:nvPr/>
        </p:nvSpPr>
        <p:spPr>
          <a:xfrm>
            <a:off x="6537960" y="3227832"/>
            <a:ext cx="365760" cy="457200"/>
          </a:xfrm>
          <a:prstGeom prst="rect">
            <a:avLst/>
          </a:prstGeom>
          <a:noFill/>
          <a:ln/>
        </p:spPr>
        <p:txBody>
          <a:bodyPr wrap="square" rtlCol="0" anchor="ctr"/>
          <a:lstStyle/>
          <a:p>
            <a:pPr algn="ctr" indent="0" marL="0">
              <a:buNone/>
            </a:pPr>
            <a:r>
              <a:rPr lang="en-US" sz="1400" dirty="0">
                <a:solidFill>
                  <a:srgbClr val="6B83A0"/>
                </a:solidFill>
              </a:rPr>
              <a:t>→</a:t>
            </a:r>
            <a:endParaRPr lang="en-US" sz="1400" dirty="0"/>
          </a:p>
        </p:txBody>
      </p:sp>
      <p:sp>
        <p:nvSpPr>
          <p:cNvPr id="27" name="Shape 25"/>
          <p:cNvSpPr/>
          <p:nvPr/>
        </p:nvSpPr>
        <p:spPr>
          <a:xfrm>
            <a:off x="6949440" y="3227832"/>
            <a:ext cx="1645920" cy="457200"/>
          </a:xfrm>
          <a:prstGeom prst="rect">
            <a:avLst/>
          </a:prstGeom>
          <a:solidFill>
            <a:srgbClr val="EF4444">
              <a:alpha val="20000"/>
            </a:srgbClr>
          </a:solidFill>
          <a:ln w="12700">
            <a:solidFill>
              <a:srgbClr val="EF4444"/>
            </a:solidFill>
            <a:prstDash val="solid"/>
          </a:ln>
        </p:spPr>
      </p:sp>
      <p:sp>
        <p:nvSpPr>
          <p:cNvPr id="28" name="Text 26"/>
          <p:cNvSpPr/>
          <p:nvPr/>
        </p:nvSpPr>
        <p:spPr>
          <a:xfrm>
            <a:off x="6949440" y="3227832"/>
            <a:ext cx="1645920" cy="457200"/>
          </a:xfrm>
          <a:prstGeom prst="rect">
            <a:avLst/>
          </a:prstGeom>
          <a:noFill/>
          <a:ln/>
        </p:spPr>
        <p:txBody>
          <a:bodyPr wrap="square" rtlCol="0" anchor="ctr"/>
          <a:lstStyle/>
          <a:p>
            <a:pPr algn="ctr" indent="0" marL="0">
              <a:buNone/>
            </a:pPr>
            <a:r>
              <a:rPr lang="en-US" sz="1150" b="1" dirty="0">
                <a:solidFill>
                  <a:srgbClr val="EF4444"/>
                </a:solidFill>
                <a:latin typeface="Calibri" pitchFamily="34" charset="0"/>
                <a:ea typeface="Calibri" pitchFamily="34" charset="-122"/>
                <a:cs typeface="Calibri" pitchFamily="34" charset="-120"/>
              </a:rPr>
              <a:t>Tool Use</a:t>
            </a:r>
            <a:endParaRPr lang="en-US" sz="1150" dirty="0"/>
          </a:p>
        </p:txBody>
      </p:sp>
      <p:sp>
        <p:nvSpPr>
          <p:cNvPr id="29" name="Shape 27"/>
          <p:cNvSpPr/>
          <p:nvPr/>
        </p:nvSpPr>
        <p:spPr>
          <a:xfrm>
            <a:off x="548640" y="3794760"/>
            <a:ext cx="5943600" cy="457200"/>
          </a:xfrm>
          <a:prstGeom prst="rect">
            <a:avLst/>
          </a:prstGeom>
          <a:solidFill>
            <a:srgbClr val="162D50"/>
          </a:solidFill>
          <a:ln/>
        </p:spPr>
      </p:sp>
      <p:sp>
        <p:nvSpPr>
          <p:cNvPr id="30" name="Text 28"/>
          <p:cNvSpPr/>
          <p:nvPr/>
        </p:nvSpPr>
        <p:spPr>
          <a:xfrm>
            <a:off x="731520" y="3794760"/>
            <a:ext cx="5577840" cy="45720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Complex domain needing specialized expertise?</a:t>
            </a:r>
            <a:endParaRPr lang="en-US" sz="1200" dirty="0"/>
          </a:p>
        </p:txBody>
      </p:sp>
      <p:sp>
        <p:nvSpPr>
          <p:cNvPr id="31" name="Text 29"/>
          <p:cNvSpPr/>
          <p:nvPr/>
        </p:nvSpPr>
        <p:spPr>
          <a:xfrm>
            <a:off x="6537960" y="3794760"/>
            <a:ext cx="365760" cy="457200"/>
          </a:xfrm>
          <a:prstGeom prst="rect">
            <a:avLst/>
          </a:prstGeom>
          <a:noFill/>
          <a:ln/>
        </p:spPr>
        <p:txBody>
          <a:bodyPr wrap="square" rtlCol="0" anchor="ctr"/>
          <a:lstStyle/>
          <a:p>
            <a:pPr algn="ctr" indent="0" marL="0">
              <a:buNone/>
            </a:pPr>
            <a:r>
              <a:rPr lang="en-US" sz="1400" dirty="0">
                <a:solidFill>
                  <a:srgbClr val="6B83A0"/>
                </a:solidFill>
              </a:rPr>
              <a:t>→</a:t>
            </a:r>
            <a:endParaRPr lang="en-US" sz="1400" dirty="0"/>
          </a:p>
        </p:txBody>
      </p:sp>
      <p:sp>
        <p:nvSpPr>
          <p:cNvPr id="32" name="Shape 30"/>
          <p:cNvSpPr/>
          <p:nvPr/>
        </p:nvSpPr>
        <p:spPr>
          <a:xfrm>
            <a:off x="6949440" y="3794760"/>
            <a:ext cx="1645920" cy="457200"/>
          </a:xfrm>
          <a:prstGeom prst="rect">
            <a:avLst/>
          </a:prstGeom>
          <a:solidFill>
            <a:srgbClr val="EC4899">
              <a:alpha val="20000"/>
            </a:srgbClr>
          </a:solidFill>
          <a:ln w="12700">
            <a:solidFill>
              <a:srgbClr val="EC4899"/>
            </a:solidFill>
            <a:prstDash val="solid"/>
          </a:ln>
        </p:spPr>
      </p:sp>
      <p:sp>
        <p:nvSpPr>
          <p:cNvPr id="33" name="Text 31"/>
          <p:cNvSpPr/>
          <p:nvPr/>
        </p:nvSpPr>
        <p:spPr>
          <a:xfrm>
            <a:off x="6949440" y="3794760"/>
            <a:ext cx="1645920" cy="457200"/>
          </a:xfrm>
          <a:prstGeom prst="rect">
            <a:avLst/>
          </a:prstGeom>
          <a:noFill/>
          <a:ln/>
        </p:spPr>
        <p:txBody>
          <a:bodyPr wrap="square" rtlCol="0" anchor="ctr"/>
          <a:lstStyle/>
          <a:p>
            <a:pPr algn="ctr" indent="0" marL="0">
              <a:buNone/>
            </a:pPr>
            <a:r>
              <a:rPr lang="en-US" sz="1150" b="1" dirty="0">
                <a:solidFill>
                  <a:srgbClr val="EC4899"/>
                </a:solidFill>
                <a:latin typeface="Calibri" pitchFamily="34" charset="0"/>
                <a:ea typeface="Calibri" pitchFamily="34" charset="-122"/>
                <a:cs typeface="Calibri" pitchFamily="34" charset="-120"/>
              </a:rPr>
              <a:t>Multi-Agent</a:t>
            </a:r>
            <a:endParaRPr lang="en-US" sz="1150" dirty="0"/>
          </a:p>
        </p:txBody>
      </p:sp>
      <p:sp>
        <p:nvSpPr>
          <p:cNvPr id="34" name="Shape 32"/>
          <p:cNvSpPr/>
          <p:nvPr/>
        </p:nvSpPr>
        <p:spPr>
          <a:xfrm>
            <a:off x="548640" y="4361688"/>
            <a:ext cx="5943600" cy="457200"/>
          </a:xfrm>
          <a:prstGeom prst="rect">
            <a:avLst/>
          </a:prstGeom>
          <a:solidFill>
            <a:srgbClr val="162D50"/>
          </a:solidFill>
          <a:ln/>
        </p:spPr>
      </p:sp>
      <p:sp>
        <p:nvSpPr>
          <p:cNvPr id="35" name="Text 33"/>
          <p:cNvSpPr/>
          <p:nvPr/>
        </p:nvSpPr>
        <p:spPr>
          <a:xfrm>
            <a:off x="731520" y="4361688"/>
            <a:ext cx="5577840" cy="457200"/>
          </a:xfrm>
          <a:prstGeom prst="rect">
            <a:avLst/>
          </a:prstGeom>
          <a:noFill/>
          <a:ln/>
        </p:spPr>
        <p:txBody>
          <a:bodyPr wrap="square" lIns="0" tIns="0" rIns="0" bIns="0" rtlCol="0" anchor="ctr"/>
          <a:lstStyle/>
          <a:p>
            <a:pPr indent="0" marL="0">
              <a:buNone/>
            </a:pPr>
            <a:r>
              <a:rPr lang="en-US" sz="1200" dirty="0">
                <a:solidFill>
                  <a:srgbClr val="B8C9E0"/>
                </a:solidFill>
                <a:latin typeface="Calibri" pitchFamily="34" charset="0"/>
                <a:ea typeface="Calibri" pitchFamily="34" charset="-122"/>
                <a:cs typeface="Calibri" pitchFamily="34" charset="-120"/>
              </a:rPr>
              <a:t>Many independent subtasks to run in parallel?</a:t>
            </a:r>
            <a:endParaRPr lang="en-US" sz="1200" dirty="0"/>
          </a:p>
        </p:txBody>
      </p:sp>
      <p:sp>
        <p:nvSpPr>
          <p:cNvPr id="36" name="Text 34"/>
          <p:cNvSpPr/>
          <p:nvPr/>
        </p:nvSpPr>
        <p:spPr>
          <a:xfrm>
            <a:off x="6537960" y="4361688"/>
            <a:ext cx="365760" cy="457200"/>
          </a:xfrm>
          <a:prstGeom prst="rect">
            <a:avLst/>
          </a:prstGeom>
          <a:noFill/>
          <a:ln/>
        </p:spPr>
        <p:txBody>
          <a:bodyPr wrap="square" rtlCol="0" anchor="ctr"/>
          <a:lstStyle/>
          <a:p>
            <a:pPr algn="ctr" indent="0" marL="0">
              <a:buNone/>
            </a:pPr>
            <a:r>
              <a:rPr lang="en-US" sz="1400" dirty="0">
                <a:solidFill>
                  <a:srgbClr val="6B83A0"/>
                </a:solidFill>
              </a:rPr>
              <a:t>→</a:t>
            </a:r>
            <a:endParaRPr lang="en-US" sz="1400" dirty="0"/>
          </a:p>
        </p:txBody>
      </p:sp>
      <p:sp>
        <p:nvSpPr>
          <p:cNvPr id="37" name="Shape 35"/>
          <p:cNvSpPr/>
          <p:nvPr/>
        </p:nvSpPr>
        <p:spPr>
          <a:xfrm>
            <a:off x="6949440" y="4361688"/>
            <a:ext cx="1645920" cy="457200"/>
          </a:xfrm>
          <a:prstGeom prst="rect">
            <a:avLst/>
          </a:prstGeom>
          <a:solidFill>
            <a:srgbClr val="6366F1">
              <a:alpha val="20000"/>
            </a:srgbClr>
          </a:solidFill>
          <a:ln w="12700">
            <a:solidFill>
              <a:srgbClr val="6366F1"/>
            </a:solidFill>
            <a:prstDash val="solid"/>
          </a:ln>
        </p:spPr>
      </p:sp>
      <p:sp>
        <p:nvSpPr>
          <p:cNvPr id="38" name="Text 36"/>
          <p:cNvSpPr/>
          <p:nvPr/>
        </p:nvSpPr>
        <p:spPr>
          <a:xfrm>
            <a:off x="6949440" y="4361688"/>
            <a:ext cx="1645920" cy="457200"/>
          </a:xfrm>
          <a:prstGeom prst="rect">
            <a:avLst/>
          </a:prstGeom>
          <a:noFill/>
          <a:ln/>
        </p:spPr>
        <p:txBody>
          <a:bodyPr wrap="square" rtlCol="0" anchor="ctr"/>
          <a:lstStyle/>
          <a:p>
            <a:pPr algn="ctr" indent="0" marL="0">
              <a:buNone/>
            </a:pPr>
            <a:r>
              <a:rPr lang="en-US" sz="1150" b="1" dirty="0">
                <a:solidFill>
                  <a:srgbClr val="6366F1"/>
                </a:solidFill>
                <a:latin typeface="Calibri" pitchFamily="34" charset="0"/>
                <a:ea typeface="Calibri" pitchFamily="34" charset="-122"/>
                <a:cs typeface="Calibri" pitchFamily="34" charset="-120"/>
              </a:rPr>
              <a:t>LLMCompiler</a:t>
            </a:r>
            <a:endParaRPr lang="en-US" sz="1150" dirty="0"/>
          </a:p>
        </p:txBody>
      </p:sp>
      <p:sp>
        <p:nvSpPr>
          <p:cNvPr id="39" name="Text 37"/>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B83A0"/>
                </a:solidFill>
                <a:latin typeface="Calibri" pitchFamily="34" charset="0"/>
                <a:ea typeface="Calibri" pitchFamily="34" charset="-122"/>
                <a:cs typeface="Calibri" pitchFamily="34" charset="-120"/>
              </a:rPr>
              <a:t>31 / 33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C3AED"/>
          </a:solidFill>
          <a:ln/>
        </p:spPr>
      </p:sp>
      <p:sp>
        <p:nvSpPr>
          <p:cNvPr id="3" name="Text 1"/>
          <p:cNvSpPr/>
          <p:nvPr/>
        </p:nvSpPr>
        <p:spPr>
          <a:xfrm>
            <a:off x="457200" y="228600"/>
            <a:ext cx="8229600" cy="50292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Combining Patterns — Real-World Architectures</a:t>
            </a:r>
            <a:endParaRPr lang="en-US" sz="2400" dirty="0"/>
          </a:p>
        </p:txBody>
      </p:sp>
      <p:sp>
        <p:nvSpPr>
          <p:cNvPr id="4" name="Shape 2"/>
          <p:cNvSpPr/>
          <p:nvPr/>
        </p:nvSpPr>
        <p:spPr>
          <a:xfrm>
            <a:off x="457200" y="914400"/>
            <a:ext cx="8229600" cy="71323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Shape 3"/>
          <p:cNvSpPr/>
          <p:nvPr/>
        </p:nvSpPr>
        <p:spPr>
          <a:xfrm>
            <a:off x="457200" y="914400"/>
            <a:ext cx="64008" cy="713232"/>
          </a:xfrm>
          <a:prstGeom prst="rect">
            <a:avLst/>
          </a:prstGeom>
          <a:solidFill>
            <a:srgbClr val="00D4FF"/>
          </a:solidFill>
          <a:ln/>
        </p:spPr>
      </p:sp>
      <p:sp>
        <p:nvSpPr>
          <p:cNvPr id="6" name="Text 4"/>
          <p:cNvSpPr/>
          <p:nvPr/>
        </p:nvSpPr>
        <p:spPr>
          <a:xfrm>
            <a:off x="685800" y="941832"/>
            <a:ext cx="2286000" cy="274320"/>
          </a:xfrm>
          <a:prstGeom prst="rect">
            <a:avLst/>
          </a:prstGeom>
          <a:noFill/>
          <a:ln/>
        </p:spPr>
        <p:txBody>
          <a:bodyPr wrap="square" lIns="0" tIns="0" rIns="0" bIns="0" rtlCol="0" anchor="ctr"/>
          <a:lstStyle/>
          <a:p>
            <a:pPr indent="0" marL="0">
              <a:buNone/>
            </a:pPr>
            <a:r>
              <a:rPr lang="en-US" sz="1300" b="1" dirty="0">
                <a:solidFill>
                  <a:srgbClr val="00D4FF"/>
                </a:solidFill>
                <a:latin typeface="Trebuchet MS" pitchFamily="34" charset="0"/>
                <a:ea typeface="Trebuchet MS" pitchFamily="34" charset="-122"/>
                <a:cs typeface="Trebuchet MS" pitchFamily="34" charset="-120"/>
              </a:rPr>
              <a:t>Devin / SWE-Agent</a:t>
            </a:r>
            <a:endParaRPr lang="en-US" sz="1300" dirty="0"/>
          </a:p>
        </p:txBody>
      </p:sp>
      <p:sp>
        <p:nvSpPr>
          <p:cNvPr id="7" name="Text 5"/>
          <p:cNvSpPr/>
          <p:nvPr/>
        </p:nvSpPr>
        <p:spPr>
          <a:xfrm>
            <a:off x="3017520" y="941832"/>
            <a:ext cx="320040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Plan-Execute + ReAct + Reflection</a:t>
            </a:r>
            <a:endParaRPr lang="en-US" sz="1000" dirty="0"/>
          </a:p>
        </p:txBody>
      </p:sp>
      <p:sp>
        <p:nvSpPr>
          <p:cNvPr id="8" name="Text 6"/>
          <p:cNvSpPr/>
          <p:nvPr/>
        </p:nvSpPr>
        <p:spPr>
          <a:xfrm>
            <a:off x="685800" y="1261872"/>
            <a:ext cx="7772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Plans coding task, executes with tool use, reflects on test results, replans if needed.</a:t>
            </a:r>
            <a:endParaRPr lang="en-US" sz="1100" dirty="0"/>
          </a:p>
        </p:txBody>
      </p:sp>
      <p:sp>
        <p:nvSpPr>
          <p:cNvPr id="9" name="Shape 7"/>
          <p:cNvSpPr/>
          <p:nvPr/>
        </p:nvSpPr>
        <p:spPr>
          <a:xfrm>
            <a:off x="457200" y="1719072"/>
            <a:ext cx="8229600" cy="71323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457200" y="1719072"/>
            <a:ext cx="64008" cy="713232"/>
          </a:xfrm>
          <a:prstGeom prst="rect">
            <a:avLst/>
          </a:prstGeom>
          <a:solidFill>
            <a:srgbClr val="7C3AED"/>
          </a:solidFill>
          <a:ln/>
        </p:spPr>
      </p:sp>
      <p:sp>
        <p:nvSpPr>
          <p:cNvPr id="11" name="Text 9"/>
          <p:cNvSpPr/>
          <p:nvPr/>
        </p:nvSpPr>
        <p:spPr>
          <a:xfrm>
            <a:off x="685800" y="1746504"/>
            <a:ext cx="2286000" cy="274320"/>
          </a:xfrm>
          <a:prstGeom prst="rect">
            <a:avLst/>
          </a:prstGeom>
          <a:noFill/>
          <a:ln/>
        </p:spPr>
        <p:txBody>
          <a:bodyPr wrap="square" lIns="0" tIns="0" rIns="0" bIns="0" rtlCol="0" anchor="ctr"/>
          <a:lstStyle/>
          <a:p>
            <a:pPr indent="0" marL="0">
              <a:buNone/>
            </a:pPr>
            <a:r>
              <a:rPr lang="en-US" sz="1300" b="1" dirty="0">
                <a:solidFill>
                  <a:srgbClr val="7C3AED"/>
                </a:solidFill>
                <a:latin typeface="Trebuchet MS" pitchFamily="34" charset="0"/>
                <a:ea typeface="Trebuchet MS" pitchFamily="34" charset="-122"/>
                <a:cs typeface="Trebuchet MS" pitchFamily="34" charset="-120"/>
              </a:rPr>
              <a:t>AutoGPT / BabyAGI</a:t>
            </a:r>
            <a:endParaRPr lang="en-US" sz="1300" dirty="0"/>
          </a:p>
        </p:txBody>
      </p:sp>
      <p:sp>
        <p:nvSpPr>
          <p:cNvPr id="12" name="Text 10"/>
          <p:cNvSpPr/>
          <p:nvPr/>
        </p:nvSpPr>
        <p:spPr>
          <a:xfrm>
            <a:off x="3017520" y="1746504"/>
            <a:ext cx="320040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Reflection + Tool Use + Planning</a:t>
            </a:r>
            <a:endParaRPr lang="en-US" sz="1000" dirty="0"/>
          </a:p>
        </p:txBody>
      </p:sp>
      <p:sp>
        <p:nvSpPr>
          <p:cNvPr id="13" name="Text 11"/>
          <p:cNvSpPr/>
          <p:nvPr/>
        </p:nvSpPr>
        <p:spPr>
          <a:xfrm>
            <a:off x="685800" y="2066544"/>
            <a:ext cx="7772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Self-prompting loop with task creation, execution, and prioritization using external tools.</a:t>
            </a:r>
            <a:endParaRPr lang="en-US" sz="1100" dirty="0"/>
          </a:p>
        </p:txBody>
      </p:sp>
      <p:sp>
        <p:nvSpPr>
          <p:cNvPr id="14" name="Shape 12"/>
          <p:cNvSpPr/>
          <p:nvPr/>
        </p:nvSpPr>
        <p:spPr>
          <a:xfrm>
            <a:off x="457200" y="2523744"/>
            <a:ext cx="8229600" cy="71323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5" name="Shape 13"/>
          <p:cNvSpPr/>
          <p:nvPr/>
        </p:nvSpPr>
        <p:spPr>
          <a:xfrm>
            <a:off x="457200" y="2523744"/>
            <a:ext cx="64008" cy="713232"/>
          </a:xfrm>
          <a:prstGeom prst="rect">
            <a:avLst/>
          </a:prstGeom>
          <a:solidFill>
            <a:srgbClr val="EC4899"/>
          </a:solidFill>
          <a:ln/>
        </p:spPr>
      </p:sp>
      <p:sp>
        <p:nvSpPr>
          <p:cNvPr id="16" name="Text 14"/>
          <p:cNvSpPr/>
          <p:nvPr/>
        </p:nvSpPr>
        <p:spPr>
          <a:xfrm>
            <a:off x="685800" y="2551176"/>
            <a:ext cx="2286000" cy="274320"/>
          </a:xfrm>
          <a:prstGeom prst="rect">
            <a:avLst/>
          </a:prstGeom>
          <a:noFill/>
          <a:ln/>
        </p:spPr>
        <p:txBody>
          <a:bodyPr wrap="square" lIns="0" tIns="0" rIns="0" bIns="0" rtlCol="0" anchor="ctr"/>
          <a:lstStyle/>
          <a:p>
            <a:pPr indent="0" marL="0">
              <a:buNone/>
            </a:pPr>
            <a:r>
              <a:rPr lang="en-US" sz="1300" b="1" dirty="0">
                <a:solidFill>
                  <a:srgbClr val="EC4899"/>
                </a:solidFill>
                <a:latin typeface="Trebuchet MS" pitchFamily="34" charset="0"/>
                <a:ea typeface="Trebuchet MS" pitchFamily="34" charset="-122"/>
                <a:cs typeface="Trebuchet MS" pitchFamily="34" charset="-120"/>
              </a:rPr>
              <a:t>ChatDev / MetaGPT</a:t>
            </a:r>
            <a:endParaRPr lang="en-US" sz="1300" dirty="0"/>
          </a:p>
        </p:txBody>
      </p:sp>
      <p:sp>
        <p:nvSpPr>
          <p:cNvPr id="17" name="Text 15"/>
          <p:cNvSpPr/>
          <p:nvPr/>
        </p:nvSpPr>
        <p:spPr>
          <a:xfrm>
            <a:off x="3017520" y="2551176"/>
            <a:ext cx="320040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Multi-Agent + Plan-Execute</a:t>
            </a:r>
            <a:endParaRPr lang="en-US" sz="1000" dirty="0"/>
          </a:p>
        </p:txBody>
      </p:sp>
      <p:sp>
        <p:nvSpPr>
          <p:cNvPr id="18" name="Text 16"/>
          <p:cNvSpPr/>
          <p:nvPr/>
        </p:nvSpPr>
        <p:spPr>
          <a:xfrm>
            <a:off x="685800" y="2871216"/>
            <a:ext cx="7772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Team of agents (PM, Coder, Tester, Reviewer) following a software development lifecycle.</a:t>
            </a:r>
            <a:endParaRPr lang="en-US" sz="1100" dirty="0"/>
          </a:p>
        </p:txBody>
      </p:sp>
      <p:sp>
        <p:nvSpPr>
          <p:cNvPr id="19" name="Shape 17"/>
          <p:cNvSpPr/>
          <p:nvPr/>
        </p:nvSpPr>
        <p:spPr>
          <a:xfrm>
            <a:off x="457200" y="3328416"/>
            <a:ext cx="8229600" cy="71323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0" name="Shape 18"/>
          <p:cNvSpPr/>
          <p:nvPr/>
        </p:nvSpPr>
        <p:spPr>
          <a:xfrm>
            <a:off x="457200" y="3328416"/>
            <a:ext cx="64008" cy="713232"/>
          </a:xfrm>
          <a:prstGeom prst="rect">
            <a:avLst/>
          </a:prstGeom>
          <a:solidFill>
            <a:srgbClr val="10B981"/>
          </a:solidFill>
          <a:ln/>
        </p:spPr>
      </p:sp>
      <p:sp>
        <p:nvSpPr>
          <p:cNvPr id="21" name="Text 19"/>
          <p:cNvSpPr/>
          <p:nvPr/>
        </p:nvSpPr>
        <p:spPr>
          <a:xfrm>
            <a:off x="685800" y="3355848"/>
            <a:ext cx="2286000" cy="274320"/>
          </a:xfrm>
          <a:prstGeom prst="rect">
            <a:avLst/>
          </a:prstGeom>
          <a:noFill/>
          <a:ln/>
        </p:spPr>
        <p:txBody>
          <a:bodyPr wrap="square" lIns="0" tIns="0" rIns="0" bIns="0" rtlCol="0" anchor="ctr"/>
          <a:lstStyle/>
          <a:p>
            <a:pPr indent="0" marL="0">
              <a:buNone/>
            </a:pPr>
            <a:r>
              <a:rPr lang="en-US" sz="1300" b="1" dirty="0">
                <a:solidFill>
                  <a:srgbClr val="10B981"/>
                </a:solidFill>
                <a:latin typeface="Trebuchet MS" pitchFamily="34" charset="0"/>
                <a:ea typeface="Trebuchet MS" pitchFamily="34" charset="-122"/>
                <a:cs typeface="Trebuchet MS" pitchFamily="34" charset="-120"/>
              </a:rPr>
              <a:t>STORM (Stanford)</a:t>
            </a:r>
            <a:endParaRPr lang="en-US" sz="1300" dirty="0"/>
          </a:p>
        </p:txBody>
      </p:sp>
      <p:sp>
        <p:nvSpPr>
          <p:cNvPr id="22" name="Text 20"/>
          <p:cNvSpPr/>
          <p:nvPr/>
        </p:nvSpPr>
        <p:spPr>
          <a:xfrm>
            <a:off x="3017520" y="3355848"/>
            <a:ext cx="320040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Multi-Agent + ReAct + Reflection</a:t>
            </a:r>
            <a:endParaRPr lang="en-US" sz="1000" dirty="0"/>
          </a:p>
        </p:txBody>
      </p:sp>
      <p:sp>
        <p:nvSpPr>
          <p:cNvPr id="23" name="Text 21"/>
          <p:cNvSpPr/>
          <p:nvPr/>
        </p:nvSpPr>
        <p:spPr>
          <a:xfrm>
            <a:off x="685800" y="3675888"/>
            <a:ext cx="7772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Research agents debate and refine Wikipedia-style articles through structured argumentation.</a:t>
            </a:r>
            <a:endParaRPr lang="en-US" sz="1100" dirty="0"/>
          </a:p>
        </p:txBody>
      </p:sp>
      <p:sp>
        <p:nvSpPr>
          <p:cNvPr id="24" name="Shape 22"/>
          <p:cNvSpPr/>
          <p:nvPr/>
        </p:nvSpPr>
        <p:spPr>
          <a:xfrm>
            <a:off x="457200" y="4133088"/>
            <a:ext cx="8229600" cy="71323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5" name="Shape 23"/>
          <p:cNvSpPr/>
          <p:nvPr/>
        </p:nvSpPr>
        <p:spPr>
          <a:xfrm>
            <a:off x="457200" y="4133088"/>
            <a:ext cx="64008" cy="713232"/>
          </a:xfrm>
          <a:prstGeom prst="rect">
            <a:avLst/>
          </a:prstGeom>
          <a:solidFill>
            <a:srgbClr val="F59E0B"/>
          </a:solidFill>
          <a:ln/>
        </p:spPr>
      </p:sp>
      <p:sp>
        <p:nvSpPr>
          <p:cNvPr id="26" name="Text 24"/>
          <p:cNvSpPr/>
          <p:nvPr/>
        </p:nvSpPr>
        <p:spPr>
          <a:xfrm>
            <a:off x="685800" y="4160520"/>
            <a:ext cx="2286000" cy="27432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FinReg RAG System</a:t>
            </a:r>
            <a:endParaRPr lang="en-US" sz="1300" dirty="0"/>
          </a:p>
        </p:txBody>
      </p:sp>
      <p:sp>
        <p:nvSpPr>
          <p:cNvPr id="27" name="Text 25"/>
          <p:cNvSpPr/>
          <p:nvPr/>
        </p:nvSpPr>
        <p:spPr>
          <a:xfrm>
            <a:off x="3017520" y="4160520"/>
            <a:ext cx="3200400" cy="274320"/>
          </a:xfrm>
          <a:prstGeom prst="rect">
            <a:avLst/>
          </a:prstGeom>
          <a:noFill/>
          <a:ln/>
        </p:spPr>
        <p:txBody>
          <a:bodyPr wrap="square" lIns="0" tIns="0" rIns="0" bIns="0"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Multi-Agent + Tool Use + REWOO</a:t>
            </a:r>
            <a:endParaRPr lang="en-US" sz="1000" dirty="0"/>
          </a:p>
        </p:txBody>
      </p:sp>
      <p:sp>
        <p:nvSpPr>
          <p:cNvPr id="28" name="Text 26"/>
          <p:cNvSpPr/>
          <p:nvPr/>
        </p:nvSpPr>
        <p:spPr>
          <a:xfrm>
            <a:off x="685800" y="4480560"/>
            <a:ext cx="7772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Regulatory compliance across 54 countries with specialized agents per jurisdiction and parallel retrieval.</a:t>
            </a:r>
            <a:endParaRPr lang="en-US" sz="1100" dirty="0"/>
          </a:p>
        </p:txBody>
      </p:sp>
      <p:sp>
        <p:nvSpPr>
          <p:cNvPr id="29" name="Text 27"/>
          <p:cNvSpPr/>
          <p:nvPr/>
        </p:nvSpPr>
        <p:spPr>
          <a:xfrm>
            <a:off x="7772400" y="4754880"/>
            <a:ext cx="10972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 / 33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p:spPr>
      </p:sp>
      <p:pic>
        <p:nvPicPr>
          <p:cNvPr id="3" name="Image 0" descr="preencoded.png">    </p:cNvPr>
          <p:cNvPicPr>
            <a:picLocks noChangeAspect="1"/>
          </p:cNvPicPr>
          <p:nvPr/>
        </p:nvPicPr>
        <p:blipFill>
          <a:blip r:embed="rId1"/>
          <a:stretch>
            <a:fillRect/>
          </a:stretch>
        </p:blipFill>
        <p:spPr>
          <a:xfrm>
            <a:off x="4023360" y="365760"/>
            <a:ext cx="1097280" cy="1097280"/>
          </a:xfrm>
          <a:prstGeom prst="rect">
            <a:avLst/>
          </a:prstGeom>
        </p:spPr>
      </p:pic>
      <p:sp>
        <p:nvSpPr>
          <p:cNvPr id="4" name="Text 1"/>
          <p:cNvSpPr/>
          <p:nvPr/>
        </p:nvSpPr>
        <p:spPr>
          <a:xfrm>
            <a:off x="914400" y="1508760"/>
            <a:ext cx="731520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Key Takeaways</a:t>
            </a:r>
            <a:endParaRPr lang="en-US" sz="2800" dirty="0"/>
          </a:p>
        </p:txBody>
      </p:sp>
      <p:sp>
        <p:nvSpPr>
          <p:cNvPr id="5" name="Text 2"/>
          <p:cNvSpPr/>
          <p:nvPr/>
        </p:nvSpPr>
        <p:spPr>
          <a:xfrm>
            <a:off x="1097280" y="2103120"/>
            <a:ext cx="6949440" cy="34747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01  </a:t>
            </a:r>
            <a:pPr indent="0" marL="0">
              <a:buNone/>
            </a:pPr>
            <a:r>
              <a:rPr lang="en-US" sz="1200" dirty="0">
                <a:solidFill>
                  <a:srgbClr val="B8C9E0"/>
                </a:solidFill>
                <a:latin typeface="Calibri" pitchFamily="34" charset="0"/>
                <a:ea typeface="Calibri" pitchFamily="34" charset="-122"/>
                <a:cs typeface="Calibri" pitchFamily="34" charset="-120"/>
              </a:rPr>
              <a:t>No single pattern fits all — match pattern to task characteristics</a:t>
            </a:r>
            <a:endParaRPr lang="en-US" sz="1100" dirty="0"/>
          </a:p>
        </p:txBody>
      </p:sp>
      <p:sp>
        <p:nvSpPr>
          <p:cNvPr id="6" name="Text 3"/>
          <p:cNvSpPr/>
          <p:nvPr/>
        </p:nvSpPr>
        <p:spPr>
          <a:xfrm>
            <a:off x="1097280" y="2487168"/>
            <a:ext cx="6949440" cy="34747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02  </a:t>
            </a:r>
            <a:pPr indent="0" marL="0">
              <a:buNone/>
            </a:pPr>
            <a:r>
              <a:rPr lang="en-US" sz="1200" dirty="0">
                <a:solidFill>
                  <a:srgbClr val="B8C9E0"/>
                </a:solidFill>
                <a:latin typeface="Calibri" pitchFamily="34" charset="0"/>
                <a:ea typeface="Calibri" pitchFamily="34" charset="-122"/>
                <a:cs typeface="Calibri" pitchFamily="34" charset="-120"/>
              </a:rPr>
              <a:t>Start simple (Tool Use) → add complexity (ReAct → Plan-Execute) as needed</a:t>
            </a:r>
            <a:endParaRPr lang="en-US" sz="1100" dirty="0"/>
          </a:p>
        </p:txBody>
      </p:sp>
      <p:sp>
        <p:nvSpPr>
          <p:cNvPr id="7" name="Text 4"/>
          <p:cNvSpPr/>
          <p:nvPr/>
        </p:nvSpPr>
        <p:spPr>
          <a:xfrm>
            <a:off x="1097280" y="2871216"/>
            <a:ext cx="6949440" cy="34747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03  </a:t>
            </a:r>
            <a:pPr indent="0" marL="0">
              <a:buNone/>
            </a:pPr>
            <a:r>
              <a:rPr lang="en-US" sz="1200" dirty="0">
                <a:solidFill>
                  <a:srgbClr val="B8C9E0"/>
                </a:solidFill>
                <a:latin typeface="Calibri" pitchFamily="34" charset="0"/>
                <a:ea typeface="Calibri" pitchFamily="34" charset="-122"/>
                <a:cs typeface="Calibri" pitchFamily="34" charset="-120"/>
              </a:rPr>
              <a:t>REWOO and LLMCompiler optimize for cost and latency via parallelism</a:t>
            </a:r>
            <a:endParaRPr lang="en-US" sz="1100" dirty="0"/>
          </a:p>
        </p:txBody>
      </p:sp>
      <p:sp>
        <p:nvSpPr>
          <p:cNvPr id="8" name="Text 5"/>
          <p:cNvSpPr/>
          <p:nvPr/>
        </p:nvSpPr>
        <p:spPr>
          <a:xfrm>
            <a:off x="1097280" y="3255264"/>
            <a:ext cx="6949440" cy="34747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04  </a:t>
            </a:r>
            <a:pPr indent="0" marL="0">
              <a:buNone/>
            </a:pPr>
            <a:r>
              <a:rPr lang="en-US" sz="1200" dirty="0">
                <a:solidFill>
                  <a:srgbClr val="B8C9E0"/>
                </a:solidFill>
                <a:latin typeface="Calibri" pitchFamily="34" charset="0"/>
                <a:ea typeface="Calibri" pitchFamily="34" charset="-122"/>
                <a:cs typeface="Calibri" pitchFamily="34" charset="-120"/>
              </a:rPr>
              <a:t>Reflection dramatically improves output quality at the cost of extra LLM calls</a:t>
            </a:r>
            <a:endParaRPr lang="en-US" sz="1100" dirty="0"/>
          </a:p>
        </p:txBody>
      </p:sp>
      <p:sp>
        <p:nvSpPr>
          <p:cNvPr id="9" name="Text 6"/>
          <p:cNvSpPr/>
          <p:nvPr/>
        </p:nvSpPr>
        <p:spPr>
          <a:xfrm>
            <a:off x="1097280" y="3639312"/>
            <a:ext cx="6949440" cy="34747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05  </a:t>
            </a:r>
            <a:pPr indent="0" marL="0">
              <a:buNone/>
            </a:pPr>
            <a:r>
              <a:rPr lang="en-US" sz="1200" dirty="0">
                <a:solidFill>
                  <a:srgbClr val="B8C9E0"/>
                </a:solidFill>
                <a:latin typeface="Calibri" pitchFamily="34" charset="0"/>
                <a:ea typeface="Calibri" pitchFamily="34" charset="-122"/>
                <a:cs typeface="Calibri" pitchFamily="34" charset="-120"/>
              </a:rPr>
              <a:t>Multi-Agent shines for complex domains requiring deep specialization</a:t>
            </a:r>
            <a:endParaRPr lang="en-US" sz="1100" dirty="0"/>
          </a:p>
        </p:txBody>
      </p:sp>
      <p:sp>
        <p:nvSpPr>
          <p:cNvPr id="10" name="Text 7"/>
          <p:cNvSpPr/>
          <p:nvPr/>
        </p:nvSpPr>
        <p:spPr>
          <a:xfrm>
            <a:off x="1097280" y="4023360"/>
            <a:ext cx="6949440" cy="34747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06  </a:t>
            </a:r>
            <a:pPr indent="0" marL="0">
              <a:buNone/>
            </a:pPr>
            <a:r>
              <a:rPr lang="en-US" sz="1200" dirty="0">
                <a:solidFill>
                  <a:srgbClr val="B8C9E0"/>
                </a:solidFill>
                <a:latin typeface="Calibri" pitchFamily="34" charset="0"/>
                <a:ea typeface="Calibri" pitchFamily="34" charset="-122"/>
                <a:cs typeface="Calibri" pitchFamily="34" charset="-120"/>
              </a:rPr>
              <a:t>Production systems combine multiple patterns for robust architectures</a:t>
            </a:r>
            <a:endParaRPr lang="en-US" sz="1100" dirty="0"/>
          </a:p>
        </p:txBody>
      </p:sp>
      <p:sp>
        <p:nvSpPr>
          <p:cNvPr id="11" name="Shape 8"/>
          <p:cNvSpPr/>
          <p:nvPr/>
        </p:nvSpPr>
        <p:spPr>
          <a:xfrm>
            <a:off x="3200400" y="4434840"/>
            <a:ext cx="2743200" cy="13716"/>
          </a:xfrm>
          <a:prstGeom prst="rect">
            <a:avLst/>
          </a:prstGeom>
          <a:solidFill>
            <a:srgbClr val="00D4FF">
              <a:alpha val="50000"/>
            </a:srgbClr>
          </a:solidFill>
          <a:ln/>
        </p:spPr>
      </p:sp>
      <p:sp>
        <p:nvSpPr>
          <p:cNvPr id="12" name="Text 9"/>
          <p:cNvSpPr/>
          <p:nvPr/>
        </p:nvSpPr>
        <p:spPr>
          <a:xfrm>
            <a:off x="914400" y="4572000"/>
            <a:ext cx="7315200" cy="365760"/>
          </a:xfrm>
          <a:prstGeom prst="rect">
            <a:avLst/>
          </a:prstGeom>
          <a:noFill/>
          <a:ln/>
        </p:spPr>
        <p:txBody>
          <a:bodyPr wrap="square" rtlCol="0" anchor="ctr"/>
          <a:lstStyle/>
          <a:p>
            <a:pPr algn="ctr" indent="0" marL="0">
              <a:buNone/>
            </a:pPr>
            <a:r>
              <a:rPr lang="en-US" sz="1800" b="1" dirty="0">
                <a:solidFill>
                  <a:srgbClr val="00D4FF"/>
                </a:solidFill>
                <a:latin typeface="Trebuchet MS" pitchFamily="34" charset="0"/>
                <a:ea typeface="Trebuchet MS" pitchFamily="34" charset="-122"/>
                <a:cs typeface="Trebuchet MS"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Design Patterns — A Comprehensive Guide</dc:title>
  <dc:subject>PptxGenJS Presentation</dc:subject>
  <dc:creator>Jitendra</dc:creator>
  <cp:lastModifiedBy>Jitendra</cp:lastModifiedBy>
  <cp:revision>1</cp:revision>
  <dcterms:created xsi:type="dcterms:W3CDTF">2026-04-12T13:16:55Z</dcterms:created>
  <dcterms:modified xsi:type="dcterms:W3CDTF">2026-04-12T13:16:55Z</dcterms:modified>
</cp:coreProperties>
</file>